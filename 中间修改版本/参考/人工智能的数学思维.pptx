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76" r:id="rId3"/>
    <p:sldId id="295" r:id="rId4"/>
    <p:sldId id="278" r:id="rId5"/>
    <p:sldId id="281" r:id="rId7"/>
    <p:sldId id="297" r:id="rId8"/>
    <p:sldId id="393" r:id="rId9"/>
    <p:sldId id="394" r:id="rId10"/>
    <p:sldId id="395" r:id="rId11"/>
    <p:sldId id="396" r:id="rId12"/>
    <p:sldId id="397" r:id="rId13"/>
    <p:sldId id="307" r:id="rId14"/>
    <p:sldId id="308" r:id="rId15"/>
    <p:sldId id="400" r:id="rId16"/>
    <p:sldId id="311" r:id="rId17"/>
    <p:sldId id="309" r:id="rId18"/>
    <p:sldId id="322" r:id="rId19"/>
    <p:sldId id="323" r:id="rId20"/>
    <p:sldId id="310" r:id="rId21"/>
    <p:sldId id="401" r:id="rId22"/>
    <p:sldId id="337" r:id="rId23"/>
    <p:sldId id="282" r:id="rId24"/>
    <p:sldId id="348" r:id="rId25"/>
    <p:sldId id="352" r:id="rId26"/>
    <p:sldId id="324" r:id="rId27"/>
    <p:sldId id="354" r:id="rId28"/>
    <p:sldId id="360" r:id="rId29"/>
    <p:sldId id="359" r:id="rId30"/>
    <p:sldId id="357" r:id="rId31"/>
    <p:sldId id="358" r:id="rId32"/>
    <p:sldId id="380" r:id="rId33"/>
    <p:sldId id="381" r:id="rId34"/>
    <p:sldId id="289" r:id="rId35"/>
    <p:sldId id="368" r:id="rId36"/>
    <p:sldId id="372" r:id="rId37"/>
    <p:sldId id="373" r:id="rId38"/>
    <p:sldId id="374" r:id="rId39"/>
    <p:sldId id="375" r:id="rId40"/>
    <p:sldId id="377" r:id="rId41"/>
    <p:sldId id="378" r:id="rId42"/>
    <p:sldId id="288" r:id="rId43"/>
    <p:sldId id="285" r:id="rId44"/>
    <p:sldId id="283" r:id="rId45"/>
  </p:sldIdLst>
  <p:sldSz cx="12192000" cy="6858000"/>
  <p:notesSz cx="6858000" cy="9144000"/>
  <p:custDataLst>
    <p:tags r:id="rId50"/>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46"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E593C"/>
    <a:srgbClr val="7D583B"/>
    <a:srgbClr val="B4967C"/>
    <a:srgbClr val="7F5B3E"/>
    <a:srgbClr val="9A5742"/>
    <a:srgbClr val="B8AFA0"/>
    <a:srgbClr val="DED8CC"/>
    <a:srgbClr val="CDB0A2"/>
    <a:srgbClr val="CBAEA0"/>
    <a:srgbClr val="CCAF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3" d="100"/>
          <a:sy n="73" d="100"/>
        </p:scale>
        <p:origin x="66" y="288"/>
      </p:cViewPr>
      <p:guideLst>
        <p:guide orient="horz" pos="2146"/>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0" Type="http://schemas.openxmlformats.org/officeDocument/2006/relationships/tags" Target="tags/tag188.xml"/><Relationship Id="rId5" Type="http://schemas.openxmlformats.org/officeDocument/2006/relationships/slide" Target="slides/slide3.xml"/><Relationship Id="rId49" Type="http://schemas.openxmlformats.org/officeDocument/2006/relationships/commentAuthors" Target="commentAuthors.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
        <p:nvSpPr>
          <p:cNvPr id="2052"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2053"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lstStyle/>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09600" y="1600200"/>
            <a:ext cx="5376672" cy="452596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6205728" y="1600200"/>
            <a:ext cx="5376672" cy="452596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1186774" y="2665379"/>
            <a:ext cx="4873574"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6256938" y="2665379"/>
            <a:ext cx="4897576"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70574" cy="5851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330" y="1429385"/>
            <a:ext cx="10968355" cy="381635"/>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单击此处编辑副标题</a:t>
            </a:r>
            <a:endParaRPr lang="en-US" altLang="zh-CN" dirty="0"/>
          </a:p>
        </p:txBody>
      </p:sp>
      <p:sp>
        <p:nvSpPr>
          <p:cNvPr id="7" name="日期占位符 6"/>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5"/>
            </p:custDataLst>
          </p:nvPr>
        </p:nvSpPr>
        <p:spPr/>
        <p:txBody>
          <a:bodyPr/>
          <a:lstStyle/>
          <a:p>
            <a:endParaRPr lang="zh-CN" altLang="en-US"/>
          </a:p>
        </p:txBody>
      </p:sp>
      <p:sp>
        <p:nvSpPr>
          <p:cNvPr id="9" name="灯片编号占位符 8"/>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609600" y="274638"/>
            <a:ext cx="10972800" cy="1143000"/>
          </a:xfrm>
          <a:prstGeom prst="rect">
            <a:avLst/>
          </a:prstGeom>
          <a:noFill/>
          <a:ln w="9525">
            <a:noFill/>
          </a:ln>
        </p:spPr>
        <p:txBody>
          <a:bodyPr anchor="ctr"/>
          <a:lstStyle/>
          <a:p>
            <a:pPr lvl="0" indent="0"/>
            <a:r>
              <a:rPr lang="zh-CN" altLang="en-US"/>
              <a:t>单击此处编辑母版标题样式</a:t>
            </a:r>
            <a:endParaRPr lang="zh-CN" altLang="en-US"/>
          </a:p>
        </p:txBody>
      </p:sp>
      <p:sp>
        <p:nvSpPr>
          <p:cNvPr id="1027" name="文本占位符 1026"/>
          <p:cNvSpPr>
            <a:spLocks noGrp="1"/>
          </p:cNvSpPr>
          <p:nvPr>
            <p:ph type="body"/>
          </p:nvPr>
        </p:nvSpPr>
        <p:spPr>
          <a:xfrm>
            <a:off x="609600" y="1600200"/>
            <a:ext cx="10972800" cy="452596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28" name="日期占位符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tags" Target="../tags/tag11.xml"/><Relationship Id="rId6" Type="http://schemas.openxmlformats.org/officeDocument/2006/relationships/image" Target="../media/image6.png"/><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image" Target="../media/image7.jpeg"/><Relationship Id="rId3" Type="http://schemas.openxmlformats.org/officeDocument/2006/relationships/tags" Target="../tags/tag14.xml"/><Relationship Id="rId2" Type="http://schemas.openxmlformats.org/officeDocument/2006/relationships/tags" Target="../tags/tag13.xml"/><Relationship Id="rId18" Type="http://schemas.openxmlformats.org/officeDocument/2006/relationships/slideLayout" Target="../slideLayouts/slideLayout6.xml"/><Relationship Id="rId17" Type="http://schemas.openxmlformats.org/officeDocument/2006/relationships/tags" Target="../tags/tag27.xml"/><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tags" Target="../tags/tag12.xml"/></Relationships>
</file>

<file path=ppt/slides/_rels/slide8.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5" Type="http://schemas.openxmlformats.org/officeDocument/2006/relationships/notesSlide" Target="../notesSlides/notesSlide2.xml"/><Relationship Id="rId14" Type="http://schemas.openxmlformats.org/officeDocument/2006/relationships/slideLayout" Target="../slideLayouts/slideLayout6.xml"/><Relationship Id="rId13" Type="http://schemas.openxmlformats.org/officeDocument/2006/relationships/tags" Target="../tags/tag37.xml"/><Relationship Id="rId12" Type="http://schemas.openxmlformats.org/officeDocument/2006/relationships/image" Target="../media/image10.png"/><Relationship Id="rId11" Type="http://schemas.microsoft.com/office/2007/relationships/hdphoto" Target="../media/image9.wdp"/><Relationship Id="rId10" Type="http://schemas.openxmlformats.org/officeDocument/2006/relationships/image" Target="../media/image8.png"/><Relationship Id="rId1" Type="http://schemas.openxmlformats.org/officeDocument/2006/relationships/tags" Target="../tags/tag28.xml"/></Relationships>
</file>

<file path=ppt/slides/_rels/slide9.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image" Target="../media/image11.jpeg"/><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6" Type="http://schemas.openxmlformats.org/officeDocument/2006/relationships/slideLayout" Target="../slideLayouts/slideLayout12.xml"/><Relationship Id="rId15" Type="http://schemas.openxmlformats.org/officeDocument/2006/relationships/tags" Target="../tags/tag50.xml"/><Relationship Id="rId14" Type="http://schemas.openxmlformats.org/officeDocument/2006/relationships/image" Target="../media/image12.png"/><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8.xml"/></Relationships>
</file>

<file path=ppt/slides/_rels/slide10.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image" Target="../media/image14.jpeg"/><Relationship Id="rId4" Type="http://schemas.openxmlformats.org/officeDocument/2006/relationships/tags" Target="../tags/tag53.xml"/><Relationship Id="rId3" Type="http://schemas.openxmlformats.org/officeDocument/2006/relationships/image" Target="../media/image13.jpeg"/><Relationship Id="rId2" Type="http://schemas.openxmlformats.org/officeDocument/2006/relationships/tags" Target="../tags/tag52.xml"/><Relationship Id="rId19" Type="http://schemas.openxmlformats.org/officeDocument/2006/relationships/notesSlide" Target="../notesSlides/notesSlide3.xml"/><Relationship Id="rId18" Type="http://schemas.openxmlformats.org/officeDocument/2006/relationships/slideLayout" Target="../slideLayouts/slideLayout6.xml"/><Relationship Id="rId17" Type="http://schemas.openxmlformats.org/officeDocument/2006/relationships/tags" Target="../tags/tag64.xml"/><Relationship Id="rId16" Type="http://schemas.openxmlformats.org/officeDocument/2006/relationships/image" Target="../media/image15.jpeg"/><Relationship Id="rId15" Type="http://schemas.openxmlformats.org/officeDocument/2006/relationships/tags" Target="../tags/tag63.xml"/><Relationship Id="rId14" Type="http://schemas.openxmlformats.org/officeDocument/2006/relationships/tags" Target="../tags/tag62.xml"/><Relationship Id="rId13" Type="http://schemas.openxmlformats.org/officeDocument/2006/relationships/tags" Target="../tags/tag61.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tags" Target="../tags/tag51.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3.jpe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3.jpe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image" Target="../media/image19.jpeg"/><Relationship Id="rId2" Type="http://schemas.openxmlformats.org/officeDocument/2006/relationships/tags" Target="../tags/tag66.xml"/><Relationship Id="rId15" Type="http://schemas.openxmlformats.org/officeDocument/2006/relationships/slideLayout" Target="../slideLayouts/slideLayout6.xml"/><Relationship Id="rId14" Type="http://schemas.openxmlformats.org/officeDocument/2006/relationships/tags" Target="../tags/tag76.xml"/><Relationship Id="rId13" Type="http://schemas.openxmlformats.org/officeDocument/2006/relationships/image" Target="../media/image20.png"/><Relationship Id="rId12" Type="http://schemas.openxmlformats.org/officeDocument/2006/relationships/tags" Target="../tags/tag75.xml"/><Relationship Id="rId11" Type="http://schemas.openxmlformats.org/officeDocument/2006/relationships/tags" Target="../tags/tag74.xml"/><Relationship Id="rId10" Type="http://schemas.openxmlformats.org/officeDocument/2006/relationships/tags" Target="../tags/tag73.xml"/><Relationship Id="rId1" Type="http://schemas.openxmlformats.org/officeDocument/2006/relationships/tags" Target="../tags/tag6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3.jpe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3.jpe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image" Target="../media/image23.jpeg"/><Relationship Id="rId11" Type="http://schemas.openxmlformats.org/officeDocument/2006/relationships/notesSlide" Target="../notesSlides/notesSlide5.xml"/><Relationship Id="rId10" Type="http://schemas.openxmlformats.org/officeDocument/2006/relationships/slideLayout" Target="../slideLayouts/slideLayout6.xml"/><Relationship Id="rId1" Type="http://schemas.openxmlformats.org/officeDocument/2006/relationships/tags" Target="../tags/tag7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22.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5" Type="http://schemas.openxmlformats.org/officeDocument/2006/relationships/notesSlide" Target="../notesSlides/notesSlide6.xml"/><Relationship Id="rId14" Type="http://schemas.openxmlformats.org/officeDocument/2006/relationships/slideLayout" Target="../slideLayouts/slideLayout6.xml"/><Relationship Id="rId13" Type="http://schemas.openxmlformats.org/officeDocument/2006/relationships/tags" Target="../tags/tag96.xml"/><Relationship Id="rId12" Type="http://schemas.openxmlformats.org/officeDocument/2006/relationships/tags" Target="../tags/tag95.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image" Target="../media/image25.jpeg"/></Relationships>
</file>

<file path=ppt/slides/_rels/slide23.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3" Type="http://schemas.openxmlformats.org/officeDocument/2006/relationships/tags" Target="../tags/tag98.xml"/><Relationship Id="rId2" Type="http://schemas.openxmlformats.org/officeDocument/2006/relationships/tags" Target="../tags/tag97.xml"/><Relationship Id="rId15" Type="http://schemas.openxmlformats.org/officeDocument/2006/relationships/notesSlide" Target="../notesSlides/notesSlide7.xml"/><Relationship Id="rId14" Type="http://schemas.openxmlformats.org/officeDocument/2006/relationships/slideLayout" Target="../slideLayouts/slideLayout6.xml"/><Relationship Id="rId13" Type="http://schemas.openxmlformats.org/officeDocument/2006/relationships/tags" Target="../tags/tag108.xml"/><Relationship Id="rId12" Type="http://schemas.openxmlformats.org/officeDocument/2006/relationships/tags" Target="../tags/tag107.xml"/><Relationship Id="rId11" Type="http://schemas.openxmlformats.org/officeDocument/2006/relationships/tags" Target="../tags/tag106.xml"/><Relationship Id="rId10" Type="http://schemas.openxmlformats.org/officeDocument/2006/relationships/tags" Target="../tags/tag105.xml"/><Relationship Id="rId1" Type="http://schemas.openxmlformats.org/officeDocument/2006/relationships/image" Target="../media/image25.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25.xml.rels><?xml version="1.0" encoding="UTF-8" standalone="yes"?>
<Relationships xmlns="http://schemas.openxmlformats.org/package/2006/relationships"><Relationship Id="rId9" Type="http://schemas.openxmlformats.org/officeDocument/2006/relationships/tags" Target="../tags/tag116.xml"/><Relationship Id="rId8" Type="http://schemas.openxmlformats.org/officeDocument/2006/relationships/tags" Target="../tags/tag115.xml"/><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image" Target="../media/image24.jpeg"/><Relationship Id="rId10" Type="http://schemas.openxmlformats.org/officeDocument/2006/relationships/slideLayout" Target="../slideLayouts/slideLayout6.xml"/><Relationship Id="rId1" Type="http://schemas.openxmlformats.org/officeDocument/2006/relationships/tags" Target="../tags/tag109.xml"/></Relationships>
</file>

<file path=ppt/slides/_rels/slide26.xml.rels><?xml version="1.0" encoding="UTF-8" standalone="yes"?>
<Relationships xmlns="http://schemas.openxmlformats.org/package/2006/relationships"><Relationship Id="rId9" Type="http://schemas.openxmlformats.org/officeDocument/2006/relationships/tags" Target="../tags/tag125.xml"/><Relationship Id="rId8" Type="http://schemas.openxmlformats.org/officeDocument/2006/relationships/tags" Target="../tags/tag124.xml"/><Relationship Id="rId7" Type="http://schemas.openxmlformats.org/officeDocument/2006/relationships/tags" Target="../tags/tag123.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tags" Target="../tags/tag119.xml"/><Relationship Id="rId2" Type="http://schemas.openxmlformats.org/officeDocument/2006/relationships/tags" Target="../tags/tag118.xml"/><Relationship Id="rId13" Type="http://schemas.openxmlformats.org/officeDocument/2006/relationships/slideLayout" Target="../slideLayouts/slideLayout2.xml"/><Relationship Id="rId12" Type="http://schemas.openxmlformats.org/officeDocument/2006/relationships/tags" Target="../tags/tag128.xml"/><Relationship Id="rId11" Type="http://schemas.openxmlformats.org/officeDocument/2006/relationships/tags" Target="../tags/tag127.xml"/><Relationship Id="rId10" Type="http://schemas.openxmlformats.org/officeDocument/2006/relationships/tags" Target="../tags/tag126.xml"/><Relationship Id="rId1" Type="http://schemas.openxmlformats.org/officeDocument/2006/relationships/tags" Target="../tags/tag117.xml"/></Relationships>
</file>

<file path=ppt/slides/_rels/slide27.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tags" Target="../tags/tag136.xml"/><Relationship Id="rId7" Type="http://schemas.openxmlformats.org/officeDocument/2006/relationships/tags" Target="../tags/tag135.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8" Type="http://schemas.openxmlformats.org/officeDocument/2006/relationships/slideLayout" Target="../slideLayouts/slideLayout2.xml"/><Relationship Id="rId17" Type="http://schemas.openxmlformats.org/officeDocument/2006/relationships/tags" Target="../tags/tag145.xml"/><Relationship Id="rId16" Type="http://schemas.openxmlformats.org/officeDocument/2006/relationships/tags" Target="../tags/tag144.xml"/><Relationship Id="rId15" Type="http://schemas.openxmlformats.org/officeDocument/2006/relationships/tags" Target="../tags/tag143.xml"/><Relationship Id="rId14" Type="http://schemas.openxmlformats.org/officeDocument/2006/relationships/tags" Target="../tags/tag142.xml"/><Relationship Id="rId13" Type="http://schemas.openxmlformats.org/officeDocument/2006/relationships/tags" Target="../tags/tag141.xml"/><Relationship Id="rId12" Type="http://schemas.openxmlformats.org/officeDocument/2006/relationships/tags" Target="../tags/tag140.xml"/><Relationship Id="rId11" Type="http://schemas.openxmlformats.org/officeDocument/2006/relationships/tags" Target="../tags/tag139.xml"/><Relationship Id="rId10" Type="http://schemas.openxmlformats.org/officeDocument/2006/relationships/tags" Target="../tags/tag138.xml"/><Relationship Id="rId1" Type="http://schemas.openxmlformats.org/officeDocument/2006/relationships/tags" Target="../tags/tag129.xml"/></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4.jpeg"/><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26.jpe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jpeg"/><Relationship Id="rId2" Type="http://schemas.openxmlformats.org/officeDocument/2006/relationships/image" Target="../media/image28.jpeg"/><Relationship Id="rId1" Type="http://schemas.openxmlformats.org/officeDocument/2006/relationships/image" Target="../media/image27.jpe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jpeg"/><Relationship Id="rId2" Type="http://schemas.openxmlformats.org/officeDocument/2006/relationships/image" Target="../media/image28.jpeg"/><Relationship Id="rId1" Type="http://schemas.openxmlformats.org/officeDocument/2006/relationships/image" Target="../media/image27.jpeg"/></Relationships>
</file>

<file path=ppt/slides/_rels/slide31.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tags" Target="../tags/tag153.xml"/><Relationship Id="rId7" Type="http://schemas.openxmlformats.org/officeDocument/2006/relationships/tags" Target="../tags/tag152.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34" Type="http://schemas.openxmlformats.org/officeDocument/2006/relationships/slideLayout" Target="../slideLayouts/slideLayout6.xml"/><Relationship Id="rId33" Type="http://schemas.openxmlformats.org/officeDocument/2006/relationships/tags" Target="../tags/tag178.xml"/><Relationship Id="rId32" Type="http://schemas.openxmlformats.org/officeDocument/2006/relationships/tags" Target="../tags/tag177.xml"/><Relationship Id="rId31" Type="http://schemas.openxmlformats.org/officeDocument/2006/relationships/tags" Target="../tags/tag176.xml"/><Relationship Id="rId30" Type="http://schemas.openxmlformats.org/officeDocument/2006/relationships/tags" Target="../tags/tag175.xml"/><Relationship Id="rId3" Type="http://schemas.openxmlformats.org/officeDocument/2006/relationships/tags" Target="../tags/tag148.xml"/><Relationship Id="rId29" Type="http://schemas.openxmlformats.org/officeDocument/2006/relationships/tags" Target="../tags/tag174.xml"/><Relationship Id="rId28" Type="http://schemas.openxmlformats.org/officeDocument/2006/relationships/tags" Target="../tags/tag173.xml"/><Relationship Id="rId27" Type="http://schemas.openxmlformats.org/officeDocument/2006/relationships/tags" Target="../tags/tag172.xml"/><Relationship Id="rId26" Type="http://schemas.openxmlformats.org/officeDocument/2006/relationships/tags" Target="../tags/tag171.xml"/><Relationship Id="rId25" Type="http://schemas.openxmlformats.org/officeDocument/2006/relationships/tags" Target="../tags/tag170.xml"/><Relationship Id="rId24" Type="http://schemas.openxmlformats.org/officeDocument/2006/relationships/tags" Target="../tags/tag169.xml"/><Relationship Id="rId23" Type="http://schemas.openxmlformats.org/officeDocument/2006/relationships/tags" Target="../tags/tag168.xml"/><Relationship Id="rId22" Type="http://schemas.openxmlformats.org/officeDocument/2006/relationships/tags" Target="../tags/tag167.xml"/><Relationship Id="rId21" Type="http://schemas.openxmlformats.org/officeDocument/2006/relationships/tags" Target="../tags/tag166.xml"/><Relationship Id="rId20" Type="http://schemas.openxmlformats.org/officeDocument/2006/relationships/tags" Target="../tags/tag165.xml"/><Relationship Id="rId2" Type="http://schemas.openxmlformats.org/officeDocument/2006/relationships/tags" Target="../tags/tag147.xml"/><Relationship Id="rId19" Type="http://schemas.openxmlformats.org/officeDocument/2006/relationships/tags" Target="../tags/tag164.xml"/><Relationship Id="rId18" Type="http://schemas.openxmlformats.org/officeDocument/2006/relationships/tags" Target="../tags/tag163.xml"/><Relationship Id="rId17" Type="http://schemas.openxmlformats.org/officeDocument/2006/relationships/tags" Target="../tags/tag162.xml"/><Relationship Id="rId16" Type="http://schemas.openxmlformats.org/officeDocument/2006/relationships/tags" Target="../tags/tag161.xml"/><Relationship Id="rId15" Type="http://schemas.openxmlformats.org/officeDocument/2006/relationships/tags" Target="../tags/tag160.xml"/><Relationship Id="rId14" Type="http://schemas.openxmlformats.org/officeDocument/2006/relationships/tags" Target="../tags/tag159.xml"/><Relationship Id="rId13" Type="http://schemas.openxmlformats.org/officeDocument/2006/relationships/tags" Target="../tags/tag158.xml"/><Relationship Id="rId12" Type="http://schemas.openxmlformats.org/officeDocument/2006/relationships/tags" Target="../tags/tag157.xml"/><Relationship Id="rId11" Type="http://schemas.openxmlformats.org/officeDocument/2006/relationships/tags" Target="../tags/tag156.xml"/><Relationship Id="rId10" Type="http://schemas.openxmlformats.org/officeDocument/2006/relationships/tags" Target="../tags/tag155.xml"/><Relationship Id="rId1" Type="http://schemas.openxmlformats.org/officeDocument/2006/relationships/tags" Target="../tags/tag146.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9.xml"/><Relationship Id="rId1" Type="http://schemas.openxmlformats.org/officeDocument/2006/relationships/image" Target="../media/image1.jpe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0.xml"/><Relationship Id="rId1" Type="http://schemas.openxmlformats.org/officeDocument/2006/relationships/image" Target="../media/image1.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1.xml"/><Relationship Id="rId1" Type="http://schemas.openxmlformats.org/officeDocument/2006/relationships/image" Target="../media/image1.jpe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2.xml"/><Relationship Id="rId1" Type="http://schemas.openxmlformats.org/officeDocument/2006/relationships/image" Target="../media/image1.jpe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3.xml"/><Relationship Id="rId1" Type="http://schemas.openxmlformats.org/officeDocument/2006/relationships/image" Target="../media/image1.jpe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4.xml"/><Relationship Id="rId1" Type="http://schemas.openxmlformats.org/officeDocument/2006/relationships/image" Target="../media/image25.jpe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5.xml"/><Relationship Id="rId1" Type="http://schemas.openxmlformats.org/officeDocument/2006/relationships/image" Target="../media/image25.jpe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6.xml"/><Relationship Id="rId1" Type="http://schemas.openxmlformats.org/officeDocument/2006/relationships/image" Target="../media/image25.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7.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d909388ef9f30ac29dfb903d38a6302"/>
          <p:cNvPicPr>
            <a:picLocks noChangeAspect="1"/>
          </p:cNvPicPr>
          <p:nvPr/>
        </p:nvPicPr>
        <p:blipFill>
          <a:blip r:embed="rId1"/>
          <a:srcRect l="5637" r="20993"/>
          <a:stretch>
            <a:fillRect/>
          </a:stretch>
        </p:blipFill>
        <p:spPr>
          <a:xfrm rot="16200000">
            <a:off x="2604770" y="-2679065"/>
            <a:ext cx="6935470" cy="12238355"/>
          </a:xfrm>
          <a:prstGeom prst="rect">
            <a:avLst/>
          </a:prstGeom>
        </p:spPr>
      </p:pic>
      <p:cxnSp>
        <p:nvCxnSpPr>
          <p:cNvPr id="10" name="直接连接符 9"/>
          <p:cNvCxnSpPr/>
          <p:nvPr/>
        </p:nvCxnSpPr>
        <p:spPr>
          <a:xfrm flipH="1">
            <a:off x="2496185" y="1772920"/>
            <a:ext cx="215900" cy="403225"/>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3493770" y="728980"/>
            <a:ext cx="5400675" cy="5400675"/>
          </a:xfrm>
          <a:prstGeom prst="ellips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flipH="1">
            <a:off x="9450705" y="5877560"/>
            <a:ext cx="389890" cy="113665"/>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0056495" y="4221480"/>
            <a:ext cx="237490" cy="128905"/>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16275" y="1052830"/>
            <a:ext cx="184785" cy="259715"/>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072130" y="1772920"/>
            <a:ext cx="113030" cy="194945"/>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flipV="1">
            <a:off x="9450705" y="5081905"/>
            <a:ext cx="102235" cy="147320"/>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9984740" y="4805680"/>
            <a:ext cx="71755" cy="63500"/>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559560" y="1454150"/>
            <a:ext cx="144145" cy="46355"/>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flipV="1">
            <a:off x="10056495" y="5229225"/>
            <a:ext cx="144145" cy="72390"/>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496185" y="1306830"/>
            <a:ext cx="72390" cy="193675"/>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3791268" y="2204403"/>
            <a:ext cx="5307013" cy="645160"/>
          </a:xfrm>
          <a:prstGeom prst="rect">
            <a:avLst/>
          </a:prstGeom>
          <a:noFill/>
        </p:spPr>
        <p:txBody>
          <a:bodyPr wrap="square" rtlCol="0">
            <a:spAutoFit/>
          </a:bodyPr>
          <a:lstStyle/>
          <a:p>
            <a:pPr fontAlgn="auto"/>
            <a:r>
              <a:rPr lang="zh-CN" altLang="en-US" sz="3600" spc="500" noProof="1">
                <a:solidFill>
                  <a:srgbClr val="7E593C"/>
                </a:solidFill>
                <a:latin typeface="+mj-lt"/>
                <a:ea typeface="宋体" panose="02010600030101010101" pitchFamily="2" charset="-122"/>
                <a:cs typeface="+mj-lt"/>
              </a:rPr>
              <a:t>人工智能的数学思维</a:t>
            </a:r>
            <a:endParaRPr lang="zh-CN" altLang="en-US" sz="3600" spc="500" noProof="1">
              <a:solidFill>
                <a:srgbClr val="7E593C"/>
              </a:solidFill>
              <a:latin typeface="+mj-lt"/>
              <a:ea typeface="宋体" panose="02010600030101010101" pitchFamily="2" charset="-122"/>
              <a:cs typeface="+mj-lt"/>
            </a:endParaRPr>
          </a:p>
        </p:txBody>
      </p:sp>
      <p:sp>
        <p:nvSpPr>
          <p:cNvPr id="2" name="文本框 1"/>
          <p:cNvSpPr txBox="1"/>
          <p:nvPr/>
        </p:nvSpPr>
        <p:spPr>
          <a:xfrm>
            <a:off x="5304155" y="3501390"/>
            <a:ext cx="4385310" cy="368300"/>
          </a:xfrm>
          <a:prstGeom prst="rect">
            <a:avLst/>
          </a:prstGeom>
          <a:noFill/>
        </p:spPr>
        <p:txBody>
          <a:bodyPr wrap="square" rtlCol="0">
            <a:spAutoFit/>
          </a:bodyPr>
          <a:p>
            <a:r>
              <a:rPr lang="en-US" altLang="zh-CN"/>
              <a:t>VR/</a:t>
            </a:r>
            <a:r>
              <a:rPr lang="zh-CN" altLang="en-US"/>
              <a:t>全景</a:t>
            </a:r>
            <a:r>
              <a:rPr lang="en-US" altLang="zh-CN"/>
              <a:t>3D</a:t>
            </a:r>
            <a:r>
              <a:rPr lang="zh-CN" altLang="en-US"/>
              <a:t>游戏</a:t>
            </a:r>
            <a:endParaRPr lang="zh-CN" altLang="en-US"/>
          </a:p>
        </p:txBody>
      </p:sp>
      <p:sp>
        <p:nvSpPr>
          <p:cNvPr id="3" name="文本框 2"/>
          <p:cNvSpPr txBox="1"/>
          <p:nvPr/>
        </p:nvSpPr>
        <p:spPr>
          <a:xfrm>
            <a:off x="4074160" y="4353560"/>
            <a:ext cx="5046345" cy="368300"/>
          </a:xfrm>
          <a:prstGeom prst="rect">
            <a:avLst/>
          </a:prstGeom>
          <a:noFill/>
        </p:spPr>
        <p:txBody>
          <a:bodyPr wrap="square" rtlCol="0">
            <a:spAutoFit/>
          </a:bodyPr>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9600" y="274955"/>
            <a:ext cx="10998200" cy="873760"/>
          </a:xfrm>
        </p:spPr>
        <p:txBody>
          <a:bodyPr/>
          <a:p>
            <a:r>
              <a:rPr lang="zh-CN" altLang="en-US"/>
              <a:t>思维</a:t>
            </a:r>
            <a:r>
              <a:rPr lang="zh-CN" altLang="en-US"/>
              <a:t>模式</a:t>
            </a:r>
            <a:endParaRPr lang="zh-CN" altLang="en-US"/>
          </a:p>
        </p:txBody>
      </p:sp>
      <p:sp>
        <p:nvSpPr>
          <p:cNvPr id="3" name="内容占位符 2"/>
          <p:cNvSpPr>
            <a:spLocks noGrp="1"/>
          </p:cNvSpPr>
          <p:nvPr>
            <p:ph idx="1"/>
          </p:nvPr>
        </p:nvSpPr>
        <p:spPr>
          <a:xfrm>
            <a:off x="479425" y="981075"/>
            <a:ext cx="10972800" cy="4525963"/>
          </a:xfrm>
        </p:spPr>
        <p:txBody>
          <a:bodyPr/>
          <a:p>
            <a:r>
              <a:rPr lang="en-US" altLang="zh-CN"/>
              <a:t>motivation</a:t>
            </a:r>
            <a:r>
              <a:rPr lang="zh-CN" altLang="en-US"/>
              <a:t>是什么（这个现象的原因是什么，</a:t>
            </a:r>
            <a:r>
              <a:rPr lang="zh-CN" altLang="en-US"/>
              <a:t>我为什么会这样想）</a:t>
            </a:r>
            <a:endParaRPr lang="zh-CN" altLang="en-US"/>
          </a:p>
          <a:p>
            <a:r>
              <a:rPr lang="zh-CN" altLang="en-US"/>
              <a:t>刚开始有什么问题</a:t>
            </a:r>
            <a:endParaRPr lang="zh-CN" altLang="en-US"/>
          </a:p>
          <a:p>
            <a:r>
              <a:rPr lang="zh-CN" altLang="en-US"/>
              <a:t>最底层的数学思维是什么</a:t>
            </a:r>
            <a:endParaRPr lang="zh-CN" altLang="en-US"/>
          </a:p>
          <a:p>
            <a:r>
              <a:rPr lang="zh-CN" altLang="en-US"/>
              <a:t>是如何慢慢扩展的</a:t>
            </a:r>
            <a:endParaRPr lang="zh-CN" altLang="en-US"/>
          </a:p>
          <a:p>
            <a:r>
              <a:rPr lang="zh-CN" altLang="en-US"/>
              <a:t>未来会怎么发展</a:t>
            </a:r>
            <a:endParaRPr lang="zh-CN" altLang="en-US"/>
          </a:p>
          <a:p>
            <a:r>
              <a:rPr lang="zh-CN" altLang="en-US"/>
              <a:t>给人带来什么影响什么感受</a:t>
            </a:r>
            <a:r>
              <a:rPr lang="zh-CN" altLang="en-US"/>
              <a:t>什么便利</a:t>
            </a:r>
            <a:endParaRPr lang="zh-CN" altLang="en-US"/>
          </a:p>
          <a:p>
            <a:r>
              <a:rPr lang="zh-CN" altLang="en-US"/>
              <a:t>最底层的数学思维</a:t>
            </a:r>
            <a:r>
              <a:rPr lang="zh-CN" altLang="en-US"/>
              <a:t>在其他方面有什么应用</a:t>
            </a:r>
            <a:endParaRPr lang="zh-CN" altLang="en-US"/>
          </a:p>
          <a:p>
            <a:r>
              <a:rPr lang="zh-CN" altLang="en-US"/>
              <a:t>广泛的去思考</a:t>
            </a:r>
            <a:r>
              <a:rPr lang="zh-CN" altLang="en-US"/>
              <a:t>关于这个问题你还能想到些什么</a:t>
            </a:r>
            <a:endParaRPr lang="zh-CN" altLang="en-US"/>
          </a:p>
          <a:p>
            <a:r>
              <a:rPr lang="zh-CN" altLang="en-US"/>
              <a:t>顺着这些想法</a:t>
            </a:r>
            <a:r>
              <a:rPr lang="zh-CN" altLang="en-US"/>
              <a:t>深入</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7792085" y="2636838"/>
            <a:ext cx="4233863" cy="2306955"/>
          </a:xfrm>
          <a:prstGeom prst="rect">
            <a:avLst/>
          </a:prstGeom>
          <a:noFill/>
        </p:spPr>
        <p:txBody>
          <a:bodyPr wrap="square" rtlCol="0">
            <a:spAutoFit/>
          </a:bodyPr>
          <a:lstStyle/>
          <a:p>
            <a:pPr>
              <a:lnSpc>
                <a:spcPct val="150000"/>
              </a:lnSpc>
            </a:pPr>
            <a:r>
              <a:rPr lang="zh-CN" altLang="en-US" sz="1000" spc="200" noProof="1">
                <a:solidFill>
                  <a:schemeClr val="bg1">
                    <a:lumMod val="50000"/>
                  </a:schemeClr>
                </a:solidFill>
                <a:latin typeface="+mj-lt"/>
                <a:cs typeface="+mj-lt"/>
              </a:rPr>
              <a:t>追溯到</a:t>
            </a:r>
            <a:r>
              <a:rPr lang="en-US" altLang="zh-CN" sz="1000" spc="200" noProof="1">
                <a:solidFill>
                  <a:schemeClr val="bg1">
                    <a:lumMod val="50000"/>
                  </a:schemeClr>
                </a:solidFill>
                <a:latin typeface="+mj-lt"/>
                <a:cs typeface="+mj-lt"/>
              </a:rPr>
              <a:t>20</a:t>
            </a:r>
            <a:r>
              <a:rPr lang="zh-CN" altLang="en-US" sz="1000" spc="200" noProof="1">
                <a:solidFill>
                  <a:schemeClr val="bg1">
                    <a:lumMod val="50000"/>
                  </a:schemeClr>
                </a:solidFill>
                <a:latin typeface="+mj-lt"/>
                <a:cs typeface="+mj-lt"/>
              </a:rPr>
              <a:t>世纪</a:t>
            </a:r>
            <a:r>
              <a:rPr lang="en-US" altLang="zh-CN" sz="1000" spc="200" noProof="1">
                <a:solidFill>
                  <a:schemeClr val="bg1">
                    <a:lumMod val="50000"/>
                  </a:schemeClr>
                </a:solidFill>
                <a:latin typeface="+mj-lt"/>
                <a:cs typeface="+mj-lt"/>
              </a:rPr>
              <a:t>60</a:t>
            </a:r>
            <a:r>
              <a:rPr lang="zh-CN" altLang="en-US" sz="1000" spc="200" noProof="1">
                <a:solidFill>
                  <a:schemeClr val="bg1">
                    <a:lumMod val="50000"/>
                  </a:schemeClr>
                </a:solidFill>
                <a:latin typeface="+mj-lt"/>
                <a:cs typeface="+mj-lt"/>
              </a:rPr>
              <a:t>年代，美国空军和</a:t>
            </a:r>
            <a:r>
              <a:rPr lang="en-US" altLang="zh-CN" sz="1000" spc="200" noProof="1">
                <a:solidFill>
                  <a:schemeClr val="bg1">
                    <a:lumMod val="50000"/>
                  </a:schemeClr>
                </a:solidFill>
                <a:latin typeface="+mj-lt"/>
                <a:cs typeface="+mj-lt"/>
              </a:rPr>
              <a:t>NASA</a:t>
            </a:r>
            <a:r>
              <a:rPr lang="zh-CN" altLang="en-US" sz="1000" spc="200" noProof="1">
                <a:solidFill>
                  <a:schemeClr val="bg1">
                    <a:lumMod val="50000"/>
                  </a:schemeClr>
                </a:solidFill>
                <a:latin typeface="+mj-lt"/>
                <a:cs typeface="+mj-lt"/>
              </a:rPr>
              <a:t>开展了一系列虚拟现实技术的研究，旨在提高飞行员和宇航员的训练效果。</a:t>
            </a:r>
            <a:endParaRPr lang="zh-CN" altLang="en-US" sz="1000" spc="200" noProof="1">
              <a:solidFill>
                <a:schemeClr val="bg1">
                  <a:lumMod val="50000"/>
                </a:schemeClr>
              </a:solidFill>
              <a:latin typeface="+mj-lt"/>
              <a:cs typeface="+mj-lt"/>
            </a:endParaRPr>
          </a:p>
          <a:p>
            <a:pPr>
              <a:lnSpc>
                <a:spcPct val="150000"/>
              </a:lnSpc>
            </a:pPr>
            <a:r>
              <a:rPr lang="zh-CN" altLang="en-US" sz="1000" spc="200" noProof="1">
                <a:solidFill>
                  <a:schemeClr val="bg1">
                    <a:lumMod val="50000"/>
                  </a:schemeClr>
                </a:solidFill>
                <a:latin typeface="+mj-lt"/>
                <a:cs typeface="+mj-lt"/>
              </a:rPr>
              <a:t>当时这些研究主要涉及头戴式显示器、交互设备等方面，为虚拟现实技术的实现奠定了基础。当时主要集中在军事和航天领域。</a:t>
            </a:r>
            <a:endParaRPr lang="zh-CN" altLang="en-US" sz="1000" spc="200" noProof="1">
              <a:solidFill>
                <a:schemeClr val="bg1">
                  <a:lumMod val="50000"/>
                </a:schemeClr>
              </a:solidFill>
              <a:latin typeface="+mj-lt"/>
              <a:cs typeface="+mj-lt"/>
            </a:endParaRPr>
          </a:p>
          <a:p>
            <a:pPr>
              <a:lnSpc>
                <a:spcPct val="150000"/>
              </a:lnSpc>
            </a:pPr>
            <a:endParaRPr lang="en-US" altLang="zh-CN" sz="1000" spc="200" noProof="1">
              <a:solidFill>
                <a:schemeClr val="bg1">
                  <a:lumMod val="50000"/>
                </a:schemeClr>
              </a:solidFill>
              <a:latin typeface="+mj-lt"/>
              <a:cs typeface="+mj-lt"/>
            </a:endParaRPr>
          </a:p>
          <a:p>
            <a:pPr>
              <a:lnSpc>
                <a:spcPct val="150000"/>
              </a:lnSpc>
            </a:pPr>
            <a:r>
              <a:rPr lang="en-US" altLang="zh-CN" spc="200" noProof="1">
                <a:solidFill>
                  <a:schemeClr val="bg1"/>
                </a:solidFill>
                <a:latin typeface="+mj-lt"/>
                <a:ea typeface="宋体" panose="02010600030101010101" pitchFamily="2" charset="-122"/>
                <a:cs typeface="+mj-lt"/>
                <a:sym typeface="+mn-ea"/>
              </a:rPr>
              <a:t>o this.</a:t>
            </a:r>
            <a:endParaRPr lang="en-US" altLang="zh-CN" spc="200" noProof="1">
              <a:solidFill>
                <a:schemeClr val="bg1">
                  <a:lumMod val="50000"/>
                </a:schemeClr>
              </a:solidFill>
              <a:latin typeface="+mj-lt"/>
              <a:cs typeface="+mj-lt"/>
            </a:endParaRPr>
          </a:p>
          <a:p>
            <a:pPr>
              <a:lnSpc>
                <a:spcPct val="150000"/>
              </a:lnSpc>
            </a:pPr>
            <a:endParaRPr lang="en-US" altLang="zh-CN" spc="200" noProof="1">
              <a:solidFill>
                <a:schemeClr val="bg1">
                  <a:lumMod val="50000"/>
                </a:schemeClr>
              </a:solidFill>
              <a:latin typeface="+mj-lt"/>
              <a:cs typeface="+mj-lt"/>
            </a:endParaRPr>
          </a:p>
        </p:txBody>
      </p:sp>
      <p:sp>
        <p:nvSpPr>
          <p:cNvPr id="14" name="椭圆 13"/>
          <p:cNvSpPr/>
          <p:nvPr/>
        </p:nvSpPr>
        <p:spPr>
          <a:xfrm>
            <a:off x="3223895" y="1673225"/>
            <a:ext cx="2952115" cy="2952115"/>
          </a:xfrm>
          <a:prstGeom prst="ellipse">
            <a:avLst/>
          </a:prstGeom>
          <a:noFill/>
          <a:ln>
            <a:solidFill>
              <a:srgbClr val="7E59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f58db3820378867f8e838d9217ce171"/>
          <p:cNvPicPr>
            <a:picLocks noChangeAspect="1"/>
          </p:cNvPicPr>
          <p:nvPr/>
        </p:nvPicPr>
        <p:blipFill>
          <a:blip r:embed="rId1"/>
          <a:srcRect l="-4949" t="7330" r="4949" b="39998"/>
          <a:stretch>
            <a:fillRect/>
          </a:stretch>
        </p:blipFill>
        <p:spPr>
          <a:xfrm>
            <a:off x="-247015" y="2007870"/>
            <a:ext cx="4992370" cy="4862830"/>
          </a:xfrm>
          <a:prstGeom prst="ellipse">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6" name="文本框 5"/>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a:solidFill>
                  <a:schemeClr val="bg1"/>
                </a:solidFill>
                <a:uFillTx/>
                <a:latin typeface="+mj-lt"/>
                <a:cs typeface="+mj-lt"/>
                <a:sym typeface="+mn-ea"/>
              </a:rPr>
              <a:t>01</a:t>
            </a:r>
            <a:endParaRPr lang="zh-CN" altLang="en-US"/>
          </a:p>
        </p:txBody>
      </p:sp>
      <p:sp>
        <p:nvSpPr>
          <p:cNvPr id="12" name="文本框 11"/>
          <p:cNvSpPr txBox="1"/>
          <p:nvPr/>
        </p:nvSpPr>
        <p:spPr>
          <a:xfrm>
            <a:off x="3287395" y="2654300"/>
            <a:ext cx="3546475" cy="1845310"/>
          </a:xfrm>
          <a:prstGeom prst="rect">
            <a:avLst/>
          </a:prstGeom>
          <a:noFill/>
        </p:spPr>
        <p:txBody>
          <a:bodyPr wrap="square" rtlCol="0">
            <a:spAutoFit/>
          </a:bodyPr>
          <a:lstStyle/>
          <a:p>
            <a:pPr>
              <a:lnSpc>
                <a:spcPct val="150000"/>
              </a:lnSpc>
            </a:pPr>
            <a:r>
              <a:rPr lang="en-US" altLang="zh-CN" sz="2800" spc="500" noProof="1">
                <a:solidFill>
                  <a:srgbClr val="7E593C"/>
                </a:solidFill>
                <a:latin typeface="+mj-lt"/>
                <a:ea typeface="宋体" panose="02010600030101010101" pitchFamily="2" charset="-122"/>
                <a:cs typeface="+mj-lt"/>
              </a:rPr>
              <a:t>   motivation</a:t>
            </a:r>
            <a:endParaRPr lang="en-US" altLang="zh-CN" sz="2800" spc="200" noProof="1">
              <a:solidFill>
                <a:schemeClr val="tx1">
                  <a:lumMod val="95000"/>
                  <a:lumOff val="5000"/>
                </a:schemeClr>
              </a:solidFill>
              <a:latin typeface="+mj-lt"/>
              <a:cs typeface="+mj-lt"/>
            </a:endParaRPr>
          </a:p>
          <a:p>
            <a:pPr>
              <a:lnSpc>
                <a:spcPct val="150000"/>
              </a:lnSpc>
            </a:pPr>
            <a:endParaRPr lang="en-US" altLang="zh-CN" sz="1200"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18" name="文本框 17"/>
          <p:cNvSpPr txBox="1"/>
          <p:nvPr/>
        </p:nvSpPr>
        <p:spPr>
          <a:xfrm>
            <a:off x="7792085" y="2007870"/>
            <a:ext cx="2120900" cy="645160"/>
          </a:xfrm>
          <a:prstGeom prst="rect">
            <a:avLst/>
          </a:prstGeom>
          <a:noFill/>
        </p:spPr>
        <p:txBody>
          <a:bodyPr wrap="none" rtlCol="0" anchor="t">
            <a:spAutoFit/>
          </a:bodyPr>
          <a:lstStyle/>
          <a:p>
            <a:r>
              <a:rPr lang="zh-CN" altLang="en-US" sz="3600" b="1" spc="200" noProof="1">
                <a:solidFill>
                  <a:srgbClr val="7E593C"/>
                </a:solidFill>
                <a:latin typeface="+mj-lt"/>
                <a:ea typeface="宋体" panose="02010600030101010101" pitchFamily="2" charset="-122"/>
                <a:cs typeface="+mj-lt"/>
                <a:sym typeface="+mn-ea"/>
              </a:rPr>
              <a:t>社会</a:t>
            </a:r>
            <a:r>
              <a:rPr lang="zh-CN" altLang="en-US" sz="3600" b="1" spc="200" noProof="1">
                <a:solidFill>
                  <a:srgbClr val="7E593C"/>
                </a:solidFill>
                <a:latin typeface="+mj-lt"/>
                <a:ea typeface="宋体" panose="02010600030101010101" pitchFamily="2" charset="-122"/>
                <a:cs typeface="+mj-lt"/>
                <a:sym typeface="+mn-ea"/>
              </a:rPr>
              <a:t>层面</a:t>
            </a:r>
            <a:endParaRPr lang="zh-CN" altLang="en-US" sz="3600" b="1" spc="200" noProof="1">
              <a:solidFill>
                <a:srgbClr val="7E593C"/>
              </a:solidFill>
              <a:latin typeface="+mj-lt"/>
              <a:ea typeface="宋体" panose="02010600030101010101" pitchFamily="2" charset="-122"/>
              <a:cs typeface="+mj-lt"/>
              <a:sym typeface="+mn-ea"/>
            </a:endParaRPr>
          </a:p>
        </p:txBody>
      </p:sp>
      <p:sp>
        <p:nvSpPr>
          <p:cNvPr id="19" name="文本框 18"/>
          <p:cNvSpPr txBox="1"/>
          <p:nvPr/>
        </p:nvSpPr>
        <p:spPr>
          <a:xfrm>
            <a:off x="7792085" y="4207510"/>
            <a:ext cx="4058920" cy="645160"/>
          </a:xfrm>
          <a:prstGeom prst="rect">
            <a:avLst/>
          </a:prstGeom>
          <a:noFill/>
        </p:spPr>
        <p:txBody>
          <a:bodyPr wrap="none" rtlCol="0" anchor="t">
            <a:spAutoFit/>
          </a:bodyPr>
          <a:lstStyle/>
          <a:p>
            <a:r>
              <a:rPr lang="zh-CN" altLang="en-US" sz="3600" b="1" spc="200" noProof="1">
                <a:solidFill>
                  <a:srgbClr val="7E593C"/>
                </a:solidFill>
                <a:latin typeface="+mj-lt"/>
                <a:ea typeface="宋体" panose="02010600030101010101" pitchFamily="2" charset="-122"/>
                <a:cs typeface="+mj-lt"/>
                <a:sym typeface="+mn-ea"/>
              </a:rPr>
              <a:t>我想去了解的</a:t>
            </a:r>
            <a:r>
              <a:rPr lang="zh-CN" altLang="en-US" sz="3600" b="1" spc="200" noProof="1">
                <a:solidFill>
                  <a:srgbClr val="7E593C"/>
                </a:solidFill>
                <a:latin typeface="+mj-lt"/>
                <a:ea typeface="宋体" panose="02010600030101010101" pitchFamily="2" charset="-122"/>
                <a:cs typeface="+mj-lt"/>
                <a:sym typeface="+mn-ea"/>
              </a:rPr>
              <a:t>方面</a:t>
            </a:r>
            <a:endParaRPr lang="zh-CN" altLang="en-US" sz="3600" b="1" spc="200" noProof="1">
              <a:solidFill>
                <a:srgbClr val="7E593C"/>
              </a:solidFill>
              <a:latin typeface="+mj-lt"/>
              <a:ea typeface="宋体" panose="02010600030101010101" pitchFamily="2" charset="-122"/>
              <a:cs typeface="+mj-lt"/>
              <a:sym typeface="+mn-ea"/>
            </a:endParaRPr>
          </a:p>
        </p:txBody>
      </p:sp>
      <p:sp>
        <p:nvSpPr>
          <p:cNvPr id="21" name="文本框 20"/>
          <p:cNvSpPr txBox="1"/>
          <p:nvPr/>
        </p:nvSpPr>
        <p:spPr>
          <a:xfrm>
            <a:off x="7792085" y="4852035"/>
            <a:ext cx="4233863" cy="1706880"/>
          </a:xfrm>
          <a:prstGeom prst="rect">
            <a:avLst/>
          </a:prstGeom>
          <a:noFill/>
        </p:spPr>
        <p:txBody>
          <a:bodyPr wrap="square" rtlCol="0">
            <a:spAutoFit/>
          </a:bodyPr>
          <a:lstStyle/>
          <a:p>
            <a:pPr>
              <a:lnSpc>
                <a:spcPct val="150000"/>
              </a:lnSpc>
            </a:pPr>
            <a:r>
              <a:rPr lang="en-US" altLang="zh-CN" sz="1000" spc="200" noProof="1">
                <a:solidFill>
                  <a:schemeClr val="bg1">
                    <a:lumMod val="50000"/>
                  </a:schemeClr>
                </a:solidFill>
                <a:latin typeface="+mj-lt"/>
                <a:cs typeface="+mj-lt"/>
              </a:rPr>
              <a:t>1</a:t>
            </a:r>
            <a:r>
              <a:rPr lang="zh-CN" altLang="en-US" sz="1000" spc="200" noProof="1">
                <a:solidFill>
                  <a:schemeClr val="bg1">
                    <a:lumMod val="50000"/>
                  </a:schemeClr>
                </a:solidFill>
                <a:latin typeface="+mj-lt"/>
                <a:cs typeface="+mj-lt"/>
              </a:rPr>
              <a:t>、为何会想到把</a:t>
            </a:r>
            <a:r>
              <a:rPr lang="en-US" altLang="zh-CN" sz="1000" spc="200" noProof="1">
                <a:solidFill>
                  <a:schemeClr val="bg1">
                    <a:lumMod val="50000"/>
                  </a:schemeClr>
                </a:solidFill>
                <a:latin typeface="+mj-lt"/>
                <a:cs typeface="+mj-lt"/>
              </a:rPr>
              <a:t>VR</a:t>
            </a:r>
            <a:r>
              <a:rPr lang="zh-CN" altLang="en-US" sz="1000" spc="200" noProof="1">
                <a:solidFill>
                  <a:schemeClr val="bg1">
                    <a:lumMod val="50000"/>
                  </a:schemeClr>
                </a:solidFill>
                <a:latin typeface="+mj-lt"/>
                <a:cs typeface="+mj-lt"/>
              </a:rPr>
              <a:t>技术应用到除了军事和航天领域以外的领域。</a:t>
            </a:r>
            <a:endParaRPr lang="zh-CN" altLang="en-US" sz="1000" spc="200" noProof="1">
              <a:solidFill>
                <a:schemeClr val="bg1">
                  <a:lumMod val="50000"/>
                </a:schemeClr>
              </a:solidFill>
              <a:latin typeface="+mj-lt"/>
              <a:cs typeface="+mj-lt"/>
            </a:endParaRPr>
          </a:p>
          <a:p>
            <a:pPr>
              <a:lnSpc>
                <a:spcPct val="150000"/>
              </a:lnSpc>
            </a:pPr>
            <a:r>
              <a:rPr lang="en-US" altLang="zh-CN" sz="1000" spc="200" noProof="1">
                <a:solidFill>
                  <a:schemeClr val="bg1">
                    <a:lumMod val="50000"/>
                  </a:schemeClr>
                </a:solidFill>
                <a:latin typeface="+mj-lt"/>
                <a:cs typeface="+mj-lt"/>
              </a:rPr>
              <a:t>2</a:t>
            </a:r>
            <a:r>
              <a:rPr lang="zh-CN" altLang="en-US" sz="1000" spc="200" noProof="1">
                <a:solidFill>
                  <a:schemeClr val="bg1">
                    <a:lumMod val="50000"/>
                  </a:schemeClr>
                </a:solidFill>
                <a:latin typeface="+mj-lt"/>
                <a:cs typeface="+mj-lt"/>
              </a:rPr>
              <a:t>、</a:t>
            </a:r>
            <a:r>
              <a:rPr lang="en-US" altLang="zh-CN" sz="1000" spc="200" noProof="1">
                <a:solidFill>
                  <a:schemeClr val="bg1">
                    <a:lumMod val="50000"/>
                  </a:schemeClr>
                </a:solidFill>
                <a:latin typeface="+mj-lt"/>
                <a:cs typeface="+mj-lt"/>
              </a:rPr>
              <a:t>VR</a:t>
            </a:r>
            <a:r>
              <a:rPr lang="zh-CN" altLang="en-US" sz="1000" spc="200" noProof="1">
                <a:solidFill>
                  <a:schemeClr val="bg1">
                    <a:lumMod val="50000"/>
                  </a:schemeClr>
                </a:solidFill>
                <a:latin typeface="+mj-lt"/>
                <a:cs typeface="+mj-lt"/>
              </a:rPr>
              <a:t>技术背后的各种思维的</a:t>
            </a:r>
            <a:r>
              <a:rPr lang="zh-CN" altLang="en-US" sz="1000" spc="200" noProof="1">
                <a:solidFill>
                  <a:schemeClr val="bg1">
                    <a:lumMod val="50000"/>
                  </a:schemeClr>
                </a:solidFill>
                <a:latin typeface="+mj-lt"/>
                <a:cs typeface="+mj-lt"/>
              </a:rPr>
              <a:t>发展历程</a:t>
            </a:r>
            <a:endParaRPr lang="zh-CN" altLang="en-US" sz="1000" spc="200" noProof="1">
              <a:solidFill>
                <a:schemeClr val="bg1">
                  <a:lumMod val="50000"/>
                </a:schemeClr>
              </a:solidFill>
              <a:latin typeface="+mj-lt"/>
              <a:cs typeface="+mj-lt"/>
            </a:endParaRPr>
          </a:p>
          <a:p>
            <a:pPr>
              <a:lnSpc>
                <a:spcPct val="150000"/>
              </a:lnSpc>
            </a:pPr>
            <a:r>
              <a:rPr lang="en-US" altLang="zh-CN" sz="1000" spc="200" noProof="1">
                <a:solidFill>
                  <a:schemeClr val="bg1">
                    <a:lumMod val="50000"/>
                  </a:schemeClr>
                </a:solidFill>
                <a:latin typeface="+mj-lt"/>
                <a:cs typeface="+mj-lt"/>
              </a:rPr>
              <a:t>3</a:t>
            </a:r>
            <a:r>
              <a:rPr lang="zh-CN" altLang="en-US" sz="1000" spc="200" noProof="1">
                <a:solidFill>
                  <a:schemeClr val="bg1">
                    <a:lumMod val="50000"/>
                  </a:schemeClr>
                </a:solidFill>
                <a:latin typeface="+mj-lt"/>
                <a:cs typeface="+mj-lt"/>
              </a:rPr>
              <a:t>、应用于</a:t>
            </a:r>
            <a:r>
              <a:rPr lang="en-US" altLang="zh-CN" sz="1000" spc="200" noProof="1">
                <a:solidFill>
                  <a:schemeClr val="bg1">
                    <a:lumMod val="50000"/>
                  </a:schemeClr>
                </a:solidFill>
                <a:latin typeface="+mj-lt"/>
                <a:cs typeface="+mj-lt"/>
              </a:rPr>
              <a:t>VR</a:t>
            </a:r>
            <a:r>
              <a:rPr lang="zh-CN" altLang="en-US" sz="1000" spc="200" noProof="1">
                <a:solidFill>
                  <a:schemeClr val="bg1">
                    <a:lumMod val="50000"/>
                  </a:schemeClr>
                </a:solidFill>
                <a:latin typeface="+mj-lt"/>
                <a:cs typeface="+mj-lt"/>
              </a:rPr>
              <a:t>的技术还能应用于</a:t>
            </a:r>
            <a:r>
              <a:rPr lang="zh-CN" altLang="en-US" sz="1000" spc="200" noProof="1">
                <a:solidFill>
                  <a:schemeClr val="bg1">
                    <a:lumMod val="50000"/>
                  </a:schemeClr>
                </a:solidFill>
                <a:latin typeface="+mj-lt"/>
                <a:cs typeface="+mj-lt"/>
              </a:rPr>
              <a:t>哪些方面</a:t>
            </a:r>
            <a:endParaRPr lang="zh-CN" altLang="en-US" sz="1000" spc="200" noProof="1">
              <a:solidFill>
                <a:schemeClr val="bg1">
                  <a:lumMod val="50000"/>
                </a:schemeClr>
              </a:solidFill>
              <a:latin typeface="+mj-lt"/>
              <a:cs typeface="+mj-lt"/>
            </a:endParaRPr>
          </a:p>
          <a:p>
            <a:pPr>
              <a:lnSpc>
                <a:spcPct val="150000"/>
              </a:lnSpc>
            </a:pPr>
            <a:r>
              <a:rPr lang="en-US" altLang="zh-CN" sz="1000" spc="200" noProof="1">
                <a:solidFill>
                  <a:schemeClr val="bg1">
                    <a:lumMod val="50000"/>
                  </a:schemeClr>
                </a:solidFill>
                <a:latin typeface="+mj-lt"/>
                <a:cs typeface="+mj-lt"/>
              </a:rPr>
              <a:t>4</a:t>
            </a:r>
            <a:r>
              <a:rPr lang="zh-CN" altLang="en-US" sz="1000" spc="200" noProof="1">
                <a:solidFill>
                  <a:schemeClr val="bg1">
                    <a:lumMod val="50000"/>
                  </a:schemeClr>
                </a:solidFill>
                <a:latin typeface="+mj-lt"/>
                <a:cs typeface="+mj-lt"/>
              </a:rPr>
              <a:t>、</a:t>
            </a:r>
            <a:r>
              <a:rPr lang="en-US" altLang="zh-CN" sz="1000" spc="200" noProof="1">
                <a:solidFill>
                  <a:schemeClr val="bg1">
                    <a:lumMod val="50000"/>
                  </a:schemeClr>
                </a:solidFill>
                <a:latin typeface="+mj-lt"/>
                <a:cs typeface="+mj-lt"/>
              </a:rPr>
              <a:t>VR</a:t>
            </a:r>
            <a:r>
              <a:rPr lang="zh-CN" altLang="en-US" sz="1000" spc="200" noProof="1">
                <a:solidFill>
                  <a:schemeClr val="bg1">
                    <a:lumMod val="50000"/>
                  </a:schemeClr>
                </a:solidFill>
                <a:latin typeface="+mj-lt"/>
                <a:cs typeface="+mj-lt"/>
              </a:rPr>
              <a:t>技术及那些思维的</a:t>
            </a:r>
            <a:r>
              <a:rPr lang="zh-CN" altLang="en-US" sz="1000" spc="200" noProof="1">
                <a:solidFill>
                  <a:schemeClr val="bg1">
                    <a:lumMod val="50000"/>
                  </a:schemeClr>
                </a:solidFill>
                <a:latin typeface="+mj-lt"/>
                <a:cs typeface="+mj-lt"/>
              </a:rPr>
              <a:t>未来发展方向</a:t>
            </a:r>
            <a:endParaRPr lang="zh-CN" altLang="en-US" sz="1000" spc="200" noProof="1">
              <a:solidFill>
                <a:schemeClr val="bg1">
                  <a:lumMod val="50000"/>
                </a:schemeClr>
              </a:solidFill>
              <a:latin typeface="+mj-lt"/>
              <a:cs typeface="+mj-lt"/>
            </a:endParaRPr>
          </a:p>
          <a:p>
            <a:pPr>
              <a:lnSpc>
                <a:spcPct val="150000"/>
              </a:lnSpc>
            </a:pPr>
            <a:r>
              <a:rPr lang="en-US" altLang="zh-CN" sz="1000" spc="200" noProof="1">
                <a:solidFill>
                  <a:schemeClr val="bg1">
                    <a:lumMod val="50000"/>
                  </a:schemeClr>
                </a:solidFill>
                <a:latin typeface="+mj-lt"/>
                <a:cs typeface="+mj-lt"/>
              </a:rPr>
              <a:t>5</a:t>
            </a:r>
            <a:r>
              <a:rPr lang="zh-CN" altLang="en-US" sz="1000" spc="200" noProof="1">
                <a:solidFill>
                  <a:schemeClr val="bg1">
                    <a:lumMod val="50000"/>
                  </a:schemeClr>
                </a:solidFill>
                <a:latin typeface="+mj-lt"/>
                <a:cs typeface="+mj-lt"/>
              </a:rPr>
              <a:t>、可以带给我们哪些</a:t>
            </a:r>
            <a:r>
              <a:rPr lang="zh-CN" altLang="en-US" sz="1000" spc="200" noProof="1">
                <a:solidFill>
                  <a:schemeClr val="bg1">
                    <a:lumMod val="50000"/>
                  </a:schemeClr>
                </a:solidFill>
                <a:latin typeface="+mj-lt"/>
                <a:cs typeface="+mj-lt"/>
              </a:rPr>
              <a:t>启示</a:t>
            </a:r>
            <a:endParaRPr lang="zh-CN" altLang="en-US" sz="1000" spc="200" noProof="1">
              <a:solidFill>
                <a:schemeClr val="bg1">
                  <a:lumMod val="50000"/>
                </a:schemeClr>
              </a:solidFill>
              <a:latin typeface="+mj-lt"/>
              <a:cs typeface="+mj-lt"/>
            </a:endParaRPr>
          </a:p>
          <a:p>
            <a:pPr>
              <a:lnSpc>
                <a:spcPct val="150000"/>
              </a:lnSpc>
            </a:pPr>
            <a:r>
              <a:rPr lang="en-US" altLang="zh-CN" sz="1000" spc="200" noProof="1">
                <a:solidFill>
                  <a:schemeClr val="bg1">
                    <a:lumMod val="50000"/>
                  </a:schemeClr>
                </a:solidFill>
                <a:latin typeface="+mj-lt"/>
                <a:cs typeface="+mj-lt"/>
              </a:rPr>
              <a:t>6</a:t>
            </a:r>
            <a:r>
              <a:rPr lang="zh-CN" altLang="en-US" sz="1000" spc="200" noProof="1">
                <a:solidFill>
                  <a:schemeClr val="bg1">
                    <a:lumMod val="50000"/>
                  </a:schemeClr>
                </a:solidFill>
                <a:latin typeface="+mj-lt"/>
                <a:cs typeface="+mj-lt"/>
              </a:rPr>
              <a:t>、主要是研究</a:t>
            </a:r>
            <a:r>
              <a:rPr lang="en-US" altLang="zh-CN" sz="1000" spc="200" noProof="1">
                <a:solidFill>
                  <a:schemeClr val="bg1">
                    <a:lumMod val="50000"/>
                  </a:schemeClr>
                </a:solidFill>
                <a:latin typeface="+mj-lt"/>
                <a:cs typeface="+mj-lt"/>
              </a:rPr>
              <a:t>VR</a:t>
            </a:r>
            <a:r>
              <a:rPr lang="zh-CN" altLang="en-US" sz="1000" spc="200" noProof="1">
                <a:solidFill>
                  <a:schemeClr val="bg1">
                    <a:lumMod val="50000"/>
                  </a:schemeClr>
                </a:solidFill>
                <a:latin typeface="+mj-lt"/>
                <a:cs typeface="+mj-lt"/>
              </a:rPr>
              <a:t>在游戏方面的应用</a:t>
            </a:r>
            <a:endParaRPr lang="zh-CN" altLang="en-US" sz="1000" spc="200" noProof="1">
              <a:solidFill>
                <a:schemeClr val="bg1">
                  <a:lumMod val="50000"/>
                </a:schemeClr>
              </a:solidFill>
              <a:latin typeface="+mj-lt"/>
              <a:cs typeface="+mj-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ED8CC"/>
        </a:solidFill>
        <a:effectLst/>
      </p:bgPr>
    </p:bg>
    <p:spTree>
      <p:nvGrpSpPr>
        <p:cNvPr id="1" name=""/>
        <p:cNvGrpSpPr/>
        <p:nvPr/>
      </p:nvGrpSpPr>
      <p:grpSpPr>
        <a:xfrm>
          <a:off x="0" y="0"/>
          <a:ext cx="0" cy="0"/>
          <a:chOff x="0" y="0"/>
          <a:chExt cx="0" cy="0"/>
        </a:xfrm>
      </p:grpSpPr>
      <p:sp>
        <p:nvSpPr>
          <p:cNvPr id="6" name="矩形 5"/>
          <p:cNvSpPr/>
          <p:nvPr/>
        </p:nvSpPr>
        <p:spPr>
          <a:xfrm>
            <a:off x="-33655" y="-55245"/>
            <a:ext cx="12249150" cy="6967855"/>
          </a:xfrm>
          <a:prstGeom prst="rect">
            <a:avLst/>
          </a:prstGeom>
          <a:solidFill>
            <a:srgbClr val="DED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d909388ef9f30ac29dfb903d38a6302"/>
          <p:cNvPicPr>
            <a:picLocks noChangeAspect="1"/>
          </p:cNvPicPr>
          <p:nvPr/>
        </p:nvPicPr>
        <p:blipFill>
          <a:blip r:embed="rId1"/>
          <a:srcRect l="19269" t="48419" r="32783"/>
          <a:stretch>
            <a:fillRect/>
          </a:stretch>
        </p:blipFill>
        <p:spPr>
          <a:xfrm rot="5400000">
            <a:off x="587534" y="-675640"/>
            <a:ext cx="3160871" cy="4403090"/>
          </a:xfrm>
          <a:prstGeom prst="rect">
            <a:avLst/>
          </a:prstGeom>
        </p:spPr>
      </p:pic>
      <p:pic>
        <p:nvPicPr>
          <p:cNvPr id="8" name="图片 7" descr="d909388ef9f30ac29dfb903d38a6302"/>
          <p:cNvPicPr>
            <a:picLocks noChangeAspect="1"/>
          </p:cNvPicPr>
          <p:nvPr/>
        </p:nvPicPr>
        <p:blipFill>
          <a:blip r:embed="rId1"/>
          <a:srcRect l="56160" t="-3248" r="23276" b="43865"/>
          <a:stretch>
            <a:fillRect/>
          </a:stretch>
        </p:blipFill>
        <p:spPr>
          <a:xfrm>
            <a:off x="10541635" y="-150495"/>
            <a:ext cx="1673860" cy="6261100"/>
          </a:xfrm>
          <a:prstGeom prst="rect">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9" name="文本框 8"/>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a:solidFill>
                  <a:schemeClr val="bg1"/>
                </a:solidFill>
                <a:uFillTx/>
                <a:latin typeface="+mj-lt"/>
                <a:cs typeface="+mj-lt"/>
                <a:sym typeface="+mn-ea"/>
              </a:rPr>
              <a:t>02</a:t>
            </a:r>
            <a:endParaRPr lang="zh-CN" altLang="en-US"/>
          </a:p>
        </p:txBody>
      </p:sp>
      <p:pic>
        <p:nvPicPr>
          <p:cNvPr id="11" name="图片 10" descr="320add92915d29881de9994cf72548a"/>
          <p:cNvPicPr>
            <a:picLocks noChangeAspect="1"/>
          </p:cNvPicPr>
          <p:nvPr/>
        </p:nvPicPr>
        <p:blipFill>
          <a:blip r:embed="rId2"/>
          <a:srcRect l="1387" t="6825" r="-731" b="13372"/>
          <a:stretch>
            <a:fillRect/>
          </a:stretch>
        </p:blipFill>
        <p:spPr>
          <a:xfrm>
            <a:off x="7728585" y="1778635"/>
            <a:ext cx="3365500" cy="3300730"/>
          </a:xfrm>
          <a:prstGeom prst="flowChartConnector">
            <a:avLst/>
          </a:prstGeom>
        </p:spPr>
      </p:pic>
      <p:sp>
        <p:nvSpPr>
          <p:cNvPr id="24" name="文本框 23"/>
          <p:cNvSpPr txBox="1"/>
          <p:nvPr/>
        </p:nvSpPr>
        <p:spPr>
          <a:xfrm>
            <a:off x="2421255" y="2309495"/>
            <a:ext cx="4592320" cy="1198880"/>
          </a:xfrm>
          <a:prstGeom prst="rect">
            <a:avLst/>
          </a:prstGeom>
          <a:noFill/>
        </p:spPr>
        <p:txBody>
          <a:bodyPr wrap="square" rtlCol="0">
            <a:spAutoFit/>
          </a:bodyPr>
          <a:lstStyle/>
          <a:p>
            <a:pPr>
              <a:lnSpc>
                <a:spcPct val="150000"/>
              </a:lnSpc>
            </a:pPr>
            <a:endParaRPr lang="en-US" altLang="zh-CN" spc="200" noProof="1">
              <a:solidFill>
                <a:schemeClr val="bg1">
                  <a:lumMod val="50000"/>
                </a:schemeClr>
              </a:solidFill>
              <a:latin typeface="+mj-lt"/>
              <a:cs typeface="+mj-lt"/>
            </a:endParaRPr>
          </a:p>
          <a:p>
            <a:pPr>
              <a:lnSpc>
                <a:spcPct val="150000"/>
              </a:lnSpc>
            </a:pPr>
            <a:endParaRPr lang="en-US" altLang="zh-CN" spc="200" noProof="1">
              <a:solidFill>
                <a:srgbClr val="7E593C"/>
              </a:solidFill>
              <a:latin typeface="+mj-lt"/>
              <a:cs typeface="+mj-lt"/>
            </a:endParaRPr>
          </a:p>
          <a:p>
            <a:pPr>
              <a:lnSpc>
                <a:spcPct val="150000"/>
              </a:lnSpc>
            </a:pPr>
            <a:endParaRPr lang="en-US" altLang="zh-CN" sz="1200" spc="200" noProof="1">
              <a:solidFill>
                <a:srgbClr val="7E593C"/>
              </a:solidFill>
              <a:latin typeface="+mj-lt"/>
              <a:ea typeface="宋体" panose="02010600030101010101" pitchFamily="2" charset="-122"/>
              <a:cs typeface="+mj-lt"/>
              <a:sym typeface="+mn-ea"/>
            </a:endParaRPr>
          </a:p>
        </p:txBody>
      </p:sp>
      <p:sp>
        <p:nvSpPr>
          <p:cNvPr id="12" name="文本框 11"/>
          <p:cNvSpPr txBox="1"/>
          <p:nvPr/>
        </p:nvSpPr>
        <p:spPr>
          <a:xfrm>
            <a:off x="1055370" y="621030"/>
            <a:ext cx="11170920" cy="5569585"/>
          </a:xfrm>
          <a:prstGeom prst="rect">
            <a:avLst/>
          </a:prstGeom>
          <a:noFill/>
        </p:spPr>
        <p:txBody>
          <a:bodyPr wrap="square" rtlCol="0" anchor="t">
            <a:spAutoFit/>
          </a:bodyPr>
          <a:lstStyle/>
          <a:p>
            <a:pPr algn="l"/>
            <a:r>
              <a:rPr lang="zh-CN" altLang="en-US" sz="2800" spc="200">
                <a:solidFill>
                  <a:srgbClr val="7E593C"/>
                </a:solidFill>
                <a:latin typeface="+mj-lt"/>
                <a:cs typeface="+mj-lt"/>
                <a:sym typeface="+mn-ea"/>
              </a:rPr>
              <a:t>为什么想去了解：</a:t>
            </a:r>
            <a:endParaRPr lang="zh-CN" altLang="en-US" sz="2800" spc="200">
              <a:solidFill>
                <a:srgbClr val="7E593C"/>
              </a:solidFill>
              <a:latin typeface="+mj-lt"/>
              <a:cs typeface="+mj-lt"/>
              <a:sym typeface="+mn-ea"/>
            </a:endParaRPr>
          </a:p>
          <a:p>
            <a:pPr algn="l"/>
            <a:endParaRPr lang="zh-CN" altLang="en-US" sz="2800" spc="200">
              <a:solidFill>
                <a:srgbClr val="7E593C"/>
              </a:solidFill>
              <a:latin typeface="+mj-lt"/>
              <a:cs typeface="+mj-lt"/>
              <a:sym typeface="+mn-ea"/>
            </a:endParaRPr>
          </a:p>
          <a:p>
            <a:pPr algn="l"/>
            <a:r>
              <a:rPr lang="zh-CN" altLang="en-US" sz="2000" spc="200">
                <a:solidFill>
                  <a:srgbClr val="7E593C"/>
                </a:solidFill>
                <a:latin typeface="+mj-lt"/>
                <a:cs typeface="+mj-lt"/>
                <a:sym typeface="+mn-ea"/>
              </a:rPr>
              <a:t>我第一次接触</a:t>
            </a:r>
            <a:r>
              <a:rPr lang="en-US" altLang="zh-CN" sz="2000" spc="200">
                <a:solidFill>
                  <a:srgbClr val="7E593C"/>
                </a:solidFill>
                <a:latin typeface="+mj-lt"/>
                <a:cs typeface="+mj-lt"/>
                <a:sym typeface="+mn-ea"/>
              </a:rPr>
              <a:t>VR</a:t>
            </a:r>
            <a:r>
              <a:rPr lang="zh-CN" altLang="en-US" sz="2000" spc="200">
                <a:solidFill>
                  <a:srgbClr val="7E593C"/>
                </a:solidFill>
                <a:latin typeface="+mj-lt"/>
                <a:cs typeface="+mj-lt"/>
                <a:sym typeface="+mn-ea"/>
              </a:rPr>
              <a:t>是因为学校里的心理实验，实话说那次的实验很简陋，</a:t>
            </a:r>
            <a:r>
              <a:rPr lang="en-US" altLang="zh-CN" sz="2000" spc="200">
                <a:solidFill>
                  <a:srgbClr val="7E593C"/>
                </a:solidFill>
                <a:latin typeface="+mj-lt"/>
                <a:cs typeface="+mj-lt"/>
                <a:sym typeface="+mn-ea"/>
              </a:rPr>
              <a:t>3D</a:t>
            </a:r>
            <a:r>
              <a:rPr lang="zh-CN" altLang="en-US" sz="2000" spc="200">
                <a:solidFill>
                  <a:srgbClr val="7E593C"/>
                </a:solidFill>
                <a:latin typeface="+mj-lt"/>
                <a:cs typeface="+mj-lt"/>
                <a:sym typeface="+mn-ea"/>
              </a:rPr>
              <a:t>建模</a:t>
            </a:r>
            <a:endParaRPr lang="zh-CN" altLang="en-US" sz="2000" spc="200">
              <a:solidFill>
                <a:srgbClr val="7E593C"/>
              </a:solidFill>
              <a:latin typeface="+mj-lt"/>
              <a:cs typeface="+mj-lt"/>
              <a:sym typeface="+mn-ea"/>
            </a:endParaRPr>
          </a:p>
          <a:p>
            <a:pPr algn="l"/>
            <a:r>
              <a:rPr lang="zh-CN" altLang="en-US" sz="2000" spc="200">
                <a:solidFill>
                  <a:srgbClr val="7E593C"/>
                </a:solidFill>
                <a:latin typeface="+mj-lt"/>
                <a:cs typeface="+mj-lt"/>
                <a:sym typeface="+mn-ea"/>
              </a:rPr>
              <a:t>称得上是一塌糊涂，不过第二次接触有了经验，操作手柄，活动</a:t>
            </a:r>
            <a:r>
              <a:rPr lang="zh-CN" altLang="en-US" sz="2000" spc="200">
                <a:solidFill>
                  <a:srgbClr val="7E593C"/>
                </a:solidFill>
                <a:latin typeface="+mj-lt"/>
                <a:cs typeface="+mj-lt"/>
                <a:sym typeface="+mn-ea"/>
              </a:rPr>
              <a:t>都更自然了些。</a:t>
            </a:r>
            <a:endParaRPr lang="zh-CN" altLang="en-US" sz="2000" spc="200">
              <a:solidFill>
                <a:srgbClr val="7E593C"/>
              </a:solidFill>
              <a:latin typeface="+mj-lt"/>
              <a:cs typeface="+mj-lt"/>
              <a:sym typeface="+mn-ea"/>
            </a:endParaRPr>
          </a:p>
          <a:p>
            <a:pPr algn="l"/>
            <a:endParaRPr lang="zh-CN" altLang="en-US" sz="2000" spc="200">
              <a:solidFill>
                <a:srgbClr val="7E593C"/>
              </a:solidFill>
              <a:latin typeface="+mj-lt"/>
              <a:cs typeface="+mj-lt"/>
              <a:sym typeface="+mn-ea"/>
            </a:endParaRPr>
          </a:p>
          <a:p>
            <a:pPr algn="l"/>
            <a:r>
              <a:rPr lang="zh-CN" altLang="en-US" sz="2000" spc="200">
                <a:solidFill>
                  <a:srgbClr val="7E593C"/>
                </a:solidFill>
                <a:latin typeface="+mj-lt"/>
                <a:cs typeface="+mj-lt"/>
                <a:sym typeface="+mn-ea"/>
              </a:rPr>
              <a:t>感觉其实很神奇，为什么我只是戴上了眼镜而已，</a:t>
            </a:r>
            <a:r>
              <a:rPr lang="zh-CN" altLang="en-US" sz="2000" spc="200">
                <a:solidFill>
                  <a:srgbClr val="7E593C"/>
                </a:solidFill>
                <a:latin typeface="+mj-lt"/>
                <a:cs typeface="+mj-lt"/>
                <a:sym typeface="+mn-ea"/>
              </a:rPr>
              <a:t>却可以看到一个全新的世界，</a:t>
            </a:r>
            <a:endParaRPr lang="zh-CN" altLang="en-US" sz="2000" spc="200">
              <a:solidFill>
                <a:srgbClr val="7E593C"/>
              </a:solidFill>
              <a:latin typeface="+mj-lt"/>
              <a:cs typeface="+mj-lt"/>
              <a:sym typeface="+mn-ea"/>
            </a:endParaRPr>
          </a:p>
          <a:p>
            <a:pPr algn="l"/>
            <a:r>
              <a:rPr lang="zh-CN" altLang="en-US" sz="2000" spc="200">
                <a:solidFill>
                  <a:srgbClr val="7E593C"/>
                </a:solidFill>
                <a:latin typeface="+mj-lt"/>
                <a:cs typeface="+mj-lt"/>
                <a:sym typeface="+mn-ea"/>
              </a:rPr>
              <a:t>我以第一视角接触这个世界，拥有视觉，也同样拥有</a:t>
            </a:r>
            <a:r>
              <a:rPr lang="zh-CN" altLang="en-US" sz="2000" spc="200">
                <a:solidFill>
                  <a:srgbClr val="7E593C"/>
                </a:solidFill>
                <a:latin typeface="+mj-lt"/>
                <a:cs typeface="+mj-lt"/>
                <a:sym typeface="+mn-ea"/>
              </a:rPr>
              <a:t>触觉。</a:t>
            </a:r>
            <a:endParaRPr lang="zh-CN" altLang="en-US" sz="2000" spc="200">
              <a:solidFill>
                <a:srgbClr val="7E593C"/>
              </a:solidFill>
              <a:latin typeface="+mj-lt"/>
              <a:cs typeface="+mj-lt"/>
              <a:sym typeface="+mn-ea"/>
            </a:endParaRPr>
          </a:p>
          <a:p>
            <a:pPr algn="l"/>
            <a:endParaRPr lang="en-US" altLang="zh-CN" sz="2000" spc="200">
              <a:solidFill>
                <a:srgbClr val="7E593C"/>
              </a:solidFill>
              <a:latin typeface="+mj-lt"/>
              <a:cs typeface="+mj-lt"/>
              <a:sym typeface="+mn-ea"/>
            </a:endParaRPr>
          </a:p>
          <a:p>
            <a:pPr algn="l"/>
            <a:r>
              <a:rPr lang="zh-CN" altLang="en-US" sz="2000" spc="200">
                <a:solidFill>
                  <a:srgbClr val="7E593C"/>
                </a:solidFill>
                <a:latin typeface="+mj-lt"/>
                <a:cs typeface="+mj-lt"/>
                <a:sym typeface="+mn-ea"/>
              </a:rPr>
              <a:t>为什么我有感觉？为什么我只是遮住了眼睛，但是不管往哪里看，</a:t>
            </a:r>
            <a:r>
              <a:rPr lang="zh-CN" altLang="en-US" sz="2000" spc="200">
                <a:solidFill>
                  <a:srgbClr val="7E593C"/>
                </a:solidFill>
                <a:latin typeface="+mj-lt"/>
                <a:cs typeface="+mj-lt"/>
                <a:sym typeface="+mn-ea"/>
              </a:rPr>
              <a:t>都是一副全新的景色？</a:t>
            </a:r>
            <a:endParaRPr lang="zh-CN" altLang="en-US" sz="2000" spc="200">
              <a:solidFill>
                <a:srgbClr val="7E593C"/>
              </a:solidFill>
              <a:latin typeface="+mj-lt"/>
              <a:cs typeface="+mj-lt"/>
              <a:sym typeface="+mn-ea"/>
            </a:endParaRPr>
          </a:p>
          <a:p>
            <a:pPr algn="l"/>
            <a:endParaRPr lang="zh-CN" altLang="en-US" sz="2000" spc="200">
              <a:solidFill>
                <a:srgbClr val="7E593C"/>
              </a:solidFill>
              <a:latin typeface="+mj-lt"/>
              <a:cs typeface="+mj-lt"/>
              <a:sym typeface="+mn-ea"/>
            </a:endParaRPr>
          </a:p>
          <a:p>
            <a:pPr algn="l"/>
            <a:r>
              <a:rPr lang="zh-CN" altLang="en-US" sz="2000" spc="200">
                <a:solidFill>
                  <a:srgbClr val="7E593C"/>
                </a:solidFill>
                <a:latin typeface="+mj-lt"/>
                <a:cs typeface="+mj-lt"/>
                <a:sym typeface="+mn-ea"/>
              </a:rPr>
              <a:t>虚拟现实技术(即VR），是20世纪发展起来的一项全新的实用技术。基本实现方式是以计算机技术为主，利用并综合三维图形技术，多媒体技术，仿真技术，显示技术伺服技术等多种高科技的最新发展成果，借助计算机等设备产生一个逼真的三维视觉、触觉、嗅觉等多种感官体验的虚拟世界，从而使处于虚拟世界中的人产生一种身临其境的感觉。随着社会生产力和科学技术的不断发展，各行各业对VR技术的需求日渐旺盛。VR技术也取得了巨大进步，并逐步成为一个新的科学技术领域。</a:t>
            </a:r>
            <a:endParaRPr lang="zh-CN" altLang="en-US" sz="2000" spc="200">
              <a:solidFill>
                <a:srgbClr val="7E593C"/>
              </a:solidFill>
              <a:latin typeface="+mj-lt"/>
              <a:cs typeface="+mj-lt"/>
              <a:sym typeface="+mn-ea"/>
            </a:endParaRPr>
          </a:p>
          <a:p>
            <a:endParaRPr lang="en-US" altLang="zh-CN" sz="2000" spc="200">
              <a:solidFill>
                <a:srgbClr val="7E593C"/>
              </a:solidFill>
              <a:latin typeface="+mj-lt"/>
              <a:cs typeface="+mj-lt"/>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ED8CC"/>
        </a:solidFill>
        <a:effectLst/>
      </p:bgPr>
    </p:bg>
    <p:spTree>
      <p:nvGrpSpPr>
        <p:cNvPr id="1" name=""/>
        <p:cNvGrpSpPr/>
        <p:nvPr/>
      </p:nvGrpSpPr>
      <p:grpSpPr>
        <a:xfrm>
          <a:off x="0" y="0"/>
          <a:ext cx="0" cy="0"/>
          <a:chOff x="0" y="0"/>
          <a:chExt cx="0" cy="0"/>
        </a:xfrm>
      </p:grpSpPr>
      <p:sp>
        <p:nvSpPr>
          <p:cNvPr id="6" name="矩形 5"/>
          <p:cNvSpPr/>
          <p:nvPr/>
        </p:nvSpPr>
        <p:spPr>
          <a:xfrm>
            <a:off x="-33655" y="-55245"/>
            <a:ext cx="12249150" cy="6967855"/>
          </a:xfrm>
          <a:prstGeom prst="rect">
            <a:avLst/>
          </a:prstGeom>
          <a:solidFill>
            <a:srgbClr val="DED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d909388ef9f30ac29dfb903d38a6302"/>
          <p:cNvPicPr>
            <a:picLocks noChangeAspect="1"/>
          </p:cNvPicPr>
          <p:nvPr/>
        </p:nvPicPr>
        <p:blipFill>
          <a:blip r:embed="rId1"/>
          <a:srcRect l="19269" t="48419" r="32783"/>
          <a:stretch>
            <a:fillRect/>
          </a:stretch>
        </p:blipFill>
        <p:spPr>
          <a:xfrm rot="5400000">
            <a:off x="587534" y="-675640"/>
            <a:ext cx="3160871" cy="4403090"/>
          </a:xfrm>
          <a:prstGeom prst="rect">
            <a:avLst/>
          </a:prstGeom>
        </p:spPr>
      </p:pic>
      <p:pic>
        <p:nvPicPr>
          <p:cNvPr id="8" name="图片 7" descr="d909388ef9f30ac29dfb903d38a6302"/>
          <p:cNvPicPr>
            <a:picLocks noChangeAspect="1"/>
          </p:cNvPicPr>
          <p:nvPr/>
        </p:nvPicPr>
        <p:blipFill>
          <a:blip r:embed="rId1"/>
          <a:srcRect l="56160" t="-3248" r="23276" b="43865"/>
          <a:stretch>
            <a:fillRect/>
          </a:stretch>
        </p:blipFill>
        <p:spPr>
          <a:xfrm>
            <a:off x="10541635" y="-150495"/>
            <a:ext cx="1673860" cy="6261100"/>
          </a:xfrm>
          <a:prstGeom prst="rect">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9" name="文本框 8"/>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a:solidFill>
                  <a:schemeClr val="bg1"/>
                </a:solidFill>
                <a:uFillTx/>
                <a:latin typeface="+mj-lt"/>
                <a:cs typeface="+mj-lt"/>
                <a:sym typeface="+mn-ea"/>
              </a:rPr>
              <a:t>02</a:t>
            </a:r>
            <a:endParaRPr lang="zh-CN" altLang="en-US"/>
          </a:p>
        </p:txBody>
      </p:sp>
      <p:pic>
        <p:nvPicPr>
          <p:cNvPr id="11" name="图片 10" descr="320add92915d29881de9994cf72548a"/>
          <p:cNvPicPr>
            <a:picLocks noChangeAspect="1"/>
          </p:cNvPicPr>
          <p:nvPr/>
        </p:nvPicPr>
        <p:blipFill>
          <a:blip r:embed="rId2"/>
          <a:srcRect l="1387" t="6825" r="-731" b="13372"/>
          <a:stretch>
            <a:fillRect/>
          </a:stretch>
        </p:blipFill>
        <p:spPr>
          <a:xfrm>
            <a:off x="7728585" y="1778635"/>
            <a:ext cx="3365500" cy="3300730"/>
          </a:xfrm>
          <a:prstGeom prst="flowChartConnector">
            <a:avLst/>
          </a:prstGeom>
        </p:spPr>
      </p:pic>
      <p:sp>
        <p:nvSpPr>
          <p:cNvPr id="24" name="文本框 23"/>
          <p:cNvSpPr txBox="1"/>
          <p:nvPr/>
        </p:nvSpPr>
        <p:spPr>
          <a:xfrm>
            <a:off x="2421255" y="2309495"/>
            <a:ext cx="4592320" cy="1198880"/>
          </a:xfrm>
          <a:prstGeom prst="rect">
            <a:avLst/>
          </a:prstGeom>
          <a:noFill/>
        </p:spPr>
        <p:txBody>
          <a:bodyPr wrap="square" rtlCol="0">
            <a:spAutoFit/>
          </a:bodyPr>
          <a:lstStyle/>
          <a:p>
            <a:pPr>
              <a:lnSpc>
                <a:spcPct val="150000"/>
              </a:lnSpc>
            </a:pPr>
            <a:endParaRPr lang="en-US" altLang="zh-CN" spc="200" noProof="1">
              <a:solidFill>
                <a:schemeClr val="bg1">
                  <a:lumMod val="50000"/>
                </a:schemeClr>
              </a:solidFill>
              <a:latin typeface="+mj-lt"/>
              <a:cs typeface="+mj-lt"/>
            </a:endParaRPr>
          </a:p>
          <a:p>
            <a:pPr>
              <a:lnSpc>
                <a:spcPct val="150000"/>
              </a:lnSpc>
            </a:pPr>
            <a:endParaRPr lang="en-US" altLang="zh-CN" spc="200" noProof="1">
              <a:solidFill>
                <a:srgbClr val="7E593C"/>
              </a:solidFill>
              <a:latin typeface="+mj-lt"/>
              <a:cs typeface="+mj-lt"/>
            </a:endParaRPr>
          </a:p>
          <a:p>
            <a:pPr>
              <a:lnSpc>
                <a:spcPct val="150000"/>
              </a:lnSpc>
            </a:pPr>
            <a:endParaRPr lang="en-US" altLang="zh-CN" sz="1200" spc="200" noProof="1">
              <a:solidFill>
                <a:srgbClr val="7E593C"/>
              </a:solidFill>
              <a:latin typeface="+mj-lt"/>
              <a:ea typeface="宋体" panose="02010600030101010101" pitchFamily="2" charset="-122"/>
              <a:cs typeface="+mj-lt"/>
              <a:sym typeface="+mn-ea"/>
            </a:endParaRPr>
          </a:p>
        </p:txBody>
      </p:sp>
      <p:sp>
        <p:nvSpPr>
          <p:cNvPr id="12" name="文本框 11"/>
          <p:cNvSpPr txBox="1"/>
          <p:nvPr/>
        </p:nvSpPr>
        <p:spPr>
          <a:xfrm>
            <a:off x="2207260" y="620395"/>
            <a:ext cx="3394710" cy="521970"/>
          </a:xfrm>
          <a:prstGeom prst="rect">
            <a:avLst/>
          </a:prstGeom>
          <a:noFill/>
        </p:spPr>
        <p:txBody>
          <a:bodyPr wrap="none" rtlCol="0" anchor="t">
            <a:spAutoFit/>
          </a:bodyPr>
          <a:lstStyle/>
          <a:p>
            <a:r>
              <a:rPr lang="en-US" altLang="zh-CN" sz="2800" spc="200">
                <a:solidFill>
                  <a:srgbClr val="7E593C"/>
                </a:solidFill>
                <a:latin typeface="+mj-lt"/>
                <a:cs typeface="+mj-lt"/>
                <a:sym typeface="+mn-ea"/>
              </a:rPr>
              <a:t>VR</a:t>
            </a:r>
            <a:r>
              <a:rPr lang="zh-CN" altLang="en-US" sz="2800" spc="200">
                <a:solidFill>
                  <a:srgbClr val="7E593C"/>
                </a:solidFill>
                <a:latin typeface="+mj-lt"/>
                <a:cs typeface="+mj-lt"/>
                <a:sym typeface="+mn-ea"/>
              </a:rPr>
              <a:t>技术的数学思维</a:t>
            </a:r>
            <a:endParaRPr lang="zh-CN" altLang="en-US" sz="2800" spc="200">
              <a:solidFill>
                <a:srgbClr val="7E593C"/>
              </a:solidFill>
              <a:latin typeface="+mj-lt"/>
              <a:cs typeface="+mj-lt"/>
              <a:sym typeface="+mn-ea"/>
            </a:endParaRPr>
          </a:p>
        </p:txBody>
      </p:sp>
      <p:sp>
        <p:nvSpPr>
          <p:cNvPr id="2" name="文本框 1"/>
          <p:cNvSpPr txBox="1"/>
          <p:nvPr/>
        </p:nvSpPr>
        <p:spPr>
          <a:xfrm>
            <a:off x="466090" y="1167130"/>
            <a:ext cx="7141845" cy="2030095"/>
          </a:xfrm>
          <a:prstGeom prst="rect">
            <a:avLst/>
          </a:prstGeom>
          <a:noFill/>
        </p:spPr>
        <p:txBody>
          <a:bodyPr wrap="square" rtlCol="0">
            <a:spAutoFit/>
          </a:bodyPr>
          <a:p>
            <a:r>
              <a:rPr lang="zh-CN" altLang="en-US"/>
              <a:t>一、三维几何学与计算</a:t>
            </a:r>
            <a:r>
              <a:rPr lang="en-US" altLang="zh-CN"/>
              <a:t>(zhongdian)</a:t>
            </a:r>
            <a:endParaRPr lang="zh-CN" altLang="en-US"/>
          </a:p>
          <a:p>
            <a:r>
              <a:rPr lang="zh-CN" altLang="en-US"/>
              <a:t>虚拟现实技术需要模拟三维立体空间，因此三维几何学与计算是关键的数学原理之一，对物体位置的描述是最基础的应用。</a:t>
            </a:r>
            <a:endParaRPr lang="zh-CN" altLang="en-US"/>
          </a:p>
          <a:p>
            <a:r>
              <a:rPr lang="zh-CN" altLang="en-US"/>
              <a:t>另外，三维几何学在</a:t>
            </a:r>
            <a:r>
              <a:rPr lang="zh-CN" altLang="en-US">
                <a:highlight>
                  <a:srgbClr val="FFFF00"/>
                </a:highlight>
              </a:rPr>
              <a:t>光线追踪和渲染</a:t>
            </a:r>
            <a:r>
              <a:rPr lang="en-US" altLang="zh-CN">
                <a:highlight>
                  <a:srgbClr val="FFFF00"/>
                </a:highlight>
              </a:rPr>
              <a:t>(</a:t>
            </a:r>
            <a:r>
              <a:rPr lang="zh-CN" altLang="en-US">
                <a:highlight>
                  <a:srgbClr val="FFFF00"/>
                </a:highlight>
              </a:rPr>
              <a:t>一个小步骤）</a:t>
            </a:r>
            <a:r>
              <a:rPr lang="zh-CN" altLang="en-US"/>
              <a:t>中</a:t>
            </a:r>
            <a:r>
              <a:rPr lang="zh-CN" altLang="en-US"/>
              <a:t>也起着重要作用。</a:t>
            </a:r>
            <a:endParaRPr lang="zh-CN" altLang="en-US"/>
          </a:p>
          <a:p>
            <a:r>
              <a:rPr lang="zh-CN" altLang="en-US"/>
              <a:t>二、</a:t>
            </a:r>
            <a:r>
              <a:rPr lang="zh-CN" altLang="en-US"/>
              <a:t>线性代数与矩阵变换</a:t>
            </a:r>
            <a:endParaRPr lang="zh-CN" altLang="en-US"/>
          </a:p>
          <a:p>
            <a:r>
              <a:rPr lang="zh-CN" altLang="en-US"/>
              <a:t>向量用来描述</a:t>
            </a:r>
            <a:r>
              <a:rPr lang="zh-CN" altLang="en-US"/>
              <a:t>物体的位置</a:t>
            </a:r>
            <a:endParaRPr lang="zh-CN" altLang="en-US"/>
          </a:p>
          <a:p>
            <a:r>
              <a:rPr lang="zh-CN" altLang="en-US"/>
              <a:t>矩阵用来描述物体的旋转、平移和</a:t>
            </a:r>
            <a:r>
              <a:rPr lang="zh-CN" altLang="en-US"/>
              <a:t>缩放等操作。</a:t>
            </a:r>
            <a:endParaRPr lang="zh-CN" altLang="en-US"/>
          </a:p>
        </p:txBody>
      </p:sp>
      <p:pic>
        <p:nvPicPr>
          <p:cNvPr id="3" name="图片 2"/>
          <p:cNvPicPr>
            <a:picLocks noChangeAspect="1"/>
          </p:cNvPicPr>
          <p:nvPr/>
        </p:nvPicPr>
        <p:blipFill>
          <a:blip r:embed="rId3"/>
          <a:stretch>
            <a:fillRect/>
          </a:stretch>
        </p:blipFill>
        <p:spPr>
          <a:xfrm>
            <a:off x="6383655" y="2198370"/>
            <a:ext cx="5575300" cy="908050"/>
          </a:xfrm>
          <a:prstGeom prst="rect">
            <a:avLst/>
          </a:prstGeom>
        </p:spPr>
      </p:pic>
      <p:pic>
        <p:nvPicPr>
          <p:cNvPr id="4" name="图片 3"/>
          <p:cNvPicPr>
            <a:picLocks noChangeAspect="1"/>
          </p:cNvPicPr>
          <p:nvPr/>
        </p:nvPicPr>
        <p:blipFill>
          <a:blip r:embed="rId4"/>
          <a:stretch>
            <a:fillRect/>
          </a:stretch>
        </p:blipFill>
        <p:spPr>
          <a:xfrm>
            <a:off x="622935" y="3284855"/>
            <a:ext cx="6184900" cy="2476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pPr algn="l"/>
            <a:r>
              <a:rPr lang="zh-CN" altLang="en-US" dirty="0"/>
              <a:t>光线追踪和渲染</a:t>
            </a:r>
            <a:endParaRPr lang="zh-CN" altLang="en-US" dirty="0"/>
          </a:p>
        </p:txBody>
      </p:sp>
      <p:sp>
        <p:nvSpPr>
          <p:cNvPr id="4" name="矩形 3"/>
          <p:cNvSpPr/>
          <p:nvPr>
            <p:custDataLst>
              <p:tags r:id="rId2"/>
            </p:custDataLst>
          </p:nvPr>
        </p:nvSpPr>
        <p:spPr>
          <a:xfrm>
            <a:off x="0" y="4568190"/>
            <a:ext cx="12202795" cy="2290445"/>
          </a:xfrm>
          <a:prstGeom prst="rect">
            <a:avLst/>
          </a:pr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rtlCol="0" anchor="ctr"/>
          <a:lstStyle/>
          <a:p>
            <a:pPr algn="ctr"/>
            <a:endParaRPr lang="zh-CN" altLang="en-US">
              <a:cs typeface="微软雅黑" panose="020B0503020204020204" charset="-122"/>
            </a:endParaRPr>
          </a:p>
        </p:txBody>
      </p:sp>
      <p:sp>
        <p:nvSpPr>
          <p:cNvPr id="10" name="标题"/>
          <p:cNvSpPr txBox="1"/>
          <p:nvPr>
            <p:custDataLst>
              <p:tags r:id="rId3"/>
            </p:custDataLst>
          </p:nvPr>
        </p:nvSpPr>
        <p:spPr>
          <a:xfrm>
            <a:off x="879475" y="4687570"/>
            <a:ext cx="5906135" cy="543560"/>
          </a:xfrm>
          <a:prstGeom prst="rect">
            <a:avLst/>
          </a:prstGeom>
          <a:noFill/>
        </p:spPr>
        <p:txBody>
          <a:bodyPr wrap="square" lIns="0" tIns="0" rIns="0" bIns="0" rtlCol="0" anchor="b" anchorCtr="0">
            <a:noAutofit/>
          </a:bodyPr>
          <a:lstStyle/>
          <a:p>
            <a:pPr>
              <a:lnSpc>
                <a:spcPct val="100000"/>
              </a:lnSpc>
            </a:pPr>
            <a:r>
              <a:rPr lang="zh-CN" altLang="en-US" b="1" spc="100" dirty="0">
                <a:solidFill>
                  <a:schemeClr val="lt1">
                    <a:lumMod val="100000"/>
                  </a:schemeClr>
                </a:solidFill>
                <a:uFillTx/>
                <a:latin typeface="+mn-ea"/>
                <a:cs typeface="+mn-ea"/>
                <a:sym typeface="+mn-ea"/>
              </a:rPr>
              <a:t>光线追踪是</a:t>
            </a:r>
            <a:r>
              <a:rPr lang="zh-CN" altLang="en-US" b="1" spc="100" dirty="0">
                <a:solidFill>
                  <a:schemeClr val="lt1">
                    <a:lumMod val="100000"/>
                  </a:schemeClr>
                </a:solidFill>
                <a:uFillTx/>
                <a:latin typeface="+mn-ea"/>
                <a:cs typeface="+mn-ea"/>
                <a:sym typeface="+mn-ea"/>
              </a:rPr>
              <a:t>三维计算机图形学中的一种渲染算法</a:t>
            </a:r>
            <a:endParaRPr lang="zh-CN" altLang="en-US" b="1" spc="100" dirty="0">
              <a:solidFill>
                <a:schemeClr val="lt1">
                  <a:lumMod val="100000"/>
                </a:schemeClr>
              </a:solidFill>
              <a:uFillTx/>
              <a:latin typeface="+mn-ea"/>
              <a:cs typeface="+mn-ea"/>
              <a:sym typeface="+mn-ea"/>
            </a:endParaRPr>
          </a:p>
        </p:txBody>
      </p:sp>
      <p:sp>
        <p:nvSpPr>
          <p:cNvPr id="3" name="正文"/>
          <p:cNvSpPr txBox="1"/>
          <p:nvPr>
            <p:custDataLst>
              <p:tags r:id="rId4"/>
            </p:custDataLst>
          </p:nvPr>
        </p:nvSpPr>
        <p:spPr>
          <a:xfrm>
            <a:off x="857885" y="5309870"/>
            <a:ext cx="5928360" cy="806450"/>
          </a:xfrm>
          <a:prstGeom prst="rect">
            <a:avLst/>
          </a:prstGeom>
          <a:ln>
            <a:noFill/>
            <a:prstDash val="sysDash"/>
          </a:ln>
        </p:spPr>
        <p:txBody>
          <a:bodyPr vert="horz" lIns="0" tIns="0" rIns="0" bIns="0" rtlCol="0">
            <a:noAutofit/>
          </a:bodyPr>
          <a:lstStyle>
            <a:lvl1pPr marL="228600" marR="0" lvl="0" indent="-228600" fontAlgn="auto">
              <a:lnSpc>
                <a:spcPct val="130000"/>
              </a:lnSpc>
              <a:spcBef>
                <a:spcPts val="0"/>
              </a:spcBef>
              <a:spcAft>
                <a:spcPts val="1000"/>
              </a:spcAft>
              <a:buFont typeface="Arial" panose="020B0604020202020204" pitchFamily="34" charset="0"/>
              <a:buChar char="●"/>
              <a:defRPr kumimoji="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l">
              <a:buNone/>
            </a:pPr>
            <a:r>
              <a:rPr lang="zh-CN" altLang="en-US" sz="1200">
                <a:sym typeface="+mn-ea"/>
              </a:rPr>
              <a:t>光线追踪和渲染是</a:t>
            </a:r>
            <a:r>
              <a:rPr lang="en-US" altLang="zh-CN" sz="1200">
                <a:sym typeface="+mn-ea"/>
              </a:rPr>
              <a:t>VR</a:t>
            </a:r>
            <a:r>
              <a:rPr lang="zh-CN" altLang="en-US" sz="1200">
                <a:sym typeface="+mn-ea"/>
              </a:rPr>
              <a:t>设计中需要解决的一个重要的小步骤，可以提升用户的沉浸感，与数学的联系在于三维几何学的应用。</a:t>
            </a:r>
            <a:endParaRPr lang="zh-CN" altLang="en-US" sz="1200" spc="130" dirty="0">
              <a:ln>
                <a:noFill/>
                <a:prstDash val="sysDot"/>
              </a:ln>
              <a:solidFill>
                <a:schemeClr val="lt1">
                  <a:lumMod val="100000"/>
                </a:schemeClr>
              </a:solidFill>
              <a:latin typeface="+mn-ea"/>
              <a:ea typeface="+mn-ea"/>
              <a:cs typeface="+mn-ea"/>
              <a:sym typeface="+mn-ea"/>
            </a:endParaRPr>
          </a:p>
        </p:txBody>
      </p:sp>
      <p:pic>
        <p:nvPicPr>
          <p:cNvPr id="14" name="图片对象" descr="C:/Users/xiaonian/Downloads/图片5.png图片5"/>
          <p:cNvPicPr>
            <a:picLocks noChangeAspect="1"/>
          </p:cNvPicPr>
          <p:nvPr>
            <p:custDataLst>
              <p:tags r:id="rId5"/>
            </p:custDataLst>
          </p:nvPr>
        </p:nvPicPr>
        <p:blipFill>
          <a:blip r:embed="rId6"/>
          <a:srcRect l="4128" t="12053" b="3036"/>
          <a:stretch>
            <a:fillRect/>
          </a:stretch>
        </p:blipFill>
        <p:spPr>
          <a:xfrm>
            <a:off x="8183880" y="980440"/>
            <a:ext cx="3810635" cy="4432935"/>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Tree>
    <p:custDataLst>
      <p:tags r:id="rId7"/>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p:txBody>
          <a:bodyPr/>
          <a:lstStyle/>
          <a:p>
            <a:r>
              <a:rPr lang="zh-CN" altLang="en-US" dirty="0">
                <a:sym typeface="+mn-ea"/>
              </a:rPr>
              <a:t>光线追踪随着时间的发展，越发趋近于一个框架</a:t>
            </a:r>
            <a:endParaRPr lang="zh-CN" altLang="en-US"/>
          </a:p>
        </p:txBody>
      </p:sp>
      <p:sp>
        <p:nvSpPr>
          <p:cNvPr id="3" name="对角圆角矩形 2"/>
          <p:cNvSpPr/>
          <p:nvPr>
            <p:custDataLst>
              <p:tags r:id="rId2"/>
            </p:custDataLst>
          </p:nvPr>
        </p:nvSpPr>
        <p:spPr>
          <a:xfrm>
            <a:off x="695960" y="1364175"/>
            <a:ext cx="3115310" cy="4417634"/>
          </a:xfrm>
          <a:prstGeom prst="round2DiagRect">
            <a:avLst>
              <a:gd name="adj1" fmla="val 17346"/>
              <a:gd name="adj2" fmla="val 0"/>
            </a:avLst>
          </a:prstGeom>
          <a:solidFill>
            <a:schemeClr val="accent1">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9" name="图片 28"/>
          <p:cNvPicPr>
            <a:picLocks noChangeAspect="1"/>
          </p:cNvPicPr>
          <p:nvPr>
            <p:custDataLst>
              <p:tags r:id="rId3"/>
            </p:custDataLst>
          </p:nvPr>
        </p:nvPicPr>
        <p:blipFill>
          <a:blip r:embed="rId4"/>
          <a:srcRect l="23508" r="23508"/>
          <a:stretch>
            <a:fillRect/>
          </a:stretch>
        </p:blipFill>
        <p:spPr>
          <a:xfrm>
            <a:off x="942975" y="1565178"/>
            <a:ext cx="3138805" cy="4442997"/>
          </a:xfrm>
          <a:prstGeom prst="round2DiagRect">
            <a:avLst>
              <a:gd name="adj1" fmla="val 15840"/>
              <a:gd name="adj2" fmla="val 0"/>
            </a:avLst>
          </a:prstGeom>
          <a:ln w="9525" cap="flat" cmpd="sng" algn="ctr">
            <a:solidFill>
              <a:schemeClr val="tx1">
                <a:lumMod val="100000"/>
                <a:alpha val="20000"/>
              </a:schemeClr>
            </a:solidFill>
            <a:prstDash val="solid"/>
            <a:round/>
            <a:headEnd type="none" w="med" len="med"/>
            <a:tailEnd type="none" w="med" len="med"/>
          </a:ln>
          <a:effectLst>
            <a:outerShdw blurRad="152400" dist="38100" dir="2700000" algn="tl" rotWithShape="0">
              <a:schemeClr val="tx1">
                <a:alpha val="20000"/>
              </a:schemeClr>
            </a:outerShdw>
          </a:effectLst>
        </p:spPr>
      </p:pic>
      <p:sp>
        <p:nvSpPr>
          <p:cNvPr id="47" name="圆角矩形 21"/>
          <p:cNvSpPr/>
          <p:nvPr>
            <p:custDataLst>
              <p:tags r:id="rId5"/>
            </p:custDataLst>
          </p:nvPr>
        </p:nvSpPr>
        <p:spPr>
          <a:xfrm>
            <a:off x="4822965" y="1363028"/>
            <a:ext cx="6696000" cy="1289050"/>
          </a:xfrm>
          <a:prstGeom prst="roundRect">
            <a:avLst>
              <a:gd name="adj" fmla="val 10263"/>
            </a:avLst>
          </a:prstGeom>
          <a:solidFill>
            <a:schemeClr val="accent1">
              <a:lumMod val="40000"/>
              <a:lumOff val="6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400">
              <a:latin typeface="+mj-ea"/>
              <a:ea typeface="+mj-ea"/>
            </a:endParaRPr>
          </a:p>
        </p:txBody>
      </p:sp>
      <p:sp>
        <p:nvSpPr>
          <p:cNvPr id="48" name="椭圆 47"/>
          <p:cNvSpPr/>
          <p:nvPr>
            <p:custDataLst>
              <p:tags r:id="rId6"/>
            </p:custDataLst>
          </p:nvPr>
        </p:nvSpPr>
        <p:spPr>
          <a:xfrm>
            <a:off x="4427285" y="1611553"/>
            <a:ext cx="792000" cy="792000"/>
          </a:xfrm>
          <a:prstGeom prst="ellipse">
            <a:avLst/>
          </a:prstGeom>
          <a:solidFill>
            <a:schemeClr val="accent1"/>
          </a:solidFill>
          <a:ln>
            <a:noFill/>
          </a:ln>
          <a:effectLst>
            <a:outerShdw blurRad="190500" dist="1270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p>
            <a:pPr algn="ctr">
              <a:spcBef>
                <a:spcPct val="0"/>
              </a:spcBef>
              <a:spcAft>
                <a:spcPct val="0"/>
              </a:spcAft>
            </a:pPr>
            <a:r>
              <a:rPr lang="en-US" altLang="zh-CN" sz="2000" b="1">
                <a:solidFill>
                  <a:schemeClr val="lt1">
                    <a:lumMod val="100000"/>
                  </a:schemeClr>
                </a:solidFill>
                <a:latin typeface="+mn-ea"/>
                <a:cs typeface="+mn-ea"/>
                <a:sym typeface="+mn-ea"/>
              </a:rPr>
              <a:t>01</a:t>
            </a:r>
            <a:endParaRPr lang="en-US" altLang="zh-CN" sz="2000" b="1">
              <a:solidFill>
                <a:schemeClr val="lt1">
                  <a:lumMod val="100000"/>
                </a:schemeClr>
              </a:solidFill>
              <a:latin typeface="+mn-ea"/>
              <a:cs typeface="+mn-ea"/>
              <a:sym typeface="+mn-ea"/>
            </a:endParaRPr>
          </a:p>
        </p:txBody>
      </p:sp>
      <p:sp>
        <p:nvSpPr>
          <p:cNvPr id="49" name="矩形 48"/>
          <p:cNvSpPr/>
          <p:nvPr>
            <p:custDataLst>
              <p:tags r:id="rId7"/>
            </p:custDataLst>
          </p:nvPr>
        </p:nvSpPr>
        <p:spPr>
          <a:xfrm>
            <a:off x="5474015" y="1890520"/>
            <a:ext cx="5728539" cy="752487"/>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光线追踪跟踪从眼睛发出的光线而不是光源，由此会有更好的光学效果，例如对于反射与折射有更准确的</a:t>
            </a:r>
            <a:r>
              <a:rPr lang="zh-CN" altLang="en-US" sz="1400" dirty="0">
                <a:solidFill>
                  <a:schemeClr val="tx1">
                    <a:lumMod val="85000"/>
                    <a:lumOff val="15000"/>
                  </a:schemeClr>
                </a:solidFill>
                <a:latin typeface="+mn-ea"/>
                <a:cs typeface="+mn-ea"/>
                <a:sym typeface="+mn-ea"/>
              </a:rPr>
              <a:t>模拟效果。</a:t>
            </a:r>
            <a:endParaRPr lang="zh-CN" altLang="en-US" sz="1400" dirty="0">
              <a:solidFill>
                <a:schemeClr val="tx1">
                  <a:lumMod val="85000"/>
                  <a:lumOff val="15000"/>
                </a:schemeClr>
              </a:solidFill>
              <a:latin typeface="+mn-ea"/>
              <a:cs typeface="+mn-ea"/>
              <a:sym typeface="+mn-ea"/>
            </a:endParaRPr>
          </a:p>
          <a:p>
            <a:pPr>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光线追踪的优点</a:t>
            </a:r>
            <a:r>
              <a:rPr lang="zh-CN" altLang="en-US" sz="1400" dirty="0">
                <a:solidFill>
                  <a:schemeClr val="tx1">
                    <a:lumMod val="85000"/>
                    <a:lumOff val="15000"/>
                  </a:schemeClr>
                </a:solidFill>
                <a:latin typeface="+mn-ea"/>
                <a:cs typeface="+mn-ea"/>
                <a:sym typeface="+mn-ea"/>
              </a:rPr>
              <a:t>主要体现在：</a:t>
            </a:r>
            <a:endParaRPr lang="zh-CN" altLang="en-US" sz="1400" dirty="0">
              <a:solidFill>
                <a:schemeClr val="tx1">
                  <a:lumMod val="85000"/>
                  <a:lumOff val="15000"/>
                </a:schemeClr>
              </a:solidFill>
              <a:latin typeface="+mn-ea"/>
              <a:cs typeface="+mn-ea"/>
              <a:sym typeface="+mn-ea"/>
            </a:endParaRPr>
          </a:p>
          <a:p>
            <a:pPr>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反射、折射、阴影效果好、全局光照、关键光</a:t>
            </a:r>
            <a:r>
              <a:rPr lang="zh-CN" altLang="en-US" sz="1400" dirty="0">
                <a:solidFill>
                  <a:schemeClr val="tx1">
                    <a:lumMod val="85000"/>
                    <a:lumOff val="15000"/>
                  </a:schemeClr>
                </a:solidFill>
                <a:latin typeface="+mn-ea"/>
                <a:cs typeface="+mn-ea"/>
                <a:sym typeface="+mn-ea"/>
              </a:rPr>
              <a:t>遮蔽</a:t>
            </a:r>
            <a:endParaRPr lang="zh-CN" altLang="en-US" sz="1400" dirty="0">
              <a:solidFill>
                <a:schemeClr val="tx1">
                  <a:lumMod val="85000"/>
                  <a:lumOff val="15000"/>
                </a:schemeClr>
              </a:solidFill>
              <a:latin typeface="+mn-ea"/>
              <a:cs typeface="+mn-ea"/>
              <a:sym typeface="+mn-ea"/>
            </a:endParaRPr>
          </a:p>
        </p:txBody>
      </p:sp>
      <p:sp>
        <p:nvSpPr>
          <p:cNvPr id="50" name="矩形 49"/>
          <p:cNvSpPr/>
          <p:nvPr>
            <p:custDataLst>
              <p:tags r:id="rId8"/>
            </p:custDataLst>
          </p:nvPr>
        </p:nvSpPr>
        <p:spPr>
          <a:xfrm>
            <a:off x="5474016" y="1422401"/>
            <a:ext cx="5728538" cy="443581"/>
          </a:xfrm>
          <a:prstGeom prst="rect">
            <a:avLst/>
          </a:prstGeom>
          <a:noFill/>
        </p:spPr>
        <p:txBody>
          <a:bodyPr wrap="square" lIns="0" tIns="0" rIns="0" bIns="0" rtlCol="0" anchor="b">
            <a:noAutofit/>
          </a:bodyPr>
          <a:lstStyle/>
          <a:p>
            <a:pPr>
              <a:spcBef>
                <a:spcPct val="0"/>
              </a:spcBef>
              <a:spcAft>
                <a:spcPct val="0"/>
              </a:spcAft>
            </a:pPr>
            <a:r>
              <a:rPr lang="zh-CN" altLang="en-US" sz="2000" b="1">
                <a:solidFill>
                  <a:schemeClr val="tx1">
                    <a:lumMod val="100000"/>
                  </a:schemeClr>
                </a:solidFill>
                <a:latin typeface="+mn-ea"/>
                <a:cs typeface="+mn-ea"/>
                <a:sym typeface="+mn-ea"/>
              </a:rPr>
              <a:t>光线追踪的</a:t>
            </a:r>
            <a:r>
              <a:rPr lang="zh-CN" altLang="en-US" sz="2000" b="1">
                <a:solidFill>
                  <a:schemeClr val="tx1">
                    <a:lumMod val="100000"/>
                  </a:schemeClr>
                </a:solidFill>
                <a:latin typeface="+mn-ea"/>
                <a:cs typeface="+mn-ea"/>
                <a:sym typeface="+mn-ea"/>
              </a:rPr>
              <a:t>优点：</a:t>
            </a:r>
            <a:endParaRPr lang="zh-CN" altLang="en-US" sz="2000" b="1">
              <a:solidFill>
                <a:schemeClr val="tx1">
                  <a:lumMod val="100000"/>
                </a:schemeClr>
              </a:solidFill>
              <a:latin typeface="+mn-ea"/>
              <a:cs typeface="+mn-ea"/>
              <a:sym typeface="+mn-ea"/>
            </a:endParaRPr>
          </a:p>
        </p:txBody>
      </p:sp>
      <p:sp>
        <p:nvSpPr>
          <p:cNvPr id="51" name="圆角矩形 21"/>
          <p:cNvSpPr/>
          <p:nvPr>
            <p:custDataLst>
              <p:tags r:id="rId9"/>
            </p:custDataLst>
          </p:nvPr>
        </p:nvSpPr>
        <p:spPr>
          <a:xfrm>
            <a:off x="4822965" y="3040381"/>
            <a:ext cx="6696000" cy="1289050"/>
          </a:xfrm>
          <a:prstGeom prst="roundRect">
            <a:avLst>
              <a:gd name="adj" fmla="val 10263"/>
            </a:avLst>
          </a:prstGeom>
          <a:solidFill>
            <a:schemeClr val="accent1">
              <a:lumMod val="40000"/>
              <a:lumOff val="6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400">
              <a:latin typeface="+mj-ea"/>
              <a:ea typeface="+mj-ea"/>
            </a:endParaRPr>
          </a:p>
        </p:txBody>
      </p:sp>
      <p:sp>
        <p:nvSpPr>
          <p:cNvPr id="52" name="椭圆 51"/>
          <p:cNvSpPr/>
          <p:nvPr>
            <p:custDataLst>
              <p:tags r:id="rId10"/>
            </p:custDataLst>
          </p:nvPr>
        </p:nvSpPr>
        <p:spPr>
          <a:xfrm>
            <a:off x="4427285" y="3288906"/>
            <a:ext cx="792000" cy="792000"/>
          </a:xfrm>
          <a:prstGeom prst="ellipse">
            <a:avLst/>
          </a:prstGeom>
          <a:solidFill>
            <a:schemeClr val="accent1"/>
          </a:solidFill>
          <a:ln>
            <a:noFill/>
          </a:ln>
          <a:effectLst>
            <a:outerShdw blurRad="190500" dist="1270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p>
            <a:pPr algn="ctr">
              <a:spcBef>
                <a:spcPct val="0"/>
              </a:spcBef>
              <a:spcAft>
                <a:spcPct val="0"/>
              </a:spcAft>
            </a:pPr>
            <a:r>
              <a:rPr lang="en-US" altLang="zh-CN" sz="2000" b="1">
                <a:solidFill>
                  <a:schemeClr val="lt1">
                    <a:lumMod val="100000"/>
                  </a:schemeClr>
                </a:solidFill>
                <a:latin typeface="+mn-ea"/>
                <a:cs typeface="+mn-ea"/>
                <a:sym typeface="+mn-ea"/>
              </a:rPr>
              <a:t>02</a:t>
            </a:r>
            <a:endParaRPr lang="en-US" altLang="zh-CN" sz="2000" b="1">
              <a:solidFill>
                <a:schemeClr val="lt1">
                  <a:lumMod val="100000"/>
                </a:schemeClr>
              </a:solidFill>
              <a:latin typeface="+mn-ea"/>
              <a:cs typeface="+mn-ea"/>
              <a:sym typeface="+mn-ea"/>
            </a:endParaRPr>
          </a:p>
        </p:txBody>
      </p:sp>
      <p:sp>
        <p:nvSpPr>
          <p:cNvPr id="53" name="矩形 52"/>
          <p:cNvSpPr/>
          <p:nvPr>
            <p:custDataLst>
              <p:tags r:id="rId11"/>
            </p:custDataLst>
          </p:nvPr>
        </p:nvSpPr>
        <p:spPr>
          <a:xfrm>
            <a:off x="5474015" y="3567873"/>
            <a:ext cx="5728539" cy="752487"/>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1400" dirty="0">
                <a:solidFill>
                  <a:schemeClr val="tx1">
                    <a:lumMod val="85000"/>
                    <a:lumOff val="15000"/>
                  </a:schemeClr>
                </a:solidFill>
                <a:latin typeface="+mn-ea"/>
                <a:cs typeface="+mn-ea"/>
                <a:sym typeface="+mn-ea"/>
              </a:rPr>
              <a:t> * </a:t>
            </a:r>
            <a:r>
              <a:rPr lang="zh-CN" altLang="en-US" sz="1400" dirty="0">
                <a:solidFill>
                  <a:schemeClr val="tx1">
                    <a:lumMod val="85000"/>
                    <a:lumOff val="15000"/>
                  </a:schemeClr>
                </a:solidFill>
                <a:latin typeface="+mn-ea"/>
                <a:cs typeface="+mn-ea"/>
                <a:sym typeface="+mn-ea"/>
              </a:rPr>
              <a:t>严苛的</a:t>
            </a:r>
            <a:r>
              <a:rPr lang="zh-CN" altLang="en-US" sz="1400" dirty="0">
                <a:solidFill>
                  <a:schemeClr val="tx1">
                    <a:lumMod val="85000"/>
                    <a:lumOff val="15000"/>
                  </a:schemeClr>
                </a:solidFill>
                <a:latin typeface="+mn-ea"/>
                <a:cs typeface="+mn-ea"/>
                <a:sym typeface="+mn-ea"/>
              </a:rPr>
              <a:t>硬性要求</a:t>
            </a:r>
            <a:endParaRPr lang="zh-CN" altLang="en-US" sz="1400" dirty="0">
              <a:solidFill>
                <a:schemeClr val="tx1">
                  <a:lumMod val="85000"/>
                  <a:lumOff val="15000"/>
                </a:schemeClr>
              </a:solidFill>
              <a:latin typeface="+mn-ea"/>
              <a:cs typeface="+mn-ea"/>
              <a:sym typeface="+mn-ea"/>
            </a:endParaRPr>
          </a:p>
          <a:p>
            <a:pPr>
              <a:lnSpc>
                <a:spcPct val="150000"/>
              </a:lnSpc>
              <a:spcBef>
                <a:spcPct val="0"/>
              </a:spcBef>
              <a:spcAft>
                <a:spcPct val="0"/>
              </a:spcAft>
            </a:pPr>
            <a:r>
              <a:rPr lang="en-US" altLang="zh-CN" sz="1400" dirty="0">
                <a:solidFill>
                  <a:schemeClr val="tx1">
                    <a:lumMod val="85000"/>
                    <a:lumOff val="15000"/>
                  </a:schemeClr>
                </a:solidFill>
                <a:latin typeface="+mn-ea"/>
                <a:cs typeface="+mn-ea"/>
                <a:sym typeface="+mn-ea"/>
              </a:rPr>
              <a:t> * </a:t>
            </a:r>
            <a:r>
              <a:rPr lang="zh-CN" altLang="en-US" sz="1400" dirty="0">
                <a:solidFill>
                  <a:schemeClr val="tx1">
                    <a:lumMod val="85000"/>
                    <a:lumOff val="15000"/>
                  </a:schemeClr>
                </a:solidFill>
                <a:latin typeface="+mn-ea"/>
                <a:cs typeface="+mn-ea"/>
                <a:sym typeface="+mn-ea"/>
              </a:rPr>
              <a:t>有限度的渲染特性</a:t>
            </a:r>
            <a:r>
              <a:rPr lang="zh-CN" altLang="en-US" sz="1400" dirty="0">
                <a:solidFill>
                  <a:schemeClr val="tx1">
                    <a:lumMod val="85000"/>
                    <a:lumOff val="15000"/>
                  </a:schemeClr>
                </a:solidFill>
                <a:latin typeface="+mn-ea"/>
                <a:cs typeface="+mn-ea"/>
                <a:sym typeface="+mn-ea"/>
              </a:rPr>
              <a:t>支持</a:t>
            </a:r>
            <a:endParaRPr lang="zh-CN" altLang="en-US" sz="1400" dirty="0">
              <a:solidFill>
                <a:schemeClr val="tx1">
                  <a:lumMod val="85000"/>
                  <a:lumOff val="15000"/>
                </a:schemeClr>
              </a:solidFill>
              <a:latin typeface="+mn-ea"/>
              <a:cs typeface="+mn-ea"/>
              <a:sym typeface="+mn-ea"/>
            </a:endParaRPr>
          </a:p>
          <a:p>
            <a:pPr>
              <a:lnSpc>
                <a:spcPct val="150000"/>
              </a:lnSpc>
              <a:spcBef>
                <a:spcPct val="0"/>
              </a:spcBef>
              <a:spcAft>
                <a:spcPct val="0"/>
              </a:spcAft>
            </a:pPr>
            <a:r>
              <a:rPr lang="en-US" altLang="zh-CN" sz="1400" dirty="0">
                <a:solidFill>
                  <a:schemeClr val="tx1">
                    <a:lumMod val="85000"/>
                    <a:lumOff val="15000"/>
                  </a:schemeClr>
                </a:solidFill>
                <a:latin typeface="+mn-ea"/>
                <a:cs typeface="+mn-ea"/>
                <a:sym typeface="+mn-ea"/>
              </a:rPr>
              <a:t> * </a:t>
            </a:r>
            <a:r>
              <a:rPr lang="zh-CN" altLang="en-US" sz="1400" dirty="0">
                <a:solidFill>
                  <a:schemeClr val="tx1">
                    <a:lumMod val="85000"/>
                    <a:lumOff val="15000"/>
                  </a:schemeClr>
                </a:solidFill>
                <a:latin typeface="+mn-ea"/>
                <a:cs typeface="+mn-ea"/>
                <a:sym typeface="+mn-ea"/>
              </a:rPr>
              <a:t>巨大的噪点</a:t>
            </a:r>
            <a:r>
              <a:rPr lang="zh-CN" altLang="en-US" sz="1400" dirty="0">
                <a:solidFill>
                  <a:schemeClr val="tx1">
                    <a:lumMod val="85000"/>
                    <a:lumOff val="15000"/>
                  </a:schemeClr>
                </a:solidFill>
                <a:latin typeface="+mn-ea"/>
                <a:cs typeface="+mn-ea"/>
                <a:sym typeface="+mn-ea"/>
              </a:rPr>
              <a:t>干扰</a:t>
            </a:r>
            <a:endParaRPr lang="zh-CN" altLang="en-US" sz="1400" dirty="0">
              <a:solidFill>
                <a:schemeClr val="tx1">
                  <a:lumMod val="85000"/>
                  <a:lumOff val="15000"/>
                </a:schemeClr>
              </a:solidFill>
              <a:latin typeface="+mn-ea"/>
              <a:cs typeface="+mn-ea"/>
              <a:sym typeface="+mn-ea"/>
            </a:endParaRPr>
          </a:p>
        </p:txBody>
      </p:sp>
      <p:sp>
        <p:nvSpPr>
          <p:cNvPr id="54" name="矩形 53"/>
          <p:cNvSpPr/>
          <p:nvPr>
            <p:custDataLst>
              <p:tags r:id="rId12"/>
            </p:custDataLst>
          </p:nvPr>
        </p:nvSpPr>
        <p:spPr>
          <a:xfrm>
            <a:off x="5474016" y="3099754"/>
            <a:ext cx="5728538" cy="443581"/>
          </a:xfrm>
          <a:prstGeom prst="rect">
            <a:avLst/>
          </a:prstGeom>
          <a:noFill/>
        </p:spPr>
        <p:txBody>
          <a:bodyPr wrap="square" lIns="0" tIns="0" rIns="0" bIns="0" rtlCol="0" anchor="b">
            <a:noAutofit/>
          </a:bodyPr>
          <a:lstStyle/>
          <a:p>
            <a:pPr>
              <a:spcBef>
                <a:spcPct val="0"/>
              </a:spcBef>
              <a:spcAft>
                <a:spcPct val="0"/>
              </a:spcAft>
            </a:pPr>
            <a:r>
              <a:rPr lang="zh-CN" altLang="en-US" sz="2000" b="1">
                <a:solidFill>
                  <a:schemeClr val="tx1">
                    <a:lumMod val="100000"/>
                  </a:schemeClr>
                </a:solidFill>
                <a:latin typeface="+mn-ea"/>
                <a:cs typeface="+mn-ea"/>
                <a:sym typeface="+mn-ea"/>
              </a:rPr>
              <a:t>光线追踪</a:t>
            </a:r>
            <a:r>
              <a:rPr lang="zh-CN" altLang="en-US" sz="2000" b="1">
                <a:solidFill>
                  <a:schemeClr val="tx1">
                    <a:lumMod val="100000"/>
                  </a:schemeClr>
                </a:solidFill>
                <a:latin typeface="+mn-ea"/>
                <a:cs typeface="+mn-ea"/>
                <a:sym typeface="+mn-ea"/>
              </a:rPr>
              <a:t>效果好的</a:t>
            </a:r>
            <a:r>
              <a:rPr lang="zh-CN" altLang="en-US" sz="2000" b="1">
                <a:solidFill>
                  <a:schemeClr val="tx1">
                    <a:lumMod val="100000"/>
                  </a:schemeClr>
                </a:solidFill>
                <a:latin typeface="+mn-ea"/>
                <a:cs typeface="+mn-ea"/>
                <a:sym typeface="+mn-ea"/>
              </a:rPr>
              <a:t>代价</a:t>
            </a:r>
            <a:endParaRPr lang="zh-CN" altLang="en-US" sz="2000" b="1">
              <a:solidFill>
                <a:schemeClr val="tx1">
                  <a:lumMod val="100000"/>
                </a:schemeClr>
              </a:solidFill>
              <a:latin typeface="+mn-ea"/>
              <a:cs typeface="+mn-ea"/>
              <a:sym typeface="+mn-ea"/>
            </a:endParaRPr>
          </a:p>
        </p:txBody>
      </p:sp>
      <p:sp>
        <p:nvSpPr>
          <p:cNvPr id="55" name="圆角矩形 21"/>
          <p:cNvSpPr/>
          <p:nvPr>
            <p:custDataLst>
              <p:tags r:id="rId13"/>
            </p:custDataLst>
          </p:nvPr>
        </p:nvSpPr>
        <p:spPr>
          <a:xfrm>
            <a:off x="4822965" y="4717733"/>
            <a:ext cx="6696000" cy="1289050"/>
          </a:xfrm>
          <a:prstGeom prst="roundRect">
            <a:avLst>
              <a:gd name="adj" fmla="val 10263"/>
            </a:avLst>
          </a:prstGeom>
          <a:solidFill>
            <a:schemeClr val="accent1">
              <a:lumMod val="40000"/>
              <a:lumOff val="6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400">
              <a:latin typeface="+mj-ea"/>
              <a:ea typeface="+mj-ea"/>
            </a:endParaRPr>
          </a:p>
        </p:txBody>
      </p:sp>
      <p:sp>
        <p:nvSpPr>
          <p:cNvPr id="56" name="椭圆 55"/>
          <p:cNvSpPr/>
          <p:nvPr>
            <p:custDataLst>
              <p:tags r:id="rId14"/>
            </p:custDataLst>
          </p:nvPr>
        </p:nvSpPr>
        <p:spPr>
          <a:xfrm>
            <a:off x="4427285" y="4966258"/>
            <a:ext cx="792000" cy="792000"/>
          </a:xfrm>
          <a:prstGeom prst="ellipse">
            <a:avLst/>
          </a:prstGeom>
          <a:solidFill>
            <a:schemeClr val="accent1"/>
          </a:solidFill>
          <a:ln>
            <a:noFill/>
          </a:ln>
          <a:effectLst>
            <a:outerShdw blurRad="190500" dist="1270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p>
            <a:pPr algn="ctr">
              <a:spcBef>
                <a:spcPct val="0"/>
              </a:spcBef>
              <a:spcAft>
                <a:spcPct val="0"/>
              </a:spcAft>
            </a:pPr>
            <a:r>
              <a:rPr lang="en-US" altLang="zh-CN" sz="2000" b="1">
                <a:solidFill>
                  <a:schemeClr val="lt1">
                    <a:lumMod val="100000"/>
                  </a:schemeClr>
                </a:solidFill>
                <a:latin typeface="+mn-ea"/>
                <a:cs typeface="+mn-ea"/>
                <a:sym typeface="+mn-ea"/>
              </a:rPr>
              <a:t>03</a:t>
            </a:r>
            <a:endParaRPr lang="en-US" altLang="zh-CN" sz="2000" b="1">
              <a:solidFill>
                <a:schemeClr val="lt1">
                  <a:lumMod val="100000"/>
                </a:schemeClr>
              </a:solidFill>
              <a:latin typeface="+mn-ea"/>
              <a:cs typeface="+mn-ea"/>
              <a:sym typeface="+mn-ea"/>
            </a:endParaRPr>
          </a:p>
        </p:txBody>
      </p:sp>
      <p:sp>
        <p:nvSpPr>
          <p:cNvPr id="57" name="矩形 56"/>
          <p:cNvSpPr/>
          <p:nvPr>
            <p:custDataLst>
              <p:tags r:id="rId15"/>
            </p:custDataLst>
          </p:nvPr>
        </p:nvSpPr>
        <p:spPr>
          <a:xfrm>
            <a:off x="5474015" y="5245225"/>
            <a:ext cx="5728539" cy="752487"/>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自然界的光线的传输研究</a:t>
            </a:r>
            <a:r>
              <a:rPr lang="en-US" altLang="zh-CN" sz="1400" dirty="0">
                <a:solidFill>
                  <a:schemeClr val="tx1">
                    <a:lumMod val="85000"/>
                    <a:lumOff val="15000"/>
                  </a:schemeClr>
                </a:solidFill>
                <a:latin typeface="+mn-ea"/>
                <a:cs typeface="+mn-ea"/>
                <a:sym typeface="+mn-ea"/>
              </a:rPr>
              <a:t>——</a:t>
            </a:r>
            <a:r>
              <a:rPr lang="zh-CN" altLang="en-US" sz="1400" dirty="0">
                <a:solidFill>
                  <a:schemeClr val="tx1">
                    <a:lumMod val="85000"/>
                    <a:lumOff val="15000"/>
                  </a:schemeClr>
                </a:solidFill>
                <a:latin typeface="+mn-ea"/>
                <a:cs typeface="+mn-ea"/>
                <a:sym typeface="+mn-ea"/>
              </a:rPr>
              <a:t>模拟自然界光线传输</a:t>
            </a:r>
            <a:r>
              <a:rPr lang="en-US" altLang="zh-CN" sz="1400" dirty="0">
                <a:solidFill>
                  <a:schemeClr val="tx1">
                    <a:lumMod val="85000"/>
                    <a:lumOff val="15000"/>
                  </a:schemeClr>
                </a:solidFill>
                <a:latin typeface="+mn-ea"/>
                <a:cs typeface="+mn-ea"/>
                <a:sym typeface="+mn-ea"/>
              </a:rPr>
              <a:t>——</a:t>
            </a:r>
            <a:r>
              <a:rPr lang="zh-CN" altLang="en-US" sz="1400" dirty="0">
                <a:solidFill>
                  <a:schemeClr val="tx1">
                    <a:lumMod val="85000"/>
                    <a:lumOff val="15000"/>
                  </a:schemeClr>
                </a:solidFill>
                <a:latin typeface="+mn-ea"/>
                <a:cs typeface="+mn-ea"/>
                <a:sym typeface="+mn-ea"/>
              </a:rPr>
              <a:t>光线投射</a:t>
            </a:r>
            <a:r>
              <a:rPr lang="en-US" altLang="zh-CN" sz="1400" dirty="0">
                <a:solidFill>
                  <a:schemeClr val="tx1">
                    <a:lumMod val="85000"/>
                    <a:lumOff val="15000"/>
                  </a:schemeClr>
                </a:solidFill>
                <a:latin typeface="+mn-ea"/>
                <a:cs typeface="+mn-ea"/>
                <a:sym typeface="+mn-ea"/>
              </a:rPr>
              <a:t>——</a:t>
            </a:r>
            <a:r>
              <a:rPr lang="zh-CN" altLang="en-US" sz="1400" dirty="0">
                <a:solidFill>
                  <a:schemeClr val="tx1">
                    <a:lumMod val="85000"/>
                    <a:lumOff val="15000"/>
                  </a:schemeClr>
                </a:solidFill>
                <a:latin typeface="+mn-ea"/>
                <a:cs typeface="+mn-ea"/>
                <a:sym typeface="+mn-ea"/>
              </a:rPr>
              <a:t>光线追踪</a:t>
            </a:r>
            <a:r>
              <a:rPr lang="en-US" altLang="zh-CN" sz="1400" dirty="0">
                <a:solidFill>
                  <a:schemeClr val="tx1">
                    <a:lumMod val="85000"/>
                    <a:lumOff val="15000"/>
                  </a:schemeClr>
                </a:solidFill>
                <a:latin typeface="+mn-ea"/>
                <a:cs typeface="+mn-ea"/>
                <a:sym typeface="+mn-ea"/>
              </a:rPr>
              <a:t>——</a:t>
            </a:r>
            <a:r>
              <a:rPr lang="zh-CN" altLang="en-US" sz="1400" dirty="0">
                <a:solidFill>
                  <a:schemeClr val="tx1">
                    <a:lumMod val="85000"/>
                    <a:lumOff val="15000"/>
                  </a:schemeClr>
                </a:solidFill>
                <a:latin typeface="+mn-ea"/>
                <a:cs typeface="+mn-ea"/>
                <a:sym typeface="+mn-ea"/>
              </a:rPr>
              <a:t>光线追踪算法</a:t>
            </a:r>
            <a:r>
              <a:rPr lang="zh-CN" altLang="en-US" sz="1400" dirty="0">
                <a:solidFill>
                  <a:schemeClr val="tx1">
                    <a:lumMod val="85000"/>
                    <a:lumOff val="15000"/>
                  </a:schemeClr>
                </a:solidFill>
                <a:latin typeface="+mn-ea"/>
                <a:cs typeface="+mn-ea"/>
                <a:sym typeface="+mn-ea"/>
              </a:rPr>
              <a:t>演进</a:t>
            </a:r>
            <a:endParaRPr lang="zh-CN" altLang="en-US" sz="1400" dirty="0">
              <a:solidFill>
                <a:schemeClr val="tx1">
                  <a:lumMod val="85000"/>
                  <a:lumOff val="15000"/>
                </a:schemeClr>
              </a:solidFill>
              <a:latin typeface="+mn-ea"/>
              <a:cs typeface="+mn-ea"/>
              <a:sym typeface="+mn-ea"/>
            </a:endParaRPr>
          </a:p>
        </p:txBody>
      </p:sp>
      <p:sp>
        <p:nvSpPr>
          <p:cNvPr id="58" name="矩形 57"/>
          <p:cNvSpPr/>
          <p:nvPr>
            <p:custDataLst>
              <p:tags r:id="rId16"/>
            </p:custDataLst>
          </p:nvPr>
        </p:nvSpPr>
        <p:spPr>
          <a:xfrm>
            <a:off x="5474016" y="4777106"/>
            <a:ext cx="5728538" cy="443581"/>
          </a:xfrm>
          <a:prstGeom prst="rect">
            <a:avLst/>
          </a:prstGeom>
          <a:noFill/>
        </p:spPr>
        <p:txBody>
          <a:bodyPr wrap="square" lIns="0" tIns="0" rIns="0" bIns="0" rtlCol="0" anchor="b">
            <a:noAutofit/>
          </a:bodyPr>
          <a:lstStyle/>
          <a:p>
            <a:pPr>
              <a:spcBef>
                <a:spcPct val="0"/>
              </a:spcBef>
              <a:spcAft>
                <a:spcPct val="0"/>
              </a:spcAft>
            </a:pPr>
            <a:r>
              <a:rPr lang="zh-CN" altLang="en-US" sz="2000" b="1">
                <a:solidFill>
                  <a:schemeClr val="tx1">
                    <a:lumMod val="100000"/>
                  </a:schemeClr>
                </a:solidFill>
                <a:latin typeface="+mn-ea"/>
                <a:cs typeface="+mn-ea"/>
                <a:sym typeface="+mn-ea"/>
              </a:rPr>
              <a:t>光线追踪算法的</a:t>
            </a:r>
            <a:r>
              <a:rPr lang="zh-CN" altLang="en-US" sz="2000" b="1">
                <a:solidFill>
                  <a:schemeClr val="tx1">
                    <a:lumMod val="100000"/>
                  </a:schemeClr>
                </a:solidFill>
                <a:latin typeface="+mn-ea"/>
                <a:cs typeface="+mn-ea"/>
                <a:sym typeface="+mn-ea"/>
              </a:rPr>
              <a:t>演化</a:t>
            </a:r>
            <a:endParaRPr lang="zh-CN" altLang="en-US" sz="2000" b="1">
              <a:solidFill>
                <a:schemeClr val="tx1">
                  <a:lumMod val="100000"/>
                </a:schemeClr>
              </a:solidFill>
              <a:latin typeface="+mn-ea"/>
              <a:cs typeface="+mn-ea"/>
              <a:sym typeface="+mn-ea"/>
            </a:endParaRPr>
          </a:p>
        </p:txBody>
      </p:sp>
    </p:spTree>
    <p:custDataLst>
      <p:tags r:id="rId17"/>
    </p:custData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custDataLst>
              <p:tags r:id="rId1"/>
            </p:custDataLst>
          </p:nvPr>
        </p:nvSpPr>
        <p:spPr>
          <a:xfrm>
            <a:off x="695325" y="2234518"/>
            <a:ext cx="501307" cy="501307"/>
          </a:xfrm>
          <a:prstGeom prst="ellipse">
            <a:avLst/>
          </a:prstGeom>
          <a:solidFill>
            <a:schemeClr val="accent1"/>
          </a:solidFill>
          <a:ln>
            <a:noFill/>
          </a:ln>
        </p:spPr>
        <p:txBody>
          <a:bodyPr wrap="none" lIns="0" tIns="0" rIns="0" bIns="0" rtlCol="0" anchor="ctr">
            <a:noAutofit/>
          </a:bodyPr>
          <a:lstStyle/>
          <a:p>
            <a:pPr algn="ctr">
              <a:spcBef>
                <a:spcPct val="0"/>
              </a:spcBef>
              <a:spcAft>
                <a:spcPct val="0"/>
              </a:spcAft>
            </a:pPr>
            <a:r>
              <a:rPr lang="en-US" altLang="zh-CN" sz="1600" b="1" kern="0" dirty="0">
                <a:solidFill>
                  <a:srgbClr val="FFFFFF"/>
                </a:solidFill>
                <a:latin typeface="+mn-ea"/>
                <a:cs typeface="+mn-ea"/>
              </a:rPr>
              <a:t>01</a:t>
            </a:r>
            <a:endParaRPr lang="zh-CN" altLang="en-US" sz="1600" b="1" kern="0" dirty="0">
              <a:solidFill>
                <a:srgbClr val="FFFFFF"/>
              </a:solidFill>
              <a:latin typeface="+mn-ea"/>
              <a:cs typeface="+mn-ea"/>
            </a:endParaRPr>
          </a:p>
        </p:txBody>
      </p:sp>
      <p:sp>
        <p:nvSpPr>
          <p:cNvPr id="16" name="矩形 15"/>
          <p:cNvSpPr/>
          <p:nvPr>
            <p:custDataLst>
              <p:tags r:id="rId2"/>
            </p:custDataLst>
          </p:nvPr>
        </p:nvSpPr>
        <p:spPr>
          <a:xfrm>
            <a:off x="1343660" y="1700530"/>
            <a:ext cx="3089275" cy="328295"/>
          </a:xfrm>
          <a:prstGeom prst="rect">
            <a:avLst/>
          </a:prstGeom>
          <a:noFill/>
        </p:spPr>
        <p:txBody>
          <a:bodyPr wrap="square" lIns="0" tIns="0" rIns="0" bIns="0" rtlCol="0" anchor="t" anchorCtr="0">
            <a:noAutofit/>
          </a:bodyPr>
          <a:lstStyle/>
          <a:p>
            <a:pPr>
              <a:lnSpc>
                <a:spcPct val="130000"/>
              </a:lnSpc>
              <a:spcBef>
                <a:spcPct val="0"/>
              </a:spcBef>
              <a:spcAft>
                <a:spcPct val="0"/>
              </a:spcAft>
            </a:pPr>
            <a:r>
              <a:rPr lang="zh-CN" altLang="en-US" dirty="0">
                <a:ln>
                  <a:noFill/>
                  <a:prstDash val="sysDot"/>
                </a:ln>
                <a:solidFill>
                  <a:schemeClr val="tx1">
                    <a:lumMod val="85000"/>
                    <a:lumOff val="15000"/>
                  </a:schemeClr>
                </a:solidFill>
                <a:latin typeface="+mn-ea"/>
                <a:cs typeface="+mn-ea"/>
              </a:rPr>
              <a:t>相机在创建时的默认位置是世界的远点，真实世界针孔摄像机的胶片位于光圈后面，通过几何结构使光线形成场景的</a:t>
            </a:r>
            <a:r>
              <a:rPr lang="zh-CN" altLang="en-US" dirty="0">
                <a:ln>
                  <a:noFill/>
                  <a:prstDash val="sysDot"/>
                </a:ln>
                <a:solidFill>
                  <a:schemeClr val="tx1">
                    <a:lumMod val="85000"/>
                    <a:lumOff val="15000"/>
                  </a:schemeClr>
                </a:solidFill>
                <a:latin typeface="+mn-ea"/>
                <a:cs typeface="+mn-ea"/>
              </a:rPr>
              <a:t>倒置图像。</a:t>
            </a:r>
            <a:endParaRPr lang="zh-CN" altLang="en-US" dirty="0">
              <a:ln>
                <a:noFill/>
                <a:prstDash val="sysDot"/>
              </a:ln>
              <a:solidFill>
                <a:schemeClr val="tx1">
                  <a:lumMod val="85000"/>
                  <a:lumOff val="15000"/>
                </a:schemeClr>
              </a:solidFill>
              <a:latin typeface="+mn-ea"/>
              <a:cs typeface="+mn-ea"/>
            </a:endParaRPr>
          </a:p>
        </p:txBody>
      </p:sp>
      <p:sp>
        <p:nvSpPr>
          <p:cNvPr id="18" name="矩形 17"/>
          <p:cNvSpPr/>
          <p:nvPr>
            <p:custDataLst>
              <p:tags r:id="rId3"/>
            </p:custDataLst>
          </p:nvPr>
        </p:nvSpPr>
        <p:spPr>
          <a:xfrm>
            <a:off x="1346200" y="5166360"/>
            <a:ext cx="1768475" cy="328295"/>
          </a:xfrm>
          <a:prstGeom prst="rect">
            <a:avLst/>
          </a:prstGeom>
        </p:spPr>
        <p:style>
          <a:lnRef idx="0">
            <a:srgbClr val="FFFFFF"/>
          </a:lnRef>
          <a:fillRef idx="1">
            <a:schemeClr val="accent1"/>
          </a:fillRef>
          <a:effectRef idx="0">
            <a:srgbClr val="FFFFFF"/>
          </a:effectRef>
          <a:fontRef idx="minor">
            <a:schemeClr val="dk1"/>
          </a:fontRef>
        </p:style>
        <p:txBody>
          <a:bodyPr wrap="square" lIns="0" tIns="0" rIns="0" bIns="0" rtlCol="0" anchor="t" anchorCtr="0">
            <a:noAutofit/>
          </a:bodyPr>
          <a:lstStyle/>
          <a:p>
            <a:pPr>
              <a:lnSpc>
                <a:spcPct val="130000"/>
              </a:lnSpc>
              <a:spcBef>
                <a:spcPct val="0"/>
              </a:spcBef>
              <a:spcAft>
                <a:spcPct val="0"/>
              </a:spcAft>
            </a:pPr>
            <a:r>
              <a:rPr lang="zh-CN" altLang="en-US" b="1" dirty="0">
                <a:ln>
                  <a:noFill/>
                  <a:prstDash val="sysDot"/>
                </a:ln>
                <a:solidFill>
                  <a:schemeClr val="tx1">
                    <a:lumMod val="85000"/>
                    <a:lumOff val="15000"/>
                  </a:schemeClr>
                </a:solidFill>
                <a:latin typeface="+mn-ea"/>
                <a:cs typeface="+mn-ea"/>
              </a:rPr>
              <a:t>从相机到世界</a:t>
            </a:r>
            <a:endParaRPr lang="zh-CN" altLang="en-US" b="1" dirty="0">
              <a:ln>
                <a:noFill/>
                <a:prstDash val="sysDot"/>
              </a:ln>
              <a:solidFill>
                <a:schemeClr val="tx1">
                  <a:lumMod val="85000"/>
                  <a:lumOff val="15000"/>
                </a:schemeClr>
              </a:solidFill>
              <a:latin typeface="+mn-ea"/>
              <a:cs typeface="+mn-ea"/>
            </a:endParaRPr>
          </a:p>
        </p:txBody>
      </p:sp>
      <p:sp>
        <p:nvSpPr>
          <p:cNvPr id="20" name="矩形 19"/>
          <p:cNvSpPr/>
          <p:nvPr>
            <p:custDataLst>
              <p:tags r:id="rId4"/>
            </p:custDataLst>
          </p:nvPr>
        </p:nvSpPr>
        <p:spPr>
          <a:xfrm>
            <a:off x="1345949" y="3433759"/>
            <a:ext cx="3089276" cy="328051"/>
          </a:xfrm>
          <a:prstGeom prst="rect">
            <a:avLst/>
          </a:prstGeom>
          <a:noFill/>
        </p:spPr>
        <p:txBody>
          <a:bodyPr wrap="square" lIns="0" tIns="0" rIns="0" bIns="0" rtlCol="0" anchor="t" anchorCtr="0">
            <a:noAutofit/>
          </a:bodyPr>
          <a:lstStyle/>
          <a:p>
            <a:pPr>
              <a:lnSpc>
                <a:spcPct val="130000"/>
              </a:lnSpc>
              <a:spcBef>
                <a:spcPct val="0"/>
              </a:spcBef>
              <a:spcAft>
                <a:spcPct val="0"/>
              </a:spcAft>
            </a:pPr>
            <a:r>
              <a:rPr lang="zh-CN" altLang="en-US" dirty="0">
                <a:ln>
                  <a:noFill/>
                  <a:prstDash val="sysDot"/>
                </a:ln>
                <a:solidFill>
                  <a:schemeClr val="tx1">
                    <a:lumMod val="85000"/>
                    <a:lumOff val="15000"/>
                  </a:schemeClr>
                </a:solidFill>
                <a:latin typeface="+mn-ea"/>
                <a:cs typeface="+mn-ea"/>
              </a:rPr>
              <a:t>我们的任务包括为帧的每个像素创建一条原光</a:t>
            </a:r>
            <a:r>
              <a:rPr lang="zh-CN" altLang="en-US" dirty="0">
                <a:ln>
                  <a:noFill/>
                  <a:prstDash val="sysDot"/>
                </a:ln>
                <a:solidFill>
                  <a:schemeClr val="tx1">
                    <a:lumMod val="85000"/>
                    <a:lumOff val="15000"/>
                  </a:schemeClr>
                </a:solidFill>
                <a:latin typeface="+mn-ea"/>
                <a:cs typeface="+mn-ea"/>
              </a:rPr>
              <a:t>线，我们可以用射线的形式表示这条线，其原点是相机的原点，其方向是从相机原点到像素中心的矢量。</a:t>
            </a:r>
            <a:endParaRPr lang="zh-CN" altLang="en-US" dirty="0">
              <a:ln>
                <a:noFill/>
                <a:prstDash val="sysDot"/>
              </a:ln>
              <a:solidFill>
                <a:schemeClr val="tx1">
                  <a:lumMod val="85000"/>
                  <a:lumOff val="15000"/>
                </a:schemeClr>
              </a:solidFill>
              <a:latin typeface="+mn-ea"/>
              <a:cs typeface="+mn-ea"/>
            </a:endParaRPr>
          </a:p>
        </p:txBody>
      </p:sp>
      <p:sp>
        <p:nvSpPr>
          <p:cNvPr id="22" name="椭圆 21"/>
          <p:cNvSpPr/>
          <p:nvPr>
            <p:custDataLst>
              <p:tags r:id="rId5"/>
            </p:custDataLst>
          </p:nvPr>
        </p:nvSpPr>
        <p:spPr>
          <a:xfrm>
            <a:off x="695325" y="3668213"/>
            <a:ext cx="501307" cy="501307"/>
          </a:xfrm>
          <a:prstGeom prst="ellipse">
            <a:avLst/>
          </a:prstGeom>
          <a:solidFill>
            <a:schemeClr val="accent1"/>
          </a:solidFill>
          <a:ln>
            <a:noFill/>
          </a:ln>
        </p:spPr>
        <p:txBody>
          <a:bodyPr wrap="none" lIns="0" tIns="0" rIns="0" bIns="0" rtlCol="0" anchor="ctr">
            <a:noAutofit/>
          </a:bodyPr>
          <a:lstStyle/>
          <a:p>
            <a:pPr algn="ctr">
              <a:spcBef>
                <a:spcPct val="0"/>
              </a:spcBef>
              <a:spcAft>
                <a:spcPct val="0"/>
              </a:spcAft>
            </a:pPr>
            <a:r>
              <a:rPr lang="en-US" altLang="zh-CN" sz="1600" b="1" kern="0" dirty="0">
                <a:solidFill>
                  <a:srgbClr val="FFFFFF"/>
                </a:solidFill>
                <a:latin typeface="+mn-ea"/>
                <a:cs typeface="+mn-ea"/>
              </a:rPr>
              <a:t>02</a:t>
            </a:r>
            <a:endParaRPr lang="zh-CN" altLang="en-US" sz="1600" b="1" kern="0" dirty="0">
              <a:solidFill>
                <a:srgbClr val="FFFFFF"/>
              </a:solidFill>
              <a:latin typeface="+mn-ea"/>
              <a:cs typeface="+mn-ea"/>
            </a:endParaRPr>
          </a:p>
        </p:txBody>
      </p:sp>
      <p:sp>
        <p:nvSpPr>
          <p:cNvPr id="25" name="椭圆 24"/>
          <p:cNvSpPr/>
          <p:nvPr>
            <p:custDataLst>
              <p:tags r:id="rId6"/>
            </p:custDataLst>
          </p:nvPr>
        </p:nvSpPr>
        <p:spPr>
          <a:xfrm>
            <a:off x="695325" y="5101908"/>
            <a:ext cx="501307" cy="501307"/>
          </a:xfrm>
          <a:prstGeom prst="ellipse">
            <a:avLst/>
          </a:prstGeom>
          <a:solidFill>
            <a:schemeClr val="accent1"/>
          </a:solidFill>
          <a:ln>
            <a:noFill/>
          </a:ln>
        </p:spPr>
        <p:txBody>
          <a:bodyPr wrap="none" lIns="0" tIns="0" rIns="0" bIns="0" rtlCol="0" anchor="ctr">
            <a:noAutofit/>
          </a:bodyPr>
          <a:lstStyle/>
          <a:p>
            <a:pPr algn="ctr">
              <a:spcBef>
                <a:spcPct val="0"/>
              </a:spcBef>
              <a:spcAft>
                <a:spcPct val="0"/>
              </a:spcAft>
            </a:pPr>
            <a:r>
              <a:rPr lang="en-US" altLang="zh-CN" sz="1600" b="1" kern="0">
                <a:solidFill>
                  <a:srgbClr val="FFFFFF"/>
                </a:solidFill>
                <a:latin typeface="+mn-ea"/>
                <a:cs typeface="+mn-ea"/>
              </a:rPr>
              <a:t>03</a:t>
            </a:r>
            <a:endParaRPr lang="zh-CN" altLang="en-US" sz="1600" b="1" kern="0">
              <a:solidFill>
                <a:srgbClr val="FFFFFF"/>
              </a:solidFill>
              <a:latin typeface="+mn-ea"/>
              <a:cs typeface="+mn-ea"/>
            </a:endParaRPr>
          </a:p>
        </p:txBody>
      </p:sp>
      <p:sp>
        <p:nvSpPr>
          <p:cNvPr id="24" name="任意多边形: 形状 23"/>
          <p:cNvSpPr/>
          <p:nvPr>
            <p:custDataLst>
              <p:tags r:id="rId7"/>
            </p:custDataLst>
          </p:nvPr>
        </p:nvSpPr>
        <p:spPr>
          <a:xfrm>
            <a:off x="6853472" y="0"/>
            <a:ext cx="5338528" cy="5283200"/>
          </a:xfrm>
          <a:custGeom>
            <a:avLst/>
            <a:gdLst>
              <a:gd name="connsiteX0" fmla="*/ 0 w 3640137"/>
              <a:gd name="connsiteY0" fmla="*/ 0 h 5283200"/>
              <a:gd name="connsiteX1" fmla="*/ 3640137 w 3640137"/>
              <a:gd name="connsiteY1" fmla="*/ 0 h 5283200"/>
              <a:gd name="connsiteX2" fmla="*/ 3640137 w 3640137"/>
              <a:gd name="connsiteY2" fmla="*/ 5283200 h 5283200"/>
              <a:gd name="connsiteX3" fmla="*/ 3144983 w 3640137"/>
              <a:gd name="connsiteY3" fmla="*/ 5283200 h 5283200"/>
            </a:gdLst>
            <a:ahLst/>
            <a:cxnLst>
              <a:cxn ang="0">
                <a:pos x="connsiteX0" y="connsiteY0"/>
              </a:cxn>
              <a:cxn ang="0">
                <a:pos x="connsiteX1" y="connsiteY1"/>
              </a:cxn>
              <a:cxn ang="0">
                <a:pos x="connsiteX2" y="connsiteY2"/>
              </a:cxn>
              <a:cxn ang="0">
                <a:pos x="connsiteX3" y="connsiteY3"/>
              </a:cxn>
            </a:cxnLst>
            <a:rect l="l" t="t" r="r" b="b"/>
            <a:pathLst>
              <a:path w="3640137" h="5283200">
                <a:moveTo>
                  <a:pt x="0" y="0"/>
                </a:moveTo>
                <a:lnTo>
                  <a:pt x="3640137" y="0"/>
                </a:lnTo>
                <a:lnTo>
                  <a:pt x="3640137" y="5283200"/>
                </a:lnTo>
                <a:lnTo>
                  <a:pt x="3144983" y="52832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标题 5"/>
          <p:cNvSpPr>
            <a:spLocks noGrp="1"/>
          </p:cNvSpPr>
          <p:nvPr>
            <p:ph type="title"/>
            <p:custDataLst>
              <p:tags r:id="rId8"/>
            </p:custDataLst>
          </p:nvPr>
        </p:nvSpPr>
        <p:spPr>
          <a:xfrm>
            <a:off x="695325" y="664721"/>
            <a:ext cx="5900784" cy="704850"/>
          </a:xfrm>
        </p:spPr>
        <p:txBody>
          <a:bodyPr lIns="0" tIns="0" rIns="0" bIns="0">
            <a:normAutofit fontScale="90000"/>
          </a:bodyPr>
          <a:lstStyle/>
          <a:p>
            <a:pPr algn="l"/>
            <a:r>
              <a:rPr lang="zh-CN" altLang="en-US" b="1" dirty="0">
                <a:solidFill>
                  <a:schemeClr val="accent1"/>
                </a:solidFill>
                <a:latin typeface="+mn-ea"/>
                <a:cs typeface="+mn-ea"/>
                <a:sym typeface="+mn-ea"/>
              </a:rPr>
              <a:t>使用光线追踪生成相机光线</a:t>
            </a:r>
            <a:endParaRPr lang="zh-CN" altLang="en-US" dirty="0"/>
          </a:p>
        </p:txBody>
      </p:sp>
      <p:pic>
        <p:nvPicPr>
          <p:cNvPr id="23" name="图片 22" descr="建筑的摆设布局&#10;&#10;描述已自动生成"/>
          <p:cNvPicPr>
            <a:picLocks noChangeAspect="1"/>
          </p:cNvPicPr>
          <p:nvPr>
            <p:custDataLst>
              <p:tags r:id="rId9"/>
            </p:custDataLst>
          </p:nvPr>
        </p:nvPicPr>
        <p:blipFill rotWithShape="1">
          <a:blip r:embed="rId10" cstate="print">
            <a:extLst>
              <a:ext uri="{BEBA8EAE-BF5A-486C-A8C5-ECC9F3942E4B}">
                <a14:imgProps xmlns:a14="http://schemas.microsoft.com/office/drawing/2010/main">
                  <a14:imgLayer r:embed="rId11">
                    <a14:imgEffect>
                      <a14:saturation sat="94000"/>
                    </a14:imgEffect>
                  </a14:imgLayer>
                </a14:imgProps>
              </a:ext>
              <a:ext uri="{28A0092B-C50C-407E-A947-70E740481C1C}">
                <a14:useLocalDpi xmlns:a14="http://schemas.microsoft.com/office/drawing/2010/main" val="0"/>
              </a:ext>
            </a:extLst>
          </a:blip>
          <a:srcRect l="17505" t="2151" r="7708" b="6905"/>
          <a:stretch>
            <a:fillRect/>
          </a:stretch>
        </p:blipFill>
        <p:spPr>
          <a:xfrm>
            <a:off x="4511991" y="332709"/>
            <a:ext cx="7856539" cy="6378606"/>
          </a:xfrm>
          <a:custGeom>
            <a:avLst/>
            <a:gdLst>
              <a:gd name="connsiteX0" fmla="*/ 3970953 w 6347193"/>
              <a:gd name="connsiteY0" fmla="*/ 0 h 6378606"/>
              <a:gd name="connsiteX1" fmla="*/ 6347193 w 6347193"/>
              <a:gd name="connsiteY1" fmla="*/ 3816994 h 6378606"/>
              <a:gd name="connsiteX2" fmla="*/ 6347193 w 6347193"/>
              <a:gd name="connsiteY2" fmla="*/ 6378606 h 6378606"/>
              <a:gd name="connsiteX3" fmla="*/ 0 w 6347193"/>
              <a:gd name="connsiteY3" fmla="*/ 6378606 h 6378606"/>
            </a:gdLst>
            <a:ahLst/>
            <a:cxnLst>
              <a:cxn ang="0">
                <a:pos x="connsiteX0" y="connsiteY0"/>
              </a:cxn>
              <a:cxn ang="0">
                <a:pos x="connsiteX1" y="connsiteY1"/>
              </a:cxn>
              <a:cxn ang="0">
                <a:pos x="connsiteX2" y="connsiteY2"/>
              </a:cxn>
              <a:cxn ang="0">
                <a:pos x="connsiteX3" y="connsiteY3"/>
              </a:cxn>
            </a:cxnLst>
            <a:rect l="l" t="t" r="r" b="b"/>
            <a:pathLst>
              <a:path w="6347193" h="6378606">
                <a:moveTo>
                  <a:pt x="3970953" y="0"/>
                </a:moveTo>
                <a:lnTo>
                  <a:pt x="6347193" y="3816994"/>
                </a:lnTo>
                <a:lnTo>
                  <a:pt x="6347193" y="6378606"/>
                </a:lnTo>
                <a:lnTo>
                  <a:pt x="0" y="6378606"/>
                </a:lnTo>
                <a:close/>
              </a:path>
            </a:pathLst>
          </a:custGeom>
          <a:ln w="6350" cap="flat" cmpd="sng" algn="ctr">
            <a:solidFill>
              <a:schemeClr val="dk1">
                <a:lumMod val="40000"/>
                <a:lumOff val="60000"/>
                <a:alpha val="50000"/>
              </a:schemeClr>
            </a:solidFill>
            <a:prstDash val="solid"/>
            <a:round/>
            <a:headEnd type="none" w="med" len="med"/>
            <a:tailEnd type="none" w="med" len="med"/>
          </a:ln>
        </p:spPr>
      </p:pic>
      <p:pic>
        <p:nvPicPr>
          <p:cNvPr id="4" name="图片 3"/>
          <p:cNvPicPr>
            <a:picLocks noChangeAspect="1"/>
          </p:cNvPicPr>
          <p:nvPr/>
        </p:nvPicPr>
        <p:blipFill>
          <a:blip r:embed="rId12"/>
          <a:stretch>
            <a:fillRect/>
          </a:stretch>
        </p:blipFill>
        <p:spPr>
          <a:xfrm>
            <a:off x="4799965" y="3433445"/>
            <a:ext cx="3327400" cy="2089150"/>
          </a:xfrm>
          <a:prstGeom prst="rect">
            <a:avLst/>
          </a:prstGeom>
        </p:spPr>
      </p:pic>
    </p:spTree>
    <p:custDataLst>
      <p:tags r:id="rId1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rmAutofit fontScale="90000"/>
          </a:bodyPr>
          <a:lstStyle/>
          <a:p>
            <a:r>
              <a:rPr lang="zh-CN" altLang="en-US"/>
              <a:t>光线追踪渲染技术</a:t>
            </a:r>
            <a:endParaRPr lang="zh-CN" altLang="en-US"/>
          </a:p>
        </p:txBody>
      </p:sp>
      <p:sp>
        <p:nvSpPr>
          <p:cNvPr id="4" name="文本占位符 3"/>
          <p:cNvSpPr>
            <a:spLocks noGrp="1"/>
          </p:cNvSpPr>
          <p:nvPr>
            <p:ph type="body" idx="1"/>
            <p:custDataLst>
              <p:tags r:id="rId2"/>
            </p:custDataLst>
          </p:nvPr>
        </p:nvSpPr>
        <p:spPr>
          <a:xfrm>
            <a:off x="608330" y="1429385"/>
            <a:ext cx="6917055" cy="381635"/>
          </a:xfrm>
        </p:spPr>
        <p:txBody>
          <a:bodyPr>
            <a:normAutofit/>
          </a:bodyPr>
          <a:lstStyle/>
          <a:p>
            <a:r>
              <a:rPr lang="zh-CN" altLang="en-US" dirty="0">
                <a:latin typeface="+mj-ea"/>
                <a:ea typeface="+mj-ea"/>
              </a:rPr>
              <a:t>光线追踪是用于计算点与点之间可见性的</a:t>
            </a:r>
            <a:r>
              <a:rPr lang="zh-CN" altLang="en-US" dirty="0">
                <a:latin typeface="+mj-ea"/>
                <a:ea typeface="+mj-ea"/>
              </a:rPr>
              <a:t>一种技术</a:t>
            </a:r>
            <a:endParaRPr lang="zh-CN" altLang="en-US" dirty="0">
              <a:latin typeface="+mj-ea"/>
              <a:ea typeface="+mj-ea"/>
            </a:endParaRPr>
          </a:p>
        </p:txBody>
      </p:sp>
      <p:sp>
        <p:nvSpPr>
          <p:cNvPr id="26" name="矩形 25"/>
          <p:cNvSpPr/>
          <p:nvPr>
            <p:custDataLst>
              <p:tags r:id="rId3"/>
            </p:custDataLst>
          </p:nvPr>
        </p:nvSpPr>
        <p:spPr>
          <a:xfrm>
            <a:off x="0" y="6440805"/>
            <a:ext cx="12192000" cy="417195"/>
          </a:xfrm>
          <a:prstGeom prst="rect">
            <a:avLst/>
          </a:prstGeom>
          <a:solidFill>
            <a:schemeClr val="accent1"/>
          </a:solidFill>
          <a:ln w="38100">
            <a:noFill/>
          </a:ln>
        </p:spPr>
        <p:style>
          <a:lnRef idx="2">
            <a:srgbClr val="376FFF">
              <a:shade val="50000"/>
            </a:srgbClr>
          </a:lnRef>
          <a:fillRef idx="1">
            <a:srgbClr val="376FFF"/>
          </a:fillRef>
          <a:effectRef idx="0">
            <a:srgbClr val="376FFF"/>
          </a:effectRef>
          <a:fontRef idx="minor">
            <a:srgbClr val="FFFFFF"/>
          </a:fontRef>
        </p:style>
        <p:txBody>
          <a:bodyPr rtlCol="0" anchor="ctr"/>
          <a:lstStyle/>
          <a:p>
            <a:pPr algn="ctr"/>
            <a:endParaRPr lang="zh-CN" altLang="en-US">
              <a:solidFill>
                <a:srgbClr val="FFFFFF"/>
              </a:solidFill>
              <a:latin typeface="思源黑体 CN Normal" panose="020B0400000000000000" charset="-122"/>
              <a:ea typeface="思源黑体 CN Normal" panose="020B0400000000000000" charset="-122"/>
              <a:cs typeface="思源黑体 CN Heavy" panose="020B0A00000000000000" charset="-122"/>
            </a:endParaRPr>
          </a:p>
        </p:txBody>
      </p:sp>
      <p:cxnSp>
        <p:nvCxnSpPr>
          <p:cNvPr id="28" name="直接连接符 27"/>
          <p:cNvCxnSpPr/>
          <p:nvPr>
            <p:custDataLst>
              <p:tags r:id="rId4"/>
            </p:custDataLst>
          </p:nvPr>
        </p:nvCxnSpPr>
        <p:spPr>
          <a:xfrm>
            <a:off x="877570" y="3556000"/>
            <a:ext cx="6711315" cy="0"/>
          </a:xfrm>
          <a:prstGeom prst="line">
            <a:avLst/>
          </a:prstGeom>
          <a:ln w="12700">
            <a:solidFill>
              <a:schemeClr val="accent1">
                <a:lumMod val="60000"/>
                <a:lumOff val="40000"/>
              </a:schemeClr>
            </a:solidFill>
          </a:ln>
        </p:spPr>
        <p:style>
          <a:lnRef idx="1">
            <a:srgbClr val="376FFF"/>
          </a:lnRef>
          <a:fillRef idx="0">
            <a:srgbClr val="376FFF"/>
          </a:fillRef>
          <a:effectRef idx="0">
            <a:srgbClr val="376FFF"/>
          </a:effectRef>
          <a:fontRef idx="minor">
            <a:srgbClr val="000000"/>
          </a:fontRef>
        </p:style>
      </p:cxnSp>
      <p:sp>
        <p:nvSpPr>
          <p:cNvPr id="40" name="文本框 39"/>
          <p:cNvSpPr txBox="1"/>
          <p:nvPr>
            <p:custDataLst>
              <p:tags r:id="rId5"/>
            </p:custDataLst>
          </p:nvPr>
        </p:nvSpPr>
        <p:spPr>
          <a:xfrm>
            <a:off x="551180" y="1917065"/>
            <a:ext cx="6599555" cy="925830"/>
          </a:xfrm>
          <a:prstGeom prst="rect">
            <a:avLst/>
          </a:prstGeom>
          <a:ln>
            <a:noFill/>
            <a:prstDash val="sysDash"/>
          </a:ln>
        </p:spPr>
        <p:txBody>
          <a:bodyPr vert="horz" wrap="square" lIns="90170" tIns="46990" rIns="90170" bIns="46990" rtlCol="0" anchor="t" anchorCtr="0">
            <a:noAutofit/>
          </a:bodyPr>
          <a:lstStyle>
            <a:lvl1pPr marL="228600" marR="0" lvl="0" indent="-228600" fontAlgn="auto">
              <a:lnSpc>
                <a:spcPct val="130000"/>
              </a:lnSpc>
              <a:spcBef>
                <a:spcPts val="0"/>
              </a:spcBef>
              <a:spcAft>
                <a:spcPts val="1000"/>
              </a:spcAft>
              <a:buFont typeface="Arial" panose="020B0604020202020204" pitchFamily="34" charset="0"/>
              <a:buChar char="●"/>
              <a:defRPr kumimoji="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l">
              <a:buNone/>
            </a:pPr>
            <a:r>
              <a:rPr lang="zh-CN" altLang="en-US" sz="1400" spc="130" dirty="0">
                <a:ln>
                  <a:noFill/>
                  <a:prstDash val="sysDot"/>
                </a:ln>
                <a:latin typeface="+mn-ea"/>
                <a:ea typeface="+mn-ea"/>
                <a:sym typeface="思源黑体 CN Normal" panose="020B0400000000000000" charset="-122"/>
              </a:rPr>
              <a:t>我们简单地从相机中心投射一束光线，并穿过每个像素的中心。然后我们从场景中找出这些光线相交的单个物体（或者多个物体）。正如我们刚才提到的，光线方向可以简单地通过从相机的原点到像素中心，然后</a:t>
            </a:r>
            <a:r>
              <a:rPr lang="zh-CN" altLang="en-US" sz="1400" spc="130" dirty="0">
                <a:ln>
                  <a:noFill/>
                  <a:prstDash val="sysDot"/>
                </a:ln>
                <a:latin typeface="+mn-ea"/>
                <a:ea typeface="+mn-ea"/>
                <a:sym typeface="思源黑体 CN Normal" panose="020B0400000000000000" charset="-122"/>
              </a:rPr>
              <a:t>延伸</a:t>
            </a:r>
            <a:r>
              <a:rPr lang="zh-CN" altLang="en-US" sz="1400" spc="130" dirty="0">
                <a:ln>
                  <a:noFill/>
                  <a:prstDash val="sysDot"/>
                </a:ln>
                <a:latin typeface="+mn-ea"/>
                <a:ea typeface="+mn-ea"/>
                <a:sym typeface="思源黑体 CN Normal" panose="020B0400000000000000" charset="-122"/>
              </a:rPr>
              <a:t>来构建。</a:t>
            </a:r>
            <a:endParaRPr lang="zh-CN" altLang="en-US" sz="1400" spc="130" dirty="0">
              <a:ln>
                <a:noFill/>
                <a:prstDash val="sysDot"/>
              </a:ln>
              <a:latin typeface="+mn-ea"/>
              <a:ea typeface="+mn-ea"/>
              <a:sym typeface="思源黑体 CN Normal" panose="020B0400000000000000" charset="-122"/>
            </a:endParaRPr>
          </a:p>
        </p:txBody>
      </p:sp>
      <p:pic>
        <p:nvPicPr>
          <p:cNvPr id="42" name="图片 41" descr="D:\工作文件\临时素材\7831647.jpg7831647"/>
          <p:cNvPicPr>
            <a:picLocks noChangeAspect="1"/>
          </p:cNvPicPr>
          <p:nvPr>
            <p:custDataLst>
              <p:tags r:id="rId6"/>
            </p:custDataLst>
          </p:nvPr>
        </p:nvPicPr>
        <p:blipFill>
          <a:blip r:embed="rId7"/>
          <a:srcRect/>
          <a:stretch>
            <a:fillRect/>
          </a:stretch>
        </p:blipFill>
        <p:spPr>
          <a:xfrm>
            <a:off x="8329930" y="1412875"/>
            <a:ext cx="2847340" cy="4270375"/>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
        <p:nvSpPr>
          <p:cNvPr id="27" name="文本框 26"/>
          <p:cNvSpPr txBox="1"/>
          <p:nvPr>
            <p:custDataLst>
              <p:tags r:id="rId8"/>
            </p:custDataLst>
          </p:nvPr>
        </p:nvSpPr>
        <p:spPr>
          <a:xfrm>
            <a:off x="1374775" y="4322761"/>
            <a:ext cx="2552065" cy="957580"/>
          </a:xfrm>
          <a:prstGeom prst="rect">
            <a:avLst/>
          </a:prstGeom>
          <a:ln>
            <a:noFill/>
            <a:prstDash val="sysDash"/>
          </a:ln>
        </p:spPr>
        <p:txBody>
          <a:bodyPr vert="horz" wrap="square" lIns="90170" tIns="0" rIns="90170" bIns="0" rtlCol="0" anchor="t" anchorCtr="0">
            <a:noAutofit/>
          </a:bodyPr>
          <a:lstStyle>
            <a:lvl1pPr marL="228600" marR="0" lvl="0" indent="-228600" fontAlgn="auto">
              <a:lnSpc>
                <a:spcPct val="130000"/>
              </a:lnSpc>
              <a:spcBef>
                <a:spcPts val="0"/>
              </a:spcBef>
              <a:spcAft>
                <a:spcPts val="1000"/>
              </a:spcAft>
              <a:buFont typeface="Arial" panose="020B0604020202020204" pitchFamily="34" charset="0"/>
              <a:buChar char="●"/>
              <a:defRPr kumimoji="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0" algn="l">
              <a:lnSpc>
                <a:spcPct val="150000"/>
              </a:lnSpc>
              <a:spcBef>
                <a:spcPct val="0"/>
              </a:spcBef>
              <a:spcAft>
                <a:spcPct val="0"/>
              </a:spcAft>
              <a:buClrTx/>
              <a:buSzTx/>
              <a:buNone/>
            </a:pPr>
            <a:r>
              <a:rPr lang="zh-CN" altLang="en-US" sz="1400" spc="0" dirty="0">
                <a:ln>
                  <a:noFill/>
                  <a:prstDash val="sysDot"/>
                </a:ln>
                <a:latin typeface="+mn-ea"/>
                <a:ea typeface="+mn-ea"/>
                <a:sym typeface="微软雅黑" panose="020B0503020204020204" charset="-122"/>
              </a:rPr>
              <a:t>我们需要做的就是对图像中的每个像素重复这个过程，然后我们就可以形成一个从特定视点看到的</a:t>
            </a:r>
            <a:r>
              <a:rPr lang="zh-CN" altLang="en-US" sz="1400" spc="0" dirty="0">
                <a:ln>
                  <a:noFill/>
                  <a:prstDash val="sysDot"/>
                </a:ln>
                <a:latin typeface="+mn-ea"/>
                <a:ea typeface="+mn-ea"/>
                <a:sym typeface="微软雅黑" panose="020B0503020204020204" charset="-122"/>
              </a:rPr>
              <a:t>场景的图像</a:t>
            </a:r>
            <a:endParaRPr lang="zh-CN" altLang="en-US" sz="1400" spc="0" dirty="0">
              <a:ln>
                <a:noFill/>
                <a:prstDash val="sysDot"/>
              </a:ln>
              <a:latin typeface="+mn-ea"/>
              <a:ea typeface="+mn-ea"/>
              <a:sym typeface="微软雅黑" panose="020B0503020204020204" charset="-122"/>
            </a:endParaRPr>
          </a:p>
        </p:txBody>
      </p:sp>
      <p:sp>
        <p:nvSpPr>
          <p:cNvPr id="29" name="矩形 28"/>
          <p:cNvSpPr/>
          <p:nvPr>
            <p:custDataLst>
              <p:tags r:id="rId9"/>
            </p:custDataLst>
          </p:nvPr>
        </p:nvSpPr>
        <p:spPr bwMode="auto">
          <a:xfrm>
            <a:off x="1374775" y="3918584"/>
            <a:ext cx="2552065" cy="393065"/>
          </a:xfrm>
          <a:prstGeom prst="rect">
            <a:avLst/>
          </a:prstGeom>
          <a:noFill/>
          <a:ln>
            <a:noFill/>
          </a:ln>
        </p:spPr>
        <p:txBody>
          <a:bodyPr wrap="square" lIns="90170" tIns="0" rIns="90170" bIns="0" rtlCol="0" anchor="ctr" anchorCtr="0">
            <a:noAutofit/>
          </a:bodyPr>
          <a:lstStyle/>
          <a:p>
            <a:pPr lvl="0" algn="l">
              <a:spcBef>
                <a:spcPct val="0"/>
              </a:spcBef>
              <a:spcAft>
                <a:spcPct val="0"/>
              </a:spcAft>
              <a:buClrTx/>
              <a:buSzTx/>
              <a:buFontTx/>
            </a:pPr>
            <a:r>
              <a:rPr lang="zh-CN" altLang="en-US" b="1" dirty="0">
                <a:solidFill>
                  <a:schemeClr val="accent1"/>
                </a:solidFill>
                <a:uFillTx/>
                <a:latin typeface="+mj-ea"/>
                <a:ea typeface="+mj-ea"/>
                <a:cs typeface="微软雅黑" panose="020B0503020204020204" charset="-122"/>
                <a:sym typeface="微软雅黑" panose="020B0503020204020204" charset="-122"/>
              </a:rPr>
              <a:t>循环遍历场景中的</a:t>
            </a:r>
            <a:r>
              <a:rPr lang="zh-CN" altLang="en-US" b="1" dirty="0">
                <a:solidFill>
                  <a:schemeClr val="accent1"/>
                </a:solidFill>
                <a:uFillTx/>
                <a:latin typeface="+mj-ea"/>
                <a:ea typeface="+mj-ea"/>
                <a:cs typeface="微软雅黑" panose="020B0503020204020204" charset="-122"/>
                <a:sym typeface="微软雅黑" panose="020B0503020204020204" charset="-122"/>
              </a:rPr>
              <a:t>所有物体</a:t>
            </a:r>
            <a:endParaRPr lang="zh-CN" altLang="en-US" b="1" dirty="0">
              <a:solidFill>
                <a:schemeClr val="accent1"/>
              </a:solidFill>
              <a:uFillTx/>
              <a:latin typeface="+mj-ea"/>
              <a:ea typeface="+mj-ea"/>
              <a:cs typeface="微软雅黑" panose="020B0503020204020204" charset="-122"/>
              <a:sym typeface="微软雅黑" panose="020B0503020204020204" charset="-122"/>
            </a:endParaRPr>
          </a:p>
        </p:txBody>
      </p:sp>
      <p:sp>
        <p:nvSpPr>
          <p:cNvPr id="30" name="矩形 29"/>
          <p:cNvSpPr/>
          <p:nvPr>
            <p:custDataLst>
              <p:tags r:id="rId10"/>
            </p:custDataLst>
          </p:nvPr>
        </p:nvSpPr>
        <p:spPr bwMode="auto">
          <a:xfrm>
            <a:off x="4837430" y="3918584"/>
            <a:ext cx="2552065" cy="393065"/>
          </a:xfrm>
          <a:prstGeom prst="rect">
            <a:avLst/>
          </a:prstGeom>
          <a:noFill/>
          <a:ln>
            <a:noFill/>
          </a:ln>
        </p:spPr>
        <p:txBody>
          <a:bodyPr wrap="square" lIns="90170" tIns="0" rIns="90170" bIns="0" rtlCol="0" anchor="ctr" anchorCtr="0">
            <a:noAutofit/>
          </a:bodyPr>
          <a:lstStyle/>
          <a:p>
            <a:pPr lvl="0" algn="l">
              <a:spcBef>
                <a:spcPct val="0"/>
              </a:spcBef>
              <a:spcAft>
                <a:spcPct val="0"/>
              </a:spcAft>
              <a:buClrTx/>
              <a:buSzTx/>
              <a:buFontTx/>
            </a:pPr>
            <a:r>
              <a:rPr lang="zh-CN" altLang="en-US" b="1" dirty="0">
                <a:solidFill>
                  <a:schemeClr val="accent2"/>
                </a:solidFill>
                <a:uFillTx/>
                <a:latin typeface="+mj-ea"/>
                <a:ea typeface="+mj-ea"/>
                <a:cs typeface="微软雅黑" panose="020B0503020204020204" charset="-122"/>
                <a:sym typeface="微软雅黑" panose="020B0503020204020204" charset="-122"/>
              </a:rPr>
              <a:t>真实感</a:t>
            </a:r>
            <a:r>
              <a:rPr lang="zh-CN" altLang="en-US" b="1" dirty="0">
                <a:solidFill>
                  <a:schemeClr val="accent2"/>
                </a:solidFill>
                <a:uFillTx/>
                <a:latin typeface="+mj-ea"/>
                <a:ea typeface="+mj-ea"/>
                <a:cs typeface="微软雅黑" panose="020B0503020204020204" charset="-122"/>
                <a:sym typeface="微软雅黑" panose="020B0503020204020204" charset="-122"/>
              </a:rPr>
              <a:t>模拟</a:t>
            </a:r>
            <a:endParaRPr lang="zh-CN" altLang="en-US" b="1" dirty="0">
              <a:solidFill>
                <a:schemeClr val="accent2"/>
              </a:solidFill>
              <a:uFillTx/>
              <a:latin typeface="+mj-ea"/>
              <a:ea typeface="+mj-ea"/>
              <a:cs typeface="微软雅黑" panose="020B0503020204020204" charset="-122"/>
              <a:sym typeface="微软雅黑" panose="020B0503020204020204" charset="-122"/>
            </a:endParaRPr>
          </a:p>
        </p:txBody>
      </p:sp>
      <p:sp>
        <p:nvSpPr>
          <p:cNvPr id="31" name="矩形 30"/>
          <p:cNvSpPr/>
          <p:nvPr>
            <p:custDataLst>
              <p:tags r:id="rId11"/>
            </p:custDataLst>
          </p:nvPr>
        </p:nvSpPr>
        <p:spPr bwMode="auto">
          <a:xfrm>
            <a:off x="782320" y="3918901"/>
            <a:ext cx="593090" cy="392430"/>
          </a:xfrm>
          <a:prstGeom prst="rect">
            <a:avLst/>
          </a:prstGeom>
          <a:noFill/>
          <a:ln>
            <a:noFill/>
          </a:ln>
        </p:spPr>
        <p:txBody>
          <a:bodyPr wrap="none" lIns="0" tIns="0" rIns="0" bIns="0" rtlCol="0" anchor="ctr" anchorCtr="0">
            <a:noAutofit/>
          </a:bodyPr>
          <a:lstStyle/>
          <a:p>
            <a:pPr lvl="0" indent="0" algn="r" fontAlgn="auto">
              <a:spcBef>
                <a:spcPct val="0"/>
              </a:spcBef>
              <a:spcAft>
                <a:spcPct val="0"/>
              </a:spcAft>
              <a:buClrTx/>
              <a:buSzTx/>
              <a:buFontTx/>
            </a:pPr>
            <a:r>
              <a:rPr lang="zh-CN" altLang="en-US" sz="2000" b="1" dirty="0">
                <a:solidFill>
                  <a:schemeClr val="accent1"/>
                </a:solidFill>
                <a:uFillTx/>
                <a:latin typeface="+mj-lt"/>
                <a:ea typeface="微软雅黑" panose="020B0503020204020204" charset="-122"/>
                <a:cs typeface="微软雅黑" panose="020B0503020204020204" charset="-122"/>
                <a:sym typeface="微软雅黑" panose="020B0503020204020204" charset="-122"/>
              </a:rPr>
              <a:t>01</a:t>
            </a:r>
            <a:endParaRPr lang="zh-CN" altLang="en-US" sz="2000" b="1" dirty="0">
              <a:solidFill>
                <a:schemeClr val="accent1"/>
              </a:solidFill>
              <a:uFillTx/>
              <a:latin typeface="+mj-lt"/>
              <a:ea typeface="微软雅黑" panose="020B0503020204020204" charset="-122"/>
              <a:cs typeface="微软雅黑" panose="020B0503020204020204" charset="-122"/>
              <a:sym typeface="微软雅黑" panose="020B0503020204020204" charset="-122"/>
            </a:endParaRPr>
          </a:p>
        </p:txBody>
      </p:sp>
      <p:sp>
        <p:nvSpPr>
          <p:cNvPr id="32" name="矩形 31"/>
          <p:cNvSpPr/>
          <p:nvPr>
            <p:custDataLst>
              <p:tags r:id="rId12"/>
            </p:custDataLst>
          </p:nvPr>
        </p:nvSpPr>
        <p:spPr bwMode="auto">
          <a:xfrm>
            <a:off x="4208145" y="3918901"/>
            <a:ext cx="629285" cy="392430"/>
          </a:xfrm>
          <a:prstGeom prst="rect">
            <a:avLst/>
          </a:prstGeom>
          <a:noFill/>
          <a:ln>
            <a:noFill/>
          </a:ln>
        </p:spPr>
        <p:txBody>
          <a:bodyPr wrap="none" lIns="0" tIns="0" rIns="0" bIns="0" rtlCol="0" anchor="ctr" anchorCtr="0">
            <a:noAutofit/>
          </a:bodyPr>
          <a:lstStyle/>
          <a:p>
            <a:pPr lvl="0" indent="0" algn="r" fontAlgn="auto">
              <a:spcBef>
                <a:spcPct val="0"/>
              </a:spcBef>
              <a:spcAft>
                <a:spcPct val="0"/>
              </a:spcAft>
              <a:buClrTx/>
              <a:buSzTx/>
              <a:buFontTx/>
            </a:pPr>
            <a:r>
              <a:rPr lang="zh-CN" altLang="en-US" sz="2000" b="1" dirty="0">
                <a:solidFill>
                  <a:schemeClr val="accent2"/>
                </a:solidFill>
                <a:uFillTx/>
                <a:latin typeface="+mj-lt"/>
                <a:ea typeface="微软雅黑" panose="020B0503020204020204" charset="-122"/>
                <a:cs typeface="微软雅黑" panose="020B0503020204020204" charset="-122"/>
                <a:sym typeface="微软雅黑" panose="020B0503020204020204" charset="-122"/>
              </a:rPr>
              <a:t>02</a:t>
            </a:r>
            <a:endParaRPr lang="zh-CN" altLang="en-US" sz="2000" b="1" dirty="0">
              <a:solidFill>
                <a:schemeClr val="accent2"/>
              </a:solidFill>
              <a:uFillTx/>
              <a:latin typeface="+mj-lt"/>
              <a:ea typeface="微软雅黑" panose="020B0503020204020204" charset="-122"/>
              <a:cs typeface="微软雅黑" panose="020B0503020204020204" charset="-122"/>
              <a:sym typeface="微软雅黑" panose="020B0503020204020204" charset="-122"/>
            </a:endParaRPr>
          </a:p>
        </p:txBody>
      </p:sp>
      <p:sp>
        <p:nvSpPr>
          <p:cNvPr id="33" name="文本框 32"/>
          <p:cNvSpPr txBox="1"/>
          <p:nvPr>
            <p:custDataLst>
              <p:tags r:id="rId13"/>
            </p:custDataLst>
          </p:nvPr>
        </p:nvSpPr>
        <p:spPr>
          <a:xfrm>
            <a:off x="4837430" y="4322445"/>
            <a:ext cx="3007360" cy="2218055"/>
          </a:xfrm>
          <a:prstGeom prst="rect">
            <a:avLst/>
          </a:prstGeom>
          <a:ln>
            <a:noFill/>
            <a:prstDash val="sysDash"/>
          </a:ln>
        </p:spPr>
        <p:txBody>
          <a:bodyPr vert="horz" wrap="square" lIns="90170" tIns="0" rIns="90170" bIns="0" rtlCol="0" anchor="t" anchorCtr="0">
            <a:noAutofit/>
          </a:bodyPr>
          <a:lstStyle>
            <a:lvl1pPr marL="228600" marR="0" lvl="0" indent="-228600" fontAlgn="auto">
              <a:lnSpc>
                <a:spcPct val="130000"/>
              </a:lnSpc>
              <a:spcBef>
                <a:spcPts val="0"/>
              </a:spcBef>
              <a:spcAft>
                <a:spcPts val="1000"/>
              </a:spcAft>
              <a:buFont typeface="Arial" panose="020B0604020202020204" pitchFamily="34" charset="0"/>
              <a:buChar char="●"/>
              <a:defRPr kumimoji="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Arial" panose="020B0604020202020204" pitchFamily="34" charset="0"/>
                <a:ea typeface="微软雅黑" panose="020B050302020402020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0" algn="l">
              <a:lnSpc>
                <a:spcPct val="150000"/>
              </a:lnSpc>
              <a:spcBef>
                <a:spcPct val="0"/>
              </a:spcBef>
              <a:spcAft>
                <a:spcPct val="0"/>
              </a:spcAft>
              <a:buClrTx/>
              <a:buSzTx/>
              <a:buNone/>
            </a:pPr>
            <a:r>
              <a:rPr lang="zh-CN" altLang="en-US" sz="1400" spc="0" dirty="0">
                <a:ln>
                  <a:noFill/>
                  <a:prstDash val="sysDot"/>
                </a:ln>
                <a:latin typeface="+mn-ea"/>
                <a:ea typeface="+mn-ea"/>
                <a:sym typeface="微软雅黑" panose="020B0503020204020204" charset="-122"/>
              </a:rPr>
              <a:t>我们用光线与物体相交的点的物体颜色设置像素颜色。现实世界的物体的亮度取决于它们接收到的光的数量。真实感渲染的目标不仅是从给定的是较准确地描绘几何，而且要模拟物体的</a:t>
            </a:r>
            <a:r>
              <a:rPr lang="zh-CN" altLang="en-US" sz="1400" spc="0" dirty="0">
                <a:ln>
                  <a:noFill/>
                  <a:prstDash val="sysDot"/>
                </a:ln>
                <a:latin typeface="+mn-ea"/>
                <a:ea typeface="+mn-ea"/>
                <a:sym typeface="微软雅黑" panose="020B0503020204020204" charset="-122"/>
              </a:rPr>
              <a:t>外观</a:t>
            </a:r>
            <a:endParaRPr lang="zh-CN" altLang="en-US" sz="1400" spc="0" dirty="0">
              <a:ln>
                <a:noFill/>
                <a:prstDash val="sysDot"/>
              </a:ln>
              <a:latin typeface="+mn-ea"/>
              <a:ea typeface="+mn-ea"/>
              <a:sym typeface="微软雅黑" panose="020B0503020204020204" charset="-122"/>
            </a:endParaRPr>
          </a:p>
        </p:txBody>
      </p:sp>
      <p:pic>
        <p:nvPicPr>
          <p:cNvPr id="5" name="图片 4"/>
          <p:cNvPicPr>
            <a:picLocks noChangeAspect="1"/>
          </p:cNvPicPr>
          <p:nvPr/>
        </p:nvPicPr>
        <p:blipFill>
          <a:blip r:embed="rId14"/>
          <a:stretch>
            <a:fillRect/>
          </a:stretch>
        </p:blipFill>
        <p:spPr>
          <a:xfrm>
            <a:off x="6024245" y="44450"/>
            <a:ext cx="5918200" cy="3810000"/>
          </a:xfrm>
          <a:prstGeom prst="rect">
            <a:avLst/>
          </a:prstGeom>
        </p:spPr>
      </p:pic>
    </p:spTree>
    <p:custDataLst>
      <p:tags r:id="rId1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t>使用光线追踪计算</a:t>
            </a:r>
            <a:r>
              <a:rPr lang="en-US" altLang="zh-CN"/>
              <a:t>3D</a:t>
            </a:r>
            <a:r>
              <a:rPr lang="zh-CN" altLang="en-US"/>
              <a:t>物体的真实感</a:t>
            </a:r>
            <a:r>
              <a:rPr lang="zh-CN" altLang="en-US"/>
              <a:t>图像</a:t>
            </a:r>
            <a:endParaRPr lang="zh-CN" altLang="en-US"/>
          </a:p>
        </p:txBody>
      </p:sp>
      <p:pic>
        <p:nvPicPr>
          <p:cNvPr id="2" name="图片 1"/>
          <p:cNvPicPr>
            <a:picLocks noChangeAspect="1"/>
          </p:cNvPicPr>
          <p:nvPr>
            <p:custDataLst>
              <p:tags r:id="rId2"/>
            </p:custDataLst>
          </p:nvPr>
        </p:nvPicPr>
        <p:blipFill rotWithShape="1">
          <a:blip r:embed="rId3" cstate="print">
            <a:extLst>
              <a:ext uri="{28A0092B-C50C-407E-A947-70E740481C1C}">
                <a14:useLocalDpi xmlns:a14="http://schemas.microsoft.com/office/drawing/2010/main" val="0"/>
              </a:ext>
            </a:extLst>
          </a:blip>
          <a:srcRect b="12456"/>
          <a:stretch>
            <a:fillRect/>
          </a:stretch>
        </p:blipFill>
        <p:spPr>
          <a:xfrm>
            <a:off x="8123013" y="1360135"/>
            <a:ext cx="3372987" cy="1969524"/>
          </a:xfrm>
          <a:prstGeom prst="roundRect">
            <a:avLst>
              <a:gd name="adj" fmla="val 8058"/>
            </a:avLst>
          </a:prstGeom>
          <a:ln w="3175" cap="flat" cmpd="sng" algn="ctr">
            <a:solidFill>
              <a:schemeClr val="tx1">
                <a:lumMod val="40000"/>
                <a:lumOff val="60000"/>
                <a:alpha val="20000"/>
              </a:schemeClr>
            </a:solidFill>
            <a:prstDash val="solid"/>
            <a:round/>
            <a:headEnd type="none" w="med" len="med"/>
            <a:tailEnd type="none" w="med" len="med"/>
          </a:ln>
        </p:spPr>
      </p:pic>
      <p:pic>
        <p:nvPicPr>
          <p:cNvPr id="3" name="图片 2"/>
          <p:cNvPicPr>
            <a:picLocks noChangeAspect="1"/>
          </p:cNvPicPr>
          <p:nvPr>
            <p:custDataLst>
              <p:tags r:id="rId4"/>
            </p:custDataLst>
          </p:nvPr>
        </p:nvPicPr>
        <p:blipFill>
          <a:blip r:embed="rId5" cstate="print">
            <a:extLst>
              <a:ext uri="{28A0092B-C50C-407E-A947-70E740481C1C}">
                <a14:useLocalDpi xmlns:a14="http://schemas.microsoft.com/office/drawing/2010/main" val="0"/>
              </a:ext>
            </a:extLst>
          </a:blip>
          <a:srcRect l="3422" r="3422"/>
          <a:stretch>
            <a:fillRect/>
          </a:stretch>
        </p:blipFill>
        <p:spPr>
          <a:xfrm>
            <a:off x="695316" y="1360135"/>
            <a:ext cx="3372987" cy="1969524"/>
          </a:xfrm>
          <a:prstGeom prst="roundRect">
            <a:avLst>
              <a:gd name="adj" fmla="val 8058"/>
            </a:avLst>
          </a:prstGeom>
          <a:ln w="3175" cap="flat" cmpd="sng" algn="ctr">
            <a:solidFill>
              <a:schemeClr val="tx1">
                <a:lumMod val="40000"/>
                <a:lumOff val="60000"/>
                <a:alpha val="20000"/>
              </a:schemeClr>
            </a:solidFill>
            <a:prstDash val="solid"/>
            <a:round/>
            <a:headEnd type="none" w="med" len="med"/>
            <a:tailEnd type="none" w="med" len="med"/>
          </a:ln>
        </p:spPr>
      </p:pic>
      <p:cxnSp>
        <p:nvCxnSpPr>
          <p:cNvPr id="4" name="直接连接符 3"/>
          <p:cNvCxnSpPr/>
          <p:nvPr>
            <p:custDataLst>
              <p:tags r:id="rId6"/>
            </p:custDataLst>
          </p:nvPr>
        </p:nvCxnSpPr>
        <p:spPr>
          <a:xfrm flipV="1">
            <a:off x="714708" y="3490041"/>
            <a:ext cx="0" cy="2722303"/>
          </a:xfrm>
          <a:prstGeom prst="line">
            <a:avLst/>
          </a:prstGeom>
          <a:ln w="12700">
            <a:gradFill>
              <a:gsLst>
                <a:gs pos="0">
                  <a:schemeClr val="accent1">
                    <a:lumMod val="0"/>
                    <a:lumOff val="100000"/>
                    <a:alpha val="0"/>
                  </a:schemeClr>
                </a:gs>
                <a:gs pos="69000">
                  <a:schemeClr val="accent1">
                    <a:lumMod val="40000"/>
                    <a:lumOff val="60000"/>
                  </a:schemeClr>
                </a:gs>
              </a:gsLst>
              <a:lin ang="5400000" scaled="1"/>
            </a:gradFill>
            <a:prstDash val="solid"/>
          </a:ln>
        </p:spPr>
        <p:style>
          <a:lnRef idx="1">
            <a:srgbClr val="376FFF"/>
          </a:lnRef>
          <a:fillRef idx="0">
            <a:srgbClr val="376FFF"/>
          </a:fillRef>
          <a:effectRef idx="0">
            <a:srgbClr val="376FFF"/>
          </a:effectRef>
          <a:fontRef idx="minor">
            <a:srgbClr val="000000"/>
          </a:fontRef>
        </p:style>
      </p:cxnSp>
      <p:sp>
        <p:nvSpPr>
          <p:cNvPr id="5" name="矩形 4"/>
          <p:cNvSpPr/>
          <p:nvPr>
            <p:custDataLst>
              <p:tags r:id="rId7"/>
            </p:custDataLst>
          </p:nvPr>
        </p:nvSpPr>
        <p:spPr>
          <a:xfrm>
            <a:off x="955412" y="4395726"/>
            <a:ext cx="3112893" cy="1816618"/>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kern="0" dirty="0">
                <a:ln>
                  <a:noFill/>
                  <a:prstDash val="sysDot"/>
                </a:ln>
                <a:solidFill>
                  <a:schemeClr val="tx1">
                    <a:lumMod val="85000"/>
                    <a:lumOff val="15000"/>
                  </a:schemeClr>
                </a:solidFill>
                <a:latin typeface="+mn-ea"/>
                <a:cs typeface="+mn-ea"/>
                <a:sym typeface="+mn-ea"/>
              </a:rPr>
              <a:t>为图像中的每个像素投射一条</a:t>
            </a:r>
            <a:r>
              <a:rPr lang="zh-CN" altLang="en-US" sz="1600" kern="0" dirty="0">
                <a:ln>
                  <a:noFill/>
                  <a:prstDash val="sysDot"/>
                </a:ln>
                <a:solidFill>
                  <a:schemeClr val="tx1">
                    <a:lumMod val="85000"/>
                    <a:lumOff val="15000"/>
                  </a:schemeClr>
                </a:solidFill>
                <a:latin typeface="+mn-ea"/>
                <a:cs typeface="+mn-ea"/>
                <a:sym typeface="+mn-ea"/>
              </a:rPr>
              <a:t>光线</a:t>
            </a:r>
            <a:endParaRPr lang="zh-CN" altLang="en-US" sz="1600" kern="0" dirty="0">
              <a:ln>
                <a:noFill/>
                <a:prstDash val="sysDot"/>
              </a:ln>
              <a:solidFill>
                <a:schemeClr val="tx1">
                  <a:lumMod val="85000"/>
                  <a:lumOff val="15000"/>
                </a:schemeClr>
              </a:solidFill>
              <a:latin typeface="+mn-ea"/>
              <a:cs typeface="+mn-ea"/>
              <a:sym typeface="+mn-ea"/>
            </a:endParaRPr>
          </a:p>
        </p:txBody>
      </p:sp>
      <p:sp>
        <p:nvSpPr>
          <p:cNvPr id="6" name="矩形 5"/>
          <p:cNvSpPr/>
          <p:nvPr>
            <p:custDataLst>
              <p:tags r:id="rId8"/>
            </p:custDataLst>
          </p:nvPr>
        </p:nvSpPr>
        <p:spPr>
          <a:xfrm>
            <a:off x="955413" y="3420299"/>
            <a:ext cx="3112893" cy="818615"/>
          </a:xfrm>
          <a:prstGeom prst="rect">
            <a:avLst/>
          </a:prstGeom>
          <a:noFill/>
        </p:spPr>
        <p:txBody>
          <a:bodyPr wrap="square" lIns="0" tIns="0" rIns="0" bIns="0" rtlCol="0" anchor="b">
            <a:noAutofit/>
          </a:bodyPr>
          <a:lstStyle/>
          <a:p>
            <a:pPr>
              <a:spcBef>
                <a:spcPct val="0"/>
              </a:spcBef>
              <a:spcAft>
                <a:spcPct val="0"/>
              </a:spcAft>
            </a:pPr>
            <a:r>
              <a:rPr lang="zh-CN" altLang="en-US" sz="2000" b="1" kern="0">
                <a:solidFill>
                  <a:schemeClr val="accent1"/>
                </a:solidFill>
                <a:latin typeface="+mn-ea"/>
                <a:cs typeface="+mn-ea"/>
                <a:sym typeface="+mn-ea"/>
              </a:rPr>
              <a:t>投射</a:t>
            </a:r>
            <a:r>
              <a:rPr lang="zh-CN" altLang="en-US" sz="2000" b="1" kern="0">
                <a:solidFill>
                  <a:schemeClr val="accent1"/>
                </a:solidFill>
                <a:latin typeface="+mn-ea"/>
                <a:cs typeface="+mn-ea"/>
                <a:sym typeface="+mn-ea"/>
              </a:rPr>
              <a:t>光线</a:t>
            </a:r>
            <a:endParaRPr lang="zh-CN" altLang="en-US" sz="2000" b="1" kern="0">
              <a:solidFill>
                <a:schemeClr val="accent1"/>
              </a:solidFill>
              <a:latin typeface="+mn-ea"/>
              <a:cs typeface="+mn-ea"/>
              <a:sym typeface="+mn-ea"/>
            </a:endParaRPr>
          </a:p>
        </p:txBody>
      </p:sp>
      <p:cxnSp>
        <p:nvCxnSpPr>
          <p:cNvPr id="16" name="直接连接符 15"/>
          <p:cNvCxnSpPr/>
          <p:nvPr>
            <p:custDataLst>
              <p:tags r:id="rId9"/>
            </p:custDataLst>
          </p:nvPr>
        </p:nvCxnSpPr>
        <p:spPr>
          <a:xfrm flipV="1">
            <a:off x="4428554" y="3490041"/>
            <a:ext cx="0" cy="2722303"/>
          </a:xfrm>
          <a:prstGeom prst="line">
            <a:avLst/>
          </a:prstGeom>
          <a:ln w="12700">
            <a:gradFill>
              <a:gsLst>
                <a:gs pos="0">
                  <a:schemeClr val="accent1">
                    <a:lumMod val="0"/>
                    <a:lumOff val="100000"/>
                    <a:alpha val="0"/>
                  </a:schemeClr>
                </a:gs>
                <a:gs pos="69000">
                  <a:schemeClr val="accent1">
                    <a:lumMod val="40000"/>
                    <a:lumOff val="60000"/>
                  </a:schemeClr>
                </a:gs>
              </a:gsLst>
              <a:lin ang="5400000" scaled="1"/>
            </a:gradFill>
            <a:prstDash val="solid"/>
          </a:ln>
        </p:spPr>
        <p:style>
          <a:lnRef idx="1">
            <a:srgbClr val="376FFF"/>
          </a:lnRef>
          <a:fillRef idx="0">
            <a:srgbClr val="376FFF"/>
          </a:fillRef>
          <a:effectRef idx="0">
            <a:srgbClr val="376FFF"/>
          </a:effectRef>
          <a:fontRef idx="minor">
            <a:srgbClr val="000000"/>
          </a:fontRef>
        </p:style>
      </p:cxnSp>
      <p:sp>
        <p:nvSpPr>
          <p:cNvPr id="8" name="矩形 7"/>
          <p:cNvSpPr/>
          <p:nvPr>
            <p:custDataLst>
              <p:tags r:id="rId10"/>
            </p:custDataLst>
          </p:nvPr>
        </p:nvSpPr>
        <p:spPr>
          <a:xfrm>
            <a:off x="4669259" y="4395726"/>
            <a:ext cx="3112893" cy="1816618"/>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kern="0" dirty="0">
                <a:ln>
                  <a:noFill/>
                  <a:prstDash val="sysDot"/>
                </a:ln>
                <a:solidFill>
                  <a:schemeClr val="tx1">
                    <a:lumMod val="85000"/>
                    <a:lumOff val="15000"/>
                  </a:schemeClr>
                </a:solidFill>
                <a:latin typeface="+mn-ea"/>
                <a:cs typeface="+mn-ea"/>
                <a:sym typeface="+mn-ea"/>
              </a:rPr>
              <a:t>测试光线是否与场景中的任何物体相交（这需要循环遍历每条投射光线，再循环遍历</a:t>
            </a:r>
            <a:r>
              <a:rPr lang="zh-CN" altLang="en-US" sz="1600" kern="0" dirty="0">
                <a:ln>
                  <a:noFill/>
                  <a:prstDash val="sysDot"/>
                </a:ln>
                <a:solidFill>
                  <a:schemeClr val="tx1">
                    <a:lumMod val="85000"/>
                    <a:lumOff val="15000"/>
                  </a:schemeClr>
                </a:solidFill>
                <a:latin typeface="+mn-ea"/>
                <a:cs typeface="+mn-ea"/>
                <a:sym typeface="+mn-ea"/>
              </a:rPr>
              <a:t>所有物体）</a:t>
            </a:r>
            <a:endParaRPr lang="zh-CN" altLang="en-US" sz="1600" kern="0" dirty="0">
              <a:ln>
                <a:noFill/>
                <a:prstDash val="sysDot"/>
              </a:ln>
              <a:solidFill>
                <a:schemeClr val="tx1">
                  <a:lumMod val="85000"/>
                  <a:lumOff val="15000"/>
                </a:schemeClr>
              </a:solidFill>
              <a:latin typeface="+mn-ea"/>
              <a:cs typeface="+mn-ea"/>
              <a:sym typeface="+mn-ea"/>
            </a:endParaRPr>
          </a:p>
        </p:txBody>
      </p:sp>
      <p:sp>
        <p:nvSpPr>
          <p:cNvPr id="9" name="矩形 8"/>
          <p:cNvSpPr/>
          <p:nvPr>
            <p:custDataLst>
              <p:tags r:id="rId11"/>
            </p:custDataLst>
          </p:nvPr>
        </p:nvSpPr>
        <p:spPr>
          <a:xfrm>
            <a:off x="4669260" y="3420299"/>
            <a:ext cx="3112893" cy="818615"/>
          </a:xfrm>
          <a:prstGeom prst="rect">
            <a:avLst/>
          </a:prstGeom>
          <a:noFill/>
        </p:spPr>
        <p:txBody>
          <a:bodyPr wrap="square" lIns="0" tIns="0" rIns="0" bIns="0" rtlCol="0" anchor="b">
            <a:noAutofit/>
          </a:bodyPr>
          <a:lstStyle/>
          <a:p>
            <a:pPr>
              <a:spcBef>
                <a:spcPct val="0"/>
              </a:spcBef>
              <a:spcAft>
                <a:spcPct val="0"/>
              </a:spcAft>
            </a:pPr>
            <a:r>
              <a:rPr lang="en-US" altLang="zh-CN" sz="2000" b="1" kern="0">
                <a:solidFill>
                  <a:schemeClr val="accent1"/>
                </a:solidFill>
                <a:latin typeface="+mn-ea"/>
                <a:cs typeface="+mn-ea"/>
                <a:sym typeface="+mn-ea"/>
              </a:rPr>
              <a:t>R</a:t>
            </a:r>
            <a:r>
              <a:rPr lang="en-US" altLang="zh-CN" sz="2000" b="1" kern="0">
                <a:solidFill>
                  <a:schemeClr val="accent1"/>
                </a:solidFill>
                <a:latin typeface="+mn-ea"/>
                <a:cs typeface="+mn-ea"/>
                <a:sym typeface="+mn-ea"/>
              </a:rPr>
              <a:t>ay-Geometry-Intersection</a:t>
            </a:r>
            <a:endParaRPr lang="en-US" altLang="zh-CN" sz="2000" b="1" kern="0">
              <a:solidFill>
                <a:schemeClr val="accent1"/>
              </a:solidFill>
              <a:latin typeface="+mn-ea"/>
              <a:cs typeface="+mn-ea"/>
              <a:sym typeface="+mn-ea"/>
            </a:endParaRPr>
          </a:p>
        </p:txBody>
      </p:sp>
      <p:cxnSp>
        <p:nvCxnSpPr>
          <p:cNvPr id="19" name="直接连接符 18"/>
          <p:cNvCxnSpPr/>
          <p:nvPr>
            <p:custDataLst>
              <p:tags r:id="rId12"/>
            </p:custDataLst>
          </p:nvPr>
        </p:nvCxnSpPr>
        <p:spPr>
          <a:xfrm flipV="1">
            <a:off x="8123694" y="3475495"/>
            <a:ext cx="0" cy="2722303"/>
          </a:xfrm>
          <a:prstGeom prst="line">
            <a:avLst/>
          </a:prstGeom>
          <a:ln w="12700">
            <a:gradFill>
              <a:gsLst>
                <a:gs pos="0">
                  <a:schemeClr val="accent1">
                    <a:lumMod val="0"/>
                    <a:lumOff val="100000"/>
                    <a:alpha val="0"/>
                  </a:schemeClr>
                </a:gs>
                <a:gs pos="69000">
                  <a:schemeClr val="accent1">
                    <a:lumMod val="40000"/>
                    <a:lumOff val="60000"/>
                  </a:schemeClr>
                </a:gs>
              </a:gsLst>
              <a:lin ang="5400000" scaled="1"/>
            </a:gradFill>
            <a:prstDash val="solid"/>
          </a:ln>
        </p:spPr>
        <p:style>
          <a:lnRef idx="1">
            <a:srgbClr val="376FFF"/>
          </a:lnRef>
          <a:fillRef idx="0">
            <a:srgbClr val="376FFF"/>
          </a:fillRef>
          <a:effectRef idx="0">
            <a:srgbClr val="376FFF"/>
          </a:effectRef>
          <a:fontRef idx="minor">
            <a:srgbClr val="000000"/>
          </a:fontRef>
        </p:style>
      </p:cxnSp>
      <p:sp>
        <p:nvSpPr>
          <p:cNvPr id="10" name="矩形 9"/>
          <p:cNvSpPr/>
          <p:nvPr>
            <p:custDataLst>
              <p:tags r:id="rId13"/>
            </p:custDataLst>
          </p:nvPr>
        </p:nvSpPr>
        <p:spPr>
          <a:xfrm>
            <a:off x="8364398" y="4395726"/>
            <a:ext cx="3112893" cy="1816618"/>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600" kern="0" dirty="0">
                <a:ln>
                  <a:noFill/>
                  <a:prstDash val="sysDot"/>
                </a:ln>
                <a:solidFill>
                  <a:schemeClr val="tx1">
                    <a:lumMod val="85000"/>
                    <a:lumOff val="15000"/>
                  </a:schemeClr>
                </a:solidFill>
                <a:latin typeface="+mn-ea"/>
                <a:cs typeface="+mn-ea"/>
                <a:sym typeface="+mn-ea"/>
              </a:rPr>
              <a:t>在射线和物体的交点处找出物体的</a:t>
            </a:r>
            <a:r>
              <a:rPr lang="en-US" altLang="zh-CN" sz="1600" kern="0" dirty="0">
                <a:ln>
                  <a:noFill/>
                  <a:prstDash val="sysDot"/>
                </a:ln>
                <a:solidFill>
                  <a:schemeClr val="tx1">
                    <a:lumMod val="85000"/>
                    <a:lumOff val="15000"/>
                  </a:schemeClr>
                </a:solidFill>
                <a:latin typeface="+mn-ea"/>
                <a:cs typeface="+mn-ea"/>
                <a:sym typeface="+mn-ea"/>
              </a:rPr>
              <a:t>“</a:t>
            </a:r>
            <a:r>
              <a:rPr lang="zh-CN" altLang="en-US" sz="1600" kern="0" dirty="0">
                <a:ln>
                  <a:noFill/>
                  <a:prstDash val="sysDot"/>
                </a:ln>
                <a:solidFill>
                  <a:schemeClr val="tx1">
                    <a:lumMod val="85000"/>
                    <a:lumOff val="15000"/>
                  </a:schemeClr>
                </a:solidFill>
                <a:latin typeface="+mn-ea"/>
                <a:cs typeface="+mn-ea"/>
                <a:sym typeface="+mn-ea"/>
              </a:rPr>
              <a:t>样子</a:t>
            </a:r>
            <a:r>
              <a:rPr lang="en-US" altLang="zh-CN" sz="1600" kern="0" dirty="0">
                <a:ln>
                  <a:noFill/>
                  <a:prstDash val="sysDot"/>
                </a:ln>
                <a:solidFill>
                  <a:schemeClr val="tx1">
                    <a:lumMod val="85000"/>
                    <a:lumOff val="15000"/>
                  </a:schemeClr>
                </a:solidFill>
                <a:latin typeface="+mn-ea"/>
                <a:cs typeface="+mn-ea"/>
                <a:sym typeface="+mn-ea"/>
              </a:rPr>
              <a:t>”——</a:t>
            </a:r>
            <a:r>
              <a:rPr lang="zh-CN" altLang="en-US" sz="1600" kern="0" dirty="0">
                <a:ln>
                  <a:noFill/>
                  <a:prstDash val="sysDot"/>
                </a:ln>
                <a:solidFill>
                  <a:schemeClr val="tx1">
                    <a:lumMod val="85000"/>
                    <a:lumOff val="15000"/>
                  </a:schemeClr>
                </a:solidFill>
                <a:latin typeface="+mn-ea"/>
                <a:cs typeface="+mn-ea"/>
                <a:sym typeface="+mn-ea"/>
              </a:rPr>
              <a:t>在计算机图形学中，定义物体表面上任何给定点的实际颜色的任务被称为</a:t>
            </a:r>
            <a:r>
              <a:rPr lang="zh-CN" altLang="en-US" sz="1600" kern="0" dirty="0">
                <a:ln>
                  <a:noFill/>
                  <a:prstDash val="sysDot"/>
                </a:ln>
                <a:solidFill>
                  <a:schemeClr val="tx1">
                    <a:lumMod val="85000"/>
                    <a:lumOff val="15000"/>
                  </a:schemeClr>
                </a:solidFill>
                <a:latin typeface="+mn-ea"/>
                <a:cs typeface="+mn-ea"/>
                <a:sym typeface="+mn-ea"/>
              </a:rPr>
              <a:t>着色</a:t>
            </a:r>
            <a:endParaRPr lang="zh-CN" altLang="en-US" sz="1600" kern="0" dirty="0">
              <a:ln>
                <a:noFill/>
                <a:prstDash val="sysDot"/>
              </a:ln>
              <a:solidFill>
                <a:schemeClr val="tx1">
                  <a:lumMod val="85000"/>
                  <a:lumOff val="15000"/>
                </a:schemeClr>
              </a:solidFill>
              <a:latin typeface="+mn-ea"/>
              <a:cs typeface="+mn-ea"/>
              <a:sym typeface="+mn-ea"/>
            </a:endParaRPr>
          </a:p>
        </p:txBody>
      </p:sp>
      <p:sp>
        <p:nvSpPr>
          <p:cNvPr id="11" name="矩形 10"/>
          <p:cNvSpPr/>
          <p:nvPr>
            <p:custDataLst>
              <p:tags r:id="rId14"/>
            </p:custDataLst>
          </p:nvPr>
        </p:nvSpPr>
        <p:spPr>
          <a:xfrm>
            <a:off x="8364399" y="3405753"/>
            <a:ext cx="3112893" cy="818615"/>
          </a:xfrm>
          <a:prstGeom prst="rect">
            <a:avLst/>
          </a:prstGeom>
          <a:noFill/>
        </p:spPr>
        <p:txBody>
          <a:bodyPr wrap="square" lIns="0" tIns="0" rIns="0" bIns="0" rtlCol="0" anchor="b">
            <a:noAutofit/>
          </a:bodyPr>
          <a:lstStyle/>
          <a:p>
            <a:pPr>
              <a:spcBef>
                <a:spcPct val="0"/>
              </a:spcBef>
              <a:spcAft>
                <a:spcPct val="0"/>
              </a:spcAft>
            </a:pPr>
            <a:r>
              <a:rPr lang="zh-CN" altLang="en-US" sz="2000" b="1" kern="0">
                <a:solidFill>
                  <a:schemeClr val="accent1"/>
                </a:solidFill>
                <a:latin typeface="+mn-ea"/>
                <a:cs typeface="+mn-ea"/>
                <a:sym typeface="+mn-ea"/>
              </a:rPr>
              <a:t>着色</a:t>
            </a:r>
            <a:endParaRPr lang="zh-CN" altLang="en-US" sz="2000" b="1" kern="0">
              <a:solidFill>
                <a:schemeClr val="accent1"/>
              </a:solidFill>
              <a:latin typeface="+mn-ea"/>
              <a:cs typeface="+mn-ea"/>
              <a:sym typeface="+mn-ea"/>
            </a:endParaRPr>
          </a:p>
        </p:txBody>
      </p:sp>
      <p:pic>
        <p:nvPicPr>
          <p:cNvPr id="22" name="图片 21" descr="蓝色的高楼&#10;&#10;描述已自动生成"/>
          <p:cNvPicPr>
            <a:picLocks noChangeAspect="1"/>
          </p:cNvPicPr>
          <p:nvPr>
            <p:custDataLst>
              <p:tags r:id="rId15"/>
            </p:custDataLst>
          </p:nvPr>
        </p:nvPicPr>
        <p:blipFill rotWithShape="1">
          <a:blip r:embed="rId16" cstate="print">
            <a:extLst>
              <a:ext uri="{28A0092B-C50C-407E-A947-70E740481C1C}">
                <a14:useLocalDpi xmlns:a14="http://schemas.microsoft.com/office/drawing/2010/main" val="0"/>
              </a:ext>
            </a:extLst>
          </a:blip>
          <a:srcRect l="17833" b="28068"/>
          <a:stretch>
            <a:fillRect/>
          </a:stretch>
        </p:blipFill>
        <p:spPr>
          <a:xfrm>
            <a:off x="4409165" y="1360135"/>
            <a:ext cx="3372987" cy="1969524"/>
          </a:xfrm>
          <a:prstGeom prst="roundRect">
            <a:avLst>
              <a:gd name="adj" fmla="val 8058"/>
            </a:avLst>
          </a:prstGeom>
          <a:ln w="3175" cap="flat" cmpd="sng" algn="ctr">
            <a:solidFill>
              <a:schemeClr val="tx1">
                <a:lumMod val="40000"/>
                <a:lumOff val="60000"/>
                <a:alpha val="20000"/>
              </a:schemeClr>
            </a:solidFill>
            <a:prstDash val="solid"/>
            <a:round/>
            <a:headEnd type="none" w="med" len="med"/>
            <a:tailEnd type="none" w="med" len="med"/>
          </a:ln>
        </p:spPr>
      </p:pic>
    </p:spTree>
    <p:custDataLst>
      <p:tags r:id="rId17"/>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ED8CC"/>
        </a:solidFill>
        <a:effectLst/>
      </p:bgPr>
    </p:bg>
    <p:spTree>
      <p:nvGrpSpPr>
        <p:cNvPr id="1" name=""/>
        <p:cNvGrpSpPr/>
        <p:nvPr/>
      </p:nvGrpSpPr>
      <p:grpSpPr>
        <a:xfrm>
          <a:off x="0" y="0"/>
          <a:ext cx="0" cy="0"/>
          <a:chOff x="0" y="0"/>
          <a:chExt cx="0" cy="0"/>
        </a:xfrm>
      </p:grpSpPr>
      <p:sp>
        <p:nvSpPr>
          <p:cNvPr id="6" name="矩形 5"/>
          <p:cNvSpPr/>
          <p:nvPr/>
        </p:nvSpPr>
        <p:spPr>
          <a:xfrm>
            <a:off x="-168910" y="-150495"/>
            <a:ext cx="12249150" cy="6967855"/>
          </a:xfrm>
          <a:prstGeom prst="rect">
            <a:avLst/>
          </a:prstGeom>
          <a:solidFill>
            <a:srgbClr val="DED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d909388ef9f30ac29dfb903d38a6302"/>
          <p:cNvPicPr>
            <a:picLocks noChangeAspect="1"/>
          </p:cNvPicPr>
          <p:nvPr/>
        </p:nvPicPr>
        <p:blipFill>
          <a:blip r:embed="rId1"/>
          <a:srcRect l="19269" t="48419" r="32783"/>
          <a:stretch>
            <a:fillRect/>
          </a:stretch>
        </p:blipFill>
        <p:spPr>
          <a:xfrm rot="5400000">
            <a:off x="452279" y="-720725"/>
            <a:ext cx="3160871" cy="4403090"/>
          </a:xfrm>
          <a:prstGeom prst="rect">
            <a:avLst/>
          </a:prstGeom>
        </p:spPr>
      </p:pic>
      <p:pic>
        <p:nvPicPr>
          <p:cNvPr id="8" name="图片 7" descr="d909388ef9f30ac29dfb903d38a6302"/>
          <p:cNvPicPr>
            <a:picLocks noChangeAspect="1"/>
          </p:cNvPicPr>
          <p:nvPr/>
        </p:nvPicPr>
        <p:blipFill>
          <a:blip r:embed="rId1"/>
          <a:srcRect l="56160" t="-3248" r="23276" b="43865"/>
          <a:stretch>
            <a:fillRect/>
          </a:stretch>
        </p:blipFill>
        <p:spPr>
          <a:xfrm>
            <a:off x="10541635" y="-150495"/>
            <a:ext cx="1673860" cy="6261100"/>
          </a:xfrm>
          <a:prstGeom prst="rect">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9" name="文本框 8"/>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a:solidFill>
                  <a:schemeClr val="bg1"/>
                </a:solidFill>
                <a:uFillTx/>
                <a:latin typeface="+mj-lt"/>
                <a:cs typeface="+mj-lt"/>
                <a:sym typeface="+mn-ea"/>
              </a:rPr>
              <a:t>02</a:t>
            </a:r>
            <a:endParaRPr lang="zh-CN" altLang="en-US"/>
          </a:p>
        </p:txBody>
      </p:sp>
      <p:pic>
        <p:nvPicPr>
          <p:cNvPr id="11" name="图片 10" descr="320add92915d29881de9994cf72548a"/>
          <p:cNvPicPr>
            <a:picLocks noChangeAspect="1"/>
          </p:cNvPicPr>
          <p:nvPr/>
        </p:nvPicPr>
        <p:blipFill>
          <a:blip r:embed="rId2"/>
          <a:srcRect l="1387" t="6825" r="-731" b="13372"/>
          <a:stretch>
            <a:fillRect/>
          </a:stretch>
        </p:blipFill>
        <p:spPr>
          <a:xfrm>
            <a:off x="7728585" y="1778635"/>
            <a:ext cx="3365500" cy="3300730"/>
          </a:xfrm>
          <a:prstGeom prst="flowChartConnector">
            <a:avLst/>
          </a:prstGeom>
        </p:spPr>
      </p:pic>
      <p:sp>
        <p:nvSpPr>
          <p:cNvPr id="24" name="文本框 23"/>
          <p:cNvSpPr txBox="1"/>
          <p:nvPr/>
        </p:nvSpPr>
        <p:spPr>
          <a:xfrm>
            <a:off x="2421255" y="2309495"/>
            <a:ext cx="4592320" cy="1198880"/>
          </a:xfrm>
          <a:prstGeom prst="rect">
            <a:avLst/>
          </a:prstGeom>
          <a:noFill/>
        </p:spPr>
        <p:txBody>
          <a:bodyPr wrap="square" rtlCol="0">
            <a:spAutoFit/>
          </a:bodyPr>
          <a:lstStyle/>
          <a:p>
            <a:pPr>
              <a:lnSpc>
                <a:spcPct val="150000"/>
              </a:lnSpc>
            </a:pPr>
            <a:endParaRPr lang="en-US" altLang="zh-CN" spc="200" noProof="1">
              <a:solidFill>
                <a:schemeClr val="bg1">
                  <a:lumMod val="50000"/>
                </a:schemeClr>
              </a:solidFill>
              <a:latin typeface="+mj-lt"/>
              <a:cs typeface="+mj-lt"/>
            </a:endParaRPr>
          </a:p>
          <a:p>
            <a:pPr>
              <a:lnSpc>
                <a:spcPct val="150000"/>
              </a:lnSpc>
            </a:pPr>
            <a:endParaRPr lang="en-US" altLang="zh-CN" spc="200" noProof="1">
              <a:solidFill>
                <a:srgbClr val="7E593C"/>
              </a:solidFill>
              <a:latin typeface="+mj-lt"/>
              <a:cs typeface="+mj-lt"/>
            </a:endParaRPr>
          </a:p>
          <a:p>
            <a:pPr>
              <a:lnSpc>
                <a:spcPct val="150000"/>
              </a:lnSpc>
            </a:pPr>
            <a:endParaRPr lang="en-US" altLang="zh-CN" sz="1200" spc="200" noProof="1">
              <a:solidFill>
                <a:srgbClr val="7E593C"/>
              </a:solidFill>
              <a:latin typeface="+mj-lt"/>
              <a:ea typeface="宋体" panose="02010600030101010101" pitchFamily="2" charset="-122"/>
              <a:cs typeface="+mj-lt"/>
              <a:sym typeface="+mn-ea"/>
            </a:endParaRPr>
          </a:p>
        </p:txBody>
      </p:sp>
      <p:sp>
        <p:nvSpPr>
          <p:cNvPr id="12" name="文本框 11"/>
          <p:cNvSpPr txBox="1"/>
          <p:nvPr/>
        </p:nvSpPr>
        <p:spPr>
          <a:xfrm>
            <a:off x="2207260" y="620395"/>
            <a:ext cx="3394710" cy="521970"/>
          </a:xfrm>
          <a:prstGeom prst="rect">
            <a:avLst/>
          </a:prstGeom>
          <a:noFill/>
        </p:spPr>
        <p:txBody>
          <a:bodyPr wrap="none" rtlCol="0" anchor="t">
            <a:spAutoFit/>
          </a:bodyPr>
          <a:lstStyle/>
          <a:p>
            <a:r>
              <a:rPr lang="en-US" altLang="zh-CN" sz="2800" spc="200">
                <a:solidFill>
                  <a:srgbClr val="7E593C"/>
                </a:solidFill>
                <a:latin typeface="+mj-lt"/>
                <a:cs typeface="+mj-lt"/>
                <a:sym typeface="+mn-ea"/>
              </a:rPr>
              <a:t>VR</a:t>
            </a:r>
            <a:r>
              <a:rPr lang="zh-CN" altLang="en-US" sz="2800" spc="200">
                <a:solidFill>
                  <a:srgbClr val="7E593C"/>
                </a:solidFill>
                <a:latin typeface="+mj-lt"/>
                <a:cs typeface="+mj-lt"/>
                <a:sym typeface="+mn-ea"/>
              </a:rPr>
              <a:t>技术的数学思维</a:t>
            </a:r>
            <a:endParaRPr lang="zh-CN" altLang="en-US" sz="2800" spc="200">
              <a:solidFill>
                <a:srgbClr val="7E593C"/>
              </a:solidFill>
              <a:latin typeface="+mj-lt"/>
              <a:cs typeface="+mj-lt"/>
              <a:sym typeface="+mn-ea"/>
            </a:endParaRPr>
          </a:p>
        </p:txBody>
      </p:sp>
      <p:sp>
        <p:nvSpPr>
          <p:cNvPr id="5" name="文本框 4"/>
          <p:cNvSpPr txBox="1"/>
          <p:nvPr/>
        </p:nvSpPr>
        <p:spPr>
          <a:xfrm>
            <a:off x="414655" y="1213485"/>
            <a:ext cx="6977380" cy="645160"/>
          </a:xfrm>
          <a:prstGeom prst="rect">
            <a:avLst/>
          </a:prstGeom>
          <a:noFill/>
        </p:spPr>
        <p:txBody>
          <a:bodyPr wrap="square" rtlCol="0">
            <a:spAutoFit/>
          </a:bodyPr>
          <a:p>
            <a:r>
              <a:rPr lang="zh-CN" altLang="en-US"/>
              <a:t>三、概率与统计</a:t>
            </a:r>
            <a:endParaRPr lang="zh-CN" altLang="en-US"/>
          </a:p>
          <a:p>
            <a:endParaRPr lang="en-US" altLang="zh-CN"/>
          </a:p>
        </p:txBody>
      </p:sp>
      <p:pic>
        <p:nvPicPr>
          <p:cNvPr id="10" name="图片 9"/>
          <p:cNvPicPr>
            <a:picLocks noChangeAspect="1"/>
          </p:cNvPicPr>
          <p:nvPr/>
        </p:nvPicPr>
        <p:blipFill>
          <a:blip r:embed="rId3"/>
          <a:stretch>
            <a:fillRect/>
          </a:stretch>
        </p:blipFill>
        <p:spPr>
          <a:xfrm>
            <a:off x="541020" y="1700530"/>
            <a:ext cx="5962650" cy="1225550"/>
          </a:xfrm>
          <a:prstGeom prst="rect">
            <a:avLst/>
          </a:prstGeom>
        </p:spPr>
      </p:pic>
      <p:sp>
        <p:nvSpPr>
          <p:cNvPr id="13" name="文本框 12"/>
          <p:cNvSpPr txBox="1"/>
          <p:nvPr/>
        </p:nvSpPr>
        <p:spPr>
          <a:xfrm>
            <a:off x="431800" y="3167380"/>
            <a:ext cx="7098030" cy="1476375"/>
          </a:xfrm>
          <a:prstGeom prst="rect">
            <a:avLst/>
          </a:prstGeom>
          <a:noFill/>
        </p:spPr>
        <p:txBody>
          <a:bodyPr wrap="square" rtlCol="0">
            <a:spAutoFit/>
          </a:bodyPr>
          <a:p>
            <a:r>
              <a:rPr lang="zh-CN" altLang="en-US"/>
              <a:t>不过根据对大多数游戏的理解，对于怪物、角色出现的位置之类并没有应用过多，像闯关啊双人</a:t>
            </a:r>
            <a:r>
              <a:rPr lang="en-US" altLang="zh-CN"/>
              <a:t>PK</a:t>
            </a:r>
            <a:r>
              <a:rPr lang="zh-CN" altLang="en-US"/>
              <a:t>之类的游戏，位置和</a:t>
            </a:r>
            <a:r>
              <a:rPr lang="zh-CN" altLang="en-US"/>
              <a:t>模式都是固定的。在早期，概率和统计学</a:t>
            </a:r>
            <a:r>
              <a:rPr lang="zh-CN" altLang="en-US"/>
              <a:t>应主要用来分析随机试验的结果。</a:t>
            </a:r>
            <a:endParaRPr lang="zh-CN" altLang="en-US"/>
          </a:p>
          <a:p>
            <a:r>
              <a:rPr lang="zh-CN" altLang="en-US"/>
              <a:t>相较于此，统计是必须的，需要去了解</a:t>
            </a:r>
            <a:r>
              <a:rPr lang="zh-CN" altLang="en-US">
                <a:highlight>
                  <a:srgbClr val="FFFF00"/>
                </a:highlight>
              </a:rPr>
              <a:t>用户的使用体验</a:t>
            </a:r>
            <a:r>
              <a:rPr lang="zh-CN" altLang="en-US"/>
              <a:t>并就此作出改善。</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ED8CC"/>
        </a:solidFill>
        <a:effectLst/>
      </p:bgPr>
    </p:bg>
    <p:spTree>
      <p:nvGrpSpPr>
        <p:cNvPr id="1" name=""/>
        <p:cNvGrpSpPr/>
        <p:nvPr/>
      </p:nvGrpSpPr>
      <p:grpSpPr>
        <a:xfrm>
          <a:off x="0" y="0"/>
          <a:ext cx="0" cy="0"/>
          <a:chOff x="0" y="0"/>
          <a:chExt cx="0" cy="0"/>
        </a:xfrm>
      </p:grpSpPr>
      <p:sp>
        <p:nvSpPr>
          <p:cNvPr id="6" name="矩形 5"/>
          <p:cNvSpPr/>
          <p:nvPr/>
        </p:nvSpPr>
        <p:spPr>
          <a:xfrm>
            <a:off x="-168910" y="-150495"/>
            <a:ext cx="12249150" cy="6967855"/>
          </a:xfrm>
          <a:prstGeom prst="rect">
            <a:avLst/>
          </a:prstGeom>
          <a:solidFill>
            <a:srgbClr val="DED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d909388ef9f30ac29dfb903d38a6302"/>
          <p:cNvPicPr>
            <a:picLocks noChangeAspect="1"/>
          </p:cNvPicPr>
          <p:nvPr/>
        </p:nvPicPr>
        <p:blipFill>
          <a:blip r:embed="rId1"/>
          <a:srcRect l="19269" t="48419" r="32783"/>
          <a:stretch>
            <a:fillRect/>
          </a:stretch>
        </p:blipFill>
        <p:spPr>
          <a:xfrm rot="5400000">
            <a:off x="452279" y="-720725"/>
            <a:ext cx="3160871" cy="4403090"/>
          </a:xfrm>
          <a:prstGeom prst="rect">
            <a:avLst/>
          </a:prstGeom>
        </p:spPr>
      </p:pic>
      <p:pic>
        <p:nvPicPr>
          <p:cNvPr id="8" name="图片 7" descr="d909388ef9f30ac29dfb903d38a6302"/>
          <p:cNvPicPr>
            <a:picLocks noChangeAspect="1"/>
          </p:cNvPicPr>
          <p:nvPr/>
        </p:nvPicPr>
        <p:blipFill>
          <a:blip r:embed="rId1"/>
          <a:srcRect l="56160" t="-3248" r="23276" b="43865"/>
          <a:stretch>
            <a:fillRect/>
          </a:stretch>
        </p:blipFill>
        <p:spPr>
          <a:xfrm>
            <a:off x="10541635" y="-150495"/>
            <a:ext cx="1673860" cy="6261100"/>
          </a:xfrm>
          <a:prstGeom prst="rect">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9" name="文本框 8"/>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a:solidFill>
                  <a:schemeClr val="bg1"/>
                </a:solidFill>
                <a:uFillTx/>
                <a:latin typeface="+mj-lt"/>
                <a:cs typeface="+mj-lt"/>
                <a:sym typeface="+mn-ea"/>
              </a:rPr>
              <a:t>02</a:t>
            </a:r>
            <a:endParaRPr lang="zh-CN" altLang="en-US"/>
          </a:p>
        </p:txBody>
      </p:sp>
      <p:pic>
        <p:nvPicPr>
          <p:cNvPr id="11" name="图片 10" descr="320add92915d29881de9994cf72548a"/>
          <p:cNvPicPr>
            <a:picLocks noChangeAspect="1"/>
          </p:cNvPicPr>
          <p:nvPr/>
        </p:nvPicPr>
        <p:blipFill>
          <a:blip r:embed="rId2"/>
          <a:srcRect l="1387" t="6825" r="-731" b="13372"/>
          <a:stretch>
            <a:fillRect/>
          </a:stretch>
        </p:blipFill>
        <p:spPr>
          <a:xfrm>
            <a:off x="7728585" y="1778635"/>
            <a:ext cx="3365500" cy="3300730"/>
          </a:xfrm>
          <a:prstGeom prst="flowChartConnector">
            <a:avLst/>
          </a:prstGeom>
        </p:spPr>
      </p:pic>
      <p:sp>
        <p:nvSpPr>
          <p:cNvPr id="24" name="文本框 23"/>
          <p:cNvSpPr txBox="1"/>
          <p:nvPr/>
        </p:nvSpPr>
        <p:spPr>
          <a:xfrm>
            <a:off x="2421255" y="2309495"/>
            <a:ext cx="4592320" cy="1198880"/>
          </a:xfrm>
          <a:prstGeom prst="rect">
            <a:avLst/>
          </a:prstGeom>
          <a:noFill/>
        </p:spPr>
        <p:txBody>
          <a:bodyPr wrap="square" rtlCol="0">
            <a:spAutoFit/>
          </a:bodyPr>
          <a:lstStyle/>
          <a:p>
            <a:pPr>
              <a:lnSpc>
                <a:spcPct val="150000"/>
              </a:lnSpc>
            </a:pPr>
            <a:endParaRPr lang="en-US" altLang="zh-CN" spc="200" noProof="1">
              <a:solidFill>
                <a:schemeClr val="bg1">
                  <a:lumMod val="50000"/>
                </a:schemeClr>
              </a:solidFill>
              <a:latin typeface="+mj-lt"/>
              <a:cs typeface="+mj-lt"/>
            </a:endParaRPr>
          </a:p>
          <a:p>
            <a:pPr>
              <a:lnSpc>
                <a:spcPct val="150000"/>
              </a:lnSpc>
            </a:pPr>
            <a:endParaRPr lang="en-US" altLang="zh-CN" spc="200" noProof="1">
              <a:solidFill>
                <a:srgbClr val="7E593C"/>
              </a:solidFill>
              <a:latin typeface="+mj-lt"/>
              <a:cs typeface="+mj-lt"/>
            </a:endParaRPr>
          </a:p>
          <a:p>
            <a:pPr>
              <a:lnSpc>
                <a:spcPct val="150000"/>
              </a:lnSpc>
            </a:pPr>
            <a:endParaRPr lang="en-US" altLang="zh-CN" sz="1200" spc="200" noProof="1">
              <a:solidFill>
                <a:srgbClr val="7E593C"/>
              </a:solidFill>
              <a:latin typeface="+mj-lt"/>
              <a:ea typeface="宋体" panose="02010600030101010101" pitchFamily="2" charset="-122"/>
              <a:cs typeface="+mj-lt"/>
              <a:sym typeface="+mn-ea"/>
            </a:endParaRPr>
          </a:p>
        </p:txBody>
      </p:sp>
      <p:sp>
        <p:nvSpPr>
          <p:cNvPr id="12" name="文本框 11"/>
          <p:cNvSpPr txBox="1"/>
          <p:nvPr/>
        </p:nvSpPr>
        <p:spPr>
          <a:xfrm>
            <a:off x="2207260" y="620395"/>
            <a:ext cx="3394710" cy="521970"/>
          </a:xfrm>
          <a:prstGeom prst="rect">
            <a:avLst/>
          </a:prstGeom>
          <a:noFill/>
        </p:spPr>
        <p:txBody>
          <a:bodyPr wrap="none" rtlCol="0" anchor="t">
            <a:spAutoFit/>
          </a:bodyPr>
          <a:lstStyle/>
          <a:p>
            <a:r>
              <a:rPr lang="en-US" altLang="zh-CN" sz="2800" spc="200">
                <a:solidFill>
                  <a:srgbClr val="7E593C"/>
                </a:solidFill>
                <a:latin typeface="+mj-lt"/>
                <a:cs typeface="+mj-lt"/>
                <a:sym typeface="+mn-ea"/>
              </a:rPr>
              <a:t>VR</a:t>
            </a:r>
            <a:r>
              <a:rPr lang="zh-CN" altLang="en-US" sz="2800" spc="200">
                <a:solidFill>
                  <a:srgbClr val="7E593C"/>
                </a:solidFill>
                <a:latin typeface="+mj-lt"/>
                <a:cs typeface="+mj-lt"/>
                <a:sym typeface="+mn-ea"/>
              </a:rPr>
              <a:t>技术的数学思维</a:t>
            </a:r>
            <a:endParaRPr lang="zh-CN" altLang="en-US" sz="2800" spc="200">
              <a:solidFill>
                <a:srgbClr val="7E593C"/>
              </a:solidFill>
              <a:latin typeface="+mj-lt"/>
              <a:cs typeface="+mj-lt"/>
              <a:sym typeface="+mn-ea"/>
            </a:endParaRPr>
          </a:p>
        </p:txBody>
      </p:sp>
      <p:sp>
        <p:nvSpPr>
          <p:cNvPr id="2" name="文本框 1"/>
          <p:cNvSpPr txBox="1"/>
          <p:nvPr/>
        </p:nvSpPr>
        <p:spPr>
          <a:xfrm>
            <a:off x="702945" y="1296035"/>
            <a:ext cx="6401435" cy="922020"/>
          </a:xfrm>
          <a:prstGeom prst="rect">
            <a:avLst/>
          </a:prstGeom>
          <a:noFill/>
        </p:spPr>
        <p:txBody>
          <a:bodyPr wrap="square" rtlCol="0">
            <a:spAutoFit/>
          </a:bodyPr>
          <a:p>
            <a:r>
              <a:rPr lang="zh-CN" altLang="en-US"/>
              <a:t>四、插值与曲线拟合</a:t>
            </a:r>
            <a:r>
              <a:rPr lang="zh-CN" altLang="en-US">
                <a:solidFill>
                  <a:srgbClr val="FF0000"/>
                </a:solidFill>
              </a:rPr>
              <a:t>（不要太过官方，术语不好理解）</a:t>
            </a:r>
            <a:endParaRPr lang="zh-CN" altLang="en-US"/>
          </a:p>
          <a:p>
            <a:r>
              <a:rPr lang="zh-CN" altLang="en-US"/>
              <a:t>用于实现</a:t>
            </a:r>
            <a:r>
              <a:rPr lang="zh-CN" altLang="en-US"/>
              <a:t>平滑的运动和形状变化</a:t>
            </a:r>
            <a:endParaRPr lang="zh-CN" altLang="en-US"/>
          </a:p>
          <a:p>
            <a:endParaRPr lang="zh-CN" altLang="en-US"/>
          </a:p>
        </p:txBody>
      </p:sp>
      <p:pic>
        <p:nvPicPr>
          <p:cNvPr id="3" name="图片 2"/>
          <p:cNvPicPr>
            <a:picLocks noChangeAspect="1"/>
          </p:cNvPicPr>
          <p:nvPr/>
        </p:nvPicPr>
        <p:blipFill>
          <a:blip r:embed="rId3"/>
          <a:stretch>
            <a:fillRect/>
          </a:stretch>
        </p:blipFill>
        <p:spPr>
          <a:xfrm>
            <a:off x="767715" y="2079625"/>
            <a:ext cx="7744737" cy="1800000"/>
          </a:xfrm>
          <a:prstGeom prst="rect">
            <a:avLst/>
          </a:prstGeom>
        </p:spPr>
      </p:pic>
      <p:sp>
        <p:nvSpPr>
          <p:cNvPr id="4" name="文本框 3"/>
          <p:cNvSpPr txBox="1"/>
          <p:nvPr/>
        </p:nvSpPr>
        <p:spPr>
          <a:xfrm>
            <a:off x="603885" y="4242435"/>
            <a:ext cx="7004050" cy="645160"/>
          </a:xfrm>
          <a:prstGeom prst="rect">
            <a:avLst/>
          </a:prstGeom>
          <a:noFill/>
        </p:spPr>
        <p:txBody>
          <a:bodyPr wrap="square" rtlCol="0">
            <a:spAutoFit/>
          </a:bodyPr>
          <a:p>
            <a:r>
              <a:rPr lang="zh-CN" altLang="en-US"/>
              <a:t>去了解了些</a:t>
            </a:r>
            <a:r>
              <a:rPr lang="zh-CN" altLang="en-US"/>
              <a:t>数学方面的概念：</a:t>
            </a:r>
            <a:endParaRPr lang="zh-CN" altLang="en-US"/>
          </a:p>
          <a:p>
            <a:endParaRPr lang="zh-CN" altLang="en-US"/>
          </a:p>
        </p:txBody>
      </p:sp>
      <p:pic>
        <p:nvPicPr>
          <p:cNvPr id="14" name="图片 13"/>
          <p:cNvPicPr>
            <a:picLocks noChangeAspect="1"/>
          </p:cNvPicPr>
          <p:nvPr/>
        </p:nvPicPr>
        <p:blipFill>
          <a:blip r:embed="rId4"/>
          <a:stretch>
            <a:fillRect/>
          </a:stretch>
        </p:blipFill>
        <p:spPr>
          <a:xfrm>
            <a:off x="191135" y="4725035"/>
            <a:ext cx="6311900" cy="1924050"/>
          </a:xfrm>
          <a:prstGeom prst="rect">
            <a:avLst/>
          </a:prstGeom>
        </p:spPr>
      </p:pic>
      <p:sp>
        <p:nvSpPr>
          <p:cNvPr id="15" name="文本框 14"/>
          <p:cNvSpPr txBox="1"/>
          <p:nvPr/>
        </p:nvSpPr>
        <p:spPr>
          <a:xfrm>
            <a:off x="6956425" y="4767580"/>
            <a:ext cx="5258435" cy="2030095"/>
          </a:xfrm>
          <a:prstGeom prst="rect">
            <a:avLst/>
          </a:prstGeom>
          <a:noFill/>
        </p:spPr>
        <p:txBody>
          <a:bodyPr wrap="square" rtlCol="0">
            <a:spAutoFit/>
          </a:bodyPr>
          <a:p>
            <a:r>
              <a:rPr lang="en-US" altLang="zh-CN"/>
              <a:t>“</a:t>
            </a:r>
            <a:r>
              <a:rPr lang="zh-CN" altLang="en-US"/>
              <a:t>用来填充图像变换时像素之间的空隙</a:t>
            </a:r>
            <a:r>
              <a:rPr lang="en-US" altLang="zh-CN"/>
              <a:t>”</a:t>
            </a:r>
            <a:endParaRPr lang="en-US" altLang="zh-CN"/>
          </a:p>
          <a:p>
            <a:r>
              <a:rPr lang="en-US" altLang="zh-CN"/>
              <a:t>——</a:t>
            </a:r>
            <a:r>
              <a:rPr lang="zh-CN" altLang="en-US"/>
              <a:t>即防掉帧（</a:t>
            </a:r>
            <a:r>
              <a:rPr lang="zh-CN" altLang="en-US"/>
              <a:t>通俗易懂）</a:t>
            </a:r>
            <a:endParaRPr lang="zh-CN" altLang="en-US"/>
          </a:p>
          <a:p>
            <a:endParaRPr lang="zh-CN" altLang="en-US"/>
          </a:p>
          <a:p>
            <a:r>
              <a:rPr lang="zh-CN" altLang="en-US"/>
              <a:t>要不说数学怎么融汇贯通的呢</a:t>
            </a:r>
            <a:r>
              <a:rPr lang="en-US" altLang="zh-CN"/>
              <a:t>——</a:t>
            </a:r>
            <a:r>
              <a:rPr lang="zh-CN" altLang="en-US"/>
              <a:t>物体运动和形状的变化用曲线来拟合，这是用点来代替物体的思想，拟合完毕后，一定会应用到物理引擎，拟合的过程也是一个应用几何知识的</a:t>
            </a:r>
            <a:r>
              <a:rPr lang="zh-CN" altLang="en-US"/>
              <a:t>过程。</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94800" y="360000"/>
            <a:ext cx="4603640" cy="720000"/>
          </a:xfrm>
        </p:spPr>
        <p:txBody>
          <a:bodyPr lIns="0" tIns="0" rIns="0" bIns="0" anchor="b"/>
          <a:lstStyle/>
          <a:p>
            <a:r>
              <a:rPr lang="zh-CN" altLang="en-US" dirty="0"/>
              <a:t>插值与</a:t>
            </a:r>
            <a:r>
              <a:rPr lang="zh-CN" altLang="en-US" dirty="0"/>
              <a:t>拟合</a:t>
            </a:r>
            <a:endParaRPr lang="zh-CN" altLang="en-US" dirty="0"/>
          </a:p>
        </p:txBody>
      </p:sp>
      <p:pic>
        <p:nvPicPr>
          <p:cNvPr id="18" name="图片 17"/>
          <p:cNvPicPr>
            <a:picLocks noChangeAspect="1"/>
          </p:cNvPicPr>
          <p:nvPr>
            <p:custDataLst>
              <p:tags r:id="rId2"/>
            </p:custDataLst>
          </p:nvPr>
        </p:nvPicPr>
        <p:blipFill>
          <a:blip r:embed="rId3" cstate="print"/>
          <a:stretch>
            <a:fillRect/>
          </a:stretch>
        </p:blipFill>
        <p:spPr>
          <a:xfrm>
            <a:off x="6155050" y="2"/>
            <a:ext cx="6036950" cy="6040857"/>
          </a:xfrm>
          <a:custGeom>
            <a:avLst/>
            <a:gdLst>
              <a:gd name="connsiteX0" fmla="*/ 2276483 w 6036950"/>
              <a:gd name="connsiteY0" fmla="*/ 0 h 6040857"/>
              <a:gd name="connsiteX1" fmla="*/ 6036950 w 6036950"/>
              <a:gd name="connsiteY1" fmla="*/ 0 h 6040857"/>
              <a:gd name="connsiteX2" fmla="*/ 6036950 w 6036950"/>
              <a:gd name="connsiteY2" fmla="*/ 2936006 h 6040857"/>
              <a:gd name="connsiteX3" fmla="*/ 4238679 w 6036950"/>
              <a:gd name="connsiteY3" fmla="*/ 5156686 h 6040857"/>
              <a:gd name="connsiteX4" fmla="*/ 884172 w 6036950"/>
              <a:gd name="connsiteY4" fmla="*/ 5509259 h 6040857"/>
              <a:gd name="connsiteX5" fmla="*/ 531600 w 6036950"/>
              <a:gd name="connsiteY5" fmla="*/ 2154752 h 6040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6950" h="6040857">
                <a:moveTo>
                  <a:pt x="2276483" y="0"/>
                </a:moveTo>
                <a:lnTo>
                  <a:pt x="6036950" y="0"/>
                </a:lnTo>
                <a:lnTo>
                  <a:pt x="6036950" y="2936006"/>
                </a:lnTo>
                <a:lnTo>
                  <a:pt x="4238679" y="5156686"/>
                </a:lnTo>
                <a:cubicBezTo>
                  <a:pt x="3409718" y="6180367"/>
                  <a:pt x="1907854" y="6338220"/>
                  <a:pt x="884172" y="5509259"/>
                </a:cubicBezTo>
                <a:cubicBezTo>
                  <a:pt x="-139509" y="4680298"/>
                  <a:pt x="-297361" y="3178434"/>
                  <a:pt x="531600" y="2154752"/>
                </a:cubicBezTo>
                <a:close/>
              </a:path>
            </a:pathLst>
          </a:custGeom>
          <a:ln w="9525" cap="flat" cmpd="sng" algn="ctr">
            <a:solidFill>
              <a:schemeClr val="tx1">
                <a:lumMod val="40000"/>
                <a:lumOff val="60000"/>
                <a:alpha val="50000"/>
              </a:schemeClr>
            </a:solidFill>
            <a:prstDash val="solid"/>
            <a:round/>
            <a:headEnd type="none" w="med" len="med"/>
            <a:tailEnd type="none" w="med" len="med"/>
          </a:ln>
          <a:effectLst>
            <a:outerShdw dist="254000" dir="4200000" algn="ctr" rotWithShape="0">
              <a:schemeClr val="accent1">
                <a:alpha val="15000"/>
              </a:schemeClr>
            </a:outerShdw>
          </a:effectLst>
        </p:spPr>
      </p:pic>
      <p:sp>
        <p:nvSpPr>
          <p:cNvPr id="11" name="矩形 10"/>
          <p:cNvSpPr/>
          <p:nvPr>
            <p:custDataLst>
              <p:tags r:id="rId4"/>
            </p:custDataLst>
          </p:nvPr>
        </p:nvSpPr>
        <p:spPr>
          <a:xfrm>
            <a:off x="1332230" y="2356485"/>
            <a:ext cx="3942715" cy="660400"/>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a:solidFill>
                  <a:schemeClr val="tx1">
                    <a:lumMod val="85000"/>
                    <a:lumOff val="15000"/>
                  </a:schemeClr>
                </a:solidFill>
                <a:latin typeface="+mn-ea"/>
                <a:cs typeface="+mn-ea"/>
              </a:rPr>
              <a:t>插值曲线要过数据点，拟合曲线整体效果</a:t>
            </a:r>
            <a:r>
              <a:rPr lang="zh-CN" altLang="en-US" sz="1400">
                <a:solidFill>
                  <a:schemeClr val="tx1">
                    <a:lumMod val="85000"/>
                    <a:lumOff val="15000"/>
                  </a:schemeClr>
                </a:solidFill>
                <a:latin typeface="+mn-ea"/>
                <a:cs typeface="+mn-ea"/>
              </a:rPr>
              <a:t>更好。</a:t>
            </a:r>
            <a:endParaRPr lang="zh-CN" altLang="en-US" sz="1400">
              <a:solidFill>
                <a:schemeClr val="tx1">
                  <a:lumMod val="85000"/>
                  <a:lumOff val="15000"/>
                </a:schemeClr>
              </a:solidFill>
              <a:latin typeface="+mn-ea"/>
              <a:cs typeface="+mn-ea"/>
            </a:endParaRPr>
          </a:p>
          <a:p>
            <a:pPr algn="just">
              <a:lnSpc>
                <a:spcPct val="150000"/>
              </a:lnSpc>
              <a:spcBef>
                <a:spcPct val="0"/>
              </a:spcBef>
              <a:spcAft>
                <a:spcPct val="0"/>
              </a:spcAft>
            </a:pPr>
            <a:r>
              <a:rPr lang="zh-CN" altLang="en-US" sz="1400">
                <a:solidFill>
                  <a:schemeClr val="tx1">
                    <a:lumMod val="85000"/>
                    <a:lumOff val="15000"/>
                  </a:schemeClr>
                </a:solidFill>
                <a:latin typeface="+mn-ea"/>
                <a:cs typeface="+mn-ea"/>
              </a:rPr>
              <a:t>插值，一定要过数据点；拟合，就是要得到最接近的结果，要看</a:t>
            </a:r>
            <a:r>
              <a:rPr lang="zh-CN" altLang="en-US" sz="1400">
                <a:solidFill>
                  <a:schemeClr val="tx1">
                    <a:lumMod val="85000"/>
                    <a:lumOff val="15000"/>
                  </a:schemeClr>
                </a:solidFill>
                <a:latin typeface="+mn-ea"/>
                <a:cs typeface="+mn-ea"/>
              </a:rPr>
              <a:t>总体效果。</a:t>
            </a:r>
            <a:endParaRPr lang="zh-CN" altLang="en-US" sz="1400">
              <a:solidFill>
                <a:schemeClr val="tx1">
                  <a:lumMod val="85000"/>
                  <a:lumOff val="15000"/>
                </a:schemeClr>
              </a:solidFill>
              <a:latin typeface="+mn-ea"/>
              <a:cs typeface="+mn-ea"/>
            </a:endParaRPr>
          </a:p>
        </p:txBody>
      </p:sp>
      <p:sp>
        <p:nvSpPr>
          <p:cNvPr id="13" name="矩形 12"/>
          <p:cNvSpPr/>
          <p:nvPr>
            <p:custDataLst>
              <p:tags r:id="rId5"/>
            </p:custDataLst>
          </p:nvPr>
        </p:nvSpPr>
        <p:spPr>
          <a:xfrm>
            <a:off x="1328420" y="1618615"/>
            <a:ext cx="3943985" cy="660400"/>
          </a:xfrm>
          <a:prstGeom prst="rect">
            <a:avLst/>
          </a:prstGeom>
          <a:noFill/>
        </p:spPr>
        <p:txBody>
          <a:bodyPr wrap="square" lIns="0" tIns="0" rIns="0" bIns="0" rtlCol="0" anchor="b">
            <a:noAutofit/>
          </a:bodyPr>
          <a:lstStyle/>
          <a:p>
            <a:pPr>
              <a:spcBef>
                <a:spcPct val="0"/>
              </a:spcBef>
              <a:spcAft>
                <a:spcPct val="0"/>
              </a:spcAft>
            </a:pPr>
            <a:r>
              <a:rPr lang="zh-CN" altLang="en-US" sz="2000" b="1">
                <a:solidFill>
                  <a:schemeClr val="accent1"/>
                </a:solidFill>
                <a:latin typeface="+mn-ea"/>
                <a:cs typeface="+mn-ea"/>
              </a:rPr>
              <a:t>曲线图的</a:t>
            </a:r>
            <a:r>
              <a:rPr lang="zh-CN" altLang="en-US" sz="2000" b="1">
                <a:solidFill>
                  <a:schemeClr val="accent1"/>
                </a:solidFill>
                <a:latin typeface="+mn-ea"/>
                <a:cs typeface="+mn-ea"/>
              </a:rPr>
              <a:t>差别</a:t>
            </a:r>
            <a:endParaRPr lang="zh-CN" altLang="en-US" sz="2000" b="1">
              <a:solidFill>
                <a:schemeClr val="accent1"/>
              </a:solidFill>
              <a:latin typeface="+mn-ea"/>
              <a:cs typeface="+mn-ea"/>
            </a:endParaRPr>
          </a:p>
        </p:txBody>
      </p:sp>
      <p:sp>
        <p:nvSpPr>
          <p:cNvPr id="14" name="椭圆 13"/>
          <p:cNvSpPr/>
          <p:nvPr>
            <p:custDataLst>
              <p:tags r:id="rId6"/>
            </p:custDataLst>
          </p:nvPr>
        </p:nvSpPr>
        <p:spPr>
          <a:xfrm>
            <a:off x="669290" y="2010410"/>
            <a:ext cx="504190" cy="504190"/>
          </a:xfrm>
          <a:prstGeom prst="ellipse">
            <a:avLst/>
          </a:prstGeom>
          <a:solidFill>
            <a:schemeClr val="accent1"/>
          </a:solidFill>
          <a:effectLst>
            <a:outerShdw blurRad="101600" dist="38100" algn="l" rotWithShape="0">
              <a:schemeClr val="accent1">
                <a:alpha val="40000"/>
              </a:schemeClr>
            </a:outerShdw>
          </a:effectLst>
        </p:spPr>
        <p:txBody>
          <a:bodyPr wrap="none" lIns="0" tIns="0" rIns="0" bIns="0" rtlCol="0" anchor="ctr" anchorCtr="0">
            <a:noAutofit/>
          </a:bodyPr>
          <a:lstStyle/>
          <a:p>
            <a:pPr algn="ctr">
              <a:spcBef>
                <a:spcPct val="0"/>
              </a:spcBef>
              <a:spcAft>
                <a:spcPct val="0"/>
              </a:spcAft>
            </a:pPr>
            <a:r>
              <a:rPr lang="en-US" altLang="zh-CN" sz="1600" b="1">
                <a:solidFill>
                  <a:schemeClr val="lt1">
                    <a:lumMod val="100000"/>
                  </a:schemeClr>
                </a:solidFill>
                <a:latin typeface="+mn-ea"/>
                <a:cs typeface="+mn-ea"/>
              </a:rPr>
              <a:t>01</a:t>
            </a:r>
            <a:endParaRPr lang="zh-CN" altLang="en-US" sz="1600" b="1">
              <a:solidFill>
                <a:schemeClr val="lt1">
                  <a:lumMod val="100000"/>
                </a:schemeClr>
              </a:solidFill>
              <a:latin typeface="+mn-ea"/>
              <a:cs typeface="+mn-ea"/>
            </a:endParaRPr>
          </a:p>
        </p:txBody>
      </p:sp>
      <p:sp>
        <p:nvSpPr>
          <p:cNvPr id="15" name="椭圆 14"/>
          <p:cNvSpPr/>
          <p:nvPr>
            <p:custDataLst>
              <p:tags r:id="rId7"/>
            </p:custDataLst>
          </p:nvPr>
        </p:nvSpPr>
        <p:spPr>
          <a:xfrm>
            <a:off x="669290" y="5024120"/>
            <a:ext cx="504190" cy="504190"/>
          </a:xfrm>
          <a:prstGeom prst="ellipse">
            <a:avLst/>
          </a:prstGeom>
          <a:solidFill>
            <a:schemeClr val="accent1"/>
          </a:solidFill>
          <a:effectLst>
            <a:outerShdw blurRad="101600" dist="38100" algn="l" rotWithShape="0">
              <a:schemeClr val="accent1">
                <a:alpha val="40000"/>
              </a:schemeClr>
            </a:outerShdw>
          </a:effectLst>
        </p:spPr>
        <p:txBody>
          <a:bodyPr wrap="none" lIns="0" tIns="0" rIns="0" bIns="0" rtlCol="0" anchor="ctr" anchorCtr="0">
            <a:noAutofit/>
          </a:bodyPr>
          <a:lstStyle/>
          <a:p>
            <a:pPr algn="ctr">
              <a:spcBef>
                <a:spcPct val="0"/>
              </a:spcBef>
              <a:spcAft>
                <a:spcPct val="0"/>
              </a:spcAft>
            </a:pPr>
            <a:r>
              <a:rPr lang="en-US" altLang="zh-CN" sz="1600" b="1">
                <a:solidFill>
                  <a:schemeClr val="lt1">
                    <a:lumMod val="100000"/>
                  </a:schemeClr>
                </a:solidFill>
                <a:latin typeface="+mn-ea"/>
                <a:cs typeface="+mn-ea"/>
              </a:rPr>
              <a:t>03</a:t>
            </a:r>
            <a:endParaRPr lang="zh-CN" altLang="en-US" sz="1600" b="1">
              <a:solidFill>
                <a:schemeClr val="lt1">
                  <a:lumMod val="100000"/>
                </a:schemeClr>
              </a:solidFill>
              <a:latin typeface="+mn-ea"/>
              <a:cs typeface="+mn-ea"/>
            </a:endParaRPr>
          </a:p>
        </p:txBody>
      </p:sp>
      <p:sp>
        <p:nvSpPr>
          <p:cNvPr id="16" name="矩形 15"/>
          <p:cNvSpPr/>
          <p:nvPr>
            <p:custDataLst>
              <p:tags r:id="rId8"/>
            </p:custDataLst>
          </p:nvPr>
        </p:nvSpPr>
        <p:spPr>
          <a:xfrm>
            <a:off x="1333500" y="5376545"/>
            <a:ext cx="3942715" cy="660400"/>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a:solidFill>
                  <a:schemeClr val="tx1">
                    <a:lumMod val="85000"/>
                    <a:lumOff val="15000"/>
                  </a:schemeClr>
                </a:solidFill>
                <a:latin typeface="+mn-ea"/>
                <a:cs typeface="+mn-ea"/>
              </a:rPr>
              <a:t>拟合以及插值还有逼近是数值分析的三大基础工具</a:t>
            </a:r>
            <a:endParaRPr lang="zh-CN" altLang="en-US" sz="1400">
              <a:solidFill>
                <a:schemeClr val="tx1">
                  <a:lumMod val="85000"/>
                  <a:lumOff val="15000"/>
                </a:schemeClr>
              </a:solidFill>
              <a:latin typeface="+mn-ea"/>
              <a:cs typeface="+mn-ea"/>
            </a:endParaRPr>
          </a:p>
        </p:txBody>
      </p:sp>
      <p:sp>
        <p:nvSpPr>
          <p:cNvPr id="17" name="矩形 16"/>
          <p:cNvSpPr/>
          <p:nvPr>
            <p:custDataLst>
              <p:tags r:id="rId9"/>
            </p:custDataLst>
          </p:nvPr>
        </p:nvSpPr>
        <p:spPr>
          <a:xfrm>
            <a:off x="1329690" y="4638675"/>
            <a:ext cx="3943985" cy="660400"/>
          </a:xfrm>
          <a:prstGeom prst="rect">
            <a:avLst/>
          </a:prstGeom>
          <a:noFill/>
        </p:spPr>
        <p:txBody>
          <a:bodyPr wrap="square" lIns="0" tIns="0" rIns="0" bIns="0" rtlCol="0" anchor="b">
            <a:noAutofit/>
          </a:bodyPr>
          <a:lstStyle/>
          <a:p>
            <a:pPr>
              <a:spcBef>
                <a:spcPct val="0"/>
              </a:spcBef>
              <a:spcAft>
                <a:spcPct val="0"/>
              </a:spcAft>
            </a:pPr>
            <a:r>
              <a:rPr lang="zh-CN" altLang="en-US" sz="2000" b="1">
                <a:solidFill>
                  <a:schemeClr val="accent1"/>
                </a:solidFill>
                <a:latin typeface="+mn-ea"/>
                <a:cs typeface="+mn-ea"/>
              </a:rPr>
              <a:t>单击此处添加项标题</a:t>
            </a:r>
            <a:endParaRPr lang="zh-CN" altLang="en-US" sz="2000" b="1">
              <a:solidFill>
                <a:schemeClr val="accent1"/>
              </a:solidFill>
              <a:latin typeface="+mn-ea"/>
              <a:cs typeface="+mn-ea"/>
            </a:endParaRPr>
          </a:p>
        </p:txBody>
      </p:sp>
      <p:sp>
        <p:nvSpPr>
          <p:cNvPr id="19" name="椭圆 18"/>
          <p:cNvSpPr/>
          <p:nvPr>
            <p:custDataLst>
              <p:tags r:id="rId10"/>
            </p:custDataLst>
          </p:nvPr>
        </p:nvSpPr>
        <p:spPr>
          <a:xfrm>
            <a:off x="669290" y="3511550"/>
            <a:ext cx="504190" cy="504190"/>
          </a:xfrm>
          <a:prstGeom prst="ellipse">
            <a:avLst/>
          </a:prstGeom>
          <a:solidFill>
            <a:schemeClr val="accent1"/>
          </a:solidFill>
          <a:effectLst>
            <a:outerShdw blurRad="101600" dist="38100" algn="l" rotWithShape="0">
              <a:schemeClr val="accent1">
                <a:alpha val="40000"/>
              </a:schemeClr>
            </a:outerShdw>
          </a:effectLst>
        </p:spPr>
        <p:txBody>
          <a:bodyPr wrap="none" lIns="0" tIns="0" rIns="0" bIns="0" rtlCol="0" anchor="ctr" anchorCtr="0">
            <a:noAutofit/>
          </a:bodyPr>
          <a:lstStyle/>
          <a:p>
            <a:pPr algn="ctr">
              <a:spcBef>
                <a:spcPct val="0"/>
              </a:spcBef>
              <a:spcAft>
                <a:spcPct val="0"/>
              </a:spcAft>
            </a:pPr>
            <a:r>
              <a:rPr lang="en-US" altLang="zh-CN" sz="1600" b="1">
                <a:solidFill>
                  <a:schemeClr val="lt1">
                    <a:lumMod val="100000"/>
                  </a:schemeClr>
                </a:solidFill>
                <a:latin typeface="+mn-ea"/>
                <a:cs typeface="+mn-ea"/>
              </a:rPr>
              <a:t>02</a:t>
            </a:r>
            <a:endParaRPr lang="zh-CN" altLang="en-US" sz="1600" b="1">
              <a:solidFill>
                <a:schemeClr val="lt1">
                  <a:lumMod val="100000"/>
                </a:schemeClr>
              </a:solidFill>
              <a:latin typeface="+mn-ea"/>
              <a:cs typeface="+mn-ea"/>
            </a:endParaRPr>
          </a:p>
        </p:txBody>
      </p:sp>
      <p:sp>
        <p:nvSpPr>
          <p:cNvPr id="20" name="矩形 19"/>
          <p:cNvSpPr/>
          <p:nvPr>
            <p:custDataLst>
              <p:tags r:id="rId11"/>
            </p:custDataLst>
          </p:nvPr>
        </p:nvSpPr>
        <p:spPr>
          <a:xfrm>
            <a:off x="1330960" y="3866515"/>
            <a:ext cx="3942715" cy="660400"/>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a:solidFill>
                  <a:schemeClr val="tx1">
                    <a:lumMod val="85000"/>
                    <a:lumOff val="15000"/>
                  </a:schemeClr>
                </a:solidFill>
                <a:latin typeface="+mn-ea"/>
                <a:cs typeface="+mn-ea"/>
              </a:rPr>
              <a:t>拟合是给定了空间中的一些点，找到一个已知形式未知参数的连续曲面来最大限度地逼近这些点；而插值是找到一个连续曲面来</a:t>
            </a:r>
            <a:r>
              <a:rPr lang="zh-CN" altLang="en-US" sz="1400">
                <a:solidFill>
                  <a:schemeClr val="tx1">
                    <a:lumMod val="85000"/>
                    <a:lumOff val="15000"/>
                  </a:schemeClr>
                </a:solidFill>
                <a:latin typeface="+mn-ea"/>
                <a:cs typeface="+mn-ea"/>
              </a:rPr>
              <a:t>穿过这些点。</a:t>
            </a:r>
            <a:endParaRPr lang="zh-CN" altLang="en-US" sz="1400">
              <a:solidFill>
                <a:schemeClr val="tx1">
                  <a:lumMod val="85000"/>
                  <a:lumOff val="15000"/>
                </a:schemeClr>
              </a:solidFill>
              <a:latin typeface="+mn-ea"/>
              <a:cs typeface="+mn-ea"/>
            </a:endParaRPr>
          </a:p>
        </p:txBody>
      </p:sp>
      <p:sp>
        <p:nvSpPr>
          <p:cNvPr id="21" name="矩形 20"/>
          <p:cNvSpPr/>
          <p:nvPr>
            <p:custDataLst>
              <p:tags r:id="rId12"/>
            </p:custDataLst>
          </p:nvPr>
        </p:nvSpPr>
        <p:spPr>
          <a:xfrm>
            <a:off x="1329055" y="3128645"/>
            <a:ext cx="3943985" cy="660400"/>
          </a:xfrm>
          <a:prstGeom prst="rect">
            <a:avLst/>
          </a:prstGeom>
          <a:noFill/>
        </p:spPr>
        <p:txBody>
          <a:bodyPr wrap="square" lIns="0" tIns="0" rIns="0" bIns="0" rtlCol="0" anchor="b">
            <a:noAutofit/>
          </a:bodyPr>
          <a:lstStyle/>
          <a:p>
            <a:pPr>
              <a:spcBef>
                <a:spcPct val="0"/>
              </a:spcBef>
              <a:spcAft>
                <a:spcPct val="0"/>
              </a:spcAft>
            </a:pPr>
            <a:r>
              <a:rPr lang="zh-CN" altLang="en-US" sz="2000" b="1">
                <a:solidFill>
                  <a:schemeClr val="accent1"/>
                </a:solidFill>
                <a:latin typeface="+mn-ea"/>
                <a:cs typeface="+mn-ea"/>
              </a:rPr>
              <a:t>几何意义</a:t>
            </a:r>
            <a:endParaRPr lang="zh-CN" altLang="en-US" sz="2000" b="1">
              <a:solidFill>
                <a:schemeClr val="accent1"/>
              </a:solidFill>
              <a:latin typeface="+mn-ea"/>
              <a:cs typeface="+mn-ea"/>
            </a:endParaRPr>
          </a:p>
        </p:txBody>
      </p:sp>
      <p:pic>
        <p:nvPicPr>
          <p:cNvPr id="4" name="图片 3"/>
          <p:cNvPicPr>
            <a:picLocks noChangeAspect="1"/>
          </p:cNvPicPr>
          <p:nvPr/>
        </p:nvPicPr>
        <p:blipFill>
          <a:blip r:embed="rId13"/>
          <a:stretch>
            <a:fillRect/>
          </a:stretch>
        </p:blipFill>
        <p:spPr>
          <a:xfrm>
            <a:off x="4439920" y="0"/>
            <a:ext cx="6369050" cy="2381250"/>
          </a:xfrm>
          <a:prstGeom prst="rect">
            <a:avLst/>
          </a:prstGeom>
        </p:spPr>
      </p:pic>
    </p:spTree>
    <p:custDataLst>
      <p:tags r:id="rId1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碰撞检测</a:t>
            </a:r>
            <a:endParaRPr lang="zh-CN" altLang="en-US"/>
          </a:p>
        </p:txBody>
      </p:sp>
      <p:sp>
        <p:nvSpPr>
          <p:cNvPr id="3" name="内容占位符 2"/>
          <p:cNvSpPr>
            <a:spLocks noGrp="1"/>
          </p:cNvSpPr>
          <p:nvPr>
            <p:ph idx="1"/>
          </p:nvPr>
        </p:nvSpPr>
        <p:spPr/>
        <p:txBody>
          <a:bodyPr/>
          <a:p>
            <a:r>
              <a:rPr lang="zh-CN" altLang="en-US" sz="2000">
                <a:solidFill>
                  <a:schemeClr val="tx1"/>
                </a:solidFill>
              </a:rPr>
              <a:t>碰撞检测的定义：计算机便发送数据便检测信道上的信号电压大小</a:t>
            </a:r>
            <a:endParaRPr lang="zh-CN" altLang="en-US" sz="2000">
              <a:solidFill>
                <a:schemeClr val="tx1"/>
              </a:solidFill>
            </a:endParaRPr>
          </a:p>
          <a:p>
            <a:r>
              <a:rPr lang="zh-CN" altLang="en-US" sz="2000"/>
              <a:t>碰撞检测在3D游戏中至关重要，好的碰撞检测要求人物在场景中可以</a:t>
            </a:r>
            <a:r>
              <a:rPr lang="zh-CN" altLang="en-US" sz="2000">
                <a:solidFill>
                  <a:schemeClr val="tx1"/>
                </a:solidFill>
                <a:highlight>
                  <a:srgbClr val="FFFF00"/>
                </a:highlight>
              </a:rPr>
              <a:t>平滑移动</a:t>
            </a:r>
            <a:r>
              <a:rPr lang="zh-CN" altLang="en-US" sz="2000"/>
              <a:t>，遇到一定高度内的台阶可以自动上去，而过高的台阶则把人挡住，遇到斜率较小的斜坡可以上去，斜率过大则把人挡住，在各种前进方向被挡住的情况下都要尽可能地让人物沿</a:t>
            </a:r>
            <a:r>
              <a:rPr lang="zh-CN" altLang="en-US" sz="2000">
                <a:highlight>
                  <a:srgbClr val="FFFF00"/>
                </a:highlight>
              </a:rPr>
              <a:t>合理的方向</a:t>
            </a:r>
            <a:r>
              <a:rPr lang="zh-CN" altLang="en-US" sz="2000"/>
              <a:t>滑动而不是被迫停下。在满足这些要求的同时还要做到足够</a:t>
            </a:r>
            <a:r>
              <a:rPr lang="zh-CN" altLang="en-US" sz="2000">
                <a:highlight>
                  <a:srgbClr val="FFFF00"/>
                </a:highlight>
              </a:rPr>
              <a:t>精确和稳定</a:t>
            </a:r>
            <a:r>
              <a:rPr lang="zh-CN" altLang="en-US" sz="2000"/>
              <a:t>，防止人物在特殊情况下穿墙而掉出场景（走着走着穿墙了这听起来就很荒谬，所以碰撞检测如果做得不好时很容易出</a:t>
            </a:r>
            <a:r>
              <a:rPr lang="en-US" altLang="zh-CN" sz="2000"/>
              <a:t>bug</a:t>
            </a:r>
            <a:r>
              <a:rPr lang="zh-CN" altLang="en-US" sz="2000"/>
              <a:t>的）。</a:t>
            </a:r>
            <a:endParaRPr lang="zh-CN" altLang="en-US" sz="2000"/>
          </a:p>
          <a:p>
            <a:endParaRPr lang="zh-CN" altLang="en-US" sz="200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ED8CC"/>
        </a:solidFill>
        <a:effectLst/>
      </p:bgPr>
    </p:bg>
    <p:spTree>
      <p:nvGrpSpPr>
        <p:cNvPr id="1" name=""/>
        <p:cNvGrpSpPr/>
        <p:nvPr/>
      </p:nvGrpSpPr>
      <p:grpSpPr>
        <a:xfrm>
          <a:off x="0" y="0"/>
          <a:ext cx="0" cy="0"/>
          <a:chOff x="0" y="0"/>
          <a:chExt cx="0" cy="0"/>
        </a:xfrm>
      </p:grpSpPr>
      <p:sp>
        <p:nvSpPr>
          <p:cNvPr id="6" name="矩形 5"/>
          <p:cNvSpPr/>
          <p:nvPr/>
        </p:nvSpPr>
        <p:spPr>
          <a:xfrm>
            <a:off x="-168910" y="-150495"/>
            <a:ext cx="12249150" cy="6967855"/>
          </a:xfrm>
          <a:prstGeom prst="rect">
            <a:avLst/>
          </a:prstGeom>
          <a:solidFill>
            <a:srgbClr val="DED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d909388ef9f30ac29dfb903d38a6302"/>
          <p:cNvPicPr>
            <a:picLocks noChangeAspect="1"/>
          </p:cNvPicPr>
          <p:nvPr/>
        </p:nvPicPr>
        <p:blipFill>
          <a:blip r:embed="rId1"/>
          <a:srcRect l="19269" t="48419" r="32783"/>
          <a:stretch>
            <a:fillRect/>
          </a:stretch>
        </p:blipFill>
        <p:spPr>
          <a:xfrm rot="5400000">
            <a:off x="452279" y="-720725"/>
            <a:ext cx="3160871" cy="4403090"/>
          </a:xfrm>
          <a:prstGeom prst="rect">
            <a:avLst/>
          </a:prstGeom>
        </p:spPr>
      </p:pic>
      <p:pic>
        <p:nvPicPr>
          <p:cNvPr id="8" name="图片 7" descr="d909388ef9f30ac29dfb903d38a6302"/>
          <p:cNvPicPr>
            <a:picLocks noChangeAspect="1"/>
          </p:cNvPicPr>
          <p:nvPr/>
        </p:nvPicPr>
        <p:blipFill>
          <a:blip r:embed="rId1"/>
          <a:srcRect l="56160" t="-3248" r="23276" b="43865"/>
          <a:stretch>
            <a:fillRect/>
          </a:stretch>
        </p:blipFill>
        <p:spPr>
          <a:xfrm>
            <a:off x="10541635" y="-150495"/>
            <a:ext cx="1673860" cy="6261100"/>
          </a:xfrm>
          <a:prstGeom prst="rect">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9" name="文本框 8"/>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a:solidFill>
                  <a:schemeClr val="bg1"/>
                </a:solidFill>
                <a:uFillTx/>
                <a:latin typeface="+mj-lt"/>
                <a:cs typeface="+mj-lt"/>
                <a:sym typeface="+mn-ea"/>
              </a:rPr>
              <a:t>02</a:t>
            </a:r>
            <a:endParaRPr lang="zh-CN" altLang="en-US"/>
          </a:p>
        </p:txBody>
      </p:sp>
      <p:pic>
        <p:nvPicPr>
          <p:cNvPr id="11" name="图片 10" descr="320add92915d29881de9994cf72548a"/>
          <p:cNvPicPr>
            <a:picLocks noChangeAspect="1"/>
          </p:cNvPicPr>
          <p:nvPr/>
        </p:nvPicPr>
        <p:blipFill>
          <a:blip r:embed="rId2"/>
          <a:srcRect l="1387" t="6825" r="-731" b="13372"/>
          <a:stretch>
            <a:fillRect/>
          </a:stretch>
        </p:blipFill>
        <p:spPr>
          <a:xfrm>
            <a:off x="7728585" y="1778635"/>
            <a:ext cx="3365500" cy="3300730"/>
          </a:xfrm>
          <a:prstGeom prst="flowChartConnector">
            <a:avLst/>
          </a:prstGeom>
        </p:spPr>
      </p:pic>
      <p:sp>
        <p:nvSpPr>
          <p:cNvPr id="24" name="文本框 23"/>
          <p:cNvSpPr txBox="1"/>
          <p:nvPr/>
        </p:nvSpPr>
        <p:spPr>
          <a:xfrm>
            <a:off x="2421255" y="2309495"/>
            <a:ext cx="4592320" cy="1198880"/>
          </a:xfrm>
          <a:prstGeom prst="rect">
            <a:avLst/>
          </a:prstGeom>
          <a:noFill/>
        </p:spPr>
        <p:txBody>
          <a:bodyPr wrap="square" rtlCol="0">
            <a:spAutoFit/>
          </a:bodyPr>
          <a:lstStyle/>
          <a:p>
            <a:pPr>
              <a:lnSpc>
                <a:spcPct val="150000"/>
              </a:lnSpc>
            </a:pPr>
            <a:endParaRPr lang="en-US" altLang="zh-CN" spc="200" noProof="1">
              <a:solidFill>
                <a:schemeClr val="bg1">
                  <a:lumMod val="50000"/>
                </a:schemeClr>
              </a:solidFill>
              <a:latin typeface="+mj-lt"/>
              <a:cs typeface="+mj-lt"/>
            </a:endParaRPr>
          </a:p>
          <a:p>
            <a:pPr>
              <a:lnSpc>
                <a:spcPct val="150000"/>
              </a:lnSpc>
            </a:pPr>
            <a:endParaRPr lang="en-US" altLang="zh-CN" spc="200" noProof="1">
              <a:solidFill>
                <a:srgbClr val="7E593C"/>
              </a:solidFill>
              <a:latin typeface="+mj-lt"/>
              <a:cs typeface="+mj-lt"/>
            </a:endParaRPr>
          </a:p>
          <a:p>
            <a:pPr>
              <a:lnSpc>
                <a:spcPct val="150000"/>
              </a:lnSpc>
            </a:pPr>
            <a:endParaRPr lang="en-US" altLang="zh-CN" sz="1200" spc="200" noProof="1">
              <a:solidFill>
                <a:srgbClr val="7E593C"/>
              </a:solidFill>
              <a:latin typeface="+mj-lt"/>
              <a:ea typeface="宋体" panose="02010600030101010101" pitchFamily="2" charset="-122"/>
              <a:cs typeface="+mj-lt"/>
              <a:sym typeface="+mn-ea"/>
            </a:endParaRPr>
          </a:p>
        </p:txBody>
      </p:sp>
      <p:sp>
        <p:nvSpPr>
          <p:cNvPr id="12" name="文本框 11"/>
          <p:cNvSpPr txBox="1"/>
          <p:nvPr/>
        </p:nvSpPr>
        <p:spPr>
          <a:xfrm>
            <a:off x="2207260" y="620395"/>
            <a:ext cx="3394710" cy="521970"/>
          </a:xfrm>
          <a:prstGeom prst="rect">
            <a:avLst/>
          </a:prstGeom>
          <a:noFill/>
        </p:spPr>
        <p:txBody>
          <a:bodyPr wrap="none" rtlCol="0" anchor="t">
            <a:spAutoFit/>
          </a:bodyPr>
          <a:lstStyle/>
          <a:p>
            <a:r>
              <a:rPr lang="en-US" altLang="zh-CN" sz="2800" spc="200">
                <a:solidFill>
                  <a:srgbClr val="7E593C"/>
                </a:solidFill>
                <a:latin typeface="+mj-lt"/>
                <a:cs typeface="+mj-lt"/>
                <a:sym typeface="+mn-ea"/>
              </a:rPr>
              <a:t>VR</a:t>
            </a:r>
            <a:r>
              <a:rPr lang="zh-CN" altLang="en-US" sz="2800" spc="200">
                <a:solidFill>
                  <a:srgbClr val="7E593C"/>
                </a:solidFill>
                <a:latin typeface="+mj-lt"/>
                <a:cs typeface="+mj-lt"/>
                <a:sym typeface="+mn-ea"/>
              </a:rPr>
              <a:t>技术的数学思维</a:t>
            </a:r>
            <a:endParaRPr lang="zh-CN" altLang="en-US" sz="2800" spc="200">
              <a:solidFill>
                <a:srgbClr val="7E593C"/>
              </a:solidFill>
              <a:latin typeface="+mj-lt"/>
              <a:cs typeface="+mj-lt"/>
              <a:sym typeface="+mn-ea"/>
            </a:endParaRPr>
          </a:p>
        </p:txBody>
      </p:sp>
      <p:sp>
        <p:nvSpPr>
          <p:cNvPr id="4" name="文本框 3"/>
          <p:cNvSpPr txBox="1"/>
          <p:nvPr/>
        </p:nvSpPr>
        <p:spPr>
          <a:xfrm>
            <a:off x="714375" y="1211580"/>
            <a:ext cx="6317615" cy="645160"/>
          </a:xfrm>
          <a:prstGeom prst="rect">
            <a:avLst/>
          </a:prstGeom>
          <a:noFill/>
        </p:spPr>
        <p:txBody>
          <a:bodyPr wrap="square" rtlCol="0">
            <a:spAutoFit/>
          </a:bodyPr>
          <a:p>
            <a:r>
              <a:rPr lang="zh-CN" altLang="en-US"/>
              <a:t>五、</a:t>
            </a:r>
            <a:r>
              <a:rPr lang="zh-CN" altLang="en-US"/>
              <a:t>数值计算与优化</a:t>
            </a:r>
            <a:endParaRPr lang="zh-CN" altLang="en-US"/>
          </a:p>
          <a:p>
            <a:endParaRPr lang="zh-CN" altLang="en-US"/>
          </a:p>
        </p:txBody>
      </p:sp>
      <p:pic>
        <p:nvPicPr>
          <p:cNvPr id="14" name="图片 13"/>
          <p:cNvPicPr>
            <a:picLocks noChangeAspect="1"/>
          </p:cNvPicPr>
          <p:nvPr/>
        </p:nvPicPr>
        <p:blipFill>
          <a:blip r:embed="rId3"/>
          <a:stretch>
            <a:fillRect/>
          </a:stretch>
        </p:blipFill>
        <p:spPr>
          <a:xfrm>
            <a:off x="767715" y="1689735"/>
            <a:ext cx="5911850" cy="1371600"/>
          </a:xfrm>
          <a:prstGeom prst="rect">
            <a:avLst/>
          </a:prstGeom>
        </p:spPr>
      </p:pic>
      <p:sp>
        <p:nvSpPr>
          <p:cNvPr id="3" name="文本框 2"/>
          <p:cNvSpPr txBox="1"/>
          <p:nvPr/>
        </p:nvSpPr>
        <p:spPr>
          <a:xfrm>
            <a:off x="3380740" y="1403350"/>
            <a:ext cx="4803140" cy="645160"/>
          </a:xfrm>
          <a:prstGeom prst="rect">
            <a:avLst/>
          </a:prstGeom>
          <a:noFill/>
        </p:spPr>
        <p:txBody>
          <a:bodyPr wrap="square" rtlCol="0">
            <a:spAutoFit/>
          </a:bodyPr>
          <a:p>
            <a:r>
              <a:rPr lang="zh-CN" altLang="en-US"/>
              <a:t>为复杂的计算问题找到最优解，并</a:t>
            </a:r>
            <a:r>
              <a:rPr lang="zh-CN" altLang="en-US"/>
              <a:t>充分考虑计算结果的合理性与稳定性。</a:t>
            </a:r>
            <a:endParaRPr lang="zh-CN" altLang="en-US"/>
          </a:p>
        </p:txBody>
      </p:sp>
      <p:sp>
        <p:nvSpPr>
          <p:cNvPr id="2" name="文本框 1"/>
          <p:cNvSpPr txBox="1"/>
          <p:nvPr/>
        </p:nvSpPr>
        <p:spPr>
          <a:xfrm>
            <a:off x="759460" y="3156585"/>
            <a:ext cx="5920105" cy="1198880"/>
          </a:xfrm>
          <a:prstGeom prst="rect">
            <a:avLst/>
          </a:prstGeom>
          <a:noFill/>
        </p:spPr>
        <p:txBody>
          <a:bodyPr wrap="square" rtlCol="0">
            <a:spAutoFit/>
          </a:bodyPr>
          <a:p>
            <a:r>
              <a:rPr lang="zh-CN" altLang="en-US"/>
              <a:t>用数学方法来求最优方案的间接优化设计方法</a:t>
            </a:r>
            <a:endParaRPr lang="zh-CN" altLang="en-US"/>
          </a:p>
          <a:p>
            <a:r>
              <a:rPr lang="zh-CN" altLang="en-US"/>
              <a:t>数值计算优化是指一些</a:t>
            </a:r>
            <a:r>
              <a:rPr lang="zh-CN" altLang="en-US">
                <a:highlight>
                  <a:srgbClr val="FFFF00"/>
                </a:highlight>
              </a:rPr>
              <a:t>用数学方法来求最优方案</a:t>
            </a:r>
            <a:r>
              <a:rPr lang="zh-CN" altLang="en-US"/>
              <a:t>的一种间接优化设计方法。现代的数值计算优化都是以使用计算机的数值计算为其主要特征。</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9600" y="274955"/>
            <a:ext cx="10944225" cy="830580"/>
          </a:xfrm>
        </p:spPr>
        <p:txBody>
          <a:bodyPr/>
          <a:p>
            <a:r>
              <a:rPr lang="zh-CN" altLang="en-US" sz="3600"/>
              <a:t>数值计算</a:t>
            </a:r>
            <a:endParaRPr lang="zh-CN" altLang="en-US" sz="3600"/>
          </a:p>
        </p:txBody>
      </p:sp>
      <p:sp>
        <p:nvSpPr>
          <p:cNvPr id="3" name="内容占位符 2"/>
          <p:cNvSpPr>
            <a:spLocks noGrp="1"/>
          </p:cNvSpPr>
          <p:nvPr>
            <p:ph idx="1"/>
          </p:nvPr>
        </p:nvSpPr>
        <p:spPr>
          <a:xfrm>
            <a:off x="581025" y="981075"/>
            <a:ext cx="10972800" cy="4525963"/>
          </a:xfrm>
        </p:spPr>
        <p:txBody>
          <a:bodyPr/>
          <a:p>
            <a:r>
              <a:rPr lang="zh-CN" altLang="en-US" sz="2000"/>
              <a:t>数值计算指</a:t>
            </a:r>
            <a:r>
              <a:rPr lang="zh-CN" altLang="en-US" sz="2000">
                <a:highlight>
                  <a:srgbClr val="FFFF00"/>
                </a:highlight>
              </a:rPr>
              <a:t>有效使用数字计算机求数学问题近似解的方法与过程</a:t>
            </a:r>
            <a:r>
              <a:rPr lang="zh-CN" altLang="en-US" sz="2000"/>
              <a:t>，以及由相关理论构成的学科。</a:t>
            </a:r>
            <a:r>
              <a:rPr lang="zh-CN" altLang="en-US" sz="2000">
                <a:solidFill>
                  <a:srgbClr val="FF0000"/>
                </a:solidFill>
              </a:rPr>
              <a:t>数值计算主要研究如何利用计算机更好的解决各种数学问题</a:t>
            </a:r>
            <a:r>
              <a:rPr lang="zh-CN" altLang="en-US" sz="2000"/>
              <a:t>，包括连续系统离散化和离散形方程的求解，并考虑误差、收敛性和稳定性等问题。</a:t>
            </a:r>
            <a:endParaRPr lang="zh-CN" altLang="en-US" sz="2000"/>
          </a:p>
          <a:p>
            <a:r>
              <a:rPr lang="zh-CN" altLang="en-US" sz="2000"/>
              <a:t>从数学类型来分，数值运算的研究领域包括数值逼近、数值微分和数值积分、数值代数、最优化方法、常微分方程数值解法、积分方程数值解法、偏微分方程数值解法、计算几何、计算概率统计等。随着</a:t>
            </a:r>
            <a:r>
              <a:rPr lang="zh-CN" altLang="en-US" sz="2000">
                <a:highlight>
                  <a:srgbClr val="FFFF00"/>
                </a:highlight>
              </a:rPr>
              <a:t>计算机的广泛应用和发展</a:t>
            </a:r>
            <a:r>
              <a:rPr lang="zh-CN" altLang="en-US" sz="2000"/>
              <a:t>，许多计算领域的问题，如计算物理、计算力学、计算化学、计算经济学等都可归结为数值计算问题。</a:t>
            </a:r>
            <a:endParaRPr lang="zh-CN" altLang="en-US" sz="2000"/>
          </a:p>
          <a:p>
            <a:r>
              <a:rPr lang="zh-CN" altLang="en-US" sz="2000"/>
              <a:t>数值计算具有以下</a:t>
            </a:r>
            <a:r>
              <a:rPr lang="zh-CN" altLang="en-US" sz="2000">
                <a:highlight>
                  <a:srgbClr val="FFFF00"/>
                </a:highlight>
              </a:rPr>
              <a:t>5个重要特征</a:t>
            </a:r>
            <a:r>
              <a:rPr lang="zh-CN" altLang="en-US" sz="2000"/>
              <a:t>：</a:t>
            </a:r>
            <a:endParaRPr lang="zh-CN" altLang="en-US" sz="2000"/>
          </a:p>
          <a:p>
            <a:pPr marL="0" indent="0">
              <a:buNone/>
            </a:pPr>
            <a:r>
              <a:rPr lang="zh-CN" altLang="en-US" sz="2000"/>
              <a:t>1、数值计算的结果是离散的，并且一定有误差，这是数值计算方法区别与解析法的主要特征。</a:t>
            </a:r>
            <a:endParaRPr lang="zh-CN" altLang="en-US" sz="2000"/>
          </a:p>
          <a:p>
            <a:pPr marL="0" indent="0">
              <a:buNone/>
            </a:pPr>
            <a:r>
              <a:rPr lang="zh-CN" altLang="en-US" sz="2000"/>
              <a:t>2、注重计算的稳定性。控制误差的增长势头，保证计算过程稳定是数值计算方法的核心任务之一。</a:t>
            </a:r>
            <a:endParaRPr lang="zh-CN" altLang="en-US" sz="2000"/>
          </a:p>
          <a:p>
            <a:pPr marL="0" indent="0">
              <a:buNone/>
            </a:pPr>
            <a:r>
              <a:rPr lang="zh-CN" altLang="en-US" sz="2000"/>
              <a:t>3、注重快捷的计算速度和高计算精度是数值计算的重要特征。</a:t>
            </a:r>
            <a:endParaRPr lang="zh-CN" altLang="en-US" sz="2000"/>
          </a:p>
          <a:p>
            <a:pPr marL="0" indent="0">
              <a:buNone/>
            </a:pPr>
            <a:r>
              <a:rPr lang="zh-CN" altLang="en-US" sz="2000"/>
              <a:t>4、注重构造性证明。</a:t>
            </a:r>
            <a:endParaRPr lang="zh-CN" altLang="en-US" sz="2000"/>
          </a:p>
          <a:p>
            <a:pPr marL="0" indent="0">
              <a:buNone/>
            </a:pPr>
            <a:r>
              <a:rPr lang="zh-CN" altLang="en-US" sz="2000"/>
              <a:t>5、数值计算主要是运用有限逼近的的思想来进行误差运算。</a:t>
            </a:r>
            <a:endParaRPr lang="zh-CN" altLang="en-US"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9600" y="274955"/>
            <a:ext cx="10811510" cy="812165"/>
          </a:xfrm>
        </p:spPr>
        <p:txBody>
          <a:bodyPr/>
          <a:p>
            <a:r>
              <a:rPr lang="zh-CN" altLang="en-US" sz="3200"/>
              <a:t>数值优化算法</a:t>
            </a:r>
            <a:endParaRPr lang="zh-CN" altLang="en-US" sz="3200"/>
          </a:p>
        </p:txBody>
      </p:sp>
      <p:sp>
        <p:nvSpPr>
          <p:cNvPr id="3" name="内容占位符 2"/>
          <p:cNvSpPr>
            <a:spLocks noGrp="1"/>
          </p:cNvSpPr>
          <p:nvPr>
            <p:ph idx="1"/>
          </p:nvPr>
        </p:nvSpPr>
        <p:spPr>
          <a:xfrm>
            <a:off x="609600" y="981075"/>
            <a:ext cx="10972800" cy="4525963"/>
          </a:xfrm>
        </p:spPr>
        <p:txBody>
          <a:bodyPr/>
          <a:p>
            <a:r>
              <a:rPr lang="zh-CN" altLang="en-US" sz="2400"/>
              <a:t>数值优化算法是一种</a:t>
            </a:r>
            <a:r>
              <a:rPr lang="zh-CN" altLang="en-US" sz="2400">
                <a:highlight>
                  <a:srgbClr val="FFFF00"/>
                </a:highlight>
              </a:rPr>
              <a:t>寻找函数极值</a:t>
            </a:r>
            <a:r>
              <a:rPr lang="zh-CN" altLang="en-US" sz="2400"/>
              <a:t>的方法</a:t>
            </a:r>
            <a:endParaRPr lang="zh-CN" altLang="en-US" sz="2400"/>
          </a:p>
          <a:p>
            <a:r>
              <a:rPr lang="zh-CN" altLang="en-US" sz="2400"/>
              <a:t>几种常见的数值优化算法及其应用：</a:t>
            </a:r>
            <a:endParaRPr lang="zh-CN" altLang="en-US" sz="2400"/>
          </a:p>
          <a:p>
            <a:pPr marL="0" indent="0">
              <a:buNone/>
            </a:pPr>
            <a:r>
              <a:rPr lang="zh-CN" altLang="en-US" sz="2400"/>
              <a:t>一、梯度下降法</a:t>
            </a:r>
            <a:endParaRPr lang="zh-CN" altLang="en-US" sz="2400"/>
          </a:p>
          <a:p>
            <a:pPr marL="0" indent="0">
              <a:buNone/>
            </a:pPr>
            <a:r>
              <a:rPr lang="zh-CN" altLang="en-US" sz="2400"/>
              <a:t>它通过寻找损失函数的梯度来更新参数，以在</a:t>
            </a:r>
            <a:r>
              <a:rPr lang="zh-CN" altLang="en-US" sz="2400"/>
              <a:t>每次迭代中逐步接近极值点。</a:t>
            </a:r>
            <a:endParaRPr lang="zh-CN" altLang="en-US" sz="2400"/>
          </a:p>
          <a:p>
            <a:pPr marL="0" indent="0">
              <a:buNone/>
            </a:pPr>
            <a:r>
              <a:rPr lang="zh-CN" altLang="en-US" sz="2400"/>
              <a:t>二、</a:t>
            </a:r>
            <a:r>
              <a:rPr lang="zh-CN" altLang="en-US" sz="2400"/>
              <a:t>牛顿法</a:t>
            </a:r>
            <a:endParaRPr lang="zh-CN" altLang="en-US" sz="2400"/>
          </a:p>
          <a:p>
            <a:pPr marL="0" indent="0">
              <a:buNone/>
            </a:pPr>
            <a:r>
              <a:rPr lang="zh-CN" altLang="en-US" sz="2400"/>
              <a:t>牛顿法是一种用于寻找函数极值点的迭代优化算法，它利用函数的一阶导数和</a:t>
            </a:r>
            <a:r>
              <a:rPr lang="zh-CN" altLang="en-US" sz="2400"/>
              <a:t>二阶导数信息来逼近极值点</a:t>
            </a:r>
            <a:endParaRPr lang="zh-CN" altLang="en-US" sz="2400"/>
          </a:p>
          <a:p>
            <a:pPr marL="0" indent="0">
              <a:buNone/>
            </a:pPr>
            <a:r>
              <a:rPr lang="zh-CN" altLang="en-US" sz="2400"/>
              <a:t>三、</a:t>
            </a:r>
            <a:r>
              <a:rPr lang="zh-CN" altLang="en-US" sz="2400"/>
              <a:t>遗传算法</a:t>
            </a:r>
            <a:endParaRPr lang="zh-CN" altLang="en-US" sz="2400"/>
          </a:p>
          <a:p>
            <a:pPr marL="0" indent="0">
              <a:buNone/>
            </a:pPr>
            <a:r>
              <a:rPr lang="zh-CN" altLang="en-US" sz="2400"/>
              <a:t>遗传算法是一种模拟生物遗传和进化过程的优化算法，它通过使用选择、交叉和变异等操作，模拟自然界的进化规律，</a:t>
            </a:r>
            <a:r>
              <a:rPr lang="zh-CN" altLang="en-US" sz="2400"/>
              <a:t>来寻找函数的最优解。</a:t>
            </a:r>
            <a:endParaRPr lang="zh-CN" altLang="en-US" sz="2400"/>
          </a:p>
          <a:p>
            <a:pPr marL="0" indent="0">
              <a:buNone/>
            </a:pPr>
            <a:r>
              <a:rPr lang="zh-CN" altLang="en-US" sz="2400"/>
              <a:t>四、</a:t>
            </a:r>
            <a:r>
              <a:rPr lang="zh-CN" altLang="en-US" sz="2400"/>
              <a:t>模拟退火算法</a:t>
            </a:r>
            <a:endParaRPr lang="zh-CN" altLang="en-US" sz="2400"/>
          </a:p>
          <a:p>
            <a:pPr marL="0" indent="0">
              <a:buNone/>
            </a:pPr>
            <a:r>
              <a:rPr lang="zh-CN" altLang="en-US" sz="2400"/>
              <a:t>五、</a:t>
            </a:r>
            <a:r>
              <a:rPr lang="zh-CN" altLang="en-US" sz="2400"/>
              <a:t>粒子群算法</a:t>
            </a:r>
            <a:endParaRPr lang="zh-CN" alt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ED8CC"/>
        </a:solidFill>
        <a:effectLst/>
      </p:bgPr>
    </p:bg>
    <p:spTree>
      <p:nvGrpSpPr>
        <p:cNvPr id="1" name=""/>
        <p:cNvGrpSpPr/>
        <p:nvPr/>
      </p:nvGrpSpPr>
      <p:grpSpPr>
        <a:xfrm>
          <a:off x="0" y="0"/>
          <a:ext cx="0" cy="0"/>
          <a:chOff x="0" y="0"/>
          <a:chExt cx="0" cy="0"/>
        </a:xfrm>
      </p:grpSpPr>
      <p:sp>
        <p:nvSpPr>
          <p:cNvPr id="6" name="矩形 5"/>
          <p:cNvSpPr/>
          <p:nvPr/>
        </p:nvSpPr>
        <p:spPr>
          <a:xfrm>
            <a:off x="-168910" y="-150495"/>
            <a:ext cx="12249150" cy="6967855"/>
          </a:xfrm>
          <a:prstGeom prst="rect">
            <a:avLst/>
          </a:prstGeom>
          <a:solidFill>
            <a:srgbClr val="DED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d909388ef9f30ac29dfb903d38a6302"/>
          <p:cNvPicPr>
            <a:picLocks noChangeAspect="1"/>
          </p:cNvPicPr>
          <p:nvPr/>
        </p:nvPicPr>
        <p:blipFill>
          <a:blip r:embed="rId1"/>
          <a:srcRect l="19269" t="48419" r="32783"/>
          <a:stretch>
            <a:fillRect/>
          </a:stretch>
        </p:blipFill>
        <p:spPr>
          <a:xfrm rot="5400000">
            <a:off x="452279" y="-720725"/>
            <a:ext cx="3160871" cy="4403090"/>
          </a:xfrm>
          <a:prstGeom prst="rect">
            <a:avLst/>
          </a:prstGeom>
        </p:spPr>
      </p:pic>
      <p:pic>
        <p:nvPicPr>
          <p:cNvPr id="8" name="图片 7" descr="d909388ef9f30ac29dfb903d38a6302"/>
          <p:cNvPicPr>
            <a:picLocks noChangeAspect="1"/>
          </p:cNvPicPr>
          <p:nvPr/>
        </p:nvPicPr>
        <p:blipFill>
          <a:blip r:embed="rId1"/>
          <a:srcRect l="56160" t="-3248" r="23276" b="43865"/>
          <a:stretch>
            <a:fillRect/>
          </a:stretch>
        </p:blipFill>
        <p:spPr>
          <a:xfrm>
            <a:off x="10541635" y="-150495"/>
            <a:ext cx="1673860" cy="6261100"/>
          </a:xfrm>
          <a:prstGeom prst="rect">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9" name="文本框 8"/>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a:solidFill>
                  <a:schemeClr val="bg1"/>
                </a:solidFill>
                <a:uFillTx/>
                <a:latin typeface="+mj-lt"/>
                <a:cs typeface="+mj-lt"/>
                <a:sym typeface="+mn-ea"/>
              </a:rPr>
              <a:t>02</a:t>
            </a:r>
            <a:endParaRPr lang="zh-CN" altLang="en-US"/>
          </a:p>
        </p:txBody>
      </p:sp>
      <p:pic>
        <p:nvPicPr>
          <p:cNvPr id="11" name="图片 10" descr="320add92915d29881de9994cf72548a"/>
          <p:cNvPicPr>
            <a:picLocks noChangeAspect="1"/>
          </p:cNvPicPr>
          <p:nvPr/>
        </p:nvPicPr>
        <p:blipFill>
          <a:blip r:embed="rId2"/>
          <a:srcRect l="1387" t="6825" r="-731" b="13372"/>
          <a:stretch>
            <a:fillRect/>
          </a:stretch>
        </p:blipFill>
        <p:spPr>
          <a:xfrm>
            <a:off x="7728585" y="1778635"/>
            <a:ext cx="3365500" cy="3300730"/>
          </a:xfrm>
          <a:prstGeom prst="flowChartConnector">
            <a:avLst/>
          </a:prstGeom>
        </p:spPr>
      </p:pic>
      <p:sp>
        <p:nvSpPr>
          <p:cNvPr id="24" name="文本框 23"/>
          <p:cNvSpPr txBox="1"/>
          <p:nvPr/>
        </p:nvSpPr>
        <p:spPr>
          <a:xfrm>
            <a:off x="2421255" y="2309495"/>
            <a:ext cx="4592320" cy="1198880"/>
          </a:xfrm>
          <a:prstGeom prst="rect">
            <a:avLst/>
          </a:prstGeom>
          <a:noFill/>
        </p:spPr>
        <p:txBody>
          <a:bodyPr wrap="square" rtlCol="0">
            <a:spAutoFit/>
          </a:bodyPr>
          <a:lstStyle/>
          <a:p>
            <a:pPr>
              <a:lnSpc>
                <a:spcPct val="150000"/>
              </a:lnSpc>
            </a:pPr>
            <a:endParaRPr lang="en-US" altLang="zh-CN" spc="200" noProof="1">
              <a:solidFill>
                <a:schemeClr val="bg1">
                  <a:lumMod val="50000"/>
                </a:schemeClr>
              </a:solidFill>
              <a:latin typeface="+mj-lt"/>
              <a:cs typeface="+mj-lt"/>
            </a:endParaRPr>
          </a:p>
          <a:p>
            <a:pPr>
              <a:lnSpc>
                <a:spcPct val="150000"/>
              </a:lnSpc>
            </a:pPr>
            <a:endParaRPr lang="en-US" altLang="zh-CN" spc="200" noProof="1">
              <a:solidFill>
                <a:srgbClr val="7E593C"/>
              </a:solidFill>
              <a:latin typeface="+mj-lt"/>
              <a:cs typeface="+mj-lt"/>
            </a:endParaRPr>
          </a:p>
          <a:p>
            <a:pPr>
              <a:lnSpc>
                <a:spcPct val="150000"/>
              </a:lnSpc>
            </a:pPr>
            <a:endParaRPr lang="en-US" altLang="zh-CN" sz="1200" spc="200" noProof="1">
              <a:solidFill>
                <a:srgbClr val="7E593C"/>
              </a:solidFill>
              <a:latin typeface="+mj-lt"/>
              <a:ea typeface="宋体" panose="02010600030101010101" pitchFamily="2" charset="-122"/>
              <a:cs typeface="+mj-lt"/>
              <a:sym typeface="+mn-ea"/>
            </a:endParaRPr>
          </a:p>
        </p:txBody>
      </p:sp>
      <p:sp>
        <p:nvSpPr>
          <p:cNvPr id="12" name="文本框 11"/>
          <p:cNvSpPr txBox="1"/>
          <p:nvPr/>
        </p:nvSpPr>
        <p:spPr>
          <a:xfrm>
            <a:off x="2207260" y="620395"/>
            <a:ext cx="3394710" cy="521970"/>
          </a:xfrm>
          <a:prstGeom prst="rect">
            <a:avLst/>
          </a:prstGeom>
          <a:noFill/>
        </p:spPr>
        <p:txBody>
          <a:bodyPr wrap="none" rtlCol="0" anchor="t">
            <a:spAutoFit/>
          </a:bodyPr>
          <a:lstStyle/>
          <a:p>
            <a:r>
              <a:rPr lang="en-US" altLang="zh-CN" sz="2800" spc="200">
                <a:solidFill>
                  <a:srgbClr val="7E593C"/>
                </a:solidFill>
                <a:latin typeface="+mj-lt"/>
                <a:cs typeface="+mj-lt"/>
                <a:sym typeface="+mn-ea"/>
              </a:rPr>
              <a:t>VR</a:t>
            </a:r>
            <a:r>
              <a:rPr lang="zh-CN" altLang="en-US" sz="2800" spc="200">
                <a:solidFill>
                  <a:srgbClr val="7E593C"/>
                </a:solidFill>
                <a:latin typeface="+mj-lt"/>
                <a:cs typeface="+mj-lt"/>
                <a:sym typeface="+mn-ea"/>
              </a:rPr>
              <a:t>技术的数学思维</a:t>
            </a:r>
            <a:endParaRPr lang="zh-CN" altLang="en-US" sz="2800" spc="200">
              <a:solidFill>
                <a:srgbClr val="7E593C"/>
              </a:solidFill>
              <a:latin typeface="+mj-lt"/>
              <a:cs typeface="+mj-lt"/>
              <a:sym typeface="+mn-ea"/>
            </a:endParaRPr>
          </a:p>
        </p:txBody>
      </p:sp>
      <p:sp>
        <p:nvSpPr>
          <p:cNvPr id="2" name="文本框 1"/>
          <p:cNvSpPr txBox="1"/>
          <p:nvPr/>
        </p:nvSpPr>
        <p:spPr>
          <a:xfrm>
            <a:off x="524510" y="1372235"/>
            <a:ext cx="7083425" cy="645160"/>
          </a:xfrm>
          <a:prstGeom prst="rect">
            <a:avLst/>
          </a:prstGeom>
          <a:noFill/>
        </p:spPr>
        <p:txBody>
          <a:bodyPr wrap="square" rtlCol="0">
            <a:spAutoFit/>
          </a:bodyPr>
          <a:p>
            <a:r>
              <a:rPr lang="zh-CN" altLang="en-US"/>
              <a:t>六、信号处理与</a:t>
            </a:r>
            <a:r>
              <a:rPr lang="zh-CN" altLang="en-US"/>
              <a:t>图像处理</a:t>
            </a:r>
            <a:endParaRPr lang="zh-CN" altLang="en-US"/>
          </a:p>
          <a:p>
            <a:endParaRPr lang="zh-CN" altLang="en-US"/>
          </a:p>
        </p:txBody>
      </p:sp>
      <p:pic>
        <p:nvPicPr>
          <p:cNvPr id="3" name="图片 2"/>
          <p:cNvPicPr>
            <a:picLocks noChangeAspect="1"/>
          </p:cNvPicPr>
          <p:nvPr/>
        </p:nvPicPr>
        <p:blipFill>
          <a:blip r:embed="rId3"/>
          <a:srcRect t="23339" r="-289"/>
          <a:stretch>
            <a:fillRect/>
          </a:stretch>
        </p:blipFill>
        <p:spPr>
          <a:xfrm>
            <a:off x="543560" y="1700530"/>
            <a:ext cx="7489190" cy="1656080"/>
          </a:xfrm>
          <a:prstGeom prst="rect">
            <a:avLst/>
          </a:prstGeom>
        </p:spPr>
      </p:pic>
      <p:sp>
        <p:nvSpPr>
          <p:cNvPr id="4" name="文本框 3"/>
          <p:cNvSpPr txBox="1"/>
          <p:nvPr/>
        </p:nvSpPr>
        <p:spPr>
          <a:xfrm>
            <a:off x="377190" y="3523615"/>
            <a:ext cx="8239125" cy="368300"/>
          </a:xfrm>
          <a:prstGeom prst="rect">
            <a:avLst/>
          </a:prstGeom>
          <a:noFill/>
        </p:spPr>
        <p:txBody>
          <a:bodyPr wrap="square" rtlCol="0">
            <a:spAutoFit/>
          </a:bodyPr>
          <a:p>
            <a:r>
              <a:rPr lang="en-US" altLang="zh-CN"/>
              <a:t>  </a:t>
            </a:r>
            <a:r>
              <a:rPr lang="zh-CN" altLang="en-US"/>
              <a:t>七、物理引擎</a:t>
            </a:r>
            <a:r>
              <a:rPr lang="zh-CN" altLang="en-US">
                <a:solidFill>
                  <a:srgbClr val="FF0000"/>
                </a:solidFill>
              </a:rPr>
              <a:t>（重点）</a:t>
            </a:r>
            <a:endParaRPr lang="zh-CN" altLang="en-US">
              <a:solidFill>
                <a:srgbClr val="FF0000"/>
              </a:solidFill>
            </a:endParaRPr>
          </a:p>
        </p:txBody>
      </p:sp>
      <p:sp>
        <p:nvSpPr>
          <p:cNvPr id="5" name="文本框 4"/>
          <p:cNvSpPr txBox="1"/>
          <p:nvPr/>
        </p:nvSpPr>
        <p:spPr>
          <a:xfrm>
            <a:off x="570230" y="3893820"/>
            <a:ext cx="7830185" cy="2584450"/>
          </a:xfrm>
          <a:prstGeom prst="rect">
            <a:avLst/>
          </a:prstGeom>
          <a:noFill/>
        </p:spPr>
        <p:txBody>
          <a:bodyPr wrap="square" rtlCol="0">
            <a:spAutoFit/>
          </a:bodyPr>
          <a:p>
            <a:r>
              <a:rPr lang="zh-CN" altLang="en-US"/>
              <a:t>从本质上来看，每个角色都可以看作是一个点。那么如何描述这个点的位置，如何描述它的运动，这些从数学思维的角度来看，便是用向量和矩阵来解决的。我们用向量来表示一个点在3D空间中的位置，用矩阵来表示位移的旋转变换。而后，便是去思考，这个点是如何构造的，为何当它运动的时候会有感觉，会有重力，碰撞感。</a:t>
            </a:r>
            <a:r>
              <a:rPr lang="zh-CN" altLang="en-US" b="1" i="1"/>
              <a:t>这便涉及到物理引擎，物理引擎通过为刚性物体赋予真实的物理属性的方式来计算运动、旋转和碰撞反映。物理引擎的应用可以通过编程或者编写脚本的方式来实现，但是当一个游戏太过复杂时，通过编程的方法便比较困难了，编写脚本的过程中，我们需要计算，需要推理，数学便不可忽视。</a:t>
            </a:r>
            <a:endParaRPr lang="zh-CN" altLang="en-US" b="1" i="1"/>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custDataLst>
              <p:tags r:id="rId1"/>
            </p:custDataLst>
          </p:nvPr>
        </p:nvSpPr>
        <p:spPr>
          <a:xfrm>
            <a:off x="5846445" y="0"/>
            <a:ext cx="6345555" cy="6857365"/>
          </a:xfrm>
          <a:prstGeom prst="rect">
            <a:avLst/>
          </a:prstGeom>
          <a:blipFill rotWithShape="1">
            <a:blip r:embed="rId2"/>
            <a:stretch>
              <a:fillRect t="-1000" r="-2000" b="-1000"/>
            </a:stretch>
          </a:blipFill>
          <a:ln>
            <a:solidFill>
              <a:schemeClr val="tx1">
                <a:lumMod val="40000"/>
                <a:lumOff val="60000"/>
                <a:alpha val="2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Rectangle 41735_#color-850&amp;1004"/>
          <p:cNvSpPr/>
          <p:nvPr>
            <p:custDataLst>
              <p:tags r:id="rId3"/>
            </p:custDataLst>
          </p:nvPr>
        </p:nvSpPr>
        <p:spPr>
          <a:xfrm>
            <a:off x="983615" y="1897380"/>
            <a:ext cx="5742305" cy="4918710"/>
          </a:xfrm>
          <a:prstGeom prst="roundRect">
            <a:avLst>
              <a:gd name="adj" fmla="val 4985"/>
            </a:avLst>
          </a:prstGeom>
          <a:solidFill>
            <a:schemeClr val="lt1"/>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lstStyle/>
          <a:p>
            <a:endParaRPr lang="zh-CN" altLang="en-US"/>
          </a:p>
        </p:txBody>
      </p:sp>
      <p:sp>
        <p:nvSpPr>
          <p:cNvPr id="7" name="标题 6"/>
          <p:cNvSpPr>
            <a:spLocks noGrp="1"/>
          </p:cNvSpPr>
          <p:nvPr>
            <p:ph type="title"/>
            <p:custDataLst>
              <p:tags r:id="rId4"/>
            </p:custDataLst>
          </p:nvPr>
        </p:nvSpPr>
        <p:spPr/>
        <p:txBody>
          <a:bodyPr/>
          <a:lstStyle/>
          <a:p>
            <a:r>
              <a:rPr lang="zh-CN" altLang="en-US"/>
              <a:t>物理引擎</a:t>
            </a:r>
            <a:endParaRPr lang="zh-CN" altLang="en-US"/>
          </a:p>
        </p:txBody>
      </p:sp>
      <p:sp>
        <p:nvSpPr>
          <p:cNvPr id="15" name="矩形 14"/>
          <p:cNvSpPr/>
          <p:nvPr>
            <p:custDataLst>
              <p:tags r:id="rId5"/>
            </p:custDataLst>
          </p:nvPr>
        </p:nvSpPr>
        <p:spPr>
          <a:xfrm>
            <a:off x="1559560" y="2646363"/>
            <a:ext cx="4699000" cy="897665"/>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600" dirty="0">
                <a:solidFill>
                  <a:srgbClr val="000000"/>
                </a:solidFill>
                <a:latin typeface="+mn-ea"/>
                <a:cs typeface="+mn-ea"/>
                <a:sym typeface="+mn-ea"/>
              </a:rPr>
              <a:t>物理引擎可以突破预定脚本执行的方式，要求在</a:t>
            </a:r>
            <a:r>
              <a:rPr lang="en-US" altLang="zh-CN" sz="1600" dirty="0">
                <a:solidFill>
                  <a:srgbClr val="000000"/>
                </a:solidFill>
                <a:latin typeface="+mn-ea"/>
                <a:cs typeface="+mn-ea"/>
                <a:sym typeface="+mn-ea"/>
              </a:rPr>
              <a:t>3D</a:t>
            </a:r>
            <a:r>
              <a:rPr lang="zh-CN" altLang="en-US" sz="1600" dirty="0">
                <a:solidFill>
                  <a:srgbClr val="000000"/>
                </a:solidFill>
                <a:latin typeface="+mn-ea"/>
                <a:cs typeface="+mn-ea"/>
                <a:sym typeface="+mn-ea"/>
              </a:rPr>
              <a:t>游戏中的那些物体都要遵行物理参数来运行。这样的好处就是只要你的显卡和处理器足够强大，物理引擎就能模拟真实世界中和各种物体</a:t>
            </a:r>
            <a:r>
              <a:rPr lang="zh-CN" altLang="en-US" sz="1600" dirty="0">
                <a:solidFill>
                  <a:srgbClr val="000000"/>
                </a:solidFill>
                <a:latin typeface="+mn-ea"/>
                <a:cs typeface="+mn-ea"/>
                <a:sym typeface="+mn-ea"/>
              </a:rPr>
              <a:t>运动的规律</a:t>
            </a:r>
            <a:endParaRPr lang="zh-CN" altLang="en-US" sz="1600" dirty="0">
              <a:solidFill>
                <a:srgbClr val="000000"/>
              </a:solidFill>
              <a:latin typeface="+mn-ea"/>
              <a:cs typeface="+mn-ea"/>
              <a:sym typeface="+mn-ea"/>
            </a:endParaRPr>
          </a:p>
        </p:txBody>
      </p:sp>
      <p:sp>
        <p:nvSpPr>
          <p:cNvPr id="16" name="矩形 15"/>
          <p:cNvSpPr/>
          <p:nvPr>
            <p:custDataLst>
              <p:tags r:id="rId6"/>
            </p:custDataLst>
          </p:nvPr>
        </p:nvSpPr>
        <p:spPr>
          <a:xfrm>
            <a:off x="1559560" y="2132648"/>
            <a:ext cx="4699000" cy="513715"/>
          </a:xfrm>
          <a:prstGeom prst="rect">
            <a:avLst/>
          </a:prstGeom>
          <a:noFill/>
        </p:spPr>
        <p:txBody>
          <a:bodyPr wrap="square" lIns="0" tIns="0" rIns="0" bIns="0" rtlCol="0" anchor="b">
            <a:noAutofit/>
          </a:bodyPr>
          <a:lstStyle/>
          <a:p>
            <a:pPr>
              <a:spcBef>
                <a:spcPct val="0"/>
              </a:spcBef>
              <a:spcAft>
                <a:spcPct val="0"/>
              </a:spcAft>
            </a:pPr>
            <a:r>
              <a:rPr lang="zh-CN" altLang="en-US" sz="2400" b="1" dirty="0">
                <a:solidFill>
                  <a:srgbClr val="000000"/>
                </a:solidFill>
                <a:latin typeface="+mn-ea"/>
                <a:cs typeface="+mn-ea"/>
                <a:sym typeface="+mn-ea"/>
              </a:rPr>
              <a:t>物理引擎的好处</a:t>
            </a:r>
            <a:endParaRPr lang="zh-CN" altLang="en-US" sz="2400" b="1" dirty="0">
              <a:solidFill>
                <a:srgbClr val="000000"/>
              </a:solidFill>
              <a:latin typeface="+mn-ea"/>
              <a:cs typeface="+mn-ea"/>
              <a:sym typeface="+mn-ea"/>
            </a:endParaRPr>
          </a:p>
        </p:txBody>
      </p:sp>
      <p:sp>
        <p:nvSpPr>
          <p:cNvPr id="17" name="矩形 16"/>
          <p:cNvSpPr/>
          <p:nvPr>
            <p:custDataLst>
              <p:tags r:id="rId7"/>
            </p:custDataLst>
          </p:nvPr>
        </p:nvSpPr>
        <p:spPr>
          <a:xfrm>
            <a:off x="1587500" y="4625023"/>
            <a:ext cx="4699000" cy="897665"/>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600" dirty="0">
                <a:solidFill>
                  <a:srgbClr val="000000"/>
                </a:solidFill>
                <a:latin typeface="+mn-ea"/>
                <a:cs typeface="+mn-ea"/>
                <a:sym typeface="+mn-ea"/>
              </a:rPr>
              <a:t>爆破，布料和</a:t>
            </a:r>
            <a:r>
              <a:rPr lang="en-US" altLang="zh-CN" sz="1600" dirty="0">
                <a:solidFill>
                  <a:srgbClr val="000000"/>
                </a:solidFill>
                <a:latin typeface="+mn-ea"/>
                <a:cs typeface="+mn-ea"/>
                <a:sym typeface="+mn-ea"/>
              </a:rPr>
              <a:t>AI</a:t>
            </a:r>
            <a:r>
              <a:rPr lang="zh-CN" altLang="en-US" sz="1600" dirty="0">
                <a:solidFill>
                  <a:srgbClr val="000000"/>
                </a:solidFill>
                <a:latin typeface="+mn-ea"/>
                <a:cs typeface="+mn-ea"/>
                <a:sym typeface="+mn-ea"/>
              </a:rPr>
              <a:t>运算等等，现在的技术已经足以达到流畅的运行效果。</a:t>
            </a:r>
            <a:r>
              <a:rPr lang="zh-CN" altLang="en-US" sz="1600" dirty="0">
                <a:solidFill>
                  <a:srgbClr val="000000"/>
                </a:solidFill>
                <a:latin typeface="+mn-ea"/>
                <a:cs typeface="+mn-ea"/>
                <a:sym typeface="+mn-ea"/>
              </a:rPr>
              <a:t>例如有了物理引擎，手雷扔在油桶的左边或右边都会产生不同的爆炸效果，石块会朝不同的角度飞溅起来，烟雾也会慢慢冒起来……通过物理引擎，实现这些物体之间相互影响的效果是相当简单的。</a:t>
            </a:r>
            <a:endParaRPr lang="zh-CN" altLang="en-US" sz="1600" dirty="0">
              <a:solidFill>
                <a:srgbClr val="000000"/>
              </a:solidFill>
              <a:latin typeface="+mn-ea"/>
              <a:cs typeface="+mn-ea"/>
              <a:sym typeface="+mn-ea"/>
            </a:endParaRPr>
          </a:p>
        </p:txBody>
      </p:sp>
      <p:sp>
        <p:nvSpPr>
          <p:cNvPr id="18" name="矩形 17"/>
          <p:cNvSpPr/>
          <p:nvPr>
            <p:custDataLst>
              <p:tags r:id="rId8"/>
            </p:custDataLst>
          </p:nvPr>
        </p:nvSpPr>
        <p:spPr>
          <a:xfrm>
            <a:off x="1588135" y="4023043"/>
            <a:ext cx="4699000" cy="513715"/>
          </a:xfrm>
          <a:prstGeom prst="rect">
            <a:avLst/>
          </a:prstGeom>
          <a:noFill/>
        </p:spPr>
        <p:txBody>
          <a:bodyPr wrap="square" lIns="0" tIns="0" rIns="0" bIns="0" rtlCol="0" anchor="b">
            <a:noAutofit/>
          </a:bodyPr>
          <a:lstStyle/>
          <a:p>
            <a:pPr>
              <a:spcBef>
                <a:spcPct val="0"/>
              </a:spcBef>
              <a:spcAft>
                <a:spcPct val="0"/>
              </a:spcAft>
            </a:pPr>
            <a:r>
              <a:rPr lang="zh-CN" altLang="en-US" sz="2400" b="1" dirty="0">
                <a:solidFill>
                  <a:srgbClr val="000000"/>
                </a:solidFill>
                <a:latin typeface="+mn-ea"/>
                <a:cs typeface="+mn-ea"/>
                <a:sym typeface="+mn-ea"/>
              </a:rPr>
              <a:t>主要应用场景</a:t>
            </a:r>
            <a:endParaRPr lang="zh-CN" altLang="en-US" sz="2400" b="1" dirty="0">
              <a:solidFill>
                <a:srgbClr val="000000"/>
              </a:solidFill>
              <a:latin typeface="+mn-ea"/>
              <a:cs typeface="+mn-ea"/>
              <a:sym typeface="+mn-ea"/>
            </a:endParaRPr>
          </a:p>
        </p:txBody>
      </p:sp>
      <p:sp>
        <p:nvSpPr>
          <p:cNvPr id="2" name="文本框 1"/>
          <p:cNvSpPr txBox="1"/>
          <p:nvPr/>
        </p:nvSpPr>
        <p:spPr>
          <a:xfrm>
            <a:off x="1050290" y="1574165"/>
            <a:ext cx="4829810" cy="368300"/>
          </a:xfrm>
          <a:prstGeom prst="rect">
            <a:avLst/>
          </a:prstGeom>
          <a:noFill/>
        </p:spPr>
        <p:txBody>
          <a:bodyPr wrap="square" rtlCol="0">
            <a:spAutoFit/>
          </a:bodyPr>
          <a:p>
            <a:r>
              <a:rPr lang="zh-CN" altLang="en-US"/>
              <a:t>物理引擎通过为刚性物体赋予真实的</a:t>
            </a:r>
            <a:r>
              <a:rPr lang="zh-CN" altLang="en-US"/>
              <a:t>物理属性。</a:t>
            </a:r>
            <a:endParaRPr lang="zh-CN" altLang="en-US"/>
          </a:p>
        </p:txBody>
      </p:sp>
    </p:spTree>
    <p:custDataLst>
      <p:tags r:id="rId9"/>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ED8CC"/>
        </a:solidFill>
        <a:effectLst/>
      </p:bgPr>
    </p:bg>
    <p:spTree>
      <p:nvGrpSpPr>
        <p:cNvPr id="1" name=""/>
        <p:cNvGrpSpPr/>
        <p:nvPr/>
      </p:nvGrpSpPr>
      <p:grpSpPr>
        <a:xfrm>
          <a:off x="0" y="0"/>
          <a:ext cx="0" cy="0"/>
          <a:chOff x="0" y="0"/>
          <a:chExt cx="0" cy="0"/>
        </a:xfrm>
      </p:grpSpPr>
      <p:sp>
        <p:nvSpPr>
          <p:cNvPr id="6" name="矩形 5"/>
          <p:cNvSpPr/>
          <p:nvPr/>
        </p:nvSpPr>
        <p:spPr>
          <a:xfrm>
            <a:off x="-168910" y="-150495"/>
            <a:ext cx="12249150" cy="6967855"/>
          </a:xfrm>
          <a:prstGeom prst="rect">
            <a:avLst/>
          </a:prstGeom>
          <a:solidFill>
            <a:srgbClr val="DED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d909388ef9f30ac29dfb903d38a6302"/>
          <p:cNvPicPr>
            <a:picLocks noChangeAspect="1"/>
          </p:cNvPicPr>
          <p:nvPr/>
        </p:nvPicPr>
        <p:blipFill>
          <a:blip r:embed="rId1"/>
          <a:srcRect l="19269" t="48419" r="32783"/>
          <a:stretch>
            <a:fillRect/>
          </a:stretch>
        </p:blipFill>
        <p:spPr>
          <a:xfrm rot="5400000">
            <a:off x="452279" y="-720725"/>
            <a:ext cx="3160871" cy="4403090"/>
          </a:xfrm>
          <a:prstGeom prst="rect">
            <a:avLst/>
          </a:prstGeom>
        </p:spPr>
      </p:pic>
      <p:pic>
        <p:nvPicPr>
          <p:cNvPr id="8" name="图片 7" descr="d909388ef9f30ac29dfb903d38a6302"/>
          <p:cNvPicPr>
            <a:picLocks noChangeAspect="1"/>
          </p:cNvPicPr>
          <p:nvPr/>
        </p:nvPicPr>
        <p:blipFill>
          <a:blip r:embed="rId1"/>
          <a:srcRect l="56160" t="-3248" r="23276" b="43865"/>
          <a:stretch>
            <a:fillRect/>
          </a:stretch>
        </p:blipFill>
        <p:spPr>
          <a:xfrm>
            <a:off x="10541635" y="-150495"/>
            <a:ext cx="1673860" cy="6261100"/>
          </a:xfrm>
          <a:prstGeom prst="rect">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9" name="文本框 8"/>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a:solidFill>
                  <a:schemeClr val="bg1"/>
                </a:solidFill>
                <a:uFillTx/>
                <a:latin typeface="+mj-lt"/>
                <a:cs typeface="+mj-lt"/>
                <a:sym typeface="+mn-ea"/>
              </a:rPr>
              <a:t>02</a:t>
            </a:r>
            <a:endParaRPr lang="zh-CN" altLang="en-US"/>
          </a:p>
        </p:txBody>
      </p:sp>
      <p:pic>
        <p:nvPicPr>
          <p:cNvPr id="11" name="图片 10" descr="320add92915d29881de9994cf72548a"/>
          <p:cNvPicPr>
            <a:picLocks noChangeAspect="1"/>
          </p:cNvPicPr>
          <p:nvPr/>
        </p:nvPicPr>
        <p:blipFill>
          <a:blip r:embed="rId2"/>
          <a:srcRect l="1387" t="6825" r="-731" b="13372"/>
          <a:stretch>
            <a:fillRect/>
          </a:stretch>
        </p:blipFill>
        <p:spPr>
          <a:xfrm>
            <a:off x="7728585" y="1778635"/>
            <a:ext cx="3365500" cy="3300730"/>
          </a:xfrm>
          <a:prstGeom prst="flowChartConnector">
            <a:avLst/>
          </a:prstGeom>
        </p:spPr>
      </p:pic>
      <p:sp>
        <p:nvSpPr>
          <p:cNvPr id="24" name="文本框 23"/>
          <p:cNvSpPr txBox="1"/>
          <p:nvPr/>
        </p:nvSpPr>
        <p:spPr>
          <a:xfrm>
            <a:off x="2421255" y="2309495"/>
            <a:ext cx="4592320" cy="1198880"/>
          </a:xfrm>
          <a:prstGeom prst="rect">
            <a:avLst/>
          </a:prstGeom>
          <a:noFill/>
        </p:spPr>
        <p:txBody>
          <a:bodyPr wrap="square" rtlCol="0">
            <a:spAutoFit/>
          </a:bodyPr>
          <a:lstStyle/>
          <a:p>
            <a:pPr>
              <a:lnSpc>
                <a:spcPct val="150000"/>
              </a:lnSpc>
            </a:pPr>
            <a:endParaRPr lang="en-US" altLang="zh-CN" spc="200" noProof="1">
              <a:solidFill>
                <a:schemeClr val="bg1">
                  <a:lumMod val="50000"/>
                </a:schemeClr>
              </a:solidFill>
              <a:latin typeface="+mj-lt"/>
              <a:cs typeface="+mj-lt"/>
            </a:endParaRPr>
          </a:p>
          <a:p>
            <a:pPr>
              <a:lnSpc>
                <a:spcPct val="150000"/>
              </a:lnSpc>
            </a:pPr>
            <a:endParaRPr lang="en-US" altLang="zh-CN" spc="200" noProof="1">
              <a:solidFill>
                <a:srgbClr val="7E593C"/>
              </a:solidFill>
              <a:latin typeface="+mj-lt"/>
              <a:cs typeface="+mj-lt"/>
            </a:endParaRPr>
          </a:p>
          <a:p>
            <a:pPr>
              <a:lnSpc>
                <a:spcPct val="150000"/>
              </a:lnSpc>
            </a:pPr>
            <a:endParaRPr lang="en-US" altLang="zh-CN" sz="1200" spc="200" noProof="1">
              <a:solidFill>
                <a:srgbClr val="7E593C"/>
              </a:solidFill>
              <a:latin typeface="+mj-lt"/>
              <a:ea typeface="宋体" panose="02010600030101010101" pitchFamily="2" charset="-122"/>
              <a:cs typeface="+mj-lt"/>
              <a:sym typeface="+mn-ea"/>
            </a:endParaRPr>
          </a:p>
        </p:txBody>
      </p:sp>
      <p:sp>
        <p:nvSpPr>
          <p:cNvPr id="4" name="文本框 3"/>
          <p:cNvSpPr txBox="1"/>
          <p:nvPr/>
        </p:nvSpPr>
        <p:spPr>
          <a:xfrm>
            <a:off x="1195070" y="466090"/>
            <a:ext cx="5981065" cy="368300"/>
          </a:xfrm>
          <a:prstGeom prst="rect">
            <a:avLst/>
          </a:prstGeom>
          <a:noFill/>
        </p:spPr>
        <p:txBody>
          <a:bodyPr wrap="square" rtlCol="0">
            <a:spAutoFit/>
          </a:bodyPr>
          <a:p>
            <a:r>
              <a:rPr lang="en-US" altLang="zh-CN"/>
              <a:t>DSP</a:t>
            </a:r>
            <a:r>
              <a:rPr lang="zh-CN" altLang="en-US"/>
              <a:t>（数字信号处理）与</a:t>
            </a:r>
            <a:r>
              <a:rPr lang="en-US" altLang="zh-CN"/>
              <a:t>DIP</a:t>
            </a:r>
            <a:r>
              <a:rPr lang="zh-CN" altLang="en-US"/>
              <a:t>（</a:t>
            </a:r>
            <a:r>
              <a:rPr lang="zh-CN" altLang="en-US"/>
              <a:t>数字图像处理）</a:t>
            </a:r>
            <a:endParaRPr lang="zh-CN" altLang="en-US"/>
          </a:p>
        </p:txBody>
      </p:sp>
      <p:sp>
        <p:nvSpPr>
          <p:cNvPr id="5" name="文本框 4"/>
          <p:cNvSpPr txBox="1"/>
          <p:nvPr/>
        </p:nvSpPr>
        <p:spPr>
          <a:xfrm>
            <a:off x="754380" y="908685"/>
            <a:ext cx="9163050" cy="2861310"/>
          </a:xfrm>
          <a:prstGeom prst="rect">
            <a:avLst/>
          </a:prstGeom>
          <a:noFill/>
        </p:spPr>
        <p:txBody>
          <a:bodyPr wrap="square" rtlCol="0">
            <a:spAutoFit/>
          </a:bodyPr>
          <a:p>
            <a:r>
              <a:rPr lang="en-US" altLang="zh-CN"/>
              <a:t>DIP</a:t>
            </a:r>
            <a:r>
              <a:rPr lang="zh-CN" altLang="en-US"/>
              <a:t>与</a:t>
            </a:r>
            <a:r>
              <a:rPr lang="en-US" altLang="zh-CN"/>
              <a:t>DSP</a:t>
            </a:r>
            <a:r>
              <a:rPr lang="zh-CN" altLang="en-US"/>
              <a:t>的结合</a:t>
            </a:r>
            <a:r>
              <a:rPr lang="en-US" altLang="zh-CN"/>
              <a:t>——</a:t>
            </a:r>
            <a:endParaRPr lang="zh-CN" altLang="en-US"/>
          </a:p>
          <a:p>
            <a:r>
              <a:rPr lang="zh-CN" altLang="en-US"/>
              <a:t>基于DSP的数字图像处理技术是一种新兴的边缘融合技术，可以通俗的理解为DSP与图像处理的结合，现今，它逐步的走向成熟。成为一门新兴的学科，越来越多的人们投入到了它的研究中。随着计算机及通信技术的发展，DSP技术越发成熟，数字图像仿真技术可以通过</a:t>
            </a:r>
            <a:r>
              <a:rPr lang="zh-CN" altLang="en-US">
                <a:highlight>
                  <a:srgbClr val="FFFF00"/>
                </a:highlight>
              </a:rPr>
              <a:t>DSP芯片</a:t>
            </a:r>
            <a:r>
              <a:rPr lang="zh-CN" altLang="en-US"/>
              <a:t>实现。图像视频的应用愈加广泛，</a:t>
            </a:r>
            <a:r>
              <a:rPr lang="zh-CN" altLang="en-US">
                <a:highlight>
                  <a:srgbClr val="FFFF00"/>
                </a:highlight>
              </a:rPr>
              <a:t>大部分图像数据在实际应用前需进行有针对性的处理</a:t>
            </a:r>
            <a:r>
              <a:rPr lang="zh-CN" altLang="en-US"/>
              <a:t>，如根据图像数据特点和应用领域对图像进行增强、去除噪声、锐化和识别等等，此外，为了有效实时地传输信息，还必须对图像进行有效的压缩。</a:t>
            </a:r>
            <a:endParaRPr lang="zh-CN" altLang="en-US"/>
          </a:p>
          <a:p>
            <a:endParaRPr lang="zh-CN" altLang="en-US"/>
          </a:p>
          <a:p>
            <a:r>
              <a:rPr lang="zh-CN" altLang="en-US"/>
              <a:t>基于</a:t>
            </a:r>
            <a:r>
              <a:rPr lang="en-US" altLang="zh-CN"/>
              <a:t>DSP</a:t>
            </a:r>
            <a:r>
              <a:rPr lang="zh-CN" altLang="en-US"/>
              <a:t>的图像处理系统以其可降低体积、重量与功耗，同时价格也较低，具有较高的可靠性，且易于维修与测试，对噪声与干扰有较强的抗干扰能力，越来越受到了人们的</a:t>
            </a:r>
            <a:r>
              <a:rPr lang="zh-CN" altLang="en-US"/>
              <a:t>青睐。</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152265" y="1629410"/>
            <a:ext cx="7968615" cy="3600450"/>
          </a:xfrm>
          <a:prstGeom prst="rect">
            <a:avLst/>
          </a:prstGeom>
          <a:solidFill>
            <a:srgbClr val="B496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54ac1a8180364b2d9a203dea6ffc2f0"/>
          <p:cNvPicPr>
            <a:picLocks noChangeAspect="1"/>
          </p:cNvPicPr>
          <p:nvPr/>
        </p:nvPicPr>
        <p:blipFill>
          <a:blip r:embed="rId1"/>
          <a:stretch>
            <a:fillRect/>
          </a:stretch>
        </p:blipFill>
        <p:spPr>
          <a:xfrm rot="5400000">
            <a:off x="441960" y="1029970"/>
            <a:ext cx="3837305" cy="4796790"/>
          </a:xfrm>
          <a:prstGeom prst="rect">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9" name="文本框 8"/>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05</a:t>
            </a:r>
            <a:endParaRPr lang="en-US" dirty="0"/>
          </a:p>
        </p:txBody>
      </p:sp>
      <p:sp>
        <p:nvSpPr>
          <p:cNvPr id="20" name="文本框 19"/>
          <p:cNvSpPr txBox="1"/>
          <p:nvPr/>
        </p:nvSpPr>
        <p:spPr>
          <a:xfrm>
            <a:off x="6711950" y="2821623"/>
            <a:ext cx="4233863" cy="368300"/>
          </a:xfrm>
          <a:prstGeom prst="rect">
            <a:avLst/>
          </a:prstGeom>
          <a:noFill/>
        </p:spPr>
        <p:txBody>
          <a:bodyPr wrap="square" rtlCol="0">
            <a:spAutoFit/>
          </a:bodyPr>
          <a:lstStyle/>
          <a:p>
            <a:pPr>
              <a:lnSpc>
                <a:spcPct val="150000"/>
              </a:lnSpc>
            </a:pPr>
            <a:endParaRPr lang="en-US" altLang="zh-CN" sz="1200" spc="200" noProof="1">
              <a:solidFill>
                <a:schemeClr val="bg1">
                  <a:lumMod val="50000"/>
                </a:schemeClr>
              </a:solidFill>
              <a:latin typeface="+mj-lt"/>
              <a:cs typeface="+mj-lt"/>
            </a:endParaRPr>
          </a:p>
        </p:txBody>
      </p:sp>
      <p:sp>
        <p:nvSpPr>
          <p:cNvPr id="21" name="文本框 20"/>
          <p:cNvSpPr txBox="1"/>
          <p:nvPr/>
        </p:nvSpPr>
        <p:spPr>
          <a:xfrm>
            <a:off x="7792085" y="4852035"/>
            <a:ext cx="4233863" cy="645160"/>
          </a:xfrm>
          <a:prstGeom prst="rect">
            <a:avLst/>
          </a:prstGeom>
          <a:noFill/>
        </p:spPr>
        <p:txBody>
          <a:bodyPr wrap="square" rtlCol="0">
            <a:spAutoFit/>
          </a:bodyPr>
          <a:lstStyle/>
          <a:p>
            <a:pPr>
              <a:lnSpc>
                <a:spcPct val="150000"/>
              </a:lnSpc>
            </a:pPr>
            <a:endParaRPr lang="en-US" altLang="zh-CN" sz="1200" spc="200" noProof="1">
              <a:solidFill>
                <a:schemeClr val="bg1">
                  <a:lumMod val="50000"/>
                </a:schemeClr>
              </a:solidFill>
              <a:latin typeface="+mj-lt"/>
              <a:cs typeface="+mj-lt"/>
            </a:endParaRPr>
          </a:p>
          <a:p>
            <a:pPr>
              <a:lnSpc>
                <a:spcPct val="150000"/>
              </a:lnSpc>
            </a:pPr>
            <a:endParaRPr lang="en-US" altLang="zh-CN" sz="1200" spc="200" noProof="1">
              <a:solidFill>
                <a:schemeClr val="bg1">
                  <a:lumMod val="50000"/>
                </a:schemeClr>
              </a:solidFill>
              <a:latin typeface="+mj-lt"/>
              <a:cs typeface="+mj-lt"/>
            </a:endParaRPr>
          </a:p>
        </p:txBody>
      </p:sp>
      <p:sp>
        <p:nvSpPr>
          <p:cNvPr id="10" name="文本框 9"/>
          <p:cNvSpPr txBox="1"/>
          <p:nvPr/>
        </p:nvSpPr>
        <p:spPr>
          <a:xfrm>
            <a:off x="911860" y="2096770"/>
            <a:ext cx="2540000" cy="1845310"/>
          </a:xfrm>
          <a:prstGeom prst="rect">
            <a:avLst/>
          </a:prstGeom>
          <a:noFill/>
        </p:spPr>
        <p:txBody>
          <a:bodyPr wrap="square" rtlCol="0" anchor="t">
            <a:spAutoFit/>
          </a:bodyPr>
          <a:lstStyle/>
          <a:p>
            <a:pPr algn="ctr">
              <a:lnSpc>
                <a:spcPct val="150000"/>
              </a:lnSpc>
            </a:pPr>
            <a:endParaRPr lang="en-US" altLang="zh-CN" sz="1200" spc="200" noProof="1">
              <a:solidFill>
                <a:srgbClr val="7E593C"/>
              </a:solidFill>
              <a:latin typeface="汉仪雪君体繁" panose="02010604000101010101" charset="-122"/>
              <a:ea typeface="汉仪雪君体繁" panose="02010604000101010101" charset="-122"/>
              <a:cs typeface="+mj-lt"/>
            </a:endParaRPr>
          </a:p>
          <a:p>
            <a:pPr algn="ctr">
              <a:lnSpc>
                <a:spcPct val="150000"/>
              </a:lnSpc>
            </a:pPr>
            <a:r>
              <a:rPr lang="en-US" altLang="zh-CN" sz="3200" spc="200">
                <a:solidFill>
                  <a:schemeClr val="tx1"/>
                </a:solidFill>
                <a:latin typeface="汉仪雪君体繁" panose="02010604000101010101" charset="-122"/>
                <a:ea typeface="汉仪雪君体繁" panose="02010604000101010101" charset="-122"/>
                <a:cs typeface="+mj-lt"/>
                <a:sym typeface="+mn-ea"/>
              </a:rPr>
              <a:t>VR</a:t>
            </a:r>
            <a:r>
              <a:rPr lang="zh-CN" altLang="en-US" sz="3200" spc="200">
                <a:solidFill>
                  <a:schemeClr val="tx1"/>
                </a:solidFill>
                <a:latin typeface="汉仪雪君体繁" panose="02010604000101010101" charset="-122"/>
                <a:ea typeface="汉仪雪君体繁" panose="02010604000101010101" charset="-122"/>
                <a:cs typeface="+mj-lt"/>
                <a:sym typeface="+mn-ea"/>
              </a:rPr>
              <a:t>技术的算法思维</a:t>
            </a:r>
            <a:endParaRPr lang="zh-CN" altLang="en-US" sz="3200" spc="200">
              <a:solidFill>
                <a:schemeClr val="tx1"/>
              </a:solidFill>
              <a:latin typeface="汉仪雪君体繁" panose="02010604000101010101" charset="-122"/>
              <a:ea typeface="汉仪雪君体繁" panose="02010604000101010101" charset="-122"/>
              <a:cs typeface="+mj-lt"/>
              <a:sym typeface="+mn-ea"/>
            </a:endParaRPr>
          </a:p>
        </p:txBody>
      </p:sp>
      <p:sp>
        <p:nvSpPr>
          <p:cNvPr id="2" name="文本框 1"/>
          <p:cNvSpPr txBox="1"/>
          <p:nvPr/>
        </p:nvSpPr>
        <p:spPr>
          <a:xfrm>
            <a:off x="5102225" y="1865630"/>
            <a:ext cx="6178550" cy="2639695"/>
          </a:xfrm>
          <a:prstGeom prst="rect">
            <a:avLst/>
          </a:prstGeom>
          <a:noFill/>
        </p:spPr>
        <p:txBody>
          <a:bodyPr wrap="square" rtlCol="0">
            <a:noAutofit/>
          </a:bodyPr>
          <a:p>
            <a:endParaRPr lang="zh-CN" altLang="en-US" b="1"/>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6" name="标题 5"/>
          <p:cNvSpPr>
            <a:spLocks noGrp="1"/>
          </p:cNvSpPr>
          <p:nvPr>
            <p:ph type="title"/>
            <p:custDataLst>
              <p:tags r:id="rId2"/>
            </p:custDataLst>
          </p:nvPr>
        </p:nvSpPr>
        <p:spPr/>
        <p:txBody>
          <a:bodyPr/>
          <a:lstStyle/>
          <a:p>
            <a:r>
              <a:rPr lang="zh-CN" altLang="en-US" dirty="0"/>
              <a:t>算法</a:t>
            </a:r>
            <a:endParaRPr lang="zh-CN" altLang="en-US" dirty="0"/>
          </a:p>
        </p:txBody>
      </p:sp>
      <p:sp>
        <p:nvSpPr>
          <p:cNvPr id="18" name="六边形 17"/>
          <p:cNvSpPr/>
          <p:nvPr>
            <p:custDataLst>
              <p:tags r:id="rId3"/>
            </p:custDataLst>
          </p:nvPr>
        </p:nvSpPr>
        <p:spPr>
          <a:xfrm rot="5400000">
            <a:off x="8065278" y="1899386"/>
            <a:ext cx="2276302" cy="1971335"/>
          </a:xfrm>
          <a:prstGeom prst="hexagon">
            <a:avLst>
              <a:gd name="adj" fmla="val 28868"/>
              <a:gd name="vf" fmla="val 115470"/>
            </a:avLst>
          </a:prstGeom>
          <a:noFill/>
          <a:ln w="152400">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9" name="六边形 18"/>
          <p:cNvSpPr/>
          <p:nvPr>
            <p:custDataLst>
              <p:tags r:id="rId4"/>
            </p:custDataLst>
          </p:nvPr>
        </p:nvSpPr>
        <p:spPr>
          <a:xfrm rot="5400000">
            <a:off x="6922007" y="3876614"/>
            <a:ext cx="2276302" cy="1971335"/>
          </a:xfrm>
          <a:prstGeom prst="hexagon">
            <a:avLst>
              <a:gd name="adj" fmla="val 28868"/>
              <a:gd name="vf" fmla="val 115470"/>
            </a:avLst>
          </a:prstGeom>
          <a:noFill/>
          <a:ln w="152400">
            <a:solidFill>
              <a:schemeClr val="accent1">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六边形 19"/>
          <p:cNvSpPr/>
          <p:nvPr>
            <p:custDataLst>
              <p:tags r:id="rId5"/>
            </p:custDataLst>
          </p:nvPr>
        </p:nvSpPr>
        <p:spPr>
          <a:xfrm rot="5400000">
            <a:off x="9208548" y="3876614"/>
            <a:ext cx="2276302" cy="1971335"/>
          </a:xfrm>
          <a:prstGeom prst="hexagon">
            <a:avLst>
              <a:gd name="adj" fmla="val 28868"/>
              <a:gd name="vf" fmla="val 115470"/>
            </a:avLst>
          </a:prstGeom>
          <a:noFill/>
          <a:ln w="152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图片 30" descr="343439383331313b343532303031393bd2b5bca8b9dcc0ed"/>
          <p:cNvSpPr/>
          <p:nvPr>
            <p:custDataLst>
              <p:tags r:id="rId6"/>
            </p:custDataLst>
          </p:nvPr>
        </p:nvSpPr>
        <p:spPr>
          <a:xfrm>
            <a:off x="9008357" y="2703959"/>
            <a:ext cx="390143" cy="362186"/>
          </a:xfrm>
          <a:custGeom>
            <a:avLst/>
            <a:gdLst>
              <a:gd name="connsiteX0" fmla="*/ 344476 w 390143"/>
              <a:gd name="connsiteY0" fmla="*/ 115 h 362186"/>
              <a:gd name="connsiteX1" fmla="*/ 44901 w 390143"/>
              <a:gd name="connsiteY1" fmla="*/ 115 h 362186"/>
              <a:gd name="connsiteX2" fmla="*/ 114 w 390143"/>
              <a:gd name="connsiteY2" fmla="*/ 45263 h 362186"/>
              <a:gd name="connsiteX3" fmla="*/ 114 w 390143"/>
              <a:gd name="connsiteY3" fmla="*/ 239901 h 362186"/>
              <a:gd name="connsiteX4" fmla="*/ 44901 w 390143"/>
              <a:gd name="connsiteY4" fmla="*/ 285048 h 362186"/>
              <a:gd name="connsiteX5" fmla="*/ 157367 w 390143"/>
              <a:gd name="connsiteY5" fmla="*/ 285048 h 362186"/>
              <a:gd name="connsiteX6" fmla="*/ 157367 w 390143"/>
              <a:gd name="connsiteY6" fmla="*/ 340229 h 362186"/>
              <a:gd name="connsiteX7" fmla="*/ 95659 w 390143"/>
              <a:gd name="connsiteY7" fmla="*/ 340229 h 362186"/>
              <a:gd name="connsiteX8" fmla="*/ 84712 w 390143"/>
              <a:gd name="connsiteY8" fmla="*/ 351264 h 362186"/>
              <a:gd name="connsiteX9" fmla="*/ 95659 w 390143"/>
              <a:gd name="connsiteY9" fmla="*/ 362301 h 362186"/>
              <a:gd name="connsiteX10" fmla="*/ 285756 w 390143"/>
              <a:gd name="connsiteY10" fmla="*/ 362301 h 362186"/>
              <a:gd name="connsiteX11" fmla="*/ 296703 w 390143"/>
              <a:gd name="connsiteY11" fmla="*/ 351264 h 362186"/>
              <a:gd name="connsiteX12" fmla="*/ 285756 w 390143"/>
              <a:gd name="connsiteY12" fmla="*/ 340229 h 362186"/>
              <a:gd name="connsiteX13" fmla="*/ 225045 w 390143"/>
              <a:gd name="connsiteY13" fmla="*/ 340229 h 362186"/>
              <a:gd name="connsiteX14" fmla="*/ 225045 w 390143"/>
              <a:gd name="connsiteY14" fmla="*/ 285048 h 362186"/>
              <a:gd name="connsiteX15" fmla="*/ 345471 w 390143"/>
              <a:gd name="connsiteY15" fmla="*/ 285048 h 362186"/>
              <a:gd name="connsiteX16" fmla="*/ 390258 w 390143"/>
              <a:gd name="connsiteY16" fmla="*/ 239901 h 362186"/>
              <a:gd name="connsiteX17" fmla="*/ 390258 w 390143"/>
              <a:gd name="connsiteY17" fmla="*/ 45263 h 362186"/>
              <a:gd name="connsiteX18" fmla="*/ 344476 w 390143"/>
              <a:gd name="connsiteY18" fmla="*/ 115 h 362186"/>
              <a:gd name="connsiteX19" fmla="*/ 324570 w 390143"/>
              <a:gd name="connsiteY19" fmla="*/ 67335 h 362186"/>
              <a:gd name="connsiteX20" fmla="*/ 324570 w 390143"/>
              <a:gd name="connsiteY20" fmla="*/ 67335 h 362186"/>
              <a:gd name="connsiteX21" fmla="*/ 324570 w 390143"/>
              <a:gd name="connsiteY21" fmla="*/ 68338 h 362186"/>
              <a:gd name="connsiteX22" fmla="*/ 213101 w 390143"/>
              <a:gd name="connsiteY22" fmla="*/ 217828 h 362186"/>
              <a:gd name="connsiteX23" fmla="*/ 210116 w 390143"/>
              <a:gd name="connsiteY23" fmla="*/ 215822 h 362186"/>
              <a:gd name="connsiteX24" fmla="*/ 122532 w 390143"/>
              <a:gd name="connsiteY24" fmla="*/ 151612 h 362186"/>
              <a:gd name="connsiteX25" fmla="*/ 91678 w 390143"/>
              <a:gd name="connsiteY25" fmla="*/ 191743 h 362186"/>
              <a:gd name="connsiteX26" fmla="*/ 77745 w 390143"/>
              <a:gd name="connsiteY26" fmla="*/ 196759 h 362186"/>
              <a:gd name="connsiteX27" fmla="*/ 70778 w 390143"/>
              <a:gd name="connsiteY27" fmla="*/ 181710 h 362186"/>
              <a:gd name="connsiteX28" fmla="*/ 71773 w 390143"/>
              <a:gd name="connsiteY28" fmla="*/ 179703 h 362186"/>
              <a:gd name="connsiteX29" fmla="*/ 113574 w 390143"/>
              <a:gd name="connsiteY29" fmla="*/ 124522 h 362186"/>
              <a:gd name="connsiteX30" fmla="*/ 117556 w 390143"/>
              <a:gd name="connsiteY30" fmla="*/ 119506 h 362186"/>
              <a:gd name="connsiteX31" fmla="*/ 208124 w 390143"/>
              <a:gd name="connsiteY31" fmla="*/ 186726 h 362186"/>
              <a:gd name="connsiteX32" fmla="*/ 306656 w 390143"/>
              <a:gd name="connsiteY32" fmla="*/ 55296 h 362186"/>
              <a:gd name="connsiteX33" fmla="*/ 318598 w 390143"/>
              <a:gd name="connsiteY33" fmla="*/ 53289 h 362186"/>
              <a:gd name="connsiteX34" fmla="*/ 324570 w 390143"/>
              <a:gd name="connsiteY34" fmla="*/ 67335 h 36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90143" h="362186">
                <a:moveTo>
                  <a:pt x="344476" y="115"/>
                </a:moveTo>
                <a:lnTo>
                  <a:pt x="44901" y="115"/>
                </a:lnTo>
                <a:cubicBezTo>
                  <a:pt x="20019" y="115"/>
                  <a:pt x="114" y="20180"/>
                  <a:pt x="114" y="45263"/>
                </a:cubicBezTo>
                <a:lnTo>
                  <a:pt x="114" y="239901"/>
                </a:lnTo>
                <a:cubicBezTo>
                  <a:pt x="114" y="264982"/>
                  <a:pt x="20019" y="285048"/>
                  <a:pt x="44901" y="285048"/>
                </a:cubicBezTo>
                <a:lnTo>
                  <a:pt x="157367" y="285048"/>
                </a:lnTo>
                <a:lnTo>
                  <a:pt x="157367" y="340229"/>
                </a:lnTo>
                <a:lnTo>
                  <a:pt x="95659" y="340229"/>
                </a:lnTo>
                <a:cubicBezTo>
                  <a:pt x="89688" y="340229"/>
                  <a:pt x="84712" y="345245"/>
                  <a:pt x="84712" y="351264"/>
                </a:cubicBezTo>
                <a:cubicBezTo>
                  <a:pt x="84712" y="357285"/>
                  <a:pt x="89688" y="362301"/>
                  <a:pt x="95659" y="362301"/>
                </a:cubicBezTo>
                <a:lnTo>
                  <a:pt x="285756" y="362301"/>
                </a:lnTo>
                <a:cubicBezTo>
                  <a:pt x="291727" y="362301"/>
                  <a:pt x="296703" y="357285"/>
                  <a:pt x="296703" y="351264"/>
                </a:cubicBezTo>
                <a:cubicBezTo>
                  <a:pt x="296703" y="345245"/>
                  <a:pt x="291727" y="340229"/>
                  <a:pt x="285756" y="340229"/>
                </a:cubicBezTo>
                <a:lnTo>
                  <a:pt x="225045" y="340229"/>
                </a:lnTo>
                <a:lnTo>
                  <a:pt x="225045" y="285048"/>
                </a:lnTo>
                <a:lnTo>
                  <a:pt x="345471" y="285048"/>
                </a:lnTo>
                <a:cubicBezTo>
                  <a:pt x="370353" y="285048"/>
                  <a:pt x="390258" y="264982"/>
                  <a:pt x="390258" y="239901"/>
                </a:cubicBezTo>
                <a:lnTo>
                  <a:pt x="390258" y="45263"/>
                </a:lnTo>
                <a:cubicBezTo>
                  <a:pt x="389262" y="21184"/>
                  <a:pt x="369357" y="115"/>
                  <a:pt x="344476" y="115"/>
                </a:cubicBezTo>
                <a:moveTo>
                  <a:pt x="324570" y="67335"/>
                </a:moveTo>
                <a:cubicBezTo>
                  <a:pt x="324570" y="67335"/>
                  <a:pt x="324570" y="68338"/>
                  <a:pt x="324570" y="67335"/>
                </a:cubicBezTo>
                <a:lnTo>
                  <a:pt x="324570" y="68338"/>
                </a:lnTo>
                <a:lnTo>
                  <a:pt x="213101" y="217828"/>
                </a:lnTo>
                <a:lnTo>
                  <a:pt x="210116" y="215822"/>
                </a:lnTo>
                <a:lnTo>
                  <a:pt x="122532" y="151612"/>
                </a:lnTo>
                <a:lnTo>
                  <a:pt x="91678" y="191743"/>
                </a:lnTo>
                <a:cubicBezTo>
                  <a:pt x="88693" y="196759"/>
                  <a:pt x="82721" y="198766"/>
                  <a:pt x="77745" y="196759"/>
                </a:cubicBezTo>
                <a:cubicBezTo>
                  <a:pt x="71773" y="194752"/>
                  <a:pt x="68787" y="187729"/>
                  <a:pt x="70778" y="181710"/>
                </a:cubicBezTo>
                <a:cubicBezTo>
                  <a:pt x="70778" y="180707"/>
                  <a:pt x="70778" y="180707"/>
                  <a:pt x="71773" y="179703"/>
                </a:cubicBezTo>
                <a:lnTo>
                  <a:pt x="113574" y="124522"/>
                </a:lnTo>
                <a:lnTo>
                  <a:pt x="117556" y="119506"/>
                </a:lnTo>
                <a:lnTo>
                  <a:pt x="208124" y="186726"/>
                </a:lnTo>
                <a:lnTo>
                  <a:pt x="306656" y="55296"/>
                </a:lnTo>
                <a:cubicBezTo>
                  <a:pt x="309642" y="52286"/>
                  <a:pt x="314618" y="51283"/>
                  <a:pt x="318598" y="53289"/>
                </a:cubicBezTo>
                <a:cubicBezTo>
                  <a:pt x="324570" y="55296"/>
                  <a:pt x="327556" y="61315"/>
                  <a:pt x="324570" y="67335"/>
                </a:cubicBezTo>
              </a:path>
            </a:pathLst>
          </a:custGeom>
          <a:solidFill>
            <a:schemeClr val="accent1">
              <a:alpha val="70000"/>
            </a:schemeClr>
          </a:solidFill>
          <a:ln w="13616" cap="flat">
            <a:noFill/>
            <a:prstDash val="solid"/>
            <a:miter/>
          </a:ln>
        </p:spPr>
        <p:txBody>
          <a:bodyPr rtlCol="0" anchor="ctr"/>
          <a:lstStyle/>
          <a:p>
            <a:endParaRPr lang="zh-CN" altLang="en-US" sz="1800"/>
          </a:p>
        </p:txBody>
      </p:sp>
      <p:sp>
        <p:nvSpPr>
          <p:cNvPr id="7" name="图片 27" descr="343439383331313b343532303032303bb8f6c8cbd0c5cfa2"/>
          <p:cNvSpPr/>
          <p:nvPr>
            <p:custDataLst>
              <p:tags r:id="rId7"/>
            </p:custDataLst>
          </p:nvPr>
        </p:nvSpPr>
        <p:spPr>
          <a:xfrm>
            <a:off x="10151705" y="4667209"/>
            <a:ext cx="389987" cy="390143"/>
          </a:xfrm>
          <a:custGeom>
            <a:avLst/>
            <a:gdLst>
              <a:gd name="connsiteX0" fmla="*/ 354247 w 389987"/>
              <a:gd name="connsiteY0" fmla="*/ 114 h 390143"/>
              <a:gd name="connsiteX1" fmla="*/ 285057 w 389987"/>
              <a:gd name="connsiteY1" fmla="*/ 114 h 390143"/>
              <a:gd name="connsiteX2" fmla="*/ 283169 w 389987"/>
              <a:gd name="connsiteY2" fmla="*/ 114 h 390143"/>
              <a:gd name="connsiteX3" fmla="*/ 61128 w 389987"/>
              <a:gd name="connsiteY3" fmla="*/ 744 h 390143"/>
              <a:gd name="connsiteX4" fmla="*/ 25904 w 389987"/>
              <a:gd name="connsiteY4" fmla="*/ 36040 h 390143"/>
              <a:gd name="connsiteX5" fmla="*/ 25904 w 389987"/>
              <a:gd name="connsiteY5" fmla="*/ 88984 h 390143"/>
              <a:gd name="connsiteX6" fmla="*/ 66160 w 389987"/>
              <a:gd name="connsiteY6" fmla="*/ 88984 h 390143"/>
              <a:gd name="connsiteX7" fmla="*/ 79369 w 389987"/>
              <a:gd name="connsiteY7" fmla="*/ 102220 h 390143"/>
              <a:gd name="connsiteX8" fmla="*/ 79369 w 389987"/>
              <a:gd name="connsiteY8" fmla="*/ 111044 h 390143"/>
              <a:gd name="connsiteX9" fmla="*/ 66160 w 389987"/>
              <a:gd name="connsiteY9" fmla="*/ 124279 h 390143"/>
              <a:gd name="connsiteX10" fmla="*/ 61757 w 389987"/>
              <a:gd name="connsiteY10" fmla="*/ 124279 h 390143"/>
              <a:gd name="connsiteX11" fmla="*/ 61757 w 389987"/>
              <a:gd name="connsiteY11" fmla="*/ 119867 h 390143"/>
              <a:gd name="connsiteX12" fmla="*/ 48548 w 389987"/>
              <a:gd name="connsiteY12" fmla="*/ 106632 h 390143"/>
              <a:gd name="connsiteX13" fmla="*/ 12065 w 389987"/>
              <a:gd name="connsiteY13" fmla="*/ 106632 h 390143"/>
              <a:gd name="connsiteX14" fmla="*/ 743 w 389987"/>
              <a:gd name="connsiteY14" fmla="*/ 115456 h 390143"/>
              <a:gd name="connsiteX15" fmla="*/ 114 w 389987"/>
              <a:gd name="connsiteY15" fmla="*/ 119867 h 390143"/>
              <a:gd name="connsiteX16" fmla="*/ 114 w 389987"/>
              <a:gd name="connsiteY16" fmla="*/ 128691 h 390143"/>
              <a:gd name="connsiteX17" fmla="*/ 13323 w 389987"/>
              <a:gd name="connsiteY17" fmla="*/ 141927 h 390143"/>
              <a:gd name="connsiteX18" fmla="*/ 26532 w 389987"/>
              <a:gd name="connsiteY18" fmla="*/ 141927 h 390143"/>
              <a:gd name="connsiteX19" fmla="*/ 26532 w 389987"/>
              <a:gd name="connsiteY19" fmla="*/ 239621 h 390143"/>
              <a:gd name="connsiteX20" fmla="*/ 66789 w 389987"/>
              <a:gd name="connsiteY20" fmla="*/ 239621 h 390143"/>
              <a:gd name="connsiteX21" fmla="*/ 79999 w 389987"/>
              <a:gd name="connsiteY21" fmla="*/ 252858 h 390143"/>
              <a:gd name="connsiteX22" fmla="*/ 79999 w 389987"/>
              <a:gd name="connsiteY22" fmla="*/ 261680 h 390143"/>
              <a:gd name="connsiteX23" fmla="*/ 66789 w 389987"/>
              <a:gd name="connsiteY23" fmla="*/ 274917 h 390143"/>
              <a:gd name="connsiteX24" fmla="*/ 62386 w 389987"/>
              <a:gd name="connsiteY24" fmla="*/ 274917 h 390143"/>
              <a:gd name="connsiteX25" fmla="*/ 62386 w 389987"/>
              <a:gd name="connsiteY25" fmla="*/ 271136 h 390143"/>
              <a:gd name="connsiteX26" fmla="*/ 49177 w 389987"/>
              <a:gd name="connsiteY26" fmla="*/ 257899 h 390143"/>
              <a:gd name="connsiteX27" fmla="*/ 12694 w 389987"/>
              <a:gd name="connsiteY27" fmla="*/ 257899 h 390143"/>
              <a:gd name="connsiteX28" fmla="*/ 1372 w 389987"/>
              <a:gd name="connsiteY28" fmla="*/ 266723 h 390143"/>
              <a:gd name="connsiteX29" fmla="*/ 743 w 389987"/>
              <a:gd name="connsiteY29" fmla="*/ 271136 h 390143"/>
              <a:gd name="connsiteX30" fmla="*/ 743 w 389987"/>
              <a:gd name="connsiteY30" fmla="*/ 279958 h 390143"/>
              <a:gd name="connsiteX31" fmla="*/ 13952 w 389987"/>
              <a:gd name="connsiteY31" fmla="*/ 293195 h 390143"/>
              <a:gd name="connsiteX32" fmla="*/ 27162 w 389987"/>
              <a:gd name="connsiteY32" fmla="*/ 293195 h 390143"/>
              <a:gd name="connsiteX33" fmla="*/ 27162 w 389987"/>
              <a:gd name="connsiteY33" fmla="*/ 354963 h 390143"/>
              <a:gd name="connsiteX34" fmla="*/ 62386 w 389987"/>
              <a:gd name="connsiteY34" fmla="*/ 390258 h 390143"/>
              <a:gd name="connsiteX35" fmla="*/ 354876 w 389987"/>
              <a:gd name="connsiteY35" fmla="*/ 390258 h 390143"/>
              <a:gd name="connsiteX36" fmla="*/ 390101 w 389987"/>
              <a:gd name="connsiteY36" fmla="*/ 354963 h 390143"/>
              <a:gd name="connsiteX37" fmla="*/ 390101 w 389987"/>
              <a:gd name="connsiteY37" fmla="*/ 35410 h 390143"/>
              <a:gd name="connsiteX38" fmla="*/ 354247 w 389987"/>
              <a:gd name="connsiteY38" fmla="*/ 114 h 390143"/>
              <a:gd name="connsiteX39" fmla="*/ 328459 w 389987"/>
              <a:gd name="connsiteY39" fmla="*/ 288782 h 390143"/>
              <a:gd name="connsiteX40" fmla="*/ 327830 w 389987"/>
              <a:gd name="connsiteY40" fmla="*/ 290674 h 390143"/>
              <a:gd name="connsiteX41" fmla="*/ 324056 w 389987"/>
              <a:gd name="connsiteY41" fmla="*/ 295086 h 390143"/>
              <a:gd name="connsiteX42" fmla="*/ 320282 w 389987"/>
              <a:gd name="connsiteY42" fmla="*/ 296976 h 390143"/>
              <a:gd name="connsiteX43" fmla="*/ 317765 w 389987"/>
              <a:gd name="connsiteY43" fmla="*/ 297606 h 390143"/>
              <a:gd name="connsiteX44" fmla="*/ 127803 w 389987"/>
              <a:gd name="connsiteY44" fmla="*/ 297606 h 390143"/>
              <a:gd name="connsiteX45" fmla="*/ 123400 w 389987"/>
              <a:gd name="connsiteY45" fmla="*/ 295716 h 390143"/>
              <a:gd name="connsiteX46" fmla="*/ 120255 w 389987"/>
              <a:gd name="connsiteY46" fmla="*/ 291304 h 390143"/>
              <a:gd name="connsiteX47" fmla="*/ 119626 w 389987"/>
              <a:gd name="connsiteY47" fmla="*/ 289412 h 390143"/>
              <a:gd name="connsiteX48" fmla="*/ 119626 w 389987"/>
              <a:gd name="connsiteY48" fmla="*/ 271766 h 390143"/>
              <a:gd name="connsiteX49" fmla="*/ 119626 w 389987"/>
              <a:gd name="connsiteY49" fmla="*/ 271136 h 390143"/>
              <a:gd name="connsiteX50" fmla="*/ 120255 w 389987"/>
              <a:gd name="connsiteY50" fmla="*/ 270504 h 390143"/>
              <a:gd name="connsiteX51" fmla="*/ 157996 w 389987"/>
              <a:gd name="connsiteY51" fmla="*/ 244664 h 390143"/>
              <a:gd name="connsiteX52" fmla="*/ 195107 w 389987"/>
              <a:gd name="connsiteY52" fmla="*/ 217562 h 390143"/>
              <a:gd name="connsiteX53" fmla="*/ 195107 w 389987"/>
              <a:gd name="connsiteY53" fmla="*/ 213779 h 390143"/>
              <a:gd name="connsiteX54" fmla="*/ 193221 w 389987"/>
              <a:gd name="connsiteY54" fmla="*/ 209368 h 390143"/>
              <a:gd name="connsiteX55" fmla="*/ 173093 w 389987"/>
              <a:gd name="connsiteY55" fmla="*/ 158314 h 390143"/>
              <a:gd name="connsiteX56" fmla="*/ 224042 w 389987"/>
              <a:gd name="connsiteY56" fmla="*/ 94026 h 390143"/>
              <a:gd name="connsiteX57" fmla="*/ 274992 w 389987"/>
              <a:gd name="connsiteY57" fmla="*/ 158314 h 390143"/>
              <a:gd name="connsiteX58" fmla="*/ 254864 w 389987"/>
              <a:gd name="connsiteY58" fmla="*/ 209368 h 390143"/>
              <a:gd name="connsiteX59" fmla="*/ 252977 w 389987"/>
              <a:gd name="connsiteY59" fmla="*/ 213779 h 390143"/>
              <a:gd name="connsiteX60" fmla="*/ 252977 w 389987"/>
              <a:gd name="connsiteY60" fmla="*/ 217562 h 390143"/>
              <a:gd name="connsiteX61" fmla="*/ 290088 w 389987"/>
              <a:gd name="connsiteY61" fmla="*/ 244664 h 390143"/>
              <a:gd name="connsiteX62" fmla="*/ 327830 w 389987"/>
              <a:gd name="connsiteY62" fmla="*/ 270504 h 390143"/>
              <a:gd name="connsiteX63" fmla="*/ 328459 w 389987"/>
              <a:gd name="connsiteY63" fmla="*/ 271136 h 390143"/>
              <a:gd name="connsiteX64" fmla="*/ 328459 w 389987"/>
              <a:gd name="connsiteY64" fmla="*/ 271766 h 390143"/>
              <a:gd name="connsiteX65" fmla="*/ 328459 w 389987"/>
              <a:gd name="connsiteY65" fmla="*/ 288782 h 39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89987" h="390143">
                <a:moveTo>
                  <a:pt x="354247" y="114"/>
                </a:moveTo>
                <a:lnTo>
                  <a:pt x="285057" y="114"/>
                </a:lnTo>
                <a:lnTo>
                  <a:pt x="283169" y="114"/>
                </a:lnTo>
                <a:lnTo>
                  <a:pt x="61128" y="744"/>
                </a:lnTo>
                <a:cubicBezTo>
                  <a:pt x="41629" y="744"/>
                  <a:pt x="25904" y="16501"/>
                  <a:pt x="25904" y="36040"/>
                </a:cubicBezTo>
                <a:lnTo>
                  <a:pt x="25904" y="88984"/>
                </a:lnTo>
                <a:lnTo>
                  <a:pt x="66160" y="88984"/>
                </a:lnTo>
                <a:cubicBezTo>
                  <a:pt x="73708" y="88984"/>
                  <a:pt x="79369" y="94656"/>
                  <a:pt x="79369" y="102220"/>
                </a:cubicBezTo>
                <a:lnTo>
                  <a:pt x="79369" y="111044"/>
                </a:lnTo>
                <a:cubicBezTo>
                  <a:pt x="79369" y="118607"/>
                  <a:pt x="73708" y="124279"/>
                  <a:pt x="66160" y="124279"/>
                </a:cubicBezTo>
                <a:lnTo>
                  <a:pt x="61757" y="124279"/>
                </a:lnTo>
                <a:lnTo>
                  <a:pt x="61757" y="119867"/>
                </a:lnTo>
                <a:cubicBezTo>
                  <a:pt x="61757" y="112304"/>
                  <a:pt x="56096" y="106632"/>
                  <a:pt x="48548" y="106632"/>
                </a:cubicBezTo>
                <a:lnTo>
                  <a:pt x="12065" y="106632"/>
                </a:lnTo>
                <a:cubicBezTo>
                  <a:pt x="7033" y="107262"/>
                  <a:pt x="2630" y="110413"/>
                  <a:pt x="743" y="115456"/>
                </a:cubicBezTo>
                <a:cubicBezTo>
                  <a:pt x="114" y="116716"/>
                  <a:pt x="114" y="118607"/>
                  <a:pt x="114" y="119867"/>
                </a:cubicBezTo>
                <a:lnTo>
                  <a:pt x="114" y="128691"/>
                </a:lnTo>
                <a:cubicBezTo>
                  <a:pt x="114" y="136255"/>
                  <a:pt x="5775" y="141927"/>
                  <a:pt x="13323" y="141927"/>
                </a:cubicBezTo>
                <a:lnTo>
                  <a:pt x="26532" y="141927"/>
                </a:lnTo>
                <a:lnTo>
                  <a:pt x="26532" y="239621"/>
                </a:lnTo>
                <a:lnTo>
                  <a:pt x="66789" y="239621"/>
                </a:lnTo>
                <a:cubicBezTo>
                  <a:pt x="74337" y="239621"/>
                  <a:pt x="79999" y="245294"/>
                  <a:pt x="79999" y="252858"/>
                </a:cubicBezTo>
                <a:lnTo>
                  <a:pt x="79999" y="261680"/>
                </a:lnTo>
                <a:cubicBezTo>
                  <a:pt x="79999" y="269244"/>
                  <a:pt x="74337" y="274917"/>
                  <a:pt x="66789" y="274917"/>
                </a:cubicBezTo>
                <a:lnTo>
                  <a:pt x="62386" y="274917"/>
                </a:lnTo>
                <a:lnTo>
                  <a:pt x="62386" y="271136"/>
                </a:lnTo>
                <a:cubicBezTo>
                  <a:pt x="62386" y="263572"/>
                  <a:pt x="56725" y="257899"/>
                  <a:pt x="49177" y="257899"/>
                </a:cubicBezTo>
                <a:lnTo>
                  <a:pt x="12694" y="257899"/>
                </a:lnTo>
                <a:cubicBezTo>
                  <a:pt x="7662" y="258529"/>
                  <a:pt x="3259" y="261680"/>
                  <a:pt x="1372" y="266723"/>
                </a:cubicBezTo>
                <a:cubicBezTo>
                  <a:pt x="743" y="267983"/>
                  <a:pt x="743" y="269874"/>
                  <a:pt x="743" y="271136"/>
                </a:cubicBezTo>
                <a:lnTo>
                  <a:pt x="743" y="279958"/>
                </a:lnTo>
                <a:cubicBezTo>
                  <a:pt x="743" y="287522"/>
                  <a:pt x="6404" y="293195"/>
                  <a:pt x="13952" y="293195"/>
                </a:cubicBezTo>
                <a:lnTo>
                  <a:pt x="27162" y="293195"/>
                </a:lnTo>
                <a:lnTo>
                  <a:pt x="27162" y="354963"/>
                </a:lnTo>
                <a:cubicBezTo>
                  <a:pt x="27162" y="374501"/>
                  <a:pt x="42887" y="390258"/>
                  <a:pt x="62386" y="390258"/>
                </a:cubicBezTo>
                <a:lnTo>
                  <a:pt x="354876" y="390258"/>
                </a:lnTo>
                <a:cubicBezTo>
                  <a:pt x="374376" y="390258"/>
                  <a:pt x="390101" y="374501"/>
                  <a:pt x="390101" y="354963"/>
                </a:cubicBezTo>
                <a:lnTo>
                  <a:pt x="390101" y="35410"/>
                </a:lnTo>
                <a:cubicBezTo>
                  <a:pt x="389472" y="15871"/>
                  <a:pt x="373747" y="114"/>
                  <a:pt x="354247" y="114"/>
                </a:cubicBezTo>
                <a:moveTo>
                  <a:pt x="328459" y="288782"/>
                </a:moveTo>
                <a:cubicBezTo>
                  <a:pt x="328459" y="288782"/>
                  <a:pt x="327830" y="290044"/>
                  <a:pt x="327830" y="290674"/>
                </a:cubicBezTo>
                <a:cubicBezTo>
                  <a:pt x="327200" y="291935"/>
                  <a:pt x="325313" y="293825"/>
                  <a:pt x="324056" y="295086"/>
                </a:cubicBezTo>
                <a:lnTo>
                  <a:pt x="320282" y="296976"/>
                </a:lnTo>
                <a:lnTo>
                  <a:pt x="317765" y="297606"/>
                </a:lnTo>
                <a:lnTo>
                  <a:pt x="127803" y="297606"/>
                </a:lnTo>
                <a:cubicBezTo>
                  <a:pt x="126545" y="296976"/>
                  <a:pt x="124658" y="296346"/>
                  <a:pt x="123400" y="295716"/>
                </a:cubicBezTo>
                <a:cubicBezTo>
                  <a:pt x="122142" y="295086"/>
                  <a:pt x="120884" y="293195"/>
                  <a:pt x="120255" y="291304"/>
                </a:cubicBezTo>
                <a:cubicBezTo>
                  <a:pt x="120255" y="290674"/>
                  <a:pt x="119626" y="289412"/>
                  <a:pt x="119626" y="289412"/>
                </a:cubicBezTo>
                <a:cubicBezTo>
                  <a:pt x="118997" y="288782"/>
                  <a:pt x="117110" y="280590"/>
                  <a:pt x="119626" y="271766"/>
                </a:cubicBezTo>
                <a:lnTo>
                  <a:pt x="119626" y="271136"/>
                </a:lnTo>
                <a:lnTo>
                  <a:pt x="120255" y="270504"/>
                </a:lnTo>
                <a:cubicBezTo>
                  <a:pt x="126545" y="262312"/>
                  <a:pt x="141642" y="253488"/>
                  <a:pt x="157996" y="244664"/>
                </a:cubicBezTo>
                <a:cubicBezTo>
                  <a:pt x="173093" y="236470"/>
                  <a:pt x="195107" y="223863"/>
                  <a:pt x="195107" y="217562"/>
                </a:cubicBezTo>
                <a:lnTo>
                  <a:pt x="195107" y="213779"/>
                </a:lnTo>
                <a:cubicBezTo>
                  <a:pt x="195107" y="211888"/>
                  <a:pt x="194479" y="210628"/>
                  <a:pt x="193221" y="209368"/>
                </a:cubicBezTo>
                <a:cubicBezTo>
                  <a:pt x="180011" y="196131"/>
                  <a:pt x="173093" y="177853"/>
                  <a:pt x="173093" y="158314"/>
                </a:cubicBezTo>
                <a:cubicBezTo>
                  <a:pt x="173093" y="126801"/>
                  <a:pt x="179382" y="94026"/>
                  <a:pt x="224042" y="94026"/>
                </a:cubicBezTo>
                <a:cubicBezTo>
                  <a:pt x="268703" y="94026"/>
                  <a:pt x="274992" y="126170"/>
                  <a:pt x="274992" y="158314"/>
                </a:cubicBezTo>
                <a:cubicBezTo>
                  <a:pt x="274992" y="177853"/>
                  <a:pt x="268074" y="196131"/>
                  <a:pt x="254864" y="209368"/>
                </a:cubicBezTo>
                <a:cubicBezTo>
                  <a:pt x="253606" y="210628"/>
                  <a:pt x="252977" y="211888"/>
                  <a:pt x="252977" y="213779"/>
                </a:cubicBezTo>
                <a:lnTo>
                  <a:pt x="252977" y="217562"/>
                </a:lnTo>
                <a:cubicBezTo>
                  <a:pt x="252977" y="223863"/>
                  <a:pt x="275621" y="236470"/>
                  <a:pt x="290088" y="244664"/>
                </a:cubicBezTo>
                <a:cubicBezTo>
                  <a:pt x="306443" y="253488"/>
                  <a:pt x="321539" y="262312"/>
                  <a:pt x="327830" y="270504"/>
                </a:cubicBezTo>
                <a:lnTo>
                  <a:pt x="328459" y="271136"/>
                </a:lnTo>
                <a:lnTo>
                  <a:pt x="328459" y="271766"/>
                </a:lnTo>
                <a:cubicBezTo>
                  <a:pt x="331604" y="279958"/>
                  <a:pt x="329087" y="288152"/>
                  <a:pt x="328459" y="288782"/>
                </a:cubicBezTo>
              </a:path>
            </a:pathLst>
          </a:custGeom>
          <a:solidFill>
            <a:schemeClr val="accent1"/>
          </a:solidFill>
          <a:ln w="13613" cap="flat">
            <a:noFill/>
            <a:prstDash val="solid"/>
            <a:miter/>
          </a:ln>
        </p:spPr>
        <p:txBody>
          <a:bodyPr rtlCol="0" anchor="ctr"/>
          <a:lstStyle/>
          <a:p>
            <a:endParaRPr lang="zh-CN" altLang="en-US" sz="1800"/>
          </a:p>
        </p:txBody>
      </p:sp>
      <p:sp>
        <p:nvSpPr>
          <p:cNvPr id="8" name="图片 28" descr="343439383331313b343532303032333bc6f3d2b5bcf2bde9"/>
          <p:cNvSpPr/>
          <p:nvPr>
            <p:custDataLst>
              <p:tags r:id="rId8"/>
            </p:custDataLst>
          </p:nvPr>
        </p:nvSpPr>
        <p:spPr>
          <a:xfrm>
            <a:off x="7865086" y="4667209"/>
            <a:ext cx="390144" cy="390144"/>
          </a:xfrm>
          <a:custGeom>
            <a:avLst/>
            <a:gdLst>
              <a:gd name="connsiteX0" fmla="*/ 376854 w 390144"/>
              <a:gd name="connsiteY0" fmla="*/ 362224 h 390144"/>
              <a:gd name="connsiteX1" fmla="*/ 390258 w 390144"/>
              <a:gd name="connsiteY1" fmla="*/ 376854 h 390144"/>
              <a:gd name="connsiteX2" fmla="*/ 376854 w 390144"/>
              <a:gd name="connsiteY2" fmla="*/ 390258 h 390144"/>
              <a:gd name="connsiteX3" fmla="*/ 13490 w 390144"/>
              <a:gd name="connsiteY3" fmla="*/ 390258 h 390144"/>
              <a:gd name="connsiteX4" fmla="*/ 114 w 390144"/>
              <a:gd name="connsiteY4" fmla="*/ 375628 h 390144"/>
              <a:gd name="connsiteX5" fmla="*/ 13518 w 390144"/>
              <a:gd name="connsiteY5" fmla="*/ 362224 h 390144"/>
              <a:gd name="connsiteX6" fmla="*/ 34252 w 390144"/>
              <a:gd name="connsiteY6" fmla="*/ 362224 h 390144"/>
              <a:gd name="connsiteX7" fmla="*/ 34252 w 390144"/>
              <a:gd name="connsiteY7" fmla="*/ 19621 h 390144"/>
              <a:gd name="connsiteX8" fmla="*/ 53759 w 390144"/>
              <a:gd name="connsiteY8" fmla="*/ 114 h 390144"/>
              <a:gd name="connsiteX9" fmla="*/ 232974 w 390144"/>
              <a:gd name="connsiteY9" fmla="*/ 114 h 390144"/>
              <a:gd name="connsiteX10" fmla="*/ 252482 w 390144"/>
              <a:gd name="connsiteY10" fmla="*/ 19621 h 390144"/>
              <a:gd name="connsiteX11" fmla="*/ 252482 w 390144"/>
              <a:gd name="connsiteY11" fmla="*/ 128137 h 390144"/>
              <a:gd name="connsiteX12" fmla="*/ 329312 w 390144"/>
              <a:gd name="connsiteY12" fmla="*/ 152521 h 390144"/>
              <a:gd name="connsiteX13" fmla="*/ 356121 w 390144"/>
              <a:gd name="connsiteY13" fmla="*/ 189083 h 390144"/>
              <a:gd name="connsiteX14" fmla="*/ 356121 w 390144"/>
              <a:gd name="connsiteY14" fmla="*/ 362224 h 390144"/>
              <a:gd name="connsiteX15" fmla="*/ 376854 w 390144"/>
              <a:gd name="connsiteY15" fmla="*/ 362224 h 390144"/>
              <a:gd name="connsiteX16" fmla="*/ 161048 w 390144"/>
              <a:gd name="connsiteY16" fmla="*/ 81766 h 390144"/>
              <a:gd name="connsiteX17" fmla="*/ 161048 w 390144"/>
              <a:gd name="connsiteY17" fmla="*/ 115903 h 390144"/>
              <a:gd name="connsiteX18" fmla="*/ 215919 w 390144"/>
              <a:gd name="connsiteY18" fmla="*/ 115903 h 390144"/>
              <a:gd name="connsiteX19" fmla="*/ 215919 w 390144"/>
              <a:gd name="connsiteY19" fmla="*/ 81793 h 390144"/>
              <a:gd name="connsiteX20" fmla="*/ 161048 w 390144"/>
              <a:gd name="connsiteY20" fmla="*/ 81793 h 390144"/>
              <a:gd name="connsiteX21" fmla="*/ 161048 w 390144"/>
              <a:gd name="connsiteY21" fmla="*/ 81793 h 390144"/>
              <a:gd name="connsiteX22" fmla="*/ 161048 w 390144"/>
              <a:gd name="connsiteY22" fmla="*/ 81766 h 390144"/>
              <a:gd name="connsiteX23" fmla="*/ 125685 w 390144"/>
              <a:gd name="connsiteY23" fmla="*/ 297571 h 390144"/>
              <a:gd name="connsiteX24" fmla="*/ 125685 w 390144"/>
              <a:gd name="connsiteY24" fmla="*/ 263461 h 390144"/>
              <a:gd name="connsiteX25" fmla="*/ 70842 w 390144"/>
              <a:gd name="connsiteY25" fmla="*/ 263461 h 390144"/>
              <a:gd name="connsiteX26" fmla="*/ 70842 w 390144"/>
              <a:gd name="connsiteY26" fmla="*/ 297599 h 390144"/>
              <a:gd name="connsiteX27" fmla="*/ 125685 w 390144"/>
              <a:gd name="connsiteY27" fmla="*/ 297599 h 390144"/>
              <a:gd name="connsiteX28" fmla="*/ 125685 w 390144"/>
              <a:gd name="connsiteY28" fmla="*/ 297599 h 390144"/>
              <a:gd name="connsiteX29" fmla="*/ 125685 w 390144"/>
              <a:gd name="connsiteY29" fmla="*/ 297571 h 390144"/>
              <a:gd name="connsiteX30" fmla="*/ 70842 w 390144"/>
              <a:gd name="connsiteY30" fmla="*/ 207364 h 390144"/>
              <a:gd name="connsiteX31" fmla="*/ 125685 w 390144"/>
              <a:gd name="connsiteY31" fmla="*/ 207364 h 390144"/>
              <a:gd name="connsiteX32" fmla="*/ 125685 w 390144"/>
              <a:gd name="connsiteY32" fmla="*/ 173254 h 390144"/>
              <a:gd name="connsiteX33" fmla="*/ 70842 w 390144"/>
              <a:gd name="connsiteY33" fmla="*/ 173254 h 390144"/>
              <a:gd name="connsiteX34" fmla="*/ 70842 w 390144"/>
              <a:gd name="connsiteY34" fmla="*/ 207420 h 390144"/>
              <a:gd name="connsiteX35" fmla="*/ 70842 w 390144"/>
              <a:gd name="connsiteY35" fmla="*/ 207364 h 390144"/>
              <a:gd name="connsiteX36" fmla="*/ 70842 w 390144"/>
              <a:gd name="connsiteY36" fmla="*/ 115959 h 390144"/>
              <a:gd name="connsiteX37" fmla="*/ 125685 w 390144"/>
              <a:gd name="connsiteY37" fmla="*/ 115959 h 390144"/>
              <a:gd name="connsiteX38" fmla="*/ 125685 w 390144"/>
              <a:gd name="connsiteY38" fmla="*/ 81766 h 390144"/>
              <a:gd name="connsiteX39" fmla="*/ 70842 w 390144"/>
              <a:gd name="connsiteY39" fmla="*/ 81766 h 390144"/>
              <a:gd name="connsiteX40" fmla="*/ 70842 w 390144"/>
              <a:gd name="connsiteY40" fmla="*/ 115903 h 390144"/>
              <a:gd name="connsiteX41" fmla="*/ 70842 w 390144"/>
              <a:gd name="connsiteY41" fmla="*/ 115959 h 390144"/>
              <a:gd name="connsiteX42" fmla="*/ 161048 w 390144"/>
              <a:gd name="connsiteY42" fmla="*/ 172028 h 390144"/>
              <a:gd name="connsiteX43" fmla="*/ 161048 w 390144"/>
              <a:gd name="connsiteY43" fmla="*/ 207392 h 390144"/>
              <a:gd name="connsiteX44" fmla="*/ 215919 w 390144"/>
              <a:gd name="connsiteY44" fmla="*/ 207392 h 390144"/>
              <a:gd name="connsiteX45" fmla="*/ 215919 w 390144"/>
              <a:gd name="connsiteY45" fmla="*/ 172000 h 390144"/>
              <a:gd name="connsiteX46" fmla="*/ 161048 w 390144"/>
              <a:gd name="connsiteY46" fmla="*/ 172000 h 390144"/>
              <a:gd name="connsiteX47" fmla="*/ 161048 w 390144"/>
              <a:gd name="connsiteY47" fmla="*/ 172000 h 390144"/>
              <a:gd name="connsiteX48" fmla="*/ 161048 w 390144"/>
              <a:gd name="connsiteY48" fmla="*/ 172028 h 390144"/>
              <a:gd name="connsiteX49" fmla="*/ 217146 w 390144"/>
              <a:gd name="connsiteY49" fmla="*/ 297599 h 390144"/>
              <a:gd name="connsiteX50" fmla="*/ 217146 w 390144"/>
              <a:gd name="connsiteY50" fmla="*/ 263461 h 390144"/>
              <a:gd name="connsiteX51" fmla="*/ 162247 w 390144"/>
              <a:gd name="connsiteY51" fmla="*/ 263461 h 390144"/>
              <a:gd name="connsiteX52" fmla="*/ 162247 w 390144"/>
              <a:gd name="connsiteY52" fmla="*/ 297599 h 390144"/>
              <a:gd name="connsiteX53" fmla="*/ 217146 w 390144"/>
              <a:gd name="connsiteY53" fmla="*/ 297599 h 390144"/>
              <a:gd name="connsiteX54" fmla="*/ 217146 w 390144"/>
              <a:gd name="connsiteY54" fmla="*/ 297599 h 390144"/>
              <a:gd name="connsiteX55" fmla="*/ 275667 w 390144"/>
              <a:gd name="connsiteY55" fmla="*/ 337840 h 390144"/>
              <a:gd name="connsiteX56" fmla="*/ 303702 w 390144"/>
              <a:gd name="connsiteY56" fmla="*/ 337840 h 390144"/>
              <a:gd name="connsiteX57" fmla="*/ 303702 w 390144"/>
              <a:gd name="connsiteY57" fmla="*/ 281742 h 390144"/>
              <a:gd name="connsiteX58" fmla="*/ 275667 w 390144"/>
              <a:gd name="connsiteY58" fmla="*/ 281742 h 390144"/>
              <a:gd name="connsiteX59" fmla="*/ 275667 w 390144"/>
              <a:gd name="connsiteY59" fmla="*/ 337840 h 390144"/>
              <a:gd name="connsiteX60" fmla="*/ 275667 w 390144"/>
              <a:gd name="connsiteY60" fmla="*/ 256160 h 390144"/>
              <a:gd name="connsiteX61" fmla="*/ 303702 w 390144"/>
              <a:gd name="connsiteY61" fmla="*/ 256160 h 390144"/>
              <a:gd name="connsiteX62" fmla="*/ 303702 w 390144"/>
              <a:gd name="connsiteY62" fmla="*/ 200063 h 390144"/>
              <a:gd name="connsiteX63" fmla="*/ 275667 w 390144"/>
              <a:gd name="connsiteY63" fmla="*/ 200063 h 390144"/>
              <a:gd name="connsiteX64" fmla="*/ 275667 w 390144"/>
              <a:gd name="connsiteY64" fmla="*/ 256160 h 390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90144" h="390144">
                <a:moveTo>
                  <a:pt x="376854" y="362224"/>
                </a:moveTo>
                <a:cubicBezTo>
                  <a:pt x="384155" y="362224"/>
                  <a:pt x="390258" y="368299"/>
                  <a:pt x="390258" y="376854"/>
                </a:cubicBezTo>
                <a:cubicBezTo>
                  <a:pt x="390183" y="384225"/>
                  <a:pt x="384225" y="390183"/>
                  <a:pt x="376854" y="390258"/>
                </a:cubicBezTo>
                <a:lnTo>
                  <a:pt x="13490" y="390258"/>
                </a:lnTo>
                <a:cubicBezTo>
                  <a:pt x="6245" y="390258"/>
                  <a:pt x="114" y="384155"/>
                  <a:pt x="114" y="375628"/>
                </a:cubicBezTo>
                <a:cubicBezTo>
                  <a:pt x="114" y="368299"/>
                  <a:pt x="6217" y="362224"/>
                  <a:pt x="13518" y="362224"/>
                </a:cubicBezTo>
                <a:lnTo>
                  <a:pt x="34252" y="362224"/>
                </a:lnTo>
                <a:lnTo>
                  <a:pt x="34252" y="19621"/>
                </a:lnTo>
                <a:cubicBezTo>
                  <a:pt x="34252" y="8641"/>
                  <a:pt x="42779" y="114"/>
                  <a:pt x="53759" y="114"/>
                </a:cubicBezTo>
                <a:lnTo>
                  <a:pt x="232974" y="114"/>
                </a:lnTo>
                <a:cubicBezTo>
                  <a:pt x="243954" y="114"/>
                  <a:pt x="252482" y="8641"/>
                  <a:pt x="252482" y="19621"/>
                </a:cubicBezTo>
                <a:lnTo>
                  <a:pt x="252482" y="128137"/>
                </a:lnTo>
                <a:lnTo>
                  <a:pt x="329312" y="152521"/>
                </a:lnTo>
                <a:cubicBezTo>
                  <a:pt x="345141" y="157398"/>
                  <a:pt x="356121" y="172028"/>
                  <a:pt x="356121" y="189083"/>
                </a:cubicBezTo>
                <a:lnTo>
                  <a:pt x="356121" y="362224"/>
                </a:lnTo>
                <a:lnTo>
                  <a:pt x="376854" y="362224"/>
                </a:lnTo>
                <a:moveTo>
                  <a:pt x="161048" y="81766"/>
                </a:moveTo>
                <a:lnTo>
                  <a:pt x="161048" y="115903"/>
                </a:lnTo>
                <a:lnTo>
                  <a:pt x="215919" y="115903"/>
                </a:lnTo>
                <a:lnTo>
                  <a:pt x="215919" y="81793"/>
                </a:lnTo>
                <a:lnTo>
                  <a:pt x="161048" y="81793"/>
                </a:lnTo>
                <a:cubicBezTo>
                  <a:pt x="162275" y="80567"/>
                  <a:pt x="161048" y="80567"/>
                  <a:pt x="161048" y="81793"/>
                </a:cubicBezTo>
                <a:lnTo>
                  <a:pt x="161048" y="81766"/>
                </a:lnTo>
                <a:moveTo>
                  <a:pt x="125685" y="297571"/>
                </a:moveTo>
                <a:lnTo>
                  <a:pt x="125685" y="263461"/>
                </a:lnTo>
                <a:lnTo>
                  <a:pt x="70842" y="263461"/>
                </a:lnTo>
                <a:lnTo>
                  <a:pt x="70842" y="297599"/>
                </a:lnTo>
                <a:lnTo>
                  <a:pt x="125685" y="297599"/>
                </a:lnTo>
                <a:cubicBezTo>
                  <a:pt x="125685" y="298825"/>
                  <a:pt x="125685" y="297599"/>
                  <a:pt x="125685" y="297599"/>
                </a:cubicBezTo>
                <a:lnTo>
                  <a:pt x="125685" y="297571"/>
                </a:lnTo>
                <a:moveTo>
                  <a:pt x="70842" y="207364"/>
                </a:moveTo>
                <a:lnTo>
                  <a:pt x="125685" y="207364"/>
                </a:lnTo>
                <a:lnTo>
                  <a:pt x="125685" y="173254"/>
                </a:lnTo>
                <a:lnTo>
                  <a:pt x="70842" y="173254"/>
                </a:lnTo>
                <a:lnTo>
                  <a:pt x="70842" y="207420"/>
                </a:lnTo>
                <a:lnTo>
                  <a:pt x="70842" y="207364"/>
                </a:lnTo>
                <a:moveTo>
                  <a:pt x="70842" y="115959"/>
                </a:moveTo>
                <a:lnTo>
                  <a:pt x="125685" y="115959"/>
                </a:lnTo>
                <a:lnTo>
                  <a:pt x="125685" y="81766"/>
                </a:lnTo>
                <a:lnTo>
                  <a:pt x="70842" y="81766"/>
                </a:lnTo>
                <a:lnTo>
                  <a:pt x="70842" y="115903"/>
                </a:lnTo>
                <a:lnTo>
                  <a:pt x="70842" y="115959"/>
                </a:lnTo>
                <a:moveTo>
                  <a:pt x="161048" y="172028"/>
                </a:moveTo>
                <a:lnTo>
                  <a:pt x="161048" y="207392"/>
                </a:lnTo>
                <a:lnTo>
                  <a:pt x="215919" y="207392"/>
                </a:lnTo>
                <a:lnTo>
                  <a:pt x="215919" y="172000"/>
                </a:lnTo>
                <a:lnTo>
                  <a:pt x="161048" y="172000"/>
                </a:lnTo>
                <a:cubicBezTo>
                  <a:pt x="162275" y="172000"/>
                  <a:pt x="161048" y="172000"/>
                  <a:pt x="161048" y="172000"/>
                </a:cubicBezTo>
                <a:lnTo>
                  <a:pt x="161048" y="172028"/>
                </a:lnTo>
                <a:moveTo>
                  <a:pt x="217146" y="297599"/>
                </a:moveTo>
                <a:lnTo>
                  <a:pt x="217146" y="263461"/>
                </a:lnTo>
                <a:lnTo>
                  <a:pt x="162247" y="263461"/>
                </a:lnTo>
                <a:lnTo>
                  <a:pt x="162247" y="297599"/>
                </a:lnTo>
                <a:lnTo>
                  <a:pt x="217146" y="297599"/>
                </a:lnTo>
                <a:cubicBezTo>
                  <a:pt x="217146" y="298825"/>
                  <a:pt x="217146" y="297599"/>
                  <a:pt x="217146" y="297599"/>
                </a:cubicBezTo>
                <a:moveTo>
                  <a:pt x="275667" y="337840"/>
                </a:moveTo>
                <a:lnTo>
                  <a:pt x="303702" y="337840"/>
                </a:lnTo>
                <a:lnTo>
                  <a:pt x="303702" y="281742"/>
                </a:lnTo>
                <a:lnTo>
                  <a:pt x="275667" y="281742"/>
                </a:lnTo>
                <a:lnTo>
                  <a:pt x="275667" y="337840"/>
                </a:lnTo>
                <a:moveTo>
                  <a:pt x="275667" y="256160"/>
                </a:moveTo>
                <a:lnTo>
                  <a:pt x="303702" y="256160"/>
                </a:lnTo>
                <a:lnTo>
                  <a:pt x="303702" y="200063"/>
                </a:lnTo>
                <a:lnTo>
                  <a:pt x="275667" y="200063"/>
                </a:lnTo>
                <a:lnTo>
                  <a:pt x="275667" y="256160"/>
                </a:lnTo>
              </a:path>
            </a:pathLst>
          </a:custGeom>
          <a:solidFill>
            <a:schemeClr val="accent1">
              <a:alpha val="40000"/>
            </a:schemeClr>
          </a:solidFill>
          <a:ln w="13605" cap="flat">
            <a:noFill/>
            <a:prstDash val="solid"/>
            <a:miter/>
          </a:ln>
        </p:spPr>
        <p:txBody>
          <a:bodyPr rtlCol="0" anchor="ctr"/>
          <a:lstStyle/>
          <a:p>
            <a:endParaRPr lang="zh-CN" altLang="en-US" sz="1800"/>
          </a:p>
        </p:txBody>
      </p:sp>
      <p:sp>
        <p:nvSpPr>
          <p:cNvPr id="2" name="矩形 1"/>
          <p:cNvSpPr/>
          <p:nvPr>
            <p:custDataLst>
              <p:tags r:id="rId9"/>
            </p:custDataLst>
          </p:nvPr>
        </p:nvSpPr>
        <p:spPr>
          <a:xfrm>
            <a:off x="916891" y="4512704"/>
            <a:ext cx="5256701" cy="1836245"/>
          </a:xfrm>
          <a:prstGeom prst="rect">
            <a:avLst/>
          </a:prstGeom>
        </p:spPr>
        <p:txBody>
          <a:bodyPr wrap="square" lIns="0" tIns="0" rIns="0" bIns="0">
            <a:noAutofit/>
          </a:bodyPr>
          <a:p>
            <a:pPr algn="just">
              <a:lnSpc>
                <a:spcPct val="130000"/>
              </a:lnSpc>
              <a:spcBef>
                <a:spcPct val="0"/>
              </a:spcBef>
              <a:spcAft>
                <a:spcPct val="0"/>
              </a:spcAft>
            </a:pPr>
            <a:r>
              <a:rPr lang="zh-CN" altLang="en-US" sz="1300">
                <a:solidFill>
                  <a:schemeClr val="tx1">
                    <a:lumMod val="85000"/>
                    <a:lumOff val="15000"/>
                  </a:schemeClr>
                </a:solidFill>
                <a:latin typeface="+mn-ea"/>
                <a:cs typeface="+mn-ea"/>
              </a:rPr>
              <a:t>算法的效率作为判断算法优劣的标准。通常所说的算法执行所需要耗费的时间，时间越短，算法越好。</a:t>
            </a:r>
            <a:endParaRPr lang="zh-CN" altLang="en-US" sz="1300">
              <a:solidFill>
                <a:schemeClr val="tx1">
                  <a:lumMod val="85000"/>
                  <a:lumOff val="15000"/>
                </a:schemeClr>
              </a:solidFill>
              <a:latin typeface="+mn-ea"/>
              <a:cs typeface="+mn-ea"/>
            </a:endParaRPr>
          </a:p>
        </p:txBody>
      </p:sp>
      <p:sp>
        <p:nvSpPr>
          <p:cNvPr id="3" name="矩形 2"/>
          <p:cNvSpPr/>
          <p:nvPr>
            <p:custDataLst>
              <p:tags r:id="rId10"/>
            </p:custDataLst>
          </p:nvPr>
        </p:nvSpPr>
        <p:spPr>
          <a:xfrm>
            <a:off x="916891" y="2014281"/>
            <a:ext cx="5256701" cy="1836245"/>
          </a:xfrm>
          <a:prstGeom prst="rect">
            <a:avLst/>
          </a:prstGeom>
        </p:spPr>
        <p:txBody>
          <a:bodyPr wrap="square" lIns="0" tIns="0" rIns="0" bIns="0">
            <a:noAutofit/>
          </a:bodyPr>
          <a:p>
            <a:pPr algn="just">
              <a:lnSpc>
                <a:spcPct val="130000"/>
              </a:lnSpc>
              <a:spcBef>
                <a:spcPct val="0"/>
              </a:spcBef>
              <a:spcAft>
                <a:spcPct val="0"/>
              </a:spcAft>
            </a:pPr>
            <a:r>
              <a:rPr lang="zh-CN" altLang="en-US" sz="1300">
                <a:solidFill>
                  <a:schemeClr val="tx1">
                    <a:lumMod val="85000"/>
                    <a:lumOff val="15000"/>
                  </a:schemeClr>
                </a:solidFill>
                <a:latin typeface="+mn-ea"/>
                <a:cs typeface="+mn-ea"/>
              </a:rPr>
              <a:t>目前，被广泛认可的算法专业定义是：算法是模型分析的一组可行的，确定的，有穷的规则。通俗的说，算法也可以理解为一个解题步骤，有一些基本运算和规定的顺序构成。但是从计算机程序设计的角度看，算法由一系列求解问题的指令构成，能根据规范的输入，在有限的时间内获得有效的输出结果。算法代表了用系统的方法来描述解决问题的一种策略机制。</a:t>
            </a:r>
            <a:endParaRPr lang="zh-CN" altLang="en-US" sz="1300">
              <a:solidFill>
                <a:schemeClr val="tx1">
                  <a:lumMod val="85000"/>
                  <a:lumOff val="15000"/>
                </a:schemeClr>
              </a:solidFill>
              <a:latin typeface="+mn-ea"/>
              <a:cs typeface="+mn-ea"/>
            </a:endParaRPr>
          </a:p>
        </p:txBody>
      </p:sp>
      <p:sp>
        <p:nvSpPr>
          <p:cNvPr id="4" name="矩形 3"/>
          <p:cNvSpPr/>
          <p:nvPr>
            <p:custDataLst>
              <p:tags r:id="rId11"/>
            </p:custDataLst>
          </p:nvPr>
        </p:nvSpPr>
        <p:spPr>
          <a:xfrm>
            <a:off x="916891" y="4059889"/>
            <a:ext cx="5256596" cy="368349"/>
          </a:xfrm>
          <a:prstGeom prst="rect">
            <a:avLst/>
          </a:prstGeom>
          <a:noFill/>
        </p:spPr>
        <p:txBody>
          <a:bodyPr wrap="square" lIns="0" tIns="0" rIns="0" bIns="0" rtlCol="0" anchor="ctr">
            <a:noAutofit/>
          </a:bodyPr>
          <a:p>
            <a:pPr>
              <a:spcBef>
                <a:spcPct val="0"/>
              </a:spcBef>
              <a:spcAft>
                <a:spcPct val="0"/>
              </a:spcAft>
            </a:pPr>
            <a:r>
              <a:rPr lang="zh-CN" altLang="en-US" sz="2000" b="1" kern="0">
                <a:solidFill>
                  <a:schemeClr val="accent1"/>
                </a:solidFill>
                <a:latin typeface="+mn-ea"/>
                <a:cs typeface="+mn-ea"/>
              </a:rPr>
              <a:t>单击添加项标题</a:t>
            </a:r>
            <a:endParaRPr lang="zh-CN" altLang="en-US" sz="2000" b="1" kern="0">
              <a:solidFill>
                <a:schemeClr val="accent1"/>
              </a:solidFill>
              <a:latin typeface="+mn-ea"/>
              <a:cs typeface="+mn-ea"/>
            </a:endParaRPr>
          </a:p>
        </p:txBody>
      </p:sp>
      <p:sp>
        <p:nvSpPr>
          <p:cNvPr id="13" name="矩形 12"/>
          <p:cNvSpPr/>
          <p:nvPr>
            <p:custDataLst>
              <p:tags r:id="rId12"/>
            </p:custDataLst>
          </p:nvPr>
        </p:nvSpPr>
        <p:spPr>
          <a:xfrm>
            <a:off x="916891" y="1555115"/>
            <a:ext cx="5256596" cy="368349"/>
          </a:xfrm>
          <a:prstGeom prst="rect">
            <a:avLst/>
          </a:prstGeom>
          <a:noFill/>
        </p:spPr>
        <p:txBody>
          <a:bodyPr wrap="square" lIns="0" tIns="0" rIns="0" bIns="0" rtlCol="0" anchor="ctr">
            <a:noAutofit/>
          </a:bodyPr>
          <a:p>
            <a:pPr>
              <a:spcBef>
                <a:spcPct val="0"/>
              </a:spcBef>
              <a:spcAft>
                <a:spcPct val="0"/>
              </a:spcAft>
            </a:pPr>
            <a:r>
              <a:rPr lang="zh-CN" altLang="en-US" sz="2000" b="1" kern="0">
                <a:solidFill>
                  <a:schemeClr val="accent1"/>
                </a:solidFill>
                <a:latin typeface="+mn-ea"/>
                <a:cs typeface="+mn-ea"/>
              </a:rPr>
              <a:t>单击添加项标题</a:t>
            </a:r>
            <a:endParaRPr lang="zh-CN" altLang="en-US" sz="2000" b="1" kern="0">
              <a:solidFill>
                <a:schemeClr val="accent1"/>
              </a:solidFill>
              <a:latin typeface="+mn-ea"/>
              <a:cs typeface="+mn-ea"/>
            </a:endParaRPr>
          </a:p>
        </p:txBody>
      </p:sp>
      <p:sp>
        <p:nvSpPr>
          <p:cNvPr id="9" name="文本框 8"/>
          <p:cNvSpPr txBox="1"/>
          <p:nvPr/>
        </p:nvSpPr>
        <p:spPr>
          <a:xfrm>
            <a:off x="3048000" y="1998345"/>
            <a:ext cx="6096000" cy="706755"/>
          </a:xfrm>
          <a:prstGeom prst="rect">
            <a:avLst/>
          </a:prstGeom>
          <a:noFill/>
        </p:spPr>
        <p:txBody>
          <a:bodyPr wrap="square" rtlCol="0" anchor="t">
            <a:spAutoFit/>
          </a:bodyPr>
          <a:p>
            <a:pPr marL="0" indent="0">
              <a:buNone/>
            </a:pPr>
            <a:endParaRPr lang="zh-CN" altLang="en-US" sz="2000"/>
          </a:p>
          <a:p>
            <a:pPr marL="0" indent="0">
              <a:buNone/>
            </a:pPr>
            <a:endParaRPr lang="zh-CN" altLang="en-US" sz="2000"/>
          </a:p>
        </p:txBody>
      </p:sp>
    </p:spTree>
    <p:custDataLst>
      <p:tags r:id="rId1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6" name="标题 5"/>
          <p:cNvSpPr>
            <a:spLocks noGrp="1"/>
          </p:cNvSpPr>
          <p:nvPr>
            <p:ph type="title"/>
            <p:custDataLst>
              <p:tags r:id="rId2"/>
            </p:custDataLst>
          </p:nvPr>
        </p:nvSpPr>
        <p:spPr/>
        <p:txBody>
          <a:bodyPr/>
          <a:lstStyle/>
          <a:p>
            <a:r>
              <a:rPr lang="zh-CN" altLang="en-US" dirty="0"/>
              <a:t>算法</a:t>
            </a:r>
            <a:r>
              <a:rPr lang="zh-CN" altLang="en-US" dirty="0"/>
              <a:t>思维</a:t>
            </a:r>
            <a:endParaRPr lang="zh-CN" altLang="en-US" dirty="0"/>
          </a:p>
        </p:txBody>
      </p:sp>
      <p:sp>
        <p:nvSpPr>
          <p:cNvPr id="18" name="六边形 17"/>
          <p:cNvSpPr/>
          <p:nvPr>
            <p:custDataLst>
              <p:tags r:id="rId3"/>
            </p:custDataLst>
          </p:nvPr>
        </p:nvSpPr>
        <p:spPr>
          <a:xfrm rot="5400000">
            <a:off x="8065278" y="1899386"/>
            <a:ext cx="2276302" cy="1971335"/>
          </a:xfrm>
          <a:prstGeom prst="hexagon">
            <a:avLst>
              <a:gd name="adj" fmla="val 28868"/>
              <a:gd name="vf" fmla="val 115470"/>
            </a:avLst>
          </a:prstGeom>
          <a:noFill/>
          <a:ln w="152400">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9" name="六边形 18"/>
          <p:cNvSpPr/>
          <p:nvPr>
            <p:custDataLst>
              <p:tags r:id="rId4"/>
            </p:custDataLst>
          </p:nvPr>
        </p:nvSpPr>
        <p:spPr>
          <a:xfrm rot="5400000">
            <a:off x="6922007" y="3876614"/>
            <a:ext cx="2276302" cy="1971335"/>
          </a:xfrm>
          <a:prstGeom prst="hexagon">
            <a:avLst>
              <a:gd name="adj" fmla="val 28868"/>
              <a:gd name="vf" fmla="val 115470"/>
            </a:avLst>
          </a:prstGeom>
          <a:noFill/>
          <a:ln w="152400">
            <a:solidFill>
              <a:schemeClr val="accent1">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六边形 19"/>
          <p:cNvSpPr/>
          <p:nvPr>
            <p:custDataLst>
              <p:tags r:id="rId5"/>
            </p:custDataLst>
          </p:nvPr>
        </p:nvSpPr>
        <p:spPr>
          <a:xfrm rot="5400000">
            <a:off x="9208548" y="3876614"/>
            <a:ext cx="2276302" cy="1971335"/>
          </a:xfrm>
          <a:prstGeom prst="hexagon">
            <a:avLst>
              <a:gd name="adj" fmla="val 28868"/>
              <a:gd name="vf" fmla="val 115470"/>
            </a:avLst>
          </a:prstGeom>
          <a:noFill/>
          <a:ln w="152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图片 30" descr="343439383331313b343532303031393bd2b5bca8b9dcc0ed"/>
          <p:cNvSpPr/>
          <p:nvPr>
            <p:custDataLst>
              <p:tags r:id="rId6"/>
            </p:custDataLst>
          </p:nvPr>
        </p:nvSpPr>
        <p:spPr>
          <a:xfrm>
            <a:off x="9008357" y="2703959"/>
            <a:ext cx="390143" cy="362186"/>
          </a:xfrm>
          <a:custGeom>
            <a:avLst/>
            <a:gdLst>
              <a:gd name="connsiteX0" fmla="*/ 344476 w 390143"/>
              <a:gd name="connsiteY0" fmla="*/ 115 h 362186"/>
              <a:gd name="connsiteX1" fmla="*/ 44901 w 390143"/>
              <a:gd name="connsiteY1" fmla="*/ 115 h 362186"/>
              <a:gd name="connsiteX2" fmla="*/ 114 w 390143"/>
              <a:gd name="connsiteY2" fmla="*/ 45263 h 362186"/>
              <a:gd name="connsiteX3" fmla="*/ 114 w 390143"/>
              <a:gd name="connsiteY3" fmla="*/ 239901 h 362186"/>
              <a:gd name="connsiteX4" fmla="*/ 44901 w 390143"/>
              <a:gd name="connsiteY4" fmla="*/ 285048 h 362186"/>
              <a:gd name="connsiteX5" fmla="*/ 157367 w 390143"/>
              <a:gd name="connsiteY5" fmla="*/ 285048 h 362186"/>
              <a:gd name="connsiteX6" fmla="*/ 157367 w 390143"/>
              <a:gd name="connsiteY6" fmla="*/ 340229 h 362186"/>
              <a:gd name="connsiteX7" fmla="*/ 95659 w 390143"/>
              <a:gd name="connsiteY7" fmla="*/ 340229 h 362186"/>
              <a:gd name="connsiteX8" fmla="*/ 84712 w 390143"/>
              <a:gd name="connsiteY8" fmla="*/ 351264 h 362186"/>
              <a:gd name="connsiteX9" fmla="*/ 95659 w 390143"/>
              <a:gd name="connsiteY9" fmla="*/ 362301 h 362186"/>
              <a:gd name="connsiteX10" fmla="*/ 285756 w 390143"/>
              <a:gd name="connsiteY10" fmla="*/ 362301 h 362186"/>
              <a:gd name="connsiteX11" fmla="*/ 296703 w 390143"/>
              <a:gd name="connsiteY11" fmla="*/ 351264 h 362186"/>
              <a:gd name="connsiteX12" fmla="*/ 285756 w 390143"/>
              <a:gd name="connsiteY12" fmla="*/ 340229 h 362186"/>
              <a:gd name="connsiteX13" fmla="*/ 225045 w 390143"/>
              <a:gd name="connsiteY13" fmla="*/ 340229 h 362186"/>
              <a:gd name="connsiteX14" fmla="*/ 225045 w 390143"/>
              <a:gd name="connsiteY14" fmla="*/ 285048 h 362186"/>
              <a:gd name="connsiteX15" fmla="*/ 345471 w 390143"/>
              <a:gd name="connsiteY15" fmla="*/ 285048 h 362186"/>
              <a:gd name="connsiteX16" fmla="*/ 390258 w 390143"/>
              <a:gd name="connsiteY16" fmla="*/ 239901 h 362186"/>
              <a:gd name="connsiteX17" fmla="*/ 390258 w 390143"/>
              <a:gd name="connsiteY17" fmla="*/ 45263 h 362186"/>
              <a:gd name="connsiteX18" fmla="*/ 344476 w 390143"/>
              <a:gd name="connsiteY18" fmla="*/ 115 h 362186"/>
              <a:gd name="connsiteX19" fmla="*/ 324570 w 390143"/>
              <a:gd name="connsiteY19" fmla="*/ 67335 h 362186"/>
              <a:gd name="connsiteX20" fmla="*/ 324570 w 390143"/>
              <a:gd name="connsiteY20" fmla="*/ 67335 h 362186"/>
              <a:gd name="connsiteX21" fmla="*/ 324570 w 390143"/>
              <a:gd name="connsiteY21" fmla="*/ 68338 h 362186"/>
              <a:gd name="connsiteX22" fmla="*/ 213101 w 390143"/>
              <a:gd name="connsiteY22" fmla="*/ 217828 h 362186"/>
              <a:gd name="connsiteX23" fmla="*/ 210116 w 390143"/>
              <a:gd name="connsiteY23" fmla="*/ 215822 h 362186"/>
              <a:gd name="connsiteX24" fmla="*/ 122532 w 390143"/>
              <a:gd name="connsiteY24" fmla="*/ 151612 h 362186"/>
              <a:gd name="connsiteX25" fmla="*/ 91678 w 390143"/>
              <a:gd name="connsiteY25" fmla="*/ 191743 h 362186"/>
              <a:gd name="connsiteX26" fmla="*/ 77745 w 390143"/>
              <a:gd name="connsiteY26" fmla="*/ 196759 h 362186"/>
              <a:gd name="connsiteX27" fmla="*/ 70778 w 390143"/>
              <a:gd name="connsiteY27" fmla="*/ 181710 h 362186"/>
              <a:gd name="connsiteX28" fmla="*/ 71773 w 390143"/>
              <a:gd name="connsiteY28" fmla="*/ 179703 h 362186"/>
              <a:gd name="connsiteX29" fmla="*/ 113574 w 390143"/>
              <a:gd name="connsiteY29" fmla="*/ 124522 h 362186"/>
              <a:gd name="connsiteX30" fmla="*/ 117556 w 390143"/>
              <a:gd name="connsiteY30" fmla="*/ 119506 h 362186"/>
              <a:gd name="connsiteX31" fmla="*/ 208124 w 390143"/>
              <a:gd name="connsiteY31" fmla="*/ 186726 h 362186"/>
              <a:gd name="connsiteX32" fmla="*/ 306656 w 390143"/>
              <a:gd name="connsiteY32" fmla="*/ 55296 h 362186"/>
              <a:gd name="connsiteX33" fmla="*/ 318598 w 390143"/>
              <a:gd name="connsiteY33" fmla="*/ 53289 h 362186"/>
              <a:gd name="connsiteX34" fmla="*/ 324570 w 390143"/>
              <a:gd name="connsiteY34" fmla="*/ 67335 h 36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90143" h="362186">
                <a:moveTo>
                  <a:pt x="344476" y="115"/>
                </a:moveTo>
                <a:lnTo>
                  <a:pt x="44901" y="115"/>
                </a:lnTo>
                <a:cubicBezTo>
                  <a:pt x="20019" y="115"/>
                  <a:pt x="114" y="20180"/>
                  <a:pt x="114" y="45263"/>
                </a:cubicBezTo>
                <a:lnTo>
                  <a:pt x="114" y="239901"/>
                </a:lnTo>
                <a:cubicBezTo>
                  <a:pt x="114" y="264982"/>
                  <a:pt x="20019" y="285048"/>
                  <a:pt x="44901" y="285048"/>
                </a:cubicBezTo>
                <a:lnTo>
                  <a:pt x="157367" y="285048"/>
                </a:lnTo>
                <a:lnTo>
                  <a:pt x="157367" y="340229"/>
                </a:lnTo>
                <a:lnTo>
                  <a:pt x="95659" y="340229"/>
                </a:lnTo>
                <a:cubicBezTo>
                  <a:pt x="89688" y="340229"/>
                  <a:pt x="84712" y="345245"/>
                  <a:pt x="84712" y="351264"/>
                </a:cubicBezTo>
                <a:cubicBezTo>
                  <a:pt x="84712" y="357285"/>
                  <a:pt x="89688" y="362301"/>
                  <a:pt x="95659" y="362301"/>
                </a:cubicBezTo>
                <a:lnTo>
                  <a:pt x="285756" y="362301"/>
                </a:lnTo>
                <a:cubicBezTo>
                  <a:pt x="291727" y="362301"/>
                  <a:pt x="296703" y="357285"/>
                  <a:pt x="296703" y="351264"/>
                </a:cubicBezTo>
                <a:cubicBezTo>
                  <a:pt x="296703" y="345245"/>
                  <a:pt x="291727" y="340229"/>
                  <a:pt x="285756" y="340229"/>
                </a:cubicBezTo>
                <a:lnTo>
                  <a:pt x="225045" y="340229"/>
                </a:lnTo>
                <a:lnTo>
                  <a:pt x="225045" y="285048"/>
                </a:lnTo>
                <a:lnTo>
                  <a:pt x="345471" y="285048"/>
                </a:lnTo>
                <a:cubicBezTo>
                  <a:pt x="370353" y="285048"/>
                  <a:pt x="390258" y="264982"/>
                  <a:pt x="390258" y="239901"/>
                </a:cubicBezTo>
                <a:lnTo>
                  <a:pt x="390258" y="45263"/>
                </a:lnTo>
                <a:cubicBezTo>
                  <a:pt x="389262" y="21184"/>
                  <a:pt x="369357" y="115"/>
                  <a:pt x="344476" y="115"/>
                </a:cubicBezTo>
                <a:moveTo>
                  <a:pt x="324570" y="67335"/>
                </a:moveTo>
                <a:cubicBezTo>
                  <a:pt x="324570" y="67335"/>
                  <a:pt x="324570" y="68338"/>
                  <a:pt x="324570" y="67335"/>
                </a:cubicBezTo>
                <a:lnTo>
                  <a:pt x="324570" y="68338"/>
                </a:lnTo>
                <a:lnTo>
                  <a:pt x="213101" y="217828"/>
                </a:lnTo>
                <a:lnTo>
                  <a:pt x="210116" y="215822"/>
                </a:lnTo>
                <a:lnTo>
                  <a:pt x="122532" y="151612"/>
                </a:lnTo>
                <a:lnTo>
                  <a:pt x="91678" y="191743"/>
                </a:lnTo>
                <a:cubicBezTo>
                  <a:pt x="88693" y="196759"/>
                  <a:pt x="82721" y="198766"/>
                  <a:pt x="77745" y="196759"/>
                </a:cubicBezTo>
                <a:cubicBezTo>
                  <a:pt x="71773" y="194752"/>
                  <a:pt x="68787" y="187729"/>
                  <a:pt x="70778" y="181710"/>
                </a:cubicBezTo>
                <a:cubicBezTo>
                  <a:pt x="70778" y="180707"/>
                  <a:pt x="70778" y="180707"/>
                  <a:pt x="71773" y="179703"/>
                </a:cubicBezTo>
                <a:lnTo>
                  <a:pt x="113574" y="124522"/>
                </a:lnTo>
                <a:lnTo>
                  <a:pt x="117556" y="119506"/>
                </a:lnTo>
                <a:lnTo>
                  <a:pt x="208124" y="186726"/>
                </a:lnTo>
                <a:lnTo>
                  <a:pt x="306656" y="55296"/>
                </a:lnTo>
                <a:cubicBezTo>
                  <a:pt x="309642" y="52286"/>
                  <a:pt x="314618" y="51283"/>
                  <a:pt x="318598" y="53289"/>
                </a:cubicBezTo>
                <a:cubicBezTo>
                  <a:pt x="324570" y="55296"/>
                  <a:pt x="327556" y="61315"/>
                  <a:pt x="324570" y="67335"/>
                </a:cubicBezTo>
              </a:path>
            </a:pathLst>
          </a:custGeom>
          <a:solidFill>
            <a:schemeClr val="accent1">
              <a:alpha val="70000"/>
            </a:schemeClr>
          </a:solidFill>
          <a:ln w="13616" cap="flat">
            <a:noFill/>
            <a:prstDash val="solid"/>
            <a:miter/>
          </a:ln>
        </p:spPr>
        <p:txBody>
          <a:bodyPr rtlCol="0" anchor="ctr"/>
          <a:lstStyle/>
          <a:p>
            <a:endParaRPr lang="zh-CN" altLang="en-US" sz="1800"/>
          </a:p>
        </p:txBody>
      </p:sp>
      <p:sp>
        <p:nvSpPr>
          <p:cNvPr id="7" name="图片 27" descr="343439383331313b343532303032303bb8f6c8cbd0c5cfa2"/>
          <p:cNvSpPr/>
          <p:nvPr>
            <p:custDataLst>
              <p:tags r:id="rId7"/>
            </p:custDataLst>
          </p:nvPr>
        </p:nvSpPr>
        <p:spPr>
          <a:xfrm>
            <a:off x="10151705" y="4667209"/>
            <a:ext cx="389987" cy="390143"/>
          </a:xfrm>
          <a:custGeom>
            <a:avLst/>
            <a:gdLst>
              <a:gd name="connsiteX0" fmla="*/ 354247 w 389987"/>
              <a:gd name="connsiteY0" fmla="*/ 114 h 390143"/>
              <a:gd name="connsiteX1" fmla="*/ 285057 w 389987"/>
              <a:gd name="connsiteY1" fmla="*/ 114 h 390143"/>
              <a:gd name="connsiteX2" fmla="*/ 283169 w 389987"/>
              <a:gd name="connsiteY2" fmla="*/ 114 h 390143"/>
              <a:gd name="connsiteX3" fmla="*/ 61128 w 389987"/>
              <a:gd name="connsiteY3" fmla="*/ 744 h 390143"/>
              <a:gd name="connsiteX4" fmla="*/ 25904 w 389987"/>
              <a:gd name="connsiteY4" fmla="*/ 36040 h 390143"/>
              <a:gd name="connsiteX5" fmla="*/ 25904 w 389987"/>
              <a:gd name="connsiteY5" fmla="*/ 88984 h 390143"/>
              <a:gd name="connsiteX6" fmla="*/ 66160 w 389987"/>
              <a:gd name="connsiteY6" fmla="*/ 88984 h 390143"/>
              <a:gd name="connsiteX7" fmla="*/ 79369 w 389987"/>
              <a:gd name="connsiteY7" fmla="*/ 102220 h 390143"/>
              <a:gd name="connsiteX8" fmla="*/ 79369 w 389987"/>
              <a:gd name="connsiteY8" fmla="*/ 111044 h 390143"/>
              <a:gd name="connsiteX9" fmla="*/ 66160 w 389987"/>
              <a:gd name="connsiteY9" fmla="*/ 124279 h 390143"/>
              <a:gd name="connsiteX10" fmla="*/ 61757 w 389987"/>
              <a:gd name="connsiteY10" fmla="*/ 124279 h 390143"/>
              <a:gd name="connsiteX11" fmla="*/ 61757 w 389987"/>
              <a:gd name="connsiteY11" fmla="*/ 119867 h 390143"/>
              <a:gd name="connsiteX12" fmla="*/ 48548 w 389987"/>
              <a:gd name="connsiteY12" fmla="*/ 106632 h 390143"/>
              <a:gd name="connsiteX13" fmla="*/ 12065 w 389987"/>
              <a:gd name="connsiteY13" fmla="*/ 106632 h 390143"/>
              <a:gd name="connsiteX14" fmla="*/ 743 w 389987"/>
              <a:gd name="connsiteY14" fmla="*/ 115456 h 390143"/>
              <a:gd name="connsiteX15" fmla="*/ 114 w 389987"/>
              <a:gd name="connsiteY15" fmla="*/ 119867 h 390143"/>
              <a:gd name="connsiteX16" fmla="*/ 114 w 389987"/>
              <a:gd name="connsiteY16" fmla="*/ 128691 h 390143"/>
              <a:gd name="connsiteX17" fmla="*/ 13323 w 389987"/>
              <a:gd name="connsiteY17" fmla="*/ 141927 h 390143"/>
              <a:gd name="connsiteX18" fmla="*/ 26532 w 389987"/>
              <a:gd name="connsiteY18" fmla="*/ 141927 h 390143"/>
              <a:gd name="connsiteX19" fmla="*/ 26532 w 389987"/>
              <a:gd name="connsiteY19" fmla="*/ 239621 h 390143"/>
              <a:gd name="connsiteX20" fmla="*/ 66789 w 389987"/>
              <a:gd name="connsiteY20" fmla="*/ 239621 h 390143"/>
              <a:gd name="connsiteX21" fmla="*/ 79999 w 389987"/>
              <a:gd name="connsiteY21" fmla="*/ 252858 h 390143"/>
              <a:gd name="connsiteX22" fmla="*/ 79999 w 389987"/>
              <a:gd name="connsiteY22" fmla="*/ 261680 h 390143"/>
              <a:gd name="connsiteX23" fmla="*/ 66789 w 389987"/>
              <a:gd name="connsiteY23" fmla="*/ 274917 h 390143"/>
              <a:gd name="connsiteX24" fmla="*/ 62386 w 389987"/>
              <a:gd name="connsiteY24" fmla="*/ 274917 h 390143"/>
              <a:gd name="connsiteX25" fmla="*/ 62386 w 389987"/>
              <a:gd name="connsiteY25" fmla="*/ 271136 h 390143"/>
              <a:gd name="connsiteX26" fmla="*/ 49177 w 389987"/>
              <a:gd name="connsiteY26" fmla="*/ 257899 h 390143"/>
              <a:gd name="connsiteX27" fmla="*/ 12694 w 389987"/>
              <a:gd name="connsiteY27" fmla="*/ 257899 h 390143"/>
              <a:gd name="connsiteX28" fmla="*/ 1372 w 389987"/>
              <a:gd name="connsiteY28" fmla="*/ 266723 h 390143"/>
              <a:gd name="connsiteX29" fmla="*/ 743 w 389987"/>
              <a:gd name="connsiteY29" fmla="*/ 271136 h 390143"/>
              <a:gd name="connsiteX30" fmla="*/ 743 w 389987"/>
              <a:gd name="connsiteY30" fmla="*/ 279958 h 390143"/>
              <a:gd name="connsiteX31" fmla="*/ 13952 w 389987"/>
              <a:gd name="connsiteY31" fmla="*/ 293195 h 390143"/>
              <a:gd name="connsiteX32" fmla="*/ 27162 w 389987"/>
              <a:gd name="connsiteY32" fmla="*/ 293195 h 390143"/>
              <a:gd name="connsiteX33" fmla="*/ 27162 w 389987"/>
              <a:gd name="connsiteY33" fmla="*/ 354963 h 390143"/>
              <a:gd name="connsiteX34" fmla="*/ 62386 w 389987"/>
              <a:gd name="connsiteY34" fmla="*/ 390258 h 390143"/>
              <a:gd name="connsiteX35" fmla="*/ 354876 w 389987"/>
              <a:gd name="connsiteY35" fmla="*/ 390258 h 390143"/>
              <a:gd name="connsiteX36" fmla="*/ 390101 w 389987"/>
              <a:gd name="connsiteY36" fmla="*/ 354963 h 390143"/>
              <a:gd name="connsiteX37" fmla="*/ 390101 w 389987"/>
              <a:gd name="connsiteY37" fmla="*/ 35410 h 390143"/>
              <a:gd name="connsiteX38" fmla="*/ 354247 w 389987"/>
              <a:gd name="connsiteY38" fmla="*/ 114 h 390143"/>
              <a:gd name="connsiteX39" fmla="*/ 328459 w 389987"/>
              <a:gd name="connsiteY39" fmla="*/ 288782 h 390143"/>
              <a:gd name="connsiteX40" fmla="*/ 327830 w 389987"/>
              <a:gd name="connsiteY40" fmla="*/ 290674 h 390143"/>
              <a:gd name="connsiteX41" fmla="*/ 324056 w 389987"/>
              <a:gd name="connsiteY41" fmla="*/ 295086 h 390143"/>
              <a:gd name="connsiteX42" fmla="*/ 320282 w 389987"/>
              <a:gd name="connsiteY42" fmla="*/ 296976 h 390143"/>
              <a:gd name="connsiteX43" fmla="*/ 317765 w 389987"/>
              <a:gd name="connsiteY43" fmla="*/ 297606 h 390143"/>
              <a:gd name="connsiteX44" fmla="*/ 127803 w 389987"/>
              <a:gd name="connsiteY44" fmla="*/ 297606 h 390143"/>
              <a:gd name="connsiteX45" fmla="*/ 123400 w 389987"/>
              <a:gd name="connsiteY45" fmla="*/ 295716 h 390143"/>
              <a:gd name="connsiteX46" fmla="*/ 120255 w 389987"/>
              <a:gd name="connsiteY46" fmla="*/ 291304 h 390143"/>
              <a:gd name="connsiteX47" fmla="*/ 119626 w 389987"/>
              <a:gd name="connsiteY47" fmla="*/ 289412 h 390143"/>
              <a:gd name="connsiteX48" fmla="*/ 119626 w 389987"/>
              <a:gd name="connsiteY48" fmla="*/ 271766 h 390143"/>
              <a:gd name="connsiteX49" fmla="*/ 119626 w 389987"/>
              <a:gd name="connsiteY49" fmla="*/ 271136 h 390143"/>
              <a:gd name="connsiteX50" fmla="*/ 120255 w 389987"/>
              <a:gd name="connsiteY50" fmla="*/ 270504 h 390143"/>
              <a:gd name="connsiteX51" fmla="*/ 157996 w 389987"/>
              <a:gd name="connsiteY51" fmla="*/ 244664 h 390143"/>
              <a:gd name="connsiteX52" fmla="*/ 195107 w 389987"/>
              <a:gd name="connsiteY52" fmla="*/ 217562 h 390143"/>
              <a:gd name="connsiteX53" fmla="*/ 195107 w 389987"/>
              <a:gd name="connsiteY53" fmla="*/ 213779 h 390143"/>
              <a:gd name="connsiteX54" fmla="*/ 193221 w 389987"/>
              <a:gd name="connsiteY54" fmla="*/ 209368 h 390143"/>
              <a:gd name="connsiteX55" fmla="*/ 173093 w 389987"/>
              <a:gd name="connsiteY55" fmla="*/ 158314 h 390143"/>
              <a:gd name="connsiteX56" fmla="*/ 224042 w 389987"/>
              <a:gd name="connsiteY56" fmla="*/ 94026 h 390143"/>
              <a:gd name="connsiteX57" fmla="*/ 274992 w 389987"/>
              <a:gd name="connsiteY57" fmla="*/ 158314 h 390143"/>
              <a:gd name="connsiteX58" fmla="*/ 254864 w 389987"/>
              <a:gd name="connsiteY58" fmla="*/ 209368 h 390143"/>
              <a:gd name="connsiteX59" fmla="*/ 252977 w 389987"/>
              <a:gd name="connsiteY59" fmla="*/ 213779 h 390143"/>
              <a:gd name="connsiteX60" fmla="*/ 252977 w 389987"/>
              <a:gd name="connsiteY60" fmla="*/ 217562 h 390143"/>
              <a:gd name="connsiteX61" fmla="*/ 290088 w 389987"/>
              <a:gd name="connsiteY61" fmla="*/ 244664 h 390143"/>
              <a:gd name="connsiteX62" fmla="*/ 327830 w 389987"/>
              <a:gd name="connsiteY62" fmla="*/ 270504 h 390143"/>
              <a:gd name="connsiteX63" fmla="*/ 328459 w 389987"/>
              <a:gd name="connsiteY63" fmla="*/ 271136 h 390143"/>
              <a:gd name="connsiteX64" fmla="*/ 328459 w 389987"/>
              <a:gd name="connsiteY64" fmla="*/ 271766 h 390143"/>
              <a:gd name="connsiteX65" fmla="*/ 328459 w 389987"/>
              <a:gd name="connsiteY65" fmla="*/ 288782 h 39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89987" h="390143">
                <a:moveTo>
                  <a:pt x="354247" y="114"/>
                </a:moveTo>
                <a:lnTo>
                  <a:pt x="285057" y="114"/>
                </a:lnTo>
                <a:lnTo>
                  <a:pt x="283169" y="114"/>
                </a:lnTo>
                <a:lnTo>
                  <a:pt x="61128" y="744"/>
                </a:lnTo>
                <a:cubicBezTo>
                  <a:pt x="41629" y="744"/>
                  <a:pt x="25904" y="16501"/>
                  <a:pt x="25904" y="36040"/>
                </a:cubicBezTo>
                <a:lnTo>
                  <a:pt x="25904" y="88984"/>
                </a:lnTo>
                <a:lnTo>
                  <a:pt x="66160" y="88984"/>
                </a:lnTo>
                <a:cubicBezTo>
                  <a:pt x="73708" y="88984"/>
                  <a:pt x="79369" y="94656"/>
                  <a:pt x="79369" y="102220"/>
                </a:cubicBezTo>
                <a:lnTo>
                  <a:pt x="79369" y="111044"/>
                </a:lnTo>
                <a:cubicBezTo>
                  <a:pt x="79369" y="118607"/>
                  <a:pt x="73708" y="124279"/>
                  <a:pt x="66160" y="124279"/>
                </a:cubicBezTo>
                <a:lnTo>
                  <a:pt x="61757" y="124279"/>
                </a:lnTo>
                <a:lnTo>
                  <a:pt x="61757" y="119867"/>
                </a:lnTo>
                <a:cubicBezTo>
                  <a:pt x="61757" y="112304"/>
                  <a:pt x="56096" y="106632"/>
                  <a:pt x="48548" y="106632"/>
                </a:cubicBezTo>
                <a:lnTo>
                  <a:pt x="12065" y="106632"/>
                </a:lnTo>
                <a:cubicBezTo>
                  <a:pt x="7033" y="107262"/>
                  <a:pt x="2630" y="110413"/>
                  <a:pt x="743" y="115456"/>
                </a:cubicBezTo>
                <a:cubicBezTo>
                  <a:pt x="114" y="116716"/>
                  <a:pt x="114" y="118607"/>
                  <a:pt x="114" y="119867"/>
                </a:cubicBezTo>
                <a:lnTo>
                  <a:pt x="114" y="128691"/>
                </a:lnTo>
                <a:cubicBezTo>
                  <a:pt x="114" y="136255"/>
                  <a:pt x="5775" y="141927"/>
                  <a:pt x="13323" y="141927"/>
                </a:cubicBezTo>
                <a:lnTo>
                  <a:pt x="26532" y="141927"/>
                </a:lnTo>
                <a:lnTo>
                  <a:pt x="26532" y="239621"/>
                </a:lnTo>
                <a:lnTo>
                  <a:pt x="66789" y="239621"/>
                </a:lnTo>
                <a:cubicBezTo>
                  <a:pt x="74337" y="239621"/>
                  <a:pt x="79999" y="245294"/>
                  <a:pt x="79999" y="252858"/>
                </a:cubicBezTo>
                <a:lnTo>
                  <a:pt x="79999" y="261680"/>
                </a:lnTo>
                <a:cubicBezTo>
                  <a:pt x="79999" y="269244"/>
                  <a:pt x="74337" y="274917"/>
                  <a:pt x="66789" y="274917"/>
                </a:cubicBezTo>
                <a:lnTo>
                  <a:pt x="62386" y="274917"/>
                </a:lnTo>
                <a:lnTo>
                  <a:pt x="62386" y="271136"/>
                </a:lnTo>
                <a:cubicBezTo>
                  <a:pt x="62386" y="263572"/>
                  <a:pt x="56725" y="257899"/>
                  <a:pt x="49177" y="257899"/>
                </a:cubicBezTo>
                <a:lnTo>
                  <a:pt x="12694" y="257899"/>
                </a:lnTo>
                <a:cubicBezTo>
                  <a:pt x="7662" y="258529"/>
                  <a:pt x="3259" y="261680"/>
                  <a:pt x="1372" y="266723"/>
                </a:cubicBezTo>
                <a:cubicBezTo>
                  <a:pt x="743" y="267983"/>
                  <a:pt x="743" y="269874"/>
                  <a:pt x="743" y="271136"/>
                </a:cubicBezTo>
                <a:lnTo>
                  <a:pt x="743" y="279958"/>
                </a:lnTo>
                <a:cubicBezTo>
                  <a:pt x="743" y="287522"/>
                  <a:pt x="6404" y="293195"/>
                  <a:pt x="13952" y="293195"/>
                </a:cubicBezTo>
                <a:lnTo>
                  <a:pt x="27162" y="293195"/>
                </a:lnTo>
                <a:lnTo>
                  <a:pt x="27162" y="354963"/>
                </a:lnTo>
                <a:cubicBezTo>
                  <a:pt x="27162" y="374501"/>
                  <a:pt x="42887" y="390258"/>
                  <a:pt x="62386" y="390258"/>
                </a:cubicBezTo>
                <a:lnTo>
                  <a:pt x="354876" y="390258"/>
                </a:lnTo>
                <a:cubicBezTo>
                  <a:pt x="374376" y="390258"/>
                  <a:pt x="390101" y="374501"/>
                  <a:pt x="390101" y="354963"/>
                </a:cubicBezTo>
                <a:lnTo>
                  <a:pt x="390101" y="35410"/>
                </a:lnTo>
                <a:cubicBezTo>
                  <a:pt x="389472" y="15871"/>
                  <a:pt x="373747" y="114"/>
                  <a:pt x="354247" y="114"/>
                </a:cubicBezTo>
                <a:moveTo>
                  <a:pt x="328459" y="288782"/>
                </a:moveTo>
                <a:cubicBezTo>
                  <a:pt x="328459" y="288782"/>
                  <a:pt x="327830" y="290044"/>
                  <a:pt x="327830" y="290674"/>
                </a:cubicBezTo>
                <a:cubicBezTo>
                  <a:pt x="327200" y="291935"/>
                  <a:pt x="325313" y="293825"/>
                  <a:pt x="324056" y="295086"/>
                </a:cubicBezTo>
                <a:lnTo>
                  <a:pt x="320282" y="296976"/>
                </a:lnTo>
                <a:lnTo>
                  <a:pt x="317765" y="297606"/>
                </a:lnTo>
                <a:lnTo>
                  <a:pt x="127803" y="297606"/>
                </a:lnTo>
                <a:cubicBezTo>
                  <a:pt x="126545" y="296976"/>
                  <a:pt x="124658" y="296346"/>
                  <a:pt x="123400" y="295716"/>
                </a:cubicBezTo>
                <a:cubicBezTo>
                  <a:pt x="122142" y="295086"/>
                  <a:pt x="120884" y="293195"/>
                  <a:pt x="120255" y="291304"/>
                </a:cubicBezTo>
                <a:cubicBezTo>
                  <a:pt x="120255" y="290674"/>
                  <a:pt x="119626" y="289412"/>
                  <a:pt x="119626" y="289412"/>
                </a:cubicBezTo>
                <a:cubicBezTo>
                  <a:pt x="118997" y="288782"/>
                  <a:pt x="117110" y="280590"/>
                  <a:pt x="119626" y="271766"/>
                </a:cubicBezTo>
                <a:lnTo>
                  <a:pt x="119626" y="271136"/>
                </a:lnTo>
                <a:lnTo>
                  <a:pt x="120255" y="270504"/>
                </a:lnTo>
                <a:cubicBezTo>
                  <a:pt x="126545" y="262312"/>
                  <a:pt x="141642" y="253488"/>
                  <a:pt x="157996" y="244664"/>
                </a:cubicBezTo>
                <a:cubicBezTo>
                  <a:pt x="173093" y="236470"/>
                  <a:pt x="195107" y="223863"/>
                  <a:pt x="195107" y="217562"/>
                </a:cubicBezTo>
                <a:lnTo>
                  <a:pt x="195107" y="213779"/>
                </a:lnTo>
                <a:cubicBezTo>
                  <a:pt x="195107" y="211888"/>
                  <a:pt x="194479" y="210628"/>
                  <a:pt x="193221" y="209368"/>
                </a:cubicBezTo>
                <a:cubicBezTo>
                  <a:pt x="180011" y="196131"/>
                  <a:pt x="173093" y="177853"/>
                  <a:pt x="173093" y="158314"/>
                </a:cubicBezTo>
                <a:cubicBezTo>
                  <a:pt x="173093" y="126801"/>
                  <a:pt x="179382" y="94026"/>
                  <a:pt x="224042" y="94026"/>
                </a:cubicBezTo>
                <a:cubicBezTo>
                  <a:pt x="268703" y="94026"/>
                  <a:pt x="274992" y="126170"/>
                  <a:pt x="274992" y="158314"/>
                </a:cubicBezTo>
                <a:cubicBezTo>
                  <a:pt x="274992" y="177853"/>
                  <a:pt x="268074" y="196131"/>
                  <a:pt x="254864" y="209368"/>
                </a:cubicBezTo>
                <a:cubicBezTo>
                  <a:pt x="253606" y="210628"/>
                  <a:pt x="252977" y="211888"/>
                  <a:pt x="252977" y="213779"/>
                </a:cubicBezTo>
                <a:lnTo>
                  <a:pt x="252977" y="217562"/>
                </a:lnTo>
                <a:cubicBezTo>
                  <a:pt x="252977" y="223863"/>
                  <a:pt x="275621" y="236470"/>
                  <a:pt x="290088" y="244664"/>
                </a:cubicBezTo>
                <a:cubicBezTo>
                  <a:pt x="306443" y="253488"/>
                  <a:pt x="321539" y="262312"/>
                  <a:pt x="327830" y="270504"/>
                </a:cubicBezTo>
                <a:lnTo>
                  <a:pt x="328459" y="271136"/>
                </a:lnTo>
                <a:lnTo>
                  <a:pt x="328459" y="271766"/>
                </a:lnTo>
                <a:cubicBezTo>
                  <a:pt x="331604" y="279958"/>
                  <a:pt x="329087" y="288152"/>
                  <a:pt x="328459" y="288782"/>
                </a:cubicBezTo>
              </a:path>
            </a:pathLst>
          </a:custGeom>
          <a:solidFill>
            <a:schemeClr val="accent1"/>
          </a:solidFill>
          <a:ln w="13613" cap="flat">
            <a:noFill/>
            <a:prstDash val="solid"/>
            <a:miter/>
          </a:ln>
        </p:spPr>
        <p:txBody>
          <a:bodyPr rtlCol="0" anchor="ctr"/>
          <a:lstStyle/>
          <a:p>
            <a:endParaRPr lang="zh-CN" altLang="en-US" sz="1800"/>
          </a:p>
        </p:txBody>
      </p:sp>
      <p:sp>
        <p:nvSpPr>
          <p:cNvPr id="8" name="图片 28" descr="343439383331313b343532303032333bc6f3d2b5bcf2bde9"/>
          <p:cNvSpPr/>
          <p:nvPr>
            <p:custDataLst>
              <p:tags r:id="rId8"/>
            </p:custDataLst>
          </p:nvPr>
        </p:nvSpPr>
        <p:spPr>
          <a:xfrm>
            <a:off x="7865086" y="4667209"/>
            <a:ext cx="390144" cy="390144"/>
          </a:xfrm>
          <a:custGeom>
            <a:avLst/>
            <a:gdLst>
              <a:gd name="connsiteX0" fmla="*/ 376854 w 390144"/>
              <a:gd name="connsiteY0" fmla="*/ 362224 h 390144"/>
              <a:gd name="connsiteX1" fmla="*/ 390258 w 390144"/>
              <a:gd name="connsiteY1" fmla="*/ 376854 h 390144"/>
              <a:gd name="connsiteX2" fmla="*/ 376854 w 390144"/>
              <a:gd name="connsiteY2" fmla="*/ 390258 h 390144"/>
              <a:gd name="connsiteX3" fmla="*/ 13490 w 390144"/>
              <a:gd name="connsiteY3" fmla="*/ 390258 h 390144"/>
              <a:gd name="connsiteX4" fmla="*/ 114 w 390144"/>
              <a:gd name="connsiteY4" fmla="*/ 375628 h 390144"/>
              <a:gd name="connsiteX5" fmla="*/ 13518 w 390144"/>
              <a:gd name="connsiteY5" fmla="*/ 362224 h 390144"/>
              <a:gd name="connsiteX6" fmla="*/ 34252 w 390144"/>
              <a:gd name="connsiteY6" fmla="*/ 362224 h 390144"/>
              <a:gd name="connsiteX7" fmla="*/ 34252 w 390144"/>
              <a:gd name="connsiteY7" fmla="*/ 19621 h 390144"/>
              <a:gd name="connsiteX8" fmla="*/ 53759 w 390144"/>
              <a:gd name="connsiteY8" fmla="*/ 114 h 390144"/>
              <a:gd name="connsiteX9" fmla="*/ 232974 w 390144"/>
              <a:gd name="connsiteY9" fmla="*/ 114 h 390144"/>
              <a:gd name="connsiteX10" fmla="*/ 252482 w 390144"/>
              <a:gd name="connsiteY10" fmla="*/ 19621 h 390144"/>
              <a:gd name="connsiteX11" fmla="*/ 252482 w 390144"/>
              <a:gd name="connsiteY11" fmla="*/ 128137 h 390144"/>
              <a:gd name="connsiteX12" fmla="*/ 329312 w 390144"/>
              <a:gd name="connsiteY12" fmla="*/ 152521 h 390144"/>
              <a:gd name="connsiteX13" fmla="*/ 356121 w 390144"/>
              <a:gd name="connsiteY13" fmla="*/ 189083 h 390144"/>
              <a:gd name="connsiteX14" fmla="*/ 356121 w 390144"/>
              <a:gd name="connsiteY14" fmla="*/ 362224 h 390144"/>
              <a:gd name="connsiteX15" fmla="*/ 376854 w 390144"/>
              <a:gd name="connsiteY15" fmla="*/ 362224 h 390144"/>
              <a:gd name="connsiteX16" fmla="*/ 161048 w 390144"/>
              <a:gd name="connsiteY16" fmla="*/ 81766 h 390144"/>
              <a:gd name="connsiteX17" fmla="*/ 161048 w 390144"/>
              <a:gd name="connsiteY17" fmla="*/ 115903 h 390144"/>
              <a:gd name="connsiteX18" fmla="*/ 215919 w 390144"/>
              <a:gd name="connsiteY18" fmla="*/ 115903 h 390144"/>
              <a:gd name="connsiteX19" fmla="*/ 215919 w 390144"/>
              <a:gd name="connsiteY19" fmla="*/ 81793 h 390144"/>
              <a:gd name="connsiteX20" fmla="*/ 161048 w 390144"/>
              <a:gd name="connsiteY20" fmla="*/ 81793 h 390144"/>
              <a:gd name="connsiteX21" fmla="*/ 161048 w 390144"/>
              <a:gd name="connsiteY21" fmla="*/ 81793 h 390144"/>
              <a:gd name="connsiteX22" fmla="*/ 161048 w 390144"/>
              <a:gd name="connsiteY22" fmla="*/ 81766 h 390144"/>
              <a:gd name="connsiteX23" fmla="*/ 125685 w 390144"/>
              <a:gd name="connsiteY23" fmla="*/ 297571 h 390144"/>
              <a:gd name="connsiteX24" fmla="*/ 125685 w 390144"/>
              <a:gd name="connsiteY24" fmla="*/ 263461 h 390144"/>
              <a:gd name="connsiteX25" fmla="*/ 70842 w 390144"/>
              <a:gd name="connsiteY25" fmla="*/ 263461 h 390144"/>
              <a:gd name="connsiteX26" fmla="*/ 70842 w 390144"/>
              <a:gd name="connsiteY26" fmla="*/ 297599 h 390144"/>
              <a:gd name="connsiteX27" fmla="*/ 125685 w 390144"/>
              <a:gd name="connsiteY27" fmla="*/ 297599 h 390144"/>
              <a:gd name="connsiteX28" fmla="*/ 125685 w 390144"/>
              <a:gd name="connsiteY28" fmla="*/ 297599 h 390144"/>
              <a:gd name="connsiteX29" fmla="*/ 125685 w 390144"/>
              <a:gd name="connsiteY29" fmla="*/ 297571 h 390144"/>
              <a:gd name="connsiteX30" fmla="*/ 70842 w 390144"/>
              <a:gd name="connsiteY30" fmla="*/ 207364 h 390144"/>
              <a:gd name="connsiteX31" fmla="*/ 125685 w 390144"/>
              <a:gd name="connsiteY31" fmla="*/ 207364 h 390144"/>
              <a:gd name="connsiteX32" fmla="*/ 125685 w 390144"/>
              <a:gd name="connsiteY32" fmla="*/ 173254 h 390144"/>
              <a:gd name="connsiteX33" fmla="*/ 70842 w 390144"/>
              <a:gd name="connsiteY33" fmla="*/ 173254 h 390144"/>
              <a:gd name="connsiteX34" fmla="*/ 70842 w 390144"/>
              <a:gd name="connsiteY34" fmla="*/ 207420 h 390144"/>
              <a:gd name="connsiteX35" fmla="*/ 70842 w 390144"/>
              <a:gd name="connsiteY35" fmla="*/ 207364 h 390144"/>
              <a:gd name="connsiteX36" fmla="*/ 70842 w 390144"/>
              <a:gd name="connsiteY36" fmla="*/ 115959 h 390144"/>
              <a:gd name="connsiteX37" fmla="*/ 125685 w 390144"/>
              <a:gd name="connsiteY37" fmla="*/ 115959 h 390144"/>
              <a:gd name="connsiteX38" fmla="*/ 125685 w 390144"/>
              <a:gd name="connsiteY38" fmla="*/ 81766 h 390144"/>
              <a:gd name="connsiteX39" fmla="*/ 70842 w 390144"/>
              <a:gd name="connsiteY39" fmla="*/ 81766 h 390144"/>
              <a:gd name="connsiteX40" fmla="*/ 70842 w 390144"/>
              <a:gd name="connsiteY40" fmla="*/ 115903 h 390144"/>
              <a:gd name="connsiteX41" fmla="*/ 70842 w 390144"/>
              <a:gd name="connsiteY41" fmla="*/ 115959 h 390144"/>
              <a:gd name="connsiteX42" fmla="*/ 161048 w 390144"/>
              <a:gd name="connsiteY42" fmla="*/ 172028 h 390144"/>
              <a:gd name="connsiteX43" fmla="*/ 161048 w 390144"/>
              <a:gd name="connsiteY43" fmla="*/ 207392 h 390144"/>
              <a:gd name="connsiteX44" fmla="*/ 215919 w 390144"/>
              <a:gd name="connsiteY44" fmla="*/ 207392 h 390144"/>
              <a:gd name="connsiteX45" fmla="*/ 215919 w 390144"/>
              <a:gd name="connsiteY45" fmla="*/ 172000 h 390144"/>
              <a:gd name="connsiteX46" fmla="*/ 161048 w 390144"/>
              <a:gd name="connsiteY46" fmla="*/ 172000 h 390144"/>
              <a:gd name="connsiteX47" fmla="*/ 161048 w 390144"/>
              <a:gd name="connsiteY47" fmla="*/ 172000 h 390144"/>
              <a:gd name="connsiteX48" fmla="*/ 161048 w 390144"/>
              <a:gd name="connsiteY48" fmla="*/ 172028 h 390144"/>
              <a:gd name="connsiteX49" fmla="*/ 217146 w 390144"/>
              <a:gd name="connsiteY49" fmla="*/ 297599 h 390144"/>
              <a:gd name="connsiteX50" fmla="*/ 217146 w 390144"/>
              <a:gd name="connsiteY50" fmla="*/ 263461 h 390144"/>
              <a:gd name="connsiteX51" fmla="*/ 162247 w 390144"/>
              <a:gd name="connsiteY51" fmla="*/ 263461 h 390144"/>
              <a:gd name="connsiteX52" fmla="*/ 162247 w 390144"/>
              <a:gd name="connsiteY52" fmla="*/ 297599 h 390144"/>
              <a:gd name="connsiteX53" fmla="*/ 217146 w 390144"/>
              <a:gd name="connsiteY53" fmla="*/ 297599 h 390144"/>
              <a:gd name="connsiteX54" fmla="*/ 217146 w 390144"/>
              <a:gd name="connsiteY54" fmla="*/ 297599 h 390144"/>
              <a:gd name="connsiteX55" fmla="*/ 275667 w 390144"/>
              <a:gd name="connsiteY55" fmla="*/ 337840 h 390144"/>
              <a:gd name="connsiteX56" fmla="*/ 303702 w 390144"/>
              <a:gd name="connsiteY56" fmla="*/ 337840 h 390144"/>
              <a:gd name="connsiteX57" fmla="*/ 303702 w 390144"/>
              <a:gd name="connsiteY57" fmla="*/ 281742 h 390144"/>
              <a:gd name="connsiteX58" fmla="*/ 275667 w 390144"/>
              <a:gd name="connsiteY58" fmla="*/ 281742 h 390144"/>
              <a:gd name="connsiteX59" fmla="*/ 275667 w 390144"/>
              <a:gd name="connsiteY59" fmla="*/ 337840 h 390144"/>
              <a:gd name="connsiteX60" fmla="*/ 275667 w 390144"/>
              <a:gd name="connsiteY60" fmla="*/ 256160 h 390144"/>
              <a:gd name="connsiteX61" fmla="*/ 303702 w 390144"/>
              <a:gd name="connsiteY61" fmla="*/ 256160 h 390144"/>
              <a:gd name="connsiteX62" fmla="*/ 303702 w 390144"/>
              <a:gd name="connsiteY62" fmla="*/ 200063 h 390144"/>
              <a:gd name="connsiteX63" fmla="*/ 275667 w 390144"/>
              <a:gd name="connsiteY63" fmla="*/ 200063 h 390144"/>
              <a:gd name="connsiteX64" fmla="*/ 275667 w 390144"/>
              <a:gd name="connsiteY64" fmla="*/ 256160 h 390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90144" h="390144">
                <a:moveTo>
                  <a:pt x="376854" y="362224"/>
                </a:moveTo>
                <a:cubicBezTo>
                  <a:pt x="384155" y="362224"/>
                  <a:pt x="390258" y="368299"/>
                  <a:pt x="390258" y="376854"/>
                </a:cubicBezTo>
                <a:cubicBezTo>
                  <a:pt x="390183" y="384225"/>
                  <a:pt x="384225" y="390183"/>
                  <a:pt x="376854" y="390258"/>
                </a:cubicBezTo>
                <a:lnTo>
                  <a:pt x="13490" y="390258"/>
                </a:lnTo>
                <a:cubicBezTo>
                  <a:pt x="6245" y="390258"/>
                  <a:pt x="114" y="384155"/>
                  <a:pt x="114" y="375628"/>
                </a:cubicBezTo>
                <a:cubicBezTo>
                  <a:pt x="114" y="368299"/>
                  <a:pt x="6217" y="362224"/>
                  <a:pt x="13518" y="362224"/>
                </a:cubicBezTo>
                <a:lnTo>
                  <a:pt x="34252" y="362224"/>
                </a:lnTo>
                <a:lnTo>
                  <a:pt x="34252" y="19621"/>
                </a:lnTo>
                <a:cubicBezTo>
                  <a:pt x="34252" y="8641"/>
                  <a:pt x="42779" y="114"/>
                  <a:pt x="53759" y="114"/>
                </a:cubicBezTo>
                <a:lnTo>
                  <a:pt x="232974" y="114"/>
                </a:lnTo>
                <a:cubicBezTo>
                  <a:pt x="243954" y="114"/>
                  <a:pt x="252482" y="8641"/>
                  <a:pt x="252482" y="19621"/>
                </a:cubicBezTo>
                <a:lnTo>
                  <a:pt x="252482" y="128137"/>
                </a:lnTo>
                <a:lnTo>
                  <a:pt x="329312" y="152521"/>
                </a:lnTo>
                <a:cubicBezTo>
                  <a:pt x="345141" y="157398"/>
                  <a:pt x="356121" y="172028"/>
                  <a:pt x="356121" y="189083"/>
                </a:cubicBezTo>
                <a:lnTo>
                  <a:pt x="356121" y="362224"/>
                </a:lnTo>
                <a:lnTo>
                  <a:pt x="376854" y="362224"/>
                </a:lnTo>
                <a:moveTo>
                  <a:pt x="161048" y="81766"/>
                </a:moveTo>
                <a:lnTo>
                  <a:pt x="161048" y="115903"/>
                </a:lnTo>
                <a:lnTo>
                  <a:pt x="215919" y="115903"/>
                </a:lnTo>
                <a:lnTo>
                  <a:pt x="215919" y="81793"/>
                </a:lnTo>
                <a:lnTo>
                  <a:pt x="161048" y="81793"/>
                </a:lnTo>
                <a:cubicBezTo>
                  <a:pt x="162275" y="80567"/>
                  <a:pt x="161048" y="80567"/>
                  <a:pt x="161048" y="81793"/>
                </a:cubicBezTo>
                <a:lnTo>
                  <a:pt x="161048" y="81766"/>
                </a:lnTo>
                <a:moveTo>
                  <a:pt x="125685" y="297571"/>
                </a:moveTo>
                <a:lnTo>
                  <a:pt x="125685" y="263461"/>
                </a:lnTo>
                <a:lnTo>
                  <a:pt x="70842" y="263461"/>
                </a:lnTo>
                <a:lnTo>
                  <a:pt x="70842" y="297599"/>
                </a:lnTo>
                <a:lnTo>
                  <a:pt x="125685" y="297599"/>
                </a:lnTo>
                <a:cubicBezTo>
                  <a:pt x="125685" y="298825"/>
                  <a:pt x="125685" y="297599"/>
                  <a:pt x="125685" y="297599"/>
                </a:cubicBezTo>
                <a:lnTo>
                  <a:pt x="125685" y="297571"/>
                </a:lnTo>
                <a:moveTo>
                  <a:pt x="70842" y="207364"/>
                </a:moveTo>
                <a:lnTo>
                  <a:pt x="125685" y="207364"/>
                </a:lnTo>
                <a:lnTo>
                  <a:pt x="125685" y="173254"/>
                </a:lnTo>
                <a:lnTo>
                  <a:pt x="70842" y="173254"/>
                </a:lnTo>
                <a:lnTo>
                  <a:pt x="70842" y="207420"/>
                </a:lnTo>
                <a:lnTo>
                  <a:pt x="70842" y="207364"/>
                </a:lnTo>
                <a:moveTo>
                  <a:pt x="70842" y="115959"/>
                </a:moveTo>
                <a:lnTo>
                  <a:pt x="125685" y="115959"/>
                </a:lnTo>
                <a:lnTo>
                  <a:pt x="125685" y="81766"/>
                </a:lnTo>
                <a:lnTo>
                  <a:pt x="70842" y="81766"/>
                </a:lnTo>
                <a:lnTo>
                  <a:pt x="70842" y="115903"/>
                </a:lnTo>
                <a:lnTo>
                  <a:pt x="70842" y="115959"/>
                </a:lnTo>
                <a:moveTo>
                  <a:pt x="161048" y="172028"/>
                </a:moveTo>
                <a:lnTo>
                  <a:pt x="161048" y="207392"/>
                </a:lnTo>
                <a:lnTo>
                  <a:pt x="215919" y="207392"/>
                </a:lnTo>
                <a:lnTo>
                  <a:pt x="215919" y="172000"/>
                </a:lnTo>
                <a:lnTo>
                  <a:pt x="161048" y="172000"/>
                </a:lnTo>
                <a:cubicBezTo>
                  <a:pt x="162275" y="172000"/>
                  <a:pt x="161048" y="172000"/>
                  <a:pt x="161048" y="172000"/>
                </a:cubicBezTo>
                <a:lnTo>
                  <a:pt x="161048" y="172028"/>
                </a:lnTo>
                <a:moveTo>
                  <a:pt x="217146" y="297599"/>
                </a:moveTo>
                <a:lnTo>
                  <a:pt x="217146" y="263461"/>
                </a:lnTo>
                <a:lnTo>
                  <a:pt x="162247" y="263461"/>
                </a:lnTo>
                <a:lnTo>
                  <a:pt x="162247" y="297599"/>
                </a:lnTo>
                <a:lnTo>
                  <a:pt x="217146" y="297599"/>
                </a:lnTo>
                <a:cubicBezTo>
                  <a:pt x="217146" y="298825"/>
                  <a:pt x="217146" y="297599"/>
                  <a:pt x="217146" y="297599"/>
                </a:cubicBezTo>
                <a:moveTo>
                  <a:pt x="275667" y="337840"/>
                </a:moveTo>
                <a:lnTo>
                  <a:pt x="303702" y="337840"/>
                </a:lnTo>
                <a:lnTo>
                  <a:pt x="303702" y="281742"/>
                </a:lnTo>
                <a:lnTo>
                  <a:pt x="275667" y="281742"/>
                </a:lnTo>
                <a:lnTo>
                  <a:pt x="275667" y="337840"/>
                </a:lnTo>
                <a:moveTo>
                  <a:pt x="275667" y="256160"/>
                </a:moveTo>
                <a:lnTo>
                  <a:pt x="303702" y="256160"/>
                </a:lnTo>
                <a:lnTo>
                  <a:pt x="303702" y="200063"/>
                </a:lnTo>
                <a:lnTo>
                  <a:pt x="275667" y="200063"/>
                </a:lnTo>
                <a:lnTo>
                  <a:pt x="275667" y="256160"/>
                </a:lnTo>
              </a:path>
            </a:pathLst>
          </a:custGeom>
          <a:solidFill>
            <a:schemeClr val="accent1">
              <a:alpha val="40000"/>
            </a:schemeClr>
          </a:solidFill>
          <a:ln w="13605" cap="flat">
            <a:noFill/>
            <a:prstDash val="solid"/>
            <a:miter/>
          </a:ln>
        </p:spPr>
        <p:txBody>
          <a:bodyPr rtlCol="0" anchor="ctr"/>
          <a:lstStyle/>
          <a:p>
            <a:endParaRPr lang="zh-CN" altLang="en-US" sz="1800"/>
          </a:p>
        </p:txBody>
      </p:sp>
      <p:sp>
        <p:nvSpPr>
          <p:cNvPr id="2" name="矩形 1"/>
          <p:cNvSpPr/>
          <p:nvPr>
            <p:custDataLst>
              <p:tags r:id="rId9"/>
            </p:custDataLst>
          </p:nvPr>
        </p:nvSpPr>
        <p:spPr>
          <a:xfrm>
            <a:off x="916891" y="4512704"/>
            <a:ext cx="5256701" cy="1836245"/>
          </a:xfrm>
          <a:prstGeom prst="rect">
            <a:avLst/>
          </a:prstGeom>
        </p:spPr>
        <p:txBody>
          <a:bodyPr wrap="square" lIns="0" tIns="0" rIns="0" bIns="0">
            <a:noAutofit/>
          </a:bodyPr>
          <a:p>
            <a:pPr marL="0" indent="0">
              <a:buNone/>
            </a:pPr>
            <a:r>
              <a:rPr lang="zh-CN" altLang="en-US" sz="1300">
                <a:sym typeface="+mn-ea"/>
              </a:rPr>
              <a:t>根据概念，理论上来说</a:t>
            </a:r>
            <a:r>
              <a:rPr lang="en-US" altLang="zh-CN" sz="1300">
                <a:sym typeface="+mn-ea"/>
              </a:rPr>
              <a:t>VR</a:t>
            </a:r>
            <a:r>
              <a:rPr lang="zh-CN" altLang="en-US" sz="1300">
                <a:sym typeface="+mn-ea"/>
              </a:rPr>
              <a:t>背后的算法思维就是从想法</a:t>
            </a:r>
            <a:r>
              <a:rPr lang="en-US" altLang="zh-CN" sz="1300">
                <a:sym typeface="+mn-ea"/>
              </a:rPr>
              <a:t>---&gt;</a:t>
            </a:r>
            <a:r>
              <a:rPr lang="zh-CN" altLang="en-US" sz="1300">
                <a:sym typeface="+mn-ea"/>
              </a:rPr>
              <a:t>实践</a:t>
            </a:r>
            <a:endParaRPr lang="zh-CN" altLang="en-US" sz="1300"/>
          </a:p>
          <a:p>
            <a:pPr marL="0" indent="0">
              <a:buNone/>
            </a:pPr>
            <a:r>
              <a:rPr lang="zh-CN" altLang="en-US" sz="1300">
                <a:sym typeface="+mn-ea"/>
              </a:rPr>
              <a:t>那么便是先了解最早期的想法，然后了解是如何变成现实的</a:t>
            </a:r>
            <a:endParaRPr lang="zh-CN" altLang="en-US" sz="1300">
              <a:solidFill>
                <a:schemeClr val="tx1">
                  <a:lumMod val="85000"/>
                  <a:lumOff val="15000"/>
                </a:schemeClr>
              </a:solidFill>
              <a:latin typeface="+mn-ea"/>
              <a:cs typeface="+mn-ea"/>
            </a:endParaRPr>
          </a:p>
        </p:txBody>
      </p:sp>
      <p:sp>
        <p:nvSpPr>
          <p:cNvPr id="3" name="矩形 2"/>
          <p:cNvSpPr/>
          <p:nvPr>
            <p:custDataLst>
              <p:tags r:id="rId10"/>
            </p:custDataLst>
          </p:nvPr>
        </p:nvSpPr>
        <p:spPr>
          <a:xfrm>
            <a:off x="916891" y="2014281"/>
            <a:ext cx="5256701" cy="1836245"/>
          </a:xfrm>
          <a:prstGeom prst="rect">
            <a:avLst/>
          </a:prstGeom>
        </p:spPr>
        <p:txBody>
          <a:bodyPr wrap="square" lIns="0" tIns="0" rIns="0" bIns="0">
            <a:noAutofit/>
          </a:bodyPr>
          <a:p>
            <a:pPr algn="just">
              <a:lnSpc>
                <a:spcPct val="130000"/>
              </a:lnSpc>
              <a:spcBef>
                <a:spcPct val="0"/>
              </a:spcBef>
              <a:spcAft>
                <a:spcPct val="0"/>
              </a:spcAft>
            </a:pPr>
            <a:r>
              <a:rPr lang="zh-CN" altLang="en-US" sz="1300">
                <a:sym typeface="+mn-ea"/>
              </a:rPr>
              <a:t>算法思维是自己对于问题的抽象能力的练习，即</a:t>
            </a:r>
            <a:r>
              <a:rPr lang="zh-CN" altLang="en-US" sz="1300">
                <a:highlight>
                  <a:srgbClr val="FFFF00"/>
                </a:highlight>
                <a:sym typeface="+mn-ea"/>
              </a:rPr>
              <a:t>从抽象问题到实际进行编码或者设计程序解决问题的一个能力。</a:t>
            </a:r>
            <a:endParaRPr lang="zh-CN" altLang="en-US" sz="1300">
              <a:highlight>
                <a:srgbClr val="FFFF00"/>
              </a:highlight>
            </a:endParaRPr>
          </a:p>
          <a:p>
            <a:pPr marL="0" indent="0">
              <a:buNone/>
            </a:pPr>
            <a:endParaRPr lang="zh-CN" altLang="en-US" sz="1300">
              <a:solidFill>
                <a:schemeClr val="tx1">
                  <a:lumMod val="85000"/>
                  <a:lumOff val="15000"/>
                </a:schemeClr>
              </a:solidFill>
              <a:latin typeface="+mn-ea"/>
              <a:cs typeface="+mn-ea"/>
            </a:endParaRPr>
          </a:p>
        </p:txBody>
      </p:sp>
      <p:sp>
        <p:nvSpPr>
          <p:cNvPr id="4" name="矩形 3"/>
          <p:cNvSpPr/>
          <p:nvPr>
            <p:custDataLst>
              <p:tags r:id="rId11"/>
            </p:custDataLst>
          </p:nvPr>
        </p:nvSpPr>
        <p:spPr>
          <a:xfrm>
            <a:off x="916891" y="4059889"/>
            <a:ext cx="5256596" cy="368349"/>
          </a:xfrm>
          <a:prstGeom prst="rect">
            <a:avLst/>
          </a:prstGeom>
          <a:noFill/>
        </p:spPr>
        <p:txBody>
          <a:bodyPr wrap="square" lIns="0" tIns="0" rIns="0" bIns="0" rtlCol="0" anchor="ctr">
            <a:noAutofit/>
          </a:bodyPr>
          <a:p>
            <a:pPr>
              <a:spcBef>
                <a:spcPct val="0"/>
              </a:spcBef>
              <a:spcAft>
                <a:spcPct val="0"/>
              </a:spcAft>
            </a:pPr>
            <a:r>
              <a:rPr lang="zh-CN" altLang="en-US" sz="2000" b="1" kern="0">
                <a:solidFill>
                  <a:schemeClr val="accent1"/>
                </a:solidFill>
                <a:latin typeface="+mn-ea"/>
                <a:cs typeface="+mn-ea"/>
              </a:rPr>
              <a:t>与</a:t>
            </a:r>
            <a:r>
              <a:rPr lang="en-US" altLang="zh-CN" sz="2000" b="1" kern="0">
                <a:solidFill>
                  <a:schemeClr val="accent1"/>
                </a:solidFill>
                <a:latin typeface="+mn-ea"/>
                <a:cs typeface="+mn-ea"/>
              </a:rPr>
              <a:t>VR</a:t>
            </a:r>
            <a:r>
              <a:rPr lang="zh-CN" altLang="en-US" sz="2000" b="1" kern="0">
                <a:solidFill>
                  <a:schemeClr val="accent1"/>
                </a:solidFill>
                <a:latin typeface="+mn-ea"/>
                <a:cs typeface="+mn-ea"/>
              </a:rPr>
              <a:t>的</a:t>
            </a:r>
            <a:r>
              <a:rPr lang="zh-CN" altLang="en-US" sz="2000" b="1" kern="0">
                <a:solidFill>
                  <a:schemeClr val="accent1"/>
                </a:solidFill>
                <a:latin typeface="+mn-ea"/>
                <a:cs typeface="+mn-ea"/>
              </a:rPr>
              <a:t>联系</a:t>
            </a:r>
            <a:endParaRPr lang="zh-CN" altLang="en-US" sz="2000" b="1" kern="0">
              <a:solidFill>
                <a:schemeClr val="accent1"/>
              </a:solidFill>
              <a:latin typeface="+mn-ea"/>
              <a:cs typeface="+mn-ea"/>
            </a:endParaRPr>
          </a:p>
        </p:txBody>
      </p:sp>
      <p:sp>
        <p:nvSpPr>
          <p:cNvPr id="13" name="矩形 12"/>
          <p:cNvSpPr/>
          <p:nvPr>
            <p:custDataLst>
              <p:tags r:id="rId12"/>
            </p:custDataLst>
          </p:nvPr>
        </p:nvSpPr>
        <p:spPr>
          <a:xfrm>
            <a:off x="916891" y="1555115"/>
            <a:ext cx="5256596" cy="368349"/>
          </a:xfrm>
          <a:prstGeom prst="rect">
            <a:avLst/>
          </a:prstGeom>
          <a:noFill/>
        </p:spPr>
        <p:txBody>
          <a:bodyPr wrap="square" lIns="0" tIns="0" rIns="0" bIns="0" rtlCol="0" anchor="ctr">
            <a:noAutofit/>
          </a:bodyPr>
          <a:p>
            <a:pPr>
              <a:spcBef>
                <a:spcPct val="0"/>
              </a:spcBef>
              <a:spcAft>
                <a:spcPct val="0"/>
              </a:spcAft>
            </a:pPr>
            <a:r>
              <a:rPr lang="zh-CN" altLang="en-US" sz="2000" b="1" kern="0">
                <a:solidFill>
                  <a:schemeClr val="accent1"/>
                </a:solidFill>
                <a:latin typeface="+mn-ea"/>
                <a:cs typeface="+mn-ea"/>
              </a:rPr>
              <a:t>算法思维的概念</a:t>
            </a:r>
            <a:endParaRPr lang="zh-CN" altLang="en-US" sz="2000" b="1" kern="0">
              <a:solidFill>
                <a:schemeClr val="accent1"/>
              </a:solidFill>
              <a:latin typeface="+mn-ea"/>
              <a:cs typeface="+mn-ea"/>
            </a:endParaRPr>
          </a:p>
        </p:txBody>
      </p:sp>
      <p:sp>
        <p:nvSpPr>
          <p:cNvPr id="9" name="文本框 8"/>
          <p:cNvSpPr txBox="1"/>
          <p:nvPr/>
        </p:nvSpPr>
        <p:spPr>
          <a:xfrm>
            <a:off x="3048000" y="1998345"/>
            <a:ext cx="6096000" cy="706755"/>
          </a:xfrm>
          <a:prstGeom prst="rect">
            <a:avLst/>
          </a:prstGeom>
          <a:noFill/>
        </p:spPr>
        <p:txBody>
          <a:bodyPr wrap="square" rtlCol="0" anchor="t">
            <a:spAutoFit/>
          </a:bodyPr>
          <a:p>
            <a:pPr marL="0" indent="0">
              <a:buNone/>
            </a:pPr>
            <a:endParaRPr lang="zh-CN" altLang="en-US" sz="2000"/>
          </a:p>
          <a:p>
            <a:pPr marL="0" indent="0">
              <a:buNone/>
            </a:pPr>
            <a:endParaRPr lang="zh-CN" altLang="en-US" sz="2000"/>
          </a:p>
        </p:txBody>
      </p:sp>
    </p:spTree>
    <p:custDataLst>
      <p:tags r:id="rId13"/>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223385" y="1628775"/>
            <a:ext cx="7968615" cy="3600450"/>
          </a:xfrm>
          <a:prstGeom prst="rect">
            <a:avLst/>
          </a:prstGeom>
          <a:solidFill>
            <a:srgbClr val="B496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54ac1a8180364b2d9a203dea6ffc2f0"/>
          <p:cNvPicPr>
            <a:picLocks noChangeAspect="1"/>
          </p:cNvPicPr>
          <p:nvPr/>
        </p:nvPicPr>
        <p:blipFill>
          <a:blip r:embed="rId1"/>
          <a:stretch>
            <a:fillRect/>
          </a:stretch>
        </p:blipFill>
        <p:spPr>
          <a:xfrm rot="5400000">
            <a:off x="441960" y="1029970"/>
            <a:ext cx="3837305" cy="4796790"/>
          </a:xfrm>
          <a:prstGeom prst="rect">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9" name="文本框 8"/>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05</a:t>
            </a:r>
            <a:endParaRPr lang="en-US" dirty="0"/>
          </a:p>
        </p:txBody>
      </p:sp>
      <p:sp>
        <p:nvSpPr>
          <p:cNvPr id="20" name="文本框 19"/>
          <p:cNvSpPr txBox="1"/>
          <p:nvPr/>
        </p:nvSpPr>
        <p:spPr>
          <a:xfrm>
            <a:off x="6711950" y="2821623"/>
            <a:ext cx="4233863" cy="368300"/>
          </a:xfrm>
          <a:prstGeom prst="rect">
            <a:avLst/>
          </a:prstGeom>
          <a:noFill/>
        </p:spPr>
        <p:txBody>
          <a:bodyPr wrap="square" rtlCol="0">
            <a:spAutoFit/>
          </a:bodyPr>
          <a:lstStyle/>
          <a:p>
            <a:pPr>
              <a:lnSpc>
                <a:spcPct val="150000"/>
              </a:lnSpc>
            </a:pPr>
            <a:endParaRPr lang="en-US" altLang="zh-CN" sz="1200" spc="200" noProof="1">
              <a:solidFill>
                <a:schemeClr val="bg1">
                  <a:lumMod val="50000"/>
                </a:schemeClr>
              </a:solidFill>
              <a:latin typeface="+mj-lt"/>
              <a:cs typeface="+mj-lt"/>
            </a:endParaRPr>
          </a:p>
        </p:txBody>
      </p:sp>
      <p:sp>
        <p:nvSpPr>
          <p:cNvPr id="21" name="文本框 20"/>
          <p:cNvSpPr txBox="1"/>
          <p:nvPr/>
        </p:nvSpPr>
        <p:spPr>
          <a:xfrm>
            <a:off x="7792085" y="4852035"/>
            <a:ext cx="4233863" cy="645160"/>
          </a:xfrm>
          <a:prstGeom prst="rect">
            <a:avLst/>
          </a:prstGeom>
          <a:noFill/>
        </p:spPr>
        <p:txBody>
          <a:bodyPr wrap="square" rtlCol="0">
            <a:spAutoFit/>
          </a:bodyPr>
          <a:lstStyle/>
          <a:p>
            <a:pPr>
              <a:lnSpc>
                <a:spcPct val="150000"/>
              </a:lnSpc>
            </a:pPr>
            <a:endParaRPr lang="en-US" altLang="zh-CN" sz="1200" spc="200" noProof="1">
              <a:solidFill>
                <a:schemeClr val="bg1">
                  <a:lumMod val="50000"/>
                </a:schemeClr>
              </a:solidFill>
              <a:latin typeface="+mj-lt"/>
              <a:cs typeface="+mj-lt"/>
            </a:endParaRPr>
          </a:p>
          <a:p>
            <a:pPr>
              <a:lnSpc>
                <a:spcPct val="150000"/>
              </a:lnSpc>
            </a:pPr>
            <a:endParaRPr lang="en-US" altLang="zh-CN" sz="1200" spc="200" noProof="1">
              <a:solidFill>
                <a:schemeClr val="bg1">
                  <a:lumMod val="50000"/>
                </a:schemeClr>
              </a:solidFill>
              <a:latin typeface="+mj-lt"/>
              <a:cs typeface="+mj-lt"/>
            </a:endParaRPr>
          </a:p>
        </p:txBody>
      </p:sp>
      <p:sp>
        <p:nvSpPr>
          <p:cNvPr id="2" name="文本框 1"/>
          <p:cNvSpPr txBox="1"/>
          <p:nvPr/>
        </p:nvSpPr>
        <p:spPr>
          <a:xfrm>
            <a:off x="541020" y="1510665"/>
            <a:ext cx="11174095" cy="3051810"/>
          </a:xfrm>
          <a:prstGeom prst="rect">
            <a:avLst/>
          </a:prstGeom>
          <a:noFill/>
        </p:spPr>
        <p:txBody>
          <a:bodyPr wrap="square" rtlCol="0">
            <a:noAutofit/>
          </a:bodyPr>
          <a:p>
            <a:endParaRPr lang="zh-CN" altLang="en-US"/>
          </a:p>
          <a:p>
            <a:r>
              <a:rPr lang="zh-CN" altLang="en-US" sz="2000" b="1" i="1">
                <a:solidFill>
                  <a:srgbClr val="00B0F0"/>
                </a:solidFill>
              </a:rPr>
              <a:t>为什么会有VR</a:t>
            </a:r>
            <a:endParaRPr lang="zh-CN" altLang="en-US" sz="2000" b="1" i="1">
              <a:solidFill>
                <a:srgbClr val="00B0F0"/>
              </a:solidFill>
            </a:endParaRPr>
          </a:p>
          <a:p>
            <a:r>
              <a:rPr lang="zh-CN" altLang="en-US" sz="2000" b="1" i="1">
                <a:solidFill>
                  <a:srgbClr val="00B0F0"/>
                </a:solidFill>
              </a:rPr>
              <a:t>VR的出现主要是因为多项关键技术的发展，包括三维实时图形显示、三维定位跟踪、触觉及嗅觉传感技术、人工智能技术、高速计算与并行计算技术以及人的行为学研究等。这些技术的综合应用使得计算机能够模拟出一个三维的虚拟世界，为用户提供视觉、听觉、触觉等感官的模拟，从而创造出一种仿佛置身于一个具有三维的视觉、听觉、触觉甚至嗅觉感觉世界的体验。</a:t>
            </a:r>
            <a:endParaRPr lang="zh-CN" altLang="en-US" sz="2000" b="1" i="1">
              <a:solidFill>
                <a:srgbClr val="00B0F0"/>
              </a:solidFill>
            </a:endParaRPr>
          </a:p>
          <a:p>
            <a:endParaRPr lang="zh-CN" altLang="en-US" sz="2000" b="1" i="1">
              <a:solidFill>
                <a:srgbClr val="00B0F0"/>
              </a:solidFill>
            </a:endParaRPr>
          </a:p>
          <a:p>
            <a:r>
              <a:rPr lang="zh-CN" altLang="en-US" sz="2000" b="1" i="1">
                <a:solidFill>
                  <a:srgbClr val="00B0F0"/>
                </a:solidFill>
              </a:rPr>
              <a:t>此外，VR技术也广泛应用于营销领域，它可以提供一个真实的线上空间，让企业的实物产品和环境以更加生动的方式呈现给消费者，从而提高品牌的形象和销售转化率。同时，VR全景技术还能帮助用户在任何时候都能了解到企业和产品的相关信息，增强用户的购买意愿，并减少营销成本。</a:t>
            </a:r>
            <a:endParaRPr lang="zh-CN" altLang="en-US" sz="2000" b="1" i="1">
              <a:solidFill>
                <a:srgbClr val="00B0F0"/>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descr="VCG41N1362921082 (1)"/>
          <p:cNvPicPr>
            <a:picLocks noChangeAspect="1"/>
          </p:cNvPicPr>
          <p:nvPr>
            <p:custDataLst>
              <p:tags r:id="rId1"/>
            </p:custDataLst>
          </p:nvPr>
        </p:nvPicPr>
        <p:blipFill>
          <a:blip r:embed="rId2"/>
          <a:srcRect l="29509" r="29509"/>
          <a:stretch>
            <a:fillRect/>
          </a:stretch>
        </p:blipFill>
        <p:spPr>
          <a:xfrm rot="5400000">
            <a:off x="4086860" y="-4100195"/>
            <a:ext cx="4002405" cy="12207875"/>
          </a:xfrm>
          <a:prstGeom prst="rect">
            <a:avLst/>
          </a:prstGeom>
        </p:spPr>
      </p:pic>
      <p:sp>
        <p:nvSpPr>
          <p:cNvPr id="16" name="矩形: 圆角 4"/>
          <p:cNvSpPr/>
          <p:nvPr>
            <p:custDataLst>
              <p:tags r:id="rId3"/>
            </p:custDataLst>
          </p:nvPr>
        </p:nvSpPr>
        <p:spPr>
          <a:xfrm>
            <a:off x="1552575" y="3429000"/>
            <a:ext cx="9084310" cy="2910205"/>
          </a:xfrm>
          <a:prstGeom prst="roundRect">
            <a:avLst>
              <a:gd name="adj" fmla="val 0"/>
            </a:avLst>
          </a:prstGeom>
          <a:solidFill>
            <a:schemeClr val="bg1">
              <a:alpha val="90000"/>
            </a:schemeClr>
          </a:solidFill>
          <a:ln w="6350">
            <a:solidFill>
              <a:schemeClr val="accent1">
                <a:alpha val="5000"/>
              </a:schemeClr>
            </a:solidFill>
          </a:ln>
          <a:effectLst>
            <a:outerShdw blurRad="127000" dist="25400" dir="2700000" algn="tl"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dirty="0">
              <a:solidFill>
                <a:schemeClr val="dk1"/>
              </a:solidFill>
              <a:sym typeface="+mn-ea"/>
            </a:endParaRPr>
          </a:p>
        </p:txBody>
      </p:sp>
      <p:sp>
        <p:nvSpPr>
          <p:cNvPr id="20" name="圆角矩形 19"/>
          <p:cNvSpPr/>
          <p:nvPr>
            <p:custDataLst>
              <p:tags r:id="rId4"/>
            </p:custDataLst>
          </p:nvPr>
        </p:nvSpPr>
        <p:spPr>
          <a:xfrm>
            <a:off x="5580380" y="5638165"/>
            <a:ext cx="1029335" cy="330200"/>
          </a:xfrm>
          <a:prstGeom prst="roundRect">
            <a:avLst>
              <a:gd name="adj" fmla="val 50000"/>
            </a:avLst>
          </a:prstGeom>
          <a:gradFill>
            <a:gsLst>
              <a:gs pos="15000">
                <a:schemeClr val="accent1">
                  <a:lumMod val="60000"/>
                  <a:lumOff val="40000"/>
                </a:schemeClr>
              </a:gs>
              <a:gs pos="100000">
                <a:schemeClr val="accent1"/>
              </a:gs>
            </a:gsLst>
            <a:lin ang="36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800">
              <a:solidFill>
                <a:schemeClr val="lt1"/>
              </a:solidFill>
            </a:endParaRPr>
          </a:p>
        </p:txBody>
      </p:sp>
      <p:cxnSp>
        <p:nvCxnSpPr>
          <p:cNvPr id="22" name="直接连接符 21"/>
          <p:cNvCxnSpPr/>
          <p:nvPr>
            <p:custDataLst>
              <p:tags r:id="rId5"/>
            </p:custDataLst>
          </p:nvPr>
        </p:nvCxnSpPr>
        <p:spPr>
          <a:xfrm>
            <a:off x="5852160" y="5803900"/>
            <a:ext cx="483235" cy="0"/>
          </a:xfrm>
          <a:prstGeom prst="line">
            <a:avLst/>
          </a:prstGeom>
          <a:ln cap="rnd">
            <a:solidFill>
              <a:srgbClr val="FFFFFF"/>
            </a:solidFill>
          </a:ln>
        </p:spPr>
        <p:style>
          <a:lnRef idx="2">
            <a:schemeClr val="accent1"/>
          </a:lnRef>
          <a:fillRef idx="0">
            <a:srgbClr val="FFFFFF"/>
          </a:fillRef>
          <a:effectRef idx="0">
            <a:srgbClr val="FFFFFF"/>
          </a:effectRef>
          <a:fontRef idx="minor">
            <a:schemeClr val="tx1"/>
          </a:fontRef>
        </p:style>
      </p:cxnSp>
      <p:sp>
        <p:nvSpPr>
          <p:cNvPr id="23" name="任意多边形 22"/>
          <p:cNvSpPr/>
          <p:nvPr>
            <p:custDataLst>
              <p:tags r:id="rId6"/>
            </p:custDataLst>
          </p:nvPr>
        </p:nvSpPr>
        <p:spPr>
          <a:xfrm>
            <a:off x="6278880" y="5735955"/>
            <a:ext cx="59690" cy="134620"/>
          </a:xfrm>
          <a:custGeom>
            <a:avLst/>
            <a:gdLst>
              <a:gd name="connsiteX0" fmla="*/ 11 w 157"/>
              <a:gd name="connsiteY0" fmla="*/ 0 h 356"/>
              <a:gd name="connsiteX1" fmla="*/ 157 w 157"/>
              <a:gd name="connsiteY1" fmla="*/ 169 h 356"/>
              <a:gd name="connsiteX2" fmla="*/ 0 w 157"/>
              <a:gd name="connsiteY2" fmla="*/ 356 h 356"/>
            </a:gdLst>
            <a:ahLst/>
            <a:cxnLst>
              <a:cxn ang="0">
                <a:pos x="connsiteX0" y="connsiteY0"/>
              </a:cxn>
              <a:cxn ang="0">
                <a:pos x="connsiteX1" y="connsiteY1"/>
              </a:cxn>
              <a:cxn ang="0">
                <a:pos x="connsiteX2" y="connsiteY2"/>
              </a:cxn>
            </a:cxnLst>
            <a:rect l="l" t="t" r="r" b="b"/>
            <a:pathLst>
              <a:path w="157" h="356">
                <a:moveTo>
                  <a:pt x="11" y="0"/>
                </a:moveTo>
                <a:lnTo>
                  <a:pt x="157" y="169"/>
                </a:lnTo>
                <a:lnTo>
                  <a:pt x="0" y="356"/>
                </a:lnTo>
              </a:path>
            </a:pathLst>
          </a:custGeom>
          <a:noFill/>
          <a:ln cap="rnd">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800">
              <a:solidFill>
                <a:schemeClr val="lt1"/>
              </a:solidFill>
            </a:endParaRPr>
          </a:p>
        </p:txBody>
      </p:sp>
      <p:sp>
        <p:nvSpPr>
          <p:cNvPr id="18" name="正文"/>
          <p:cNvSpPr txBox="1"/>
          <p:nvPr>
            <p:custDataLst>
              <p:tags r:id="rId7"/>
            </p:custDataLst>
          </p:nvPr>
        </p:nvSpPr>
        <p:spPr>
          <a:xfrm>
            <a:off x="1790383" y="4732020"/>
            <a:ext cx="8608695" cy="716915"/>
          </a:xfrm>
          <a:prstGeom prst="rect">
            <a:avLst/>
          </a:prstGeom>
          <a:noFill/>
        </p:spPr>
        <p:txBody>
          <a:bodyPr wrap="square" lIns="0" tIns="0" rIns="0" bIns="0" rtlCol="0" anchor="t" anchorCtr="0">
            <a:normAutofit lnSpcReduction="20000"/>
          </a:bodyPr>
          <a:lstStyle/>
          <a:p>
            <a:pPr indent="0" algn="l" fontAlgn="auto">
              <a:lnSpc>
                <a:spcPct val="130000"/>
              </a:lnSpc>
            </a:pPr>
            <a:r>
              <a:rPr lang="zh-CN" altLang="en-US" sz="1400" spc="150" dirty="0">
                <a:solidFill>
                  <a:schemeClr val="dk1">
                    <a:lumMod val="65000"/>
                    <a:lumOff val="35000"/>
                  </a:schemeClr>
                </a:solidFill>
                <a:latin typeface="+mn-ea"/>
                <a:sym typeface="+mn-ea"/>
              </a:rPr>
              <a:t>包括三维实时图形显示、三维定位跟踪、触觉及嗅觉传感技术、人工智能技术、高速计算与并行计算技术以及人的行为学研究等</a:t>
            </a:r>
            <a:endParaRPr lang="zh-CN" altLang="en-US" sz="1400" spc="150" dirty="0">
              <a:solidFill>
                <a:schemeClr val="dk1">
                  <a:lumMod val="65000"/>
                  <a:lumOff val="35000"/>
                </a:schemeClr>
              </a:solidFill>
              <a:latin typeface="+mn-ea"/>
              <a:sym typeface="+mn-ea"/>
            </a:endParaRPr>
          </a:p>
          <a:p>
            <a:pPr indent="0" algn="l" fontAlgn="auto">
              <a:lnSpc>
                <a:spcPct val="130000"/>
              </a:lnSpc>
            </a:pPr>
            <a:r>
              <a:rPr lang="zh-CN" altLang="en-US" sz="1400" spc="150" dirty="0">
                <a:solidFill>
                  <a:schemeClr val="dk1">
                    <a:lumMod val="65000"/>
                    <a:lumOff val="35000"/>
                  </a:schemeClr>
                </a:solidFill>
                <a:latin typeface="+mn-ea"/>
                <a:sym typeface="+mn-ea"/>
              </a:rPr>
              <a:t>我觉得应用最广泛的应该是</a:t>
            </a:r>
            <a:r>
              <a:rPr lang="zh-CN" altLang="en-US" sz="1400" spc="150" dirty="0">
                <a:solidFill>
                  <a:schemeClr val="dk1">
                    <a:lumMod val="65000"/>
                    <a:lumOff val="35000"/>
                  </a:schemeClr>
                </a:solidFill>
                <a:latin typeface="+mn-ea"/>
                <a:sym typeface="+mn-ea"/>
              </a:rPr>
              <a:t>人机交互中的情绪感知算法。</a:t>
            </a:r>
            <a:endParaRPr lang="zh-CN" altLang="en-US" sz="1400" spc="150" dirty="0">
              <a:solidFill>
                <a:schemeClr val="dk1">
                  <a:lumMod val="65000"/>
                  <a:lumOff val="35000"/>
                </a:schemeClr>
              </a:solidFill>
              <a:latin typeface="+mn-ea"/>
              <a:sym typeface="+mn-ea"/>
            </a:endParaRPr>
          </a:p>
        </p:txBody>
      </p:sp>
      <p:sp>
        <p:nvSpPr>
          <p:cNvPr id="9" name="标题 8"/>
          <p:cNvSpPr>
            <a:spLocks noGrp="1"/>
          </p:cNvSpPr>
          <p:nvPr>
            <p:ph type="title"/>
            <p:custDataLst>
              <p:tags r:id="rId8"/>
            </p:custDataLst>
          </p:nvPr>
        </p:nvSpPr>
        <p:spPr>
          <a:xfrm>
            <a:off x="1790700" y="4012565"/>
            <a:ext cx="8608695" cy="705485"/>
          </a:xfrm>
        </p:spPr>
        <p:txBody>
          <a:bodyPr vert="horz" lIns="91440" tIns="45720" rIns="91440" bIns="45720" rtlCol="0" anchor="ctr">
            <a:normAutofit/>
          </a:bodyPr>
          <a:lstStyle/>
          <a:p>
            <a:pPr lvl="0" algn="ctr">
              <a:lnSpc>
                <a:spcPct val="90000"/>
              </a:lnSpc>
              <a:buClrTx/>
              <a:buSzTx/>
              <a:buFontTx/>
            </a:pPr>
            <a:r>
              <a:rPr lang="zh-CN" altLang="en-US" spc="0">
                <a:solidFill>
                  <a:schemeClr val="accent1"/>
                </a:solidFill>
                <a:sym typeface="+mn-ea"/>
              </a:rPr>
              <a:t>多项关键技术</a:t>
            </a:r>
            <a:endParaRPr lang="zh-CN" altLang="en-US" spc="0">
              <a:solidFill>
                <a:schemeClr val="accent1"/>
              </a:solidFill>
              <a:sym typeface="+mn-ea"/>
            </a:endParaRPr>
          </a:p>
        </p:txBody>
      </p:sp>
    </p:spTree>
    <p:custDataLst>
      <p:tags r:id="rId9"/>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直角三角形 3"/>
          <p:cNvSpPr/>
          <p:nvPr>
            <p:custDataLst>
              <p:tags r:id="rId1"/>
            </p:custDataLst>
          </p:nvPr>
        </p:nvSpPr>
        <p:spPr>
          <a:xfrm flipH="1">
            <a:off x="539378" y="5270500"/>
            <a:ext cx="11652621" cy="15875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bg1"/>
              </a:solidFill>
              <a:latin typeface="+mn-ea"/>
              <a:cs typeface="微软雅黑" panose="020B0503020204020204" charset="-122"/>
            </a:endParaRPr>
          </a:p>
        </p:txBody>
      </p:sp>
      <p:sp>
        <p:nvSpPr>
          <p:cNvPr id="5" name="直角三角形 4"/>
          <p:cNvSpPr/>
          <p:nvPr>
            <p:custDataLst>
              <p:tags r:id="rId2"/>
            </p:custDataLst>
          </p:nvPr>
        </p:nvSpPr>
        <p:spPr>
          <a:xfrm>
            <a:off x="0" y="5523954"/>
            <a:ext cx="3390900" cy="1334045"/>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bg1"/>
              </a:solidFill>
              <a:latin typeface="+mn-ea"/>
              <a:cs typeface="微软雅黑" panose="020B0503020204020204" charset="-122"/>
            </a:endParaRPr>
          </a:p>
        </p:txBody>
      </p:sp>
      <p:cxnSp>
        <p:nvCxnSpPr>
          <p:cNvPr id="8" name="直接连接符 7"/>
          <p:cNvCxnSpPr/>
          <p:nvPr>
            <p:custDataLst>
              <p:tags r:id="rId3"/>
            </p:custDataLst>
          </p:nvPr>
        </p:nvCxnSpPr>
        <p:spPr>
          <a:xfrm flipH="1">
            <a:off x="663107" y="2484692"/>
            <a:ext cx="10852237" cy="0"/>
          </a:xfrm>
          <a:prstGeom prst="line">
            <a:avLst/>
          </a:prstGeom>
          <a:ln w="1270">
            <a:solidFill>
              <a:schemeClr val="accent1"/>
            </a:solidFill>
            <a:prstDash val="dash"/>
            <a:headEnd type="oval"/>
          </a:ln>
        </p:spPr>
        <p:style>
          <a:lnRef idx="1">
            <a:schemeClr val="accent1"/>
          </a:lnRef>
          <a:fillRef idx="0">
            <a:schemeClr val="accent1"/>
          </a:fillRef>
          <a:effectRef idx="0">
            <a:schemeClr val="accent1"/>
          </a:effectRef>
          <a:fontRef idx="minor">
            <a:schemeClr val="tx1"/>
          </a:fontRef>
        </p:style>
      </p:cxnSp>
      <p:grpSp>
        <p:nvGrpSpPr>
          <p:cNvPr id="10" name="组合 9"/>
          <p:cNvGrpSpPr>
            <a:grpSpLocks noChangeAspect="1"/>
          </p:cNvGrpSpPr>
          <p:nvPr>
            <p:custDataLst>
              <p:tags r:id="rId4"/>
            </p:custDataLst>
          </p:nvPr>
        </p:nvGrpSpPr>
        <p:grpSpPr>
          <a:xfrm rot="10800000">
            <a:off x="10851255" y="1126818"/>
            <a:ext cx="790571" cy="689854"/>
            <a:chOff x="1168400" y="1347856"/>
            <a:chExt cx="723913" cy="631688"/>
          </a:xfrm>
          <a:noFill/>
        </p:grpSpPr>
        <p:sp>
          <p:nvSpPr>
            <p:cNvPr id="11" name="任意多边形: 形状 10"/>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w="19050" cap="rnd">
              <a:solidFill>
                <a:schemeClr val="accent3">
                  <a:lumMod val="7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dirty="0">
                <a:latin typeface="微软雅黑" panose="020B0503020204020204" charset="-122"/>
                <a:cs typeface="微软雅黑" panose="020B0503020204020204" charset="-122"/>
              </a:endParaRPr>
            </a:p>
          </p:txBody>
        </p:sp>
        <p:sp>
          <p:nvSpPr>
            <p:cNvPr id="12" name="任意多边形: 形状 11"/>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w="19050" cap="rnd">
              <a:solidFill>
                <a:schemeClr val="accent3">
                  <a:lumMod val="7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latin typeface="微软雅黑" panose="020B0503020204020204" charset="-122"/>
                <a:cs typeface="微软雅黑" panose="020B0503020204020204" charset="-122"/>
              </a:endParaRPr>
            </a:p>
          </p:txBody>
        </p:sp>
      </p:grpSp>
      <p:grpSp>
        <p:nvGrpSpPr>
          <p:cNvPr id="13" name="组合 12"/>
          <p:cNvGrpSpPr>
            <a:grpSpLocks noChangeAspect="1"/>
          </p:cNvGrpSpPr>
          <p:nvPr>
            <p:custDataLst>
              <p:tags r:id="rId7"/>
            </p:custDataLst>
          </p:nvPr>
        </p:nvGrpSpPr>
        <p:grpSpPr>
          <a:xfrm rot="10800000">
            <a:off x="10755705" y="1127152"/>
            <a:ext cx="775330" cy="689854"/>
            <a:chOff x="1182937" y="1347856"/>
            <a:chExt cx="709957" cy="631688"/>
          </a:xfrm>
          <a:solidFill>
            <a:schemeClr val="accent1"/>
          </a:solidFill>
        </p:grpSpPr>
        <p:sp>
          <p:nvSpPr>
            <p:cNvPr id="14" name="任意多边形: 形状 8"/>
            <p:cNvSpPr>
              <a:spLocks noChangeAspect="1"/>
            </p:cNvSpPr>
            <p:nvPr>
              <p:custDataLst>
                <p:tags r:id="rId8"/>
              </p:custDataLst>
            </p:nvPr>
          </p:nvSpPr>
          <p:spPr>
            <a:xfrm>
              <a:off x="1182937"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latin typeface="微软雅黑" panose="020B0503020204020204" charset="-122"/>
                <a:cs typeface="微软雅黑" panose="020B0503020204020204" charset="-122"/>
              </a:endParaRPr>
            </a:p>
          </p:txBody>
        </p:sp>
        <p:sp>
          <p:nvSpPr>
            <p:cNvPr id="15" name="任意多边形: 形状 9"/>
            <p:cNvSpPr>
              <a:spLocks noChangeAspect="1"/>
            </p:cNvSpPr>
            <p:nvPr>
              <p:custDataLst>
                <p:tags r:id="rId9"/>
              </p:custDataLst>
            </p:nvPr>
          </p:nvSpPr>
          <p:spPr>
            <a:xfrm>
              <a:off x="1581599"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latin typeface="微软雅黑" panose="020B0503020204020204" charset="-122"/>
                <a:cs typeface="微软雅黑" panose="020B0503020204020204" charset="-122"/>
              </a:endParaRPr>
            </a:p>
          </p:txBody>
        </p:sp>
      </p:grpSp>
      <p:sp>
        <p:nvSpPr>
          <p:cNvPr id="18" name="文本框 17"/>
          <p:cNvSpPr txBox="1"/>
          <p:nvPr>
            <p:custDataLst>
              <p:tags r:id="rId10"/>
            </p:custDataLst>
          </p:nvPr>
        </p:nvSpPr>
        <p:spPr>
          <a:xfrm>
            <a:off x="539379" y="1127152"/>
            <a:ext cx="9753600" cy="1064895"/>
          </a:xfrm>
          <a:prstGeom prst="rect">
            <a:avLst/>
          </a:prstGeom>
          <a:noFill/>
        </p:spPr>
        <p:txBody>
          <a:bodyPr wrap="square" lIns="90170" tIns="46990" rIns="90170" bIns="46990" rtlCol="0">
            <a:noAutofit/>
          </a:bodyPr>
          <a:lstStyle/>
          <a:p>
            <a:pPr marL="0" lvl="0" indent="0" algn="l" fontAlgn="auto">
              <a:lnSpc>
                <a:spcPct val="100000"/>
              </a:lnSpc>
              <a:spcBef>
                <a:spcPts val="0"/>
              </a:spcBef>
              <a:spcAft>
                <a:spcPts val="800"/>
              </a:spcAft>
              <a:buSzPct val="100000"/>
              <a:buFontTx/>
              <a:buNone/>
            </a:pPr>
            <a:r>
              <a:rPr lang="zh-CN" altLang="en-US" sz="2100" spc="140" noProof="0">
                <a:ln>
                  <a:noFill/>
                </a:ln>
                <a:solidFill>
                  <a:schemeClr val="dk1">
                    <a:lumMod val="85000"/>
                    <a:lumOff val="15000"/>
                  </a:schemeClr>
                </a:solidFill>
                <a:effectLst/>
                <a:uLnTx/>
                <a:uFillTx/>
                <a:latin typeface="Arial" panose="020B0604020202020204" pitchFamily="34" charset="0"/>
                <a:ea typeface="微软雅黑" panose="020B0503020204020204" charset="-122"/>
                <a:cs typeface="微软雅黑" panose="020B0503020204020204" charset="-122"/>
                <a:sym typeface="+mn-ea"/>
              </a:rPr>
              <a:t>人机交互中的情绪感知算法</a:t>
            </a:r>
            <a:r>
              <a:rPr lang="zh-CN" altLang="en-US" sz="2100" spc="140" noProof="0">
                <a:ln>
                  <a:noFill/>
                </a:ln>
                <a:solidFill>
                  <a:srgbClr val="FF0000"/>
                </a:solidFill>
                <a:effectLst/>
                <a:uLnTx/>
                <a:uFillTx/>
                <a:latin typeface="Arial" panose="020B0604020202020204" pitchFamily="34" charset="0"/>
                <a:ea typeface="微软雅黑" panose="020B0503020204020204" charset="-122"/>
                <a:cs typeface="微软雅黑" panose="020B0503020204020204" charset="-122"/>
                <a:sym typeface="+mn-ea"/>
              </a:rPr>
              <a:t>（可以有倾向）</a:t>
            </a:r>
            <a:endParaRPr lang="zh-CN" altLang="en-US" sz="2100" spc="140" noProof="0">
              <a:ln>
                <a:noFill/>
              </a:ln>
              <a:solidFill>
                <a:srgbClr val="FF0000"/>
              </a:solidFill>
              <a:effectLst/>
              <a:uLnTx/>
              <a:uFillTx/>
              <a:latin typeface="Arial" panose="020B0604020202020204" pitchFamily="34" charset="0"/>
              <a:ea typeface="微软雅黑" panose="020B0503020204020204" charset="-122"/>
              <a:cs typeface="微软雅黑" panose="020B0503020204020204" charset="-122"/>
              <a:sym typeface="+mn-ea"/>
            </a:endParaRPr>
          </a:p>
        </p:txBody>
      </p:sp>
      <p:sp>
        <p:nvSpPr>
          <p:cNvPr id="16" name="文本框 15"/>
          <p:cNvSpPr txBox="1"/>
          <p:nvPr>
            <p:custDataLst>
              <p:tags r:id="rId11"/>
            </p:custDataLst>
          </p:nvPr>
        </p:nvSpPr>
        <p:spPr>
          <a:xfrm>
            <a:off x="663107" y="3039799"/>
            <a:ext cx="10852237" cy="2541134"/>
          </a:xfrm>
          <a:prstGeom prst="rect">
            <a:avLst/>
          </a:prstGeom>
          <a:noFill/>
        </p:spPr>
        <p:txBody>
          <a:bodyPr wrap="square" lIns="90170" tIns="46990" rIns="90170" bIns="46990" rtlCol="0">
            <a:noAutofit/>
          </a:bodyPr>
          <a:lstStyle>
            <a:defPPr>
              <a:defRPr lang="zh-CN"/>
            </a:defPPr>
            <a:lvl1pPr fontAlgn="auto">
              <a:lnSpc>
                <a:spcPct val="130000"/>
              </a:lnSpc>
              <a:spcAft>
                <a:spcPts val="1000"/>
              </a:spcAft>
              <a:defRPr sz="1600" spc="150"/>
            </a:lvl1pPr>
          </a:lstStyle>
          <a:p>
            <a:pPr marL="0" lvl="0" indent="-533400" algn="l" fontAlgn="ctr">
              <a:lnSpc>
                <a:spcPct val="120000"/>
              </a:lnSpc>
              <a:spcBef>
                <a:spcPts val="0"/>
              </a:spcBef>
              <a:spcAft>
                <a:spcPts val="800"/>
              </a:spcAft>
              <a:buClr>
                <a:schemeClr val="tx2"/>
              </a:buClr>
              <a:buSzPct val="120000"/>
              <a:buFont typeface="WPS-Numbers" pitchFamily="2" charset="0"/>
              <a:buNone/>
              <a:tabLst>
                <a:tab pos="533400" algn="l"/>
              </a:tabLst>
            </a:pPr>
            <a:r>
              <a:rPr lang="zh-CN" altLang="en-US" sz="2100" b="1" spc="130">
                <a:solidFill>
                  <a:schemeClr val="dk1">
                    <a:lumMod val="85000"/>
                    <a:lumOff val="15000"/>
                  </a:schemeClr>
                </a:solidFill>
                <a:latin typeface="Arial" panose="020B0604020202020204" pitchFamily="34" charset="0"/>
                <a:ea typeface="微软雅黑" panose="020B0503020204020204" charset="-122"/>
                <a:cs typeface="微软雅黑" panose="020B0503020204020204" charset="-122"/>
              </a:rPr>
              <a:t>从算法思维的角度来说，VR背后的算法多种多样，人机交互中的情绪感知算法尤其重要。情绪感知算法的研究是人机交互领域的一个很重要的研究方向，它不止应用于VR，在各个领域都有着很重要的应用。最常见的便是智能客服，人工智能需要从视觉图片和声音中提取出人类的情感，然后做出反应。不过现在情绪感知算法的研究远远不够，它不够紧跟时代的潮流，有些词语有些表情和它本身的意义已经不同了，人工智能也需要有辨认这些的能力。</a:t>
            </a:r>
            <a:endParaRPr lang="zh-CN" altLang="en-US" sz="2100" b="1" spc="130">
              <a:solidFill>
                <a:schemeClr val="dk1">
                  <a:lumMod val="85000"/>
                  <a:lumOff val="15000"/>
                </a:schemeClr>
              </a:solidFill>
              <a:latin typeface="Arial" panose="020B0604020202020204" pitchFamily="34" charset="0"/>
              <a:ea typeface="微软雅黑" panose="020B0503020204020204" charset="-122"/>
              <a:cs typeface="微软雅黑" panose="020B0503020204020204" charset="-122"/>
            </a:endParaRPr>
          </a:p>
        </p:txBody>
      </p:sp>
    </p:spTree>
    <p:custDataLst>
      <p:tags r:id="rId1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0" y="0"/>
            <a:ext cx="12192000" cy="6858000"/>
          </a:xfrm>
          <a:prstGeom prst="rect">
            <a:avLst/>
          </a:prstGeom>
          <a:pattFill prst="dotGrid">
            <a:fgClr>
              <a:schemeClr val="bg2">
                <a:lumMod val="85000"/>
              </a:schemeClr>
            </a:fgClr>
            <a:bgClr>
              <a:schemeClr val="bg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dirty="0">
              <a:solidFill>
                <a:schemeClr val="bg1"/>
              </a:solidFill>
              <a:latin typeface="+mn-ea"/>
            </a:endParaRPr>
          </a:p>
        </p:txBody>
      </p:sp>
      <p:sp>
        <p:nvSpPr>
          <p:cNvPr id="4" name="矩形 3"/>
          <p:cNvSpPr/>
          <p:nvPr>
            <p:custDataLst>
              <p:tags r:id="rId2"/>
            </p:custDataLst>
          </p:nvPr>
        </p:nvSpPr>
        <p:spPr>
          <a:xfrm>
            <a:off x="449582" y="617123"/>
            <a:ext cx="11412219" cy="5821624"/>
          </a:xfrm>
          <a:prstGeom prst="rect">
            <a:avLst/>
          </a:prstGeom>
          <a:solidFill>
            <a:schemeClr val="bg2"/>
          </a:solidFill>
          <a:ln w="127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bg1"/>
              </a:solidFill>
              <a:latin typeface="+mn-ea"/>
            </a:endParaRPr>
          </a:p>
        </p:txBody>
      </p:sp>
      <p:sp>
        <p:nvSpPr>
          <p:cNvPr id="10" name="矩形 9"/>
          <p:cNvSpPr/>
          <p:nvPr>
            <p:custDataLst>
              <p:tags r:id="rId3"/>
            </p:custDataLst>
          </p:nvPr>
        </p:nvSpPr>
        <p:spPr>
          <a:xfrm>
            <a:off x="350862" y="518189"/>
            <a:ext cx="11412219" cy="5821623"/>
          </a:xfrm>
          <a:prstGeom prst="rect">
            <a:avLst/>
          </a:prstGeom>
          <a:noFill/>
          <a:ln w="127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bg1"/>
              </a:solidFill>
              <a:latin typeface="+mn-ea"/>
            </a:endParaRPr>
          </a:p>
        </p:txBody>
      </p:sp>
      <p:sp>
        <p:nvSpPr>
          <p:cNvPr id="11" name="矩形 10"/>
          <p:cNvSpPr/>
          <p:nvPr>
            <p:custDataLst>
              <p:tags r:id="rId4"/>
            </p:custDataLst>
          </p:nvPr>
        </p:nvSpPr>
        <p:spPr>
          <a:xfrm>
            <a:off x="252141" y="419254"/>
            <a:ext cx="11412219" cy="5821623"/>
          </a:xfrm>
          <a:prstGeom prst="rect">
            <a:avLst/>
          </a:prstGeom>
          <a:noFill/>
          <a:ln w="127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600" b="1">
              <a:solidFill>
                <a:schemeClr val="bg1"/>
              </a:solidFill>
              <a:latin typeface="+mn-ea"/>
            </a:endParaRPr>
          </a:p>
        </p:txBody>
      </p:sp>
      <p:grpSp>
        <p:nvGrpSpPr>
          <p:cNvPr id="14" name="组合 13"/>
          <p:cNvGrpSpPr>
            <a:grpSpLocks noChangeAspect="1"/>
          </p:cNvGrpSpPr>
          <p:nvPr>
            <p:custDataLst>
              <p:tags r:id="rId5"/>
            </p:custDataLst>
          </p:nvPr>
        </p:nvGrpSpPr>
        <p:grpSpPr>
          <a:xfrm>
            <a:off x="669925" y="1349393"/>
            <a:ext cx="622313" cy="543032"/>
            <a:chOff x="1168400" y="1347856"/>
            <a:chExt cx="723913" cy="631688"/>
          </a:xfrm>
          <a:solidFill>
            <a:schemeClr val="bg1">
              <a:alpha val="15000"/>
            </a:schemeClr>
          </a:solidFill>
        </p:grpSpPr>
        <p:sp>
          <p:nvSpPr>
            <p:cNvPr id="15" name="任意多边形: 形状 14"/>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prstClr val="black"/>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sp>
          <p:nvSpPr>
            <p:cNvPr id="16" name="任意多边形: 形状 15"/>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prstClr val="black"/>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grpSp>
      <p:sp>
        <p:nvSpPr>
          <p:cNvPr id="13" name="文本框 12"/>
          <p:cNvSpPr txBox="1"/>
          <p:nvPr>
            <p:custDataLst>
              <p:tags r:id="rId8"/>
            </p:custDataLst>
          </p:nvPr>
        </p:nvSpPr>
        <p:spPr>
          <a:xfrm>
            <a:off x="2003393" y="1177497"/>
            <a:ext cx="8185215" cy="1354068"/>
          </a:xfrm>
          <a:prstGeom prst="rect">
            <a:avLst/>
          </a:prstGeom>
          <a:noFill/>
        </p:spPr>
        <p:txBody>
          <a:bodyPr wrap="square" lIns="101600" tIns="0" rIns="82550" bIns="0" rtlCol="0">
            <a:normAutofit/>
          </a:bodyPr>
          <a:lstStyle>
            <a:defPPr>
              <a:defRPr lang="zh-CN"/>
            </a:defPPr>
            <a:lvl1pPr fontAlgn="auto">
              <a:lnSpc>
                <a:spcPct val="130000"/>
              </a:lnSpc>
              <a:spcAft>
                <a:spcPts val="1000"/>
              </a:spcAft>
              <a:defRPr sz="1600" spc="150"/>
            </a:lvl1pPr>
          </a:lstStyle>
          <a:p>
            <a:pPr marL="0" lvl="0" indent="-358775" algn="l" fontAlgn="ctr">
              <a:lnSpc>
                <a:spcPct val="100000"/>
              </a:lnSpc>
              <a:spcBef>
                <a:spcPts val="0"/>
              </a:spcBef>
              <a:spcAft>
                <a:spcPts val="800"/>
              </a:spcAft>
              <a:buClr>
                <a:schemeClr val="accent1">
                  <a:lumMod val="75000"/>
                </a:schemeClr>
              </a:buClr>
              <a:buSzPct val="130000"/>
              <a:buFont typeface="WPS-Numbers" pitchFamily="2" charset="0"/>
              <a:buNone/>
            </a:pPr>
            <a:r>
              <a:rPr lang="zh-CN" altLang="en-US" sz="2400" b="1" spc="160">
                <a:solidFill>
                  <a:schemeClr val="lt1"/>
                </a:solidFill>
                <a:latin typeface="Arial" panose="020B0604020202020204" pitchFamily="34" charset="0"/>
                <a:ea typeface="微软雅黑" panose="020B0503020204020204" charset="-122"/>
                <a:sym typeface="+mn-ea"/>
              </a:rPr>
              <a:t>人机交互中的情绪感知算法</a:t>
            </a:r>
            <a:endParaRPr lang="zh-CN" altLang="en-US" sz="2400" b="1" spc="160">
              <a:solidFill>
                <a:schemeClr val="lt1"/>
              </a:solidFill>
              <a:latin typeface="Arial" panose="020B0604020202020204" pitchFamily="34" charset="0"/>
              <a:ea typeface="微软雅黑" panose="020B0503020204020204" charset="-122"/>
              <a:sym typeface="+mn-ea"/>
            </a:endParaRPr>
          </a:p>
        </p:txBody>
      </p:sp>
      <p:sp>
        <p:nvSpPr>
          <p:cNvPr id="12" name="文本框 11"/>
          <p:cNvSpPr txBox="1"/>
          <p:nvPr>
            <p:custDataLst>
              <p:tags r:id="rId9"/>
            </p:custDataLst>
          </p:nvPr>
        </p:nvSpPr>
        <p:spPr>
          <a:xfrm>
            <a:off x="2003393" y="3023323"/>
            <a:ext cx="8185215" cy="2819105"/>
          </a:xfrm>
          <a:prstGeom prst="rect">
            <a:avLst/>
          </a:prstGeom>
          <a:noFill/>
        </p:spPr>
        <p:txBody>
          <a:bodyPr wrap="square" lIns="101600" tIns="0" rIns="82550" bIns="0" rtlCol="0">
            <a:normAutofit/>
          </a:bodyPr>
          <a:lstStyle>
            <a:defPPr>
              <a:defRPr lang="zh-CN"/>
            </a:defPPr>
            <a:lvl1pPr fontAlgn="auto">
              <a:lnSpc>
                <a:spcPct val="130000"/>
              </a:lnSpc>
              <a:spcAft>
                <a:spcPts val="1000"/>
              </a:spcAft>
              <a:defRPr sz="1600" spc="150"/>
            </a:lvl1pPr>
          </a:lstStyle>
          <a:p>
            <a:pPr marL="406400" lvl="0" indent="-406400" algn="l" fontAlgn="ctr">
              <a:lnSpc>
                <a:spcPct val="120000"/>
              </a:lnSpc>
              <a:spcBef>
                <a:spcPts val="0"/>
              </a:spcBef>
              <a:spcAft>
                <a:spcPts val="800"/>
              </a:spcAft>
              <a:buClr>
                <a:schemeClr val="accent1">
                  <a:lumMod val="75000"/>
                </a:schemeClr>
              </a:buClr>
              <a:buSzPct val="130000"/>
              <a:buFont typeface="WPS-Numbers" pitchFamily="2" charset="0"/>
              <a:buChar char=""/>
            </a:pPr>
            <a:r>
              <a:rPr lang="zh-CN" altLang="en-US" sz="2400" b="1" spc="160">
                <a:solidFill>
                  <a:schemeClr val="lt1"/>
                </a:solidFill>
                <a:latin typeface="Arial" panose="020B0604020202020204" pitchFamily="34" charset="0"/>
                <a:ea typeface="微软雅黑" panose="020B0503020204020204" charset="-122"/>
              </a:rPr>
              <a:t>原理：</a:t>
            </a:r>
            <a:endParaRPr lang="zh-CN" altLang="en-US" sz="2400" b="1" spc="160">
              <a:solidFill>
                <a:schemeClr val="lt1"/>
              </a:solidFill>
              <a:latin typeface="Arial" panose="020B0604020202020204" pitchFamily="34" charset="0"/>
              <a:ea typeface="微软雅黑" panose="020B0503020204020204" charset="-122"/>
            </a:endParaRPr>
          </a:p>
          <a:p>
            <a:pPr marL="406400" lvl="1" indent="0" algn="l" fontAlgn="ctr">
              <a:lnSpc>
                <a:spcPct val="120000"/>
              </a:lnSpc>
              <a:spcBef>
                <a:spcPts val="0"/>
              </a:spcBef>
              <a:spcAft>
                <a:spcPts val="800"/>
              </a:spcAft>
              <a:buClr>
                <a:schemeClr val="tx2">
                  <a:lumMod val="75000"/>
                </a:schemeClr>
              </a:buClr>
              <a:buSzPct val="130000"/>
              <a:buFont typeface="WPS-Numbers" pitchFamily="2" charset="0"/>
              <a:buNone/>
            </a:pPr>
            <a:r>
              <a:rPr lang="zh-CN" altLang="en-US" sz="2200" spc="140">
                <a:solidFill>
                  <a:schemeClr val="lt1"/>
                </a:solidFill>
                <a:latin typeface="Arial" panose="020B0604020202020204" pitchFamily="34" charset="0"/>
                <a:ea typeface="微软雅黑" panose="020B0503020204020204" charset="-122"/>
              </a:rPr>
              <a:t>在情绪感知算法的研究中，最常用的方法是依靠计算机视觉技术和语音处理技术，从视觉图片和声音中提取出人类情感的相关特征，这些特征包括表情、动作、声音、语调、语速等，通过对这些特征的分析和处理，计算机就能够感知到人类的情感状态。</a:t>
            </a:r>
            <a:endParaRPr lang="zh-CN" altLang="en-US" sz="2200" spc="140">
              <a:solidFill>
                <a:schemeClr val="lt1"/>
              </a:solidFill>
              <a:latin typeface="Arial" panose="020B0604020202020204" pitchFamily="34" charset="0"/>
              <a:ea typeface="微软雅黑" panose="020B0503020204020204" charset="-122"/>
            </a:endParaRPr>
          </a:p>
        </p:txBody>
      </p:sp>
      <p:grpSp>
        <p:nvGrpSpPr>
          <p:cNvPr id="17" name="组合 16"/>
          <p:cNvGrpSpPr>
            <a:grpSpLocks noChangeAspect="1"/>
          </p:cNvGrpSpPr>
          <p:nvPr>
            <p:custDataLst>
              <p:tags r:id="rId10"/>
            </p:custDataLst>
          </p:nvPr>
        </p:nvGrpSpPr>
        <p:grpSpPr>
          <a:xfrm rot="10800000">
            <a:off x="671896" y="822186"/>
            <a:ext cx="637442" cy="556233"/>
            <a:chOff x="3213087" y="1347855"/>
            <a:chExt cx="723913" cy="631688"/>
          </a:xfrm>
          <a:solidFill>
            <a:schemeClr val="accent1">
              <a:lumMod val="20000"/>
              <a:lumOff val="80000"/>
            </a:schemeClr>
          </a:solidFill>
        </p:grpSpPr>
        <p:sp>
          <p:nvSpPr>
            <p:cNvPr id="18" name="任意多边形: 形状 17"/>
            <p:cNvSpPr>
              <a:spLocks noChangeAspect="1"/>
            </p:cNvSpPr>
            <p:nvPr>
              <p:custDataLst>
                <p:tags r:id="rId11"/>
              </p:custDataLst>
            </p:nvPr>
          </p:nvSpPr>
          <p:spPr>
            <a:xfrm>
              <a:off x="3213087" y="1347855"/>
              <a:ext cx="311295" cy="631688"/>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2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2"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prstClr val="black"/>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sp>
          <p:nvSpPr>
            <p:cNvPr id="19" name="任意多边形: 形状 18"/>
            <p:cNvSpPr>
              <a:spLocks noChangeAspect="1"/>
            </p:cNvSpPr>
            <p:nvPr>
              <p:custDataLst>
                <p:tags r:id="rId12"/>
              </p:custDataLst>
            </p:nvPr>
          </p:nvSpPr>
          <p:spPr>
            <a:xfrm>
              <a:off x="3625705" y="1347855"/>
              <a:ext cx="311295" cy="631688"/>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1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1"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prstClr val="black"/>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grpSp>
      <p:grpSp>
        <p:nvGrpSpPr>
          <p:cNvPr id="22" name="组合 21"/>
          <p:cNvGrpSpPr>
            <a:grpSpLocks noChangeAspect="1"/>
          </p:cNvGrpSpPr>
          <p:nvPr>
            <p:custDataLst>
              <p:tags r:id="rId13"/>
            </p:custDataLst>
          </p:nvPr>
        </p:nvGrpSpPr>
        <p:grpSpPr>
          <a:xfrm>
            <a:off x="10511620" y="5229674"/>
            <a:ext cx="923010" cy="805420"/>
            <a:chOff x="3213087" y="1347855"/>
            <a:chExt cx="723913" cy="631688"/>
          </a:xfrm>
          <a:solidFill>
            <a:schemeClr val="accent1">
              <a:lumMod val="20000"/>
              <a:lumOff val="80000"/>
            </a:schemeClr>
          </a:solidFill>
        </p:grpSpPr>
        <p:sp>
          <p:nvSpPr>
            <p:cNvPr id="23" name="任意多边形: 形状 21"/>
            <p:cNvSpPr>
              <a:spLocks noChangeAspect="1"/>
            </p:cNvSpPr>
            <p:nvPr>
              <p:custDataLst>
                <p:tags r:id="rId14"/>
              </p:custDataLst>
            </p:nvPr>
          </p:nvSpPr>
          <p:spPr>
            <a:xfrm>
              <a:off x="3213087" y="1347855"/>
              <a:ext cx="311295" cy="631688"/>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2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2"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prstClr val="black"/>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sp>
          <p:nvSpPr>
            <p:cNvPr id="24" name="任意多边形: 形状 22"/>
            <p:cNvSpPr>
              <a:spLocks noChangeAspect="1"/>
            </p:cNvSpPr>
            <p:nvPr>
              <p:custDataLst>
                <p:tags r:id="rId15"/>
              </p:custDataLst>
            </p:nvPr>
          </p:nvSpPr>
          <p:spPr>
            <a:xfrm>
              <a:off x="3625705" y="1347855"/>
              <a:ext cx="311295" cy="631688"/>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1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1"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prstClr val="black"/>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grpSp>
      <p:cxnSp>
        <p:nvCxnSpPr>
          <p:cNvPr id="25" name="直接连接符 24"/>
          <p:cNvCxnSpPr/>
          <p:nvPr>
            <p:custDataLst>
              <p:tags r:id="rId16"/>
            </p:custDataLst>
          </p:nvPr>
        </p:nvCxnSpPr>
        <p:spPr>
          <a:xfrm>
            <a:off x="2490856" y="2704433"/>
            <a:ext cx="7543800" cy="0"/>
          </a:xfrm>
          <a:prstGeom prst="line">
            <a:avLst/>
          </a:prstGeom>
          <a:ln w="127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custDataLst>
      <p:tags r:id="rId17"/>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4" name="图片 3" descr="17fd84c0ecce8cf386240b8afc37e7b"/>
          <p:cNvPicPr>
            <a:picLocks noChangeAspect="1"/>
          </p:cNvPicPr>
          <p:nvPr/>
        </p:nvPicPr>
        <p:blipFill>
          <a:blip r:embed="rId2"/>
          <a:srcRect l="1036" t="-234" r="-1036" b="29969"/>
          <a:stretch>
            <a:fillRect/>
          </a:stretch>
        </p:blipFill>
        <p:spPr>
          <a:xfrm>
            <a:off x="1199515" y="2846070"/>
            <a:ext cx="2223770" cy="2219325"/>
          </a:xfrm>
          <a:prstGeom prst="ellipse">
            <a:avLst/>
          </a:prstGeom>
        </p:spPr>
      </p:pic>
      <p:pic>
        <p:nvPicPr>
          <p:cNvPr id="5" name="图片 4" descr="1d2935ab3359517e091f3fc89de1d55"/>
          <p:cNvPicPr>
            <a:picLocks noChangeAspect="1"/>
          </p:cNvPicPr>
          <p:nvPr/>
        </p:nvPicPr>
        <p:blipFill>
          <a:blip r:embed="rId3"/>
          <a:srcRect t="6254" b="36517"/>
          <a:stretch>
            <a:fillRect/>
          </a:stretch>
        </p:blipFill>
        <p:spPr>
          <a:xfrm>
            <a:off x="5087620" y="2809875"/>
            <a:ext cx="2220595" cy="2255520"/>
          </a:xfrm>
          <a:prstGeom prst="ellipse">
            <a:avLst/>
          </a:prstGeom>
        </p:spPr>
      </p:pic>
      <p:pic>
        <p:nvPicPr>
          <p:cNvPr id="6" name="图片 5" descr="54ac1a8180364b2d9a203dea6ffc2f0"/>
          <p:cNvPicPr>
            <a:picLocks noChangeAspect="1"/>
          </p:cNvPicPr>
          <p:nvPr/>
        </p:nvPicPr>
        <p:blipFill>
          <a:blip r:embed="rId4"/>
          <a:srcRect t="9921" b="8774"/>
          <a:stretch>
            <a:fillRect/>
          </a:stretch>
        </p:blipFill>
        <p:spPr>
          <a:xfrm>
            <a:off x="8832215" y="2809875"/>
            <a:ext cx="2218690" cy="2255520"/>
          </a:xfrm>
          <a:prstGeom prst="ellipse">
            <a:avLst/>
          </a:prstGeom>
        </p:spPr>
      </p:pic>
      <p:sp>
        <p:nvSpPr>
          <p:cNvPr id="17" name="文本框 16"/>
          <p:cNvSpPr txBox="1"/>
          <p:nvPr/>
        </p:nvSpPr>
        <p:spPr>
          <a:xfrm>
            <a:off x="3520440" y="1918335"/>
            <a:ext cx="2830195" cy="2030095"/>
          </a:xfrm>
          <a:prstGeom prst="rect">
            <a:avLst/>
          </a:prstGeom>
          <a:noFill/>
        </p:spPr>
        <p:txBody>
          <a:bodyPr wrap="square" rtlCol="0">
            <a:spAutoFit/>
          </a:bodyPr>
          <a:lstStyle/>
          <a:p>
            <a:pPr algn="ctr">
              <a:lnSpc>
                <a:spcPct val="150000"/>
              </a:lnSpc>
            </a:pPr>
            <a:endParaRPr lang="en-US" altLang="zh-CN" spc="200" noProof="1">
              <a:solidFill>
                <a:srgbClr val="5D89A9"/>
              </a:solidFill>
              <a:latin typeface="+mj-lt"/>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10" name="文本框 9"/>
          <p:cNvSpPr txBox="1"/>
          <p:nvPr/>
        </p:nvSpPr>
        <p:spPr>
          <a:xfrm>
            <a:off x="3503295" y="3860800"/>
            <a:ext cx="2830195" cy="1614805"/>
          </a:xfrm>
          <a:prstGeom prst="rect">
            <a:avLst/>
          </a:prstGeom>
          <a:noFill/>
        </p:spPr>
        <p:txBody>
          <a:bodyPr wrap="square" rtlCol="0">
            <a:spAutoFit/>
          </a:bodyPr>
          <a:lstStyle/>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12" name="文本框 11"/>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06</a:t>
            </a:r>
            <a:endParaRPr lang="en-US" dirty="0"/>
          </a:p>
        </p:txBody>
      </p:sp>
      <p:sp>
        <p:nvSpPr>
          <p:cNvPr id="7" name="文本框 6"/>
          <p:cNvSpPr txBox="1"/>
          <p:nvPr/>
        </p:nvSpPr>
        <p:spPr>
          <a:xfrm>
            <a:off x="1249680" y="513080"/>
            <a:ext cx="7222490" cy="460375"/>
          </a:xfrm>
          <a:prstGeom prst="rect">
            <a:avLst/>
          </a:prstGeom>
          <a:noFill/>
        </p:spPr>
        <p:txBody>
          <a:bodyPr wrap="square" rtlCol="0">
            <a:spAutoFit/>
          </a:bodyPr>
          <a:p>
            <a:r>
              <a:rPr lang="zh-CN" altLang="en-US" sz="2400"/>
              <a:t>人机交互中的情绪感知算法应用：</a:t>
            </a:r>
            <a:endParaRPr lang="en-US" altLang="zh-CN" sz="2400"/>
          </a:p>
        </p:txBody>
      </p:sp>
      <p:sp>
        <p:nvSpPr>
          <p:cNvPr id="8" name="文本框 7"/>
          <p:cNvSpPr txBox="1"/>
          <p:nvPr/>
        </p:nvSpPr>
        <p:spPr>
          <a:xfrm>
            <a:off x="1402080" y="3645535"/>
            <a:ext cx="1818005" cy="645160"/>
          </a:xfrm>
          <a:prstGeom prst="rect">
            <a:avLst/>
          </a:prstGeom>
          <a:noFill/>
        </p:spPr>
        <p:txBody>
          <a:bodyPr wrap="square" rtlCol="0">
            <a:spAutoFit/>
          </a:bodyPr>
          <a:p>
            <a:r>
              <a:rPr lang="zh-CN" altLang="en-US" b="1" i="1"/>
              <a:t>用于诊断抑郁症和其它心理疾病</a:t>
            </a:r>
            <a:endParaRPr lang="zh-CN" altLang="en-US" b="1" i="1"/>
          </a:p>
        </p:txBody>
      </p:sp>
      <p:sp>
        <p:nvSpPr>
          <p:cNvPr id="11" name="文本框 10"/>
          <p:cNvSpPr txBox="1"/>
          <p:nvPr/>
        </p:nvSpPr>
        <p:spPr>
          <a:xfrm>
            <a:off x="5303520" y="3285490"/>
            <a:ext cx="1892935" cy="1198880"/>
          </a:xfrm>
          <a:prstGeom prst="rect">
            <a:avLst/>
          </a:prstGeom>
          <a:noFill/>
        </p:spPr>
        <p:txBody>
          <a:bodyPr wrap="square" rtlCol="0">
            <a:spAutoFit/>
          </a:bodyPr>
          <a:p>
            <a:r>
              <a:rPr lang="zh-CN" altLang="en-US" b="1" i="1"/>
              <a:t>可以用于分析消费者对某种产品或某个品牌的情感反应</a:t>
            </a:r>
            <a:endParaRPr lang="zh-CN" altLang="en-US" b="1" i="1"/>
          </a:p>
        </p:txBody>
      </p:sp>
      <p:sp>
        <p:nvSpPr>
          <p:cNvPr id="13" name="文本框 12"/>
          <p:cNvSpPr txBox="1"/>
          <p:nvPr/>
        </p:nvSpPr>
        <p:spPr>
          <a:xfrm>
            <a:off x="8993505" y="3322320"/>
            <a:ext cx="2214880" cy="922020"/>
          </a:xfrm>
          <a:prstGeom prst="rect">
            <a:avLst/>
          </a:prstGeom>
          <a:noFill/>
        </p:spPr>
        <p:txBody>
          <a:bodyPr wrap="square" rtlCol="0">
            <a:spAutoFit/>
          </a:bodyPr>
          <a:p>
            <a:r>
              <a:rPr lang="zh-CN" altLang="en-US" b="1" i="1"/>
              <a:t>可以用于自动化的教学评估，从而提高教学重量</a:t>
            </a:r>
            <a:endParaRPr lang="zh-CN" altLang="en-US" b="1" i="1"/>
          </a:p>
        </p:txBody>
      </p:sp>
      <p:sp>
        <p:nvSpPr>
          <p:cNvPr id="14" name="文本框 13"/>
          <p:cNvSpPr txBox="1"/>
          <p:nvPr/>
        </p:nvSpPr>
        <p:spPr>
          <a:xfrm>
            <a:off x="469900" y="2477770"/>
            <a:ext cx="3920490" cy="368300"/>
          </a:xfrm>
          <a:prstGeom prst="rect">
            <a:avLst/>
          </a:prstGeom>
          <a:noFill/>
        </p:spPr>
        <p:txBody>
          <a:bodyPr wrap="square" rtlCol="0">
            <a:spAutoFit/>
          </a:bodyPr>
          <a:p>
            <a:r>
              <a:rPr lang="zh-CN" altLang="en-US"/>
              <a:t>在医疗领域：</a:t>
            </a:r>
            <a:endParaRPr lang="en-US" altLang="zh-CN"/>
          </a:p>
        </p:txBody>
      </p:sp>
      <p:sp>
        <p:nvSpPr>
          <p:cNvPr id="15" name="文本框 14"/>
          <p:cNvSpPr txBox="1"/>
          <p:nvPr/>
        </p:nvSpPr>
        <p:spPr>
          <a:xfrm>
            <a:off x="4474210" y="2369820"/>
            <a:ext cx="4142105" cy="368300"/>
          </a:xfrm>
          <a:prstGeom prst="rect">
            <a:avLst/>
          </a:prstGeom>
          <a:noFill/>
        </p:spPr>
        <p:txBody>
          <a:bodyPr wrap="square" rtlCol="0">
            <a:spAutoFit/>
          </a:bodyPr>
          <a:p>
            <a:r>
              <a:rPr lang="zh-CN" altLang="en-US"/>
              <a:t>在营销领域：</a:t>
            </a:r>
            <a:endParaRPr lang="zh-CN" altLang="en-US"/>
          </a:p>
        </p:txBody>
      </p:sp>
      <p:sp>
        <p:nvSpPr>
          <p:cNvPr id="16" name="文本框 15"/>
          <p:cNvSpPr txBox="1"/>
          <p:nvPr/>
        </p:nvSpPr>
        <p:spPr>
          <a:xfrm>
            <a:off x="8183880" y="2369820"/>
            <a:ext cx="4627880" cy="368300"/>
          </a:xfrm>
          <a:prstGeom prst="rect">
            <a:avLst/>
          </a:prstGeom>
          <a:noFill/>
        </p:spPr>
        <p:txBody>
          <a:bodyPr wrap="square" rtlCol="0">
            <a:spAutoFit/>
          </a:bodyPr>
          <a:p>
            <a:r>
              <a:rPr lang="zh-CN" altLang="en-US"/>
              <a:t>在教育领域：</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7fd84c0ecce8cf386240b8afc37e7b"/>
          <p:cNvPicPr>
            <a:picLocks noChangeAspect="1"/>
          </p:cNvPicPr>
          <p:nvPr/>
        </p:nvPicPr>
        <p:blipFill>
          <a:blip r:embed="rId1"/>
          <a:srcRect l="1036" t="-234" r="-1036" b="29969"/>
          <a:stretch>
            <a:fillRect/>
          </a:stretch>
        </p:blipFill>
        <p:spPr>
          <a:xfrm>
            <a:off x="1199515" y="2853055"/>
            <a:ext cx="2223770" cy="2212340"/>
          </a:xfrm>
          <a:prstGeom prst="ellipse">
            <a:avLst/>
          </a:prstGeom>
        </p:spPr>
      </p:pic>
      <p:pic>
        <p:nvPicPr>
          <p:cNvPr id="5" name="图片 4" descr="1d2935ab3359517e091f3fc89de1d55"/>
          <p:cNvPicPr>
            <a:picLocks noChangeAspect="1"/>
          </p:cNvPicPr>
          <p:nvPr/>
        </p:nvPicPr>
        <p:blipFill>
          <a:blip r:embed="rId2"/>
          <a:srcRect t="6254" b="36517"/>
          <a:stretch>
            <a:fillRect/>
          </a:stretch>
        </p:blipFill>
        <p:spPr>
          <a:xfrm>
            <a:off x="5087620" y="2809875"/>
            <a:ext cx="2220595" cy="2255520"/>
          </a:xfrm>
          <a:prstGeom prst="ellipse">
            <a:avLst/>
          </a:prstGeom>
        </p:spPr>
      </p:pic>
      <p:pic>
        <p:nvPicPr>
          <p:cNvPr id="6" name="图片 5" descr="54ac1a8180364b2d9a203dea6ffc2f0"/>
          <p:cNvPicPr>
            <a:picLocks noChangeAspect="1"/>
          </p:cNvPicPr>
          <p:nvPr/>
        </p:nvPicPr>
        <p:blipFill>
          <a:blip r:embed="rId3"/>
          <a:srcRect t="9921" b="8774"/>
          <a:stretch>
            <a:fillRect/>
          </a:stretch>
        </p:blipFill>
        <p:spPr>
          <a:xfrm>
            <a:off x="8832215" y="2809875"/>
            <a:ext cx="2218690" cy="2255520"/>
          </a:xfrm>
          <a:prstGeom prst="ellipse">
            <a:avLst/>
          </a:prstGeom>
        </p:spPr>
      </p:pic>
      <p:sp>
        <p:nvSpPr>
          <p:cNvPr id="17" name="文本框 16"/>
          <p:cNvSpPr txBox="1"/>
          <p:nvPr/>
        </p:nvSpPr>
        <p:spPr>
          <a:xfrm>
            <a:off x="3575685" y="1918335"/>
            <a:ext cx="2830195" cy="2030095"/>
          </a:xfrm>
          <a:prstGeom prst="rect">
            <a:avLst/>
          </a:prstGeom>
          <a:noFill/>
        </p:spPr>
        <p:txBody>
          <a:bodyPr wrap="square" rtlCol="0">
            <a:spAutoFit/>
          </a:bodyPr>
          <a:lstStyle/>
          <a:p>
            <a:pPr algn="ctr">
              <a:lnSpc>
                <a:spcPct val="150000"/>
              </a:lnSpc>
            </a:pPr>
            <a:endParaRPr lang="en-US" altLang="zh-CN" spc="200" noProof="1">
              <a:solidFill>
                <a:srgbClr val="5D89A9"/>
              </a:solidFill>
              <a:latin typeface="+mj-lt"/>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10" name="文本框 9"/>
          <p:cNvSpPr txBox="1"/>
          <p:nvPr/>
        </p:nvSpPr>
        <p:spPr>
          <a:xfrm>
            <a:off x="3503295" y="3860800"/>
            <a:ext cx="2830195" cy="1614805"/>
          </a:xfrm>
          <a:prstGeom prst="rect">
            <a:avLst/>
          </a:prstGeom>
          <a:noFill/>
        </p:spPr>
        <p:txBody>
          <a:bodyPr wrap="square" rtlCol="0">
            <a:spAutoFit/>
          </a:bodyPr>
          <a:lstStyle/>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12" name="文本框 11"/>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06</a:t>
            </a:r>
            <a:endParaRPr lang="en-US" dirty="0"/>
          </a:p>
        </p:txBody>
      </p:sp>
      <p:sp>
        <p:nvSpPr>
          <p:cNvPr id="2" name="文本框 1"/>
          <p:cNvSpPr txBox="1"/>
          <p:nvPr/>
        </p:nvSpPr>
        <p:spPr>
          <a:xfrm>
            <a:off x="1127125" y="522605"/>
            <a:ext cx="7226300" cy="398780"/>
          </a:xfrm>
          <a:prstGeom prst="rect">
            <a:avLst/>
          </a:prstGeom>
          <a:noFill/>
        </p:spPr>
        <p:txBody>
          <a:bodyPr wrap="square" rtlCol="0">
            <a:spAutoFit/>
          </a:bodyPr>
          <a:p>
            <a:r>
              <a:rPr lang="en-US" altLang="zh-CN" sz="2000"/>
              <a:t>VR</a:t>
            </a:r>
            <a:r>
              <a:rPr lang="zh-CN" altLang="en-US" sz="2000"/>
              <a:t>技术的工程思维</a:t>
            </a:r>
            <a:r>
              <a:rPr lang="en-US" altLang="zh-CN" sz="2000"/>
              <a:t>/</a:t>
            </a:r>
            <a:r>
              <a:rPr lang="zh-CN" altLang="en-US" sz="2000"/>
              <a:t>工程师思维</a:t>
            </a:r>
            <a:endParaRPr lang="zh-CN" altLang="en-US" sz="2000"/>
          </a:p>
        </p:txBody>
      </p:sp>
      <p:sp>
        <p:nvSpPr>
          <p:cNvPr id="3" name="文本框 2"/>
          <p:cNvSpPr txBox="1"/>
          <p:nvPr/>
        </p:nvSpPr>
        <p:spPr>
          <a:xfrm>
            <a:off x="1177290" y="958850"/>
            <a:ext cx="9023350" cy="2306955"/>
          </a:xfrm>
          <a:prstGeom prst="rect">
            <a:avLst/>
          </a:prstGeom>
          <a:noFill/>
        </p:spPr>
        <p:txBody>
          <a:bodyPr wrap="square" rtlCol="0">
            <a:spAutoFit/>
          </a:bodyPr>
          <a:p>
            <a:r>
              <a:rPr lang="zh-CN" altLang="en-US"/>
              <a:t>VR世界本身便是一个极大的工程，它是一个完整的世界，要建造出这个世界，需要先有一个大框架，而后从地基开始一点一点往上建造。如果不运用工程师思维的话，这将是一个让人望而却步的困难工作。</a:t>
            </a:r>
            <a:endParaRPr lang="zh-CN" altLang="en-US"/>
          </a:p>
          <a:p>
            <a:endParaRPr lang="zh-CN" altLang="en-US"/>
          </a:p>
          <a:p>
            <a:r>
              <a:rPr lang="zh-CN" altLang="en-US">
                <a:sym typeface="+mn-ea"/>
              </a:rPr>
              <a:t>工程的目的是客户需求的问题，工程学指满足客户需求为目的的一门学科，而非单纯地开发软件。而工程思维最大的特点是</a:t>
            </a:r>
            <a:r>
              <a:rPr lang="en-US" altLang="zh-CN">
                <a:sym typeface="+mn-ea"/>
              </a:rPr>
              <a:t>“</a:t>
            </a:r>
            <a:r>
              <a:rPr lang="zh-CN" altLang="en-US">
                <a:sym typeface="+mn-ea"/>
              </a:rPr>
              <a:t>要把事情做成</a:t>
            </a:r>
            <a:r>
              <a:rPr lang="en-US" altLang="zh-CN">
                <a:sym typeface="+mn-ea"/>
              </a:rPr>
              <a:t>”</a:t>
            </a:r>
            <a:r>
              <a:rPr lang="zh-CN" altLang="en-US">
                <a:sym typeface="+mn-ea"/>
              </a:rPr>
              <a:t>，也就是可交付、可使用，并做到</a:t>
            </a:r>
            <a:r>
              <a:rPr lang="en-US" altLang="zh-CN">
                <a:sym typeface="+mn-ea"/>
              </a:rPr>
              <a:t>“</a:t>
            </a:r>
            <a:r>
              <a:rPr lang="zh-CN" altLang="en-US">
                <a:sym typeface="+mn-ea"/>
              </a:rPr>
              <a:t>开源节流</a:t>
            </a:r>
            <a:r>
              <a:rPr lang="en-US" altLang="zh-CN">
                <a:sym typeface="+mn-ea"/>
              </a:rPr>
              <a:t>”</a:t>
            </a:r>
            <a:r>
              <a:rPr lang="zh-CN" altLang="en-US">
                <a:sym typeface="+mn-ea"/>
              </a:rPr>
              <a:t>。</a:t>
            </a:r>
            <a:endParaRPr lang="zh-CN" altLang="en-US"/>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7fd84c0ecce8cf386240b8afc37e7b"/>
          <p:cNvPicPr>
            <a:picLocks noChangeAspect="1"/>
          </p:cNvPicPr>
          <p:nvPr/>
        </p:nvPicPr>
        <p:blipFill>
          <a:blip r:embed="rId1"/>
          <a:srcRect l="1036" t="-234" r="-1036" b="29969"/>
          <a:stretch>
            <a:fillRect/>
          </a:stretch>
        </p:blipFill>
        <p:spPr>
          <a:xfrm>
            <a:off x="1199515" y="2853055"/>
            <a:ext cx="2223770" cy="2212340"/>
          </a:xfrm>
          <a:prstGeom prst="ellipse">
            <a:avLst/>
          </a:prstGeom>
        </p:spPr>
      </p:pic>
      <p:pic>
        <p:nvPicPr>
          <p:cNvPr id="5" name="图片 4" descr="1d2935ab3359517e091f3fc89de1d55"/>
          <p:cNvPicPr>
            <a:picLocks noChangeAspect="1"/>
          </p:cNvPicPr>
          <p:nvPr/>
        </p:nvPicPr>
        <p:blipFill>
          <a:blip r:embed="rId2"/>
          <a:srcRect t="6254" b="36517"/>
          <a:stretch>
            <a:fillRect/>
          </a:stretch>
        </p:blipFill>
        <p:spPr>
          <a:xfrm>
            <a:off x="5087620" y="2809875"/>
            <a:ext cx="2220595" cy="2255520"/>
          </a:xfrm>
          <a:prstGeom prst="ellipse">
            <a:avLst/>
          </a:prstGeom>
        </p:spPr>
      </p:pic>
      <p:pic>
        <p:nvPicPr>
          <p:cNvPr id="6" name="图片 5" descr="54ac1a8180364b2d9a203dea6ffc2f0"/>
          <p:cNvPicPr>
            <a:picLocks noChangeAspect="1"/>
          </p:cNvPicPr>
          <p:nvPr/>
        </p:nvPicPr>
        <p:blipFill>
          <a:blip r:embed="rId3"/>
          <a:srcRect t="9921" b="8774"/>
          <a:stretch>
            <a:fillRect/>
          </a:stretch>
        </p:blipFill>
        <p:spPr>
          <a:xfrm>
            <a:off x="8832215" y="2809875"/>
            <a:ext cx="2218690" cy="2255520"/>
          </a:xfrm>
          <a:prstGeom prst="ellipse">
            <a:avLst/>
          </a:prstGeom>
        </p:spPr>
      </p:pic>
      <p:sp>
        <p:nvSpPr>
          <p:cNvPr id="17" name="文本框 16"/>
          <p:cNvSpPr txBox="1"/>
          <p:nvPr/>
        </p:nvSpPr>
        <p:spPr>
          <a:xfrm>
            <a:off x="3520440" y="1918335"/>
            <a:ext cx="2830195" cy="2030095"/>
          </a:xfrm>
          <a:prstGeom prst="rect">
            <a:avLst/>
          </a:prstGeom>
          <a:noFill/>
        </p:spPr>
        <p:txBody>
          <a:bodyPr wrap="square" rtlCol="0">
            <a:spAutoFit/>
          </a:bodyPr>
          <a:lstStyle/>
          <a:p>
            <a:pPr algn="ctr">
              <a:lnSpc>
                <a:spcPct val="150000"/>
              </a:lnSpc>
            </a:pPr>
            <a:endParaRPr lang="en-US" altLang="zh-CN" spc="200" noProof="1">
              <a:solidFill>
                <a:srgbClr val="5D89A9"/>
              </a:solidFill>
              <a:latin typeface="+mj-lt"/>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10" name="文本框 9"/>
          <p:cNvSpPr txBox="1"/>
          <p:nvPr/>
        </p:nvSpPr>
        <p:spPr>
          <a:xfrm>
            <a:off x="3503295" y="3860800"/>
            <a:ext cx="2830195" cy="1614805"/>
          </a:xfrm>
          <a:prstGeom prst="rect">
            <a:avLst/>
          </a:prstGeom>
          <a:noFill/>
        </p:spPr>
        <p:txBody>
          <a:bodyPr wrap="square" rtlCol="0">
            <a:spAutoFit/>
          </a:bodyPr>
          <a:lstStyle/>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z="1200" spc="200" noProof="1">
              <a:solidFill>
                <a:schemeClr val="bg1">
                  <a:lumMod val="50000"/>
                </a:schemeClr>
              </a:solidFill>
              <a:latin typeface="+mj-lt"/>
              <a:ea typeface="宋体" panose="02010600030101010101" pitchFamily="2" charset="-122"/>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12" name="文本框 11"/>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06</a:t>
            </a:r>
            <a:endParaRPr lang="en-US" dirty="0"/>
          </a:p>
        </p:txBody>
      </p:sp>
      <p:sp>
        <p:nvSpPr>
          <p:cNvPr id="7" name="文本框 6"/>
          <p:cNvSpPr txBox="1"/>
          <p:nvPr/>
        </p:nvSpPr>
        <p:spPr>
          <a:xfrm>
            <a:off x="1343660" y="400050"/>
            <a:ext cx="6927215" cy="521970"/>
          </a:xfrm>
          <a:prstGeom prst="rect">
            <a:avLst/>
          </a:prstGeom>
          <a:noFill/>
        </p:spPr>
        <p:txBody>
          <a:bodyPr wrap="square" rtlCol="0">
            <a:spAutoFit/>
          </a:bodyPr>
          <a:p>
            <a:r>
              <a:rPr lang="zh-CN" altLang="en-US" sz="2800">
                <a:ln w="9525">
                  <a:solidFill>
                    <a:schemeClr val="bg1"/>
                  </a:solidFill>
                  <a:prstDash val="solid"/>
                </a:ln>
                <a:solidFill>
                  <a:schemeClr val="tx1"/>
                </a:solidFill>
                <a:effectLst>
                  <a:outerShdw blurRad="12700" dist="38100" dir="2700000" algn="tl" rotWithShape="0">
                    <a:schemeClr val="bg1">
                      <a:lumMod val="50000"/>
                    </a:schemeClr>
                  </a:outerShdw>
                </a:effectLst>
              </a:rPr>
              <a:t>探索</a:t>
            </a:r>
            <a:r>
              <a:rPr lang="en-US" altLang="zh-CN" sz="2800">
                <a:ln w="9525">
                  <a:solidFill>
                    <a:schemeClr val="bg1"/>
                  </a:solidFill>
                  <a:prstDash val="solid"/>
                </a:ln>
                <a:solidFill>
                  <a:schemeClr val="tx1"/>
                </a:solidFill>
                <a:effectLst>
                  <a:outerShdw blurRad="12700" dist="38100" dir="2700000" algn="tl" rotWithShape="0">
                    <a:schemeClr val="bg1">
                      <a:lumMod val="50000"/>
                    </a:schemeClr>
                  </a:outerShdw>
                </a:effectLst>
              </a:rPr>
              <a:t>VR</a:t>
            </a:r>
            <a:r>
              <a:rPr lang="zh-CN" altLang="en-US" sz="2800">
                <a:ln w="9525">
                  <a:solidFill>
                    <a:schemeClr val="bg1"/>
                  </a:solidFill>
                  <a:prstDash val="solid"/>
                </a:ln>
                <a:solidFill>
                  <a:schemeClr val="tx1"/>
                </a:solidFill>
                <a:effectLst>
                  <a:outerShdw blurRad="12700" dist="38100" dir="2700000" algn="tl" rotWithShape="0">
                    <a:schemeClr val="bg1">
                      <a:lumMod val="50000"/>
                    </a:schemeClr>
                  </a:outerShdw>
                </a:effectLst>
              </a:rPr>
              <a:t>眼镜的完美实现</a:t>
            </a:r>
            <a:endParaRPr lang="zh-CN" altLang="en-US" sz="280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8" name="文本框 7"/>
          <p:cNvSpPr txBox="1"/>
          <p:nvPr/>
        </p:nvSpPr>
        <p:spPr>
          <a:xfrm>
            <a:off x="668655" y="1125220"/>
            <a:ext cx="9661525" cy="922020"/>
          </a:xfrm>
          <a:prstGeom prst="rect">
            <a:avLst/>
          </a:prstGeom>
          <a:noFill/>
        </p:spPr>
        <p:txBody>
          <a:bodyPr wrap="square" rtlCol="0">
            <a:spAutoFit/>
          </a:bodyPr>
          <a:p>
            <a:r>
              <a:rPr lang="zh-CN" altLang="en-US"/>
              <a:t>用户佩戴VR眼镜后，可以在视觉上感受到虚拟环境中的真实感，仿佛身临其境。VR眼镜的完美实现离不开高科技的支持，它融合了显示技术、光学系统设计、头部运动跟踪技术、3D音效技术和无线传输技术等。</a:t>
            </a:r>
            <a:endParaRPr lang="zh-CN" altLang="en-US"/>
          </a:p>
        </p:txBody>
      </p:sp>
      <p:sp>
        <p:nvSpPr>
          <p:cNvPr id="9" name="文本框 8"/>
          <p:cNvSpPr txBox="1"/>
          <p:nvPr/>
        </p:nvSpPr>
        <p:spPr>
          <a:xfrm>
            <a:off x="1430655" y="3352165"/>
            <a:ext cx="1720850" cy="922020"/>
          </a:xfrm>
          <a:prstGeom prst="rect">
            <a:avLst/>
          </a:prstGeom>
          <a:noFill/>
        </p:spPr>
        <p:txBody>
          <a:bodyPr wrap="square" rtlCol="0">
            <a:spAutoFit/>
          </a:bodyPr>
          <a:p>
            <a:r>
              <a:rPr lang="zh-CN" altLang="en-US"/>
              <a:t>高分辨率和高刷新率的</a:t>
            </a:r>
            <a:r>
              <a:rPr lang="zh-CN" altLang="en-US">
                <a:solidFill>
                  <a:srgbClr val="FF0000"/>
                </a:solidFill>
              </a:rPr>
              <a:t>显示器</a:t>
            </a:r>
            <a:endParaRPr lang="zh-CN" altLang="en-US">
              <a:solidFill>
                <a:srgbClr val="FF0000"/>
              </a:solidFill>
            </a:endParaRPr>
          </a:p>
        </p:txBody>
      </p:sp>
      <p:sp>
        <p:nvSpPr>
          <p:cNvPr id="11" name="文本框 10"/>
          <p:cNvSpPr txBox="1"/>
          <p:nvPr/>
        </p:nvSpPr>
        <p:spPr>
          <a:xfrm>
            <a:off x="5283200" y="3512820"/>
            <a:ext cx="1964690" cy="645160"/>
          </a:xfrm>
          <a:prstGeom prst="rect">
            <a:avLst/>
          </a:prstGeom>
          <a:noFill/>
        </p:spPr>
        <p:txBody>
          <a:bodyPr wrap="square" rtlCol="0">
            <a:spAutoFit/>
          </a:bodyPr>
          <a:p>
            <a:r>
              <a:rPr lang="zh-CN" altLang="en-US"/>
              <a:t>头部</a:t>
            </a:r>
            <a:r>
              <a:rPr lang="zh-CN" altLang="en-US"/>
              <a:t>运动跟踪技术</a:t>
            </a:r>
            <a:endParaRPr lang="zh-CN" altLang="en-US"/>
          </a:p>
        </p:txBody>
      </p:sp>
      <p:sp>
        <p:nvSpPr>
          <p:cNvPr id="13" name="文本框 12"/>
          <p:cNvSpPr txBox="1"/>
          <p:nvPr/>
        </p:nvSpPr>
        <p:spPr>
          <a:xfrm>
            <a:off x="9264650" y="3645535"/>
            <a:ext cx="1735455" cy="368300"/>
          </a:xfrm>
          <a:prstGeom prst="rect">
            <a:avLst/>
          </a:prstGeom>
          <a:noFill/>
        </p:spPr>
        <p:txBody>
          <a:bodyPr wrap="square" rtlCol="0">
            <a:spAutoFit/>
          </a:bodyPr>
          <a:p>
            <a:r>
              <a:rPr lang="en-US" altLang="zh-CN"/>
              <a:t>3D</a:t>
            </a:r>
            <a:r>
              <a:rPr lang="zh-CN" altLang="en-US"/>
              <a:t>音效技术</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en-US" altLang="zh-CN"/>
              <a:t>VR</a:t>
            </a:r>
            <a:r>
              <a:rPr lang="zh-CN" altLang="en-US"/>
              <a:t>眼镜的</a:t>
            </a:r>
            <a:r>
              <a:rPr lang="zh-CN" altLang="en-US"/>
              <a:t>实现：</a:t>
            </a:r>
            <a:endParaRPr lang="zh-CN" altLang="en-US"/>
          </a:p>
        </p:txBody>
      </p:sp>
      <p:sp>
        <p:nvSpPr>
          <p:cNvPr id="3" name="矩形 2"/>
          <p:cNvSpPr/>
          <p:nvPr>
            <p:custDataLst>
              <p:tags r:id="rId2"/>
            </p:custDataLst>
          </p:nvPr>
        </p:nvSpPr>
        <p:spPr>
          <a:xfrm flipV="1">
            <a:off x="6631940" y="4185920"/>
            <a:ext cx="2870385" cy="1979930"/>
          </a:xfrm>
          <a:prstGeom prst="rect">
            <a:avLst/>
          </a:prstGeom>
          <a:solidFill>
            <a:schemeClr val="bg1">
              <a:alpha val="0"/>
            </a:schemeClr>
          </a:solidFill>
          <a:ln w="12700" cap="flat" cmpd="sng" algn="ctr">
            <a:gradFill>
              <a:gsLst>
                <a:gs pos="0">
                  <a:schemeClr val="accent1"/>
                </a:gs>
                <a:gs pos="80000">
                  <a:schemeClr val="accent1">
                    <a:alpha val="0"/>
                  </a:schemeClr>
                </a:gs>
              </a:gsLst>
              <a:lin ang="1620000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000000">
                  <a:lumMod val="75000"/>
                  <a:lumOff val="25000"/>
                </a:srgbClr>
              </a:solidFill>
              <a:effectLst/>
              <a:uLnTx/>
              <a:uFillTx/>
              <a:latin typeface="+mj-ea"/>
              <a:ea typeface="+mj-ea"/>
              <a:sym typeface="Arial" panose="020B0604020202020204" pitchFamily="34" charset="0"/>
            </a:endParaRPr>
          </a:p>
        </p:txBody>
      </p:sp>
      <p:sp>
        <p:nvSpPr>
          <p:cNvPr id="4" name="矩形 3"/>
          <p:cNvSpPr/>
          <p:nvPr>
            <p:custDataLst>
              <p:tags r:id="rId3"/>
            </p:custDataLst>
          </p:nvPr>
        </p:nvSpPr>
        <p:spPr>
          <a:xfrm flipV="1">
            <a:off x="2680150" y="4184839"/>
            <a:ext cx="2870385" cy="1979930"/>
          </a:xfrm>
          <a:prstGeom prst="rect">
            <a:avLst/>
          </a:prstGeom>
          <a:solidFill>
            <a:schemeClr val="bg1">
              <a:alpha val="0"/>
            </a:schemeClr>
          </a:solidFill>
          <a:ln w="12700" cap="flat" cmpd="sng" algn="ctr">
            <a:gradFill>
              <a:gsLst>
                <a:gs pos="0">
                  <a:schemeClr val="accent1"/>
                </a:gs>
                <a:gs pos="80000">
                  <a:schemeClr val="accent1">
                    <a:alpha val="0"/>
                  </a:schemeClr>
                </a:gs>
              </a:gsLst>
              <a:lin ang="1620000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000000">
                  <a:lumMod val="75000"/>
                  <a:lumOff val="25000"/>
                </a:srgbClr>
              </a:solidFill>
              <a:effectLst/>
              <a:uLnTx/>
              <a:uFillTx/>
              <a:latin typeface="+mj-ea"/>
              <a:ea typeface="+mj-ea"/>
              <a:sym typeface="Arial" panose="020B0604020202020204" pitchFamily="34" charset="0"/>
            </a:endParaRPr>
          </a:p>
        </p:txBody>
      </p:sp>
      <p:sp>
        <p:nvSpPr>
          <p:cNvPr id="5" name="椭圆 4"/>
          <p:cNvSpPr/>
          <p:nvPr>
            <p:custDataLst>
              <p:tags r:id="rId4"/>
            </p:custDataLst>
          </p:nvPr>
        </p:nvSpPr>
        <p:spPr>
          <a:xfrm>
            <a:off x="2018096" y="3628153"/>
            <a:ext cx="249555" cy="249555"/>
          </a:xfrm>
          <a:prstGeom prst="ellipse">
            <a:avLst/>
          </a:prstGeom>
          <a:solidFill>
            <a:schemeClr val="accent1">
              <a:alpha val="30000"/>
            </a:schemeClr>
          </a:solidFill>
          <a:ln w="635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prstClr val="white"/>
              </a:solidFill>
              <a:effectLst/>
              <a:uLnTx/>
              <a:uFillTx/>
              <a:latin typeface="+mj-ea"/>
              <a:ea typeface="+mj-ea"/>
              <a:sym typeface="Arial" panose="020B0604020202020204" pitchFamily="34" charset="0"/>
            </a:endParaRPr>
          </a:p>
        </p:txBody>
      </p:sp>
      <p:sp>
        <p:nvSpPr>
          <p:cNvPr id="6" name="椭圆 5"/>
          <p:cNvSpPr/>
          <p:nvPr>
            <p:custDataLst>
              <p:tags r:id="rId5"/>
            </p:custDataLst>
          </p:nvPr>
        </p:nvSpPr>
        <p:spPr>
          <a:xfrm>
            <a:off x="2079373" y="3689430"/>
            <a:ext cx="127000" cy="127000"/>
          </a:xfrm>
          <a:prstGeom prst="ellipse">
            <a:avLst/>
          </a:prstGeom>
          <a:solidFill>
            <a:schemeClr val="accent1"/>
          </a:solidFill>
          <a:ln w="63500" cap="flat" cmpd="sng" algn="ctr">
            <a:solidFill>
              <a:schemeClr val="accent1">
                <a:alpha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prstClr val="white"/>
              </a:solidFill>
              <a:effectLst/>
              <a:uLnTx/>
              <a:uFillTx/>
              <a:latin typeface="+mj-ea"/>
              <a:ea typeface="+mj-ea"/>
              <a:sym typeface="Arial" panose="020B0604020202020204" pitchFamily="34" charset="0"/>
            </a:endParaRPr>
          </a:p>
        </p:txBody>
      </p:sp>
      <p:sp>
        <p:nvSpPr>
          <p:cNvPr id="7" name="矩形 6"/>
          <p:cNvSpPr/>
          <p:nvPr>
            <p:custDataLst>
              <p:tags r:id="rId6"/>
            </p:custDataLst>
          </p:nvPr>
        </p:nvSpPr>
        <p:spPr>
          <a:xfrm>
            <a:off x="707681" y="1354638"/>
            <a:ext cx="2870385" cy="1979930"/>
          </a:xfrm>
          <a:prstGeom prst="rect">
            <a:avLst/>
          </a:prstGeom>
          <a:solidFill>
            <a:schemeClr val="bg1">
              <a:alpha val="0"/>
            </a:schemeClr>
          </a:solidFill>
          <a:ln w="12700" cap="flat" cmpd="sng" algn="ctr">
            <a:gradFill>
              <a:gsLst>
                <a:gs pos="0">
                  <a:schemeClr val="accent1"/>
                </a:gs>
                <a:gs pos="80000">
                  <a:schemeClr val="accent1">
                    <a:alpha val="0"/>
                  </a:schemeClr>
                </a:gs>
              </a:gsLst>
              <a:lin ang="1620000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000000">
                  <a:lumMod val="75000"/>
                  <a:lumOff val="25000"/>
                </a:srgbClr>
              </a:solidFill>
              <a:effectLst/>
              <a:uLnTx/>
              <a:uFillTx/>
              <a:latin typeface="+mj-ea"/>
              <a:ea typeface="+mj-ea"/>
              <a:sym typeface="Arial" panose="020B0604020202020204" pitchFamily="34" charset="0"/>
            </a:endParaRPr>
          </a:p>
        </p:txBody>
      </p:sp>
      <p:cxnSp>
        <p:nvCxnSpPr>
          <p:cNvPr id="8" name="直接连接符 7"/>
          <p:cNvCxnSpPr/>
          <p:nvPr>
            <p:custDataLst>
              <p:tags r:id="rId7"/>
            </p:custDataLst>
          </p:nvPr>
        </p:nvCxnSpPr>
        <p:spPr>
          <a:xfrm flipH="1" flipV="1">
            <a:off x="2142873" y="3334568"/>
            <a:ext cx="1" cy="293585"/>
          </a:xfrm>
          <a:prstGeom prst="line">
            <a:avLst/>
          </a:prstGeom>
          <a:noFill/>
          <a:ln w="12700" cap="flat" cmpd="sng" algn="ctr">
            <a:gradFill>
              <a:gsLst>
                <a:gs pos="0">
                  <a:schemeClr val="accent1">
                    <a:alpha val="0"/>
                  </a:schemeClr>
                </a:gs>
                <a:gs pos="100000">
                  <a:schemeClr val="accent1"/>
                </a:gs>
              </a:gsLst>
              <a:lin ang="5400000" scaled="1"/>
            </a:gradFill>
            <a:prstDash val="solid"/>
            <a:miter lim="800000"/>
          </a:ln>
          <a:effectLst/>
        </p:spPr>
      </p:cxnSp>
      <p:sp>
        <p:nvSpPr>
          <p:cNvPr id="34" name="矩形 33"/>
          <p:cNvSpPr/>
          <p:nvPr>
            <p:custDataLst>
              <p:tags r:id="rId8"/>
            </p:custDataLst>
          </p:nvPr>
        </p:nvSpPr>
        <p:spPr>
          <a:xfrm>
            <a:off x="1004570" y="2000250"/>
            <a:ext cx="2277110" cy="1330325"/>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400" dirty="0">
                <a:solidFill>
                  <a:schemeClr val="tx1">
                    <a:lumMod val="85000"/>
                    <a:lumOff val="15000"/>
                  </a:schemeClr>
                </a:solidFill>
                <a:latin typeface="+mn-ea"/>
                <a:cs typeface="+mn-ea"/>
              </a:rPr>
              <a:t>例如：</a:t>
            </a:r>
            <a:r>
              <a:rPr lang="en-US" altLang="zh-CN" sz="1400" dirty="0">
                <a:solidFill>
                  <a:schemeClr val="tx1">
                    <a:lumMod val="85000"/>
                    <a:lumOff val="15000"/>
                  </a:schemeClr>
                </a:solidFill>
                <a:latin typeface="+mn-ea"/>
                <a:cs typeface="+mn-ea"/>
              </a:rPr>
              <a:t>OLED</a:t>
            </a:r>
            <a:r>
              <a:rPr lang="zh-CN" altLang="en-US" sz="1400" dirty="0">
                <a:solidFill>
                  <a:schemeClr val="tx1">
                    <a:lumMod val="85000"/>
                    <a:lumOff val="15000"/>
                  </a:schemeClr>
                </a:solidFill>
                <a:latin typeface="+mn-ea"/>
                <a:cs typeface="+mn-ea"/>
              </a:rPr>
              <a:t>显示器</a:t>
            </a:r>
            <a:endParaRPr lang="zh-CN" altLang="en-US" sz="1400" dirty="0">
              <a:solidFill>
                <a:schemeClr val="tx1">
                  <a:lumMod val="85000"/>
                  <a:lumOff val="15000"/>
                </a:schemeClr>
              </a:solidFill>
              <a:latin typeface="+mn-ea"/>
              <a:cs typeface="+mn-ea"/>
            </a:endParaRPr>
          </a:p>
          <a:p>
            <a:pPr algn="ctr">
              <a:lnSpc>
                <a:spcPct val="150000"/>
              </a:lnSpc>
              <a:spcBef>
                <a:spcPct val="0"/>
              </a:spcBef>
              <a:spcAft>
                <a:spcPct val="0"/>
              </a:spcAft>
            </a:pPr>
            <a:r>
              <a:rPr lang="zh-CN" altLang="en-US" sz="1400" dirty="0">
                <a:solidFill>
                  <a:schemeClr val="tx1">
                    <a:lumMod val="85000"/>
                    <a:lumOff val="15000"/>
                  </a:schemeClr>
                </a:solidFill>
                <a:latin typeface="+mn-ea"/>
                <a:cs typeface="+mn-ea"/>
              </a:rPr>
              <a:t>巨头自发光以及刷新率高等</a:t>
            </a:r>
            <a:r>
              <a:rPr lang="zh-CN" altLang="en-US" sz="1400" dirty="0">
                <a:solidFill>
                  <a:schemeClr val="tx1">
                    <a:lumMod val="85000"/>
                    <a:lumOff val="15000"/>
                  </a:schemeClr>
                </a:solidFill>
                <a:latin typeface="+mn-ea"/>
                <a:cs typeface="+mn-ea"/>
              </a:rPr>
              <a:t>优点，是目前最适合</a:t>
            </a:r>
            <a:r>
              <a:rPr lang="en-US" altLang="zh-CN" sz="1400" dirty="0">
                <a:solidFill>
                  <a:schemeClr val="tx1">
                    <a:lumMod val="85000"/>
                    <a:lumOff val="15000"/>
                  </a:schemeClr>
                </a:solidFill>
                <a:latin typeface="+mn-ea"/>
                <a:cs typeface="+mn-ea"/>
              </a:rPr>
              <a:t>VR</a:t>
            </a:r>
            <a:r>
              <a:rPr lang="zh-CN" altLang="en-US" sz="1400" dirty="0">
                <a:solidFill>
                  <a:schemeClr val="tx1">
                    <a:lumMod val="85000"/>
                    <a:lumOff val="15000"/>
                  </a:schemeClr>
                </a:solidFill>
                <a:latin typeface="+mn-ea"/>
                <a:cs typeface="+mn-ea"/>
              </a:rPr>
              <a:t>技术的</a:t>
            </a:r>
            <a:r>
              <a:rPr lang="zh-CN" altLang="en-US" sz="1400" dirty="0">
                <a:solidFill>
                  <a:schemeClr val="tx1">
                    <a:lumMod val="85000"/>
                    <a:lumOff val="15000"/>
                  </a:schemeClr>
                </a:solidFill>
                <a:latin typeface="+mn-ea"/>
                <a:cs typeface="+mn-ea"/>
              </a:rPr>
              <a:t>显示技术</a:t>
            </a:r>
            <a:endParaRPr lang="zh-CN" altLang="en-US" sz="1400" dirty="0">
              <a:solidFill>
                <a:schemeClr val="tx1">
                  <a:lumMod val="85000"/>
                  <a:lumOff val="15000"/>
                </a:schemeClr>
              </a:solidFill>
              <a:latin typeface="+mn-ea"/>
              <a:cs typeface="+mn-ea"/>
            </a:endParaRPr>
          </a:p>
        </p:txBody>
      </p:sp>
      <p:sp>
        <p:nvSpPr>
          <p:cNvPr id="35" name="矩形 34"/>
          <p:cNvSpPr/>
          <p:nvPr>
            <p:custDataLst>
              <p:tags r:id="rId9"/>
            </p:custDataLst>
          </p:nvPr>
        </p:nvSpPr>
        <p:spPr>
          <a:xfrm>
            <a:off x="1004570" y="1434465"/>
            <a:ext cx="2277110" cy="530225"/>
          </a:xfrm>
          <a:prstGeom prst="rect">
            <a:avLst/>
          </a:prstGeom>
          <a:noFill/>
        </p:spPr>
        <p:txBody>
          <a:bodyPr wrap="square" lIns="0" tIns="0" rIns="0" bIns="0" rtlCol="0" anchor="b">
            <a:noAutofit/>
          </a:bodyPr>
          <a:lstStyle/>
          <a:p>
            <a:pPr algn="ctr">
              <a:spcBef>
                <a:spcPct val="0"/>
              </a:spcBef>
              <a:spcAft>
                <a:spcPct val="0"/>
              </a:spcAft>
            </a:pPr>
            <a:r>
              <a:rPr lang="zh-CN" altLang="en-US" sz="2000" b="1">
                <a:solidFill>
                  <a:schemeClr val="accent1"/>
                </a:solidFill>
                <a:latin typeface="+mn-ea"/>
                <a:cs typeface="+mn-ea"/>
              </a:rPr>
              <a:t>高分辨率和高刷新率的</a:t>
            </a:r>
            <a:r>
              <a:rPr lang="zh-CN" altLang="en-US" sz="2000" b="1">
                <a:solidFill>
                  <a:schemeClr val="accent1"/>
                </a:solidFill>
                <a:latin typeface="+mn-ea"/>
                <a:cs typeface="+mn-ea"/>
              </a:rPr>
              <a:t>显示器</a:t>
            </a:r>
            <a:endParaRPr lang="zh-CN" altLang="en-US" sz="2000" b="1">
              <a:solidFill>
                <a:schemeClr val="accent1"/>
              </a:solidFill>
              <a:latin typeface="+mn-ea"/>
              <a:cs typeface="+mn-ea"/>
            </a:endParaRPr>
          </a:p>
        </p:txBody>
      </p:sp>
      <p:sp>
        <p:nvSpPr>
          <p:cNvPr id="11" name="椭圆 10"/>
          <p:cNvSpPr/>
          <p:nvPr>
            <p:custDataLst>
              <p:tags r:id="rId10"/>
            </p:custDataLst>
          </p:nvPr>
        </p:nvSpPr>
        <p:spPr>
          <a:xfrm flipV="1">
            <a:off x="3990565" y="3628153"/>
            <a:ext cx="249555" cy="249555"/>
          </a:xfrm>
          <a:prstGeom prst="ellipse">
            <a:avLst/>
          </a:prstGeom>
          <a:solidFill>
            <a:schemeClr val="accent1">
              <a:alpha val="30000"/>
            </a:schemeClr>
          </a:solidFill>
          <a:ln w="635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prstClr val="white"/>
              </a:solidFill>
              <a:effectLst/>
              <a:uLnTx/>
              <a:uFillTx/>
              <a:latin typeface="+mj-ea"/>
              <a:ea typeface="+mj-ea"/>
              <a:sym typeface="Arial" panose="020B0604020202020204" pitchFamily="34" charset="0"/>
            </a:endParaRPr>
          </a:p>
        </p:txBody>
      </p:sp>
      <p:sp>
        <p:nvSpPr>
          <p:cNvPr id="12" name="椭圆 11"/>
          <p:cNvSpPr/>
          <p:nvPr>
            <p:custDataLst>
              <p:tags r:id="rId11"/>
            </p:custDataLst>
          </p:nvPr>
        </p:nvSpPr>
        <p:spPr>
          <a:xfrm flipV="1">
            <a:off x="4051842" y="3689430"/>
            <a:ext cx="127000" cy="127000"/>
          </a:xfrm>
          <a:prstGeom prst="ellipse">
            <a:avLst/>
          </a:prstGeom>
          <a:solidFill>
            <a:schemeClr val="accent1"/>
          </a:solidFill>
          <a:ln w="63500" cap="flat" cmpd="sng" algn="ctr">
            <a:solidFill>
              <a:schemeClr val="accent1">
                <a:alpha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prstClr val="white"/>
              </a:solidFill>
              <a:effectLst/>
              <a:uLnTx/>
              <a:uFillTx/>
              <a:latin typeface="+mj-ea"/>
              <a:ea typeface="+mj-ea"/>
              <a:sym typeface="Arial" panose="020B0604020202020204" pitchFamily="34" charset="0"/>
            </a:endParaRPr>
          </a:p>
        </p:txBody>
      </p:sp>
      <p:cxnSp>
        <p:nvCxnSpPr>
          <p:cNvPr id="13" name="直接连接符 12"/>
          <p:cNvCxnSpPr/>
          <p:nvPr>
            <p:custDataLst>
              <p:tags r:id="rId12"/>
            </p:custDataLst>
          </p:nvPr>
        </p:nvCxnSpPr>
        <p:spPr>
          <a:xfrm flipH="1">
            <a:off x="4115342" y="3899091"/>
            <a:ext cx="1" cy="293585"/>
          </a:xfrm>
          <a:prstGeom prst="line">
            <a:avLst/>
          </a:prstGeom>
          <a:noFill/>
          <a:ln w="12700" cap="flat" cmpd="sng" algn="ctr">
            <a:gradFill>
              <a:gsLst>
                <a:gs pos="0">
                  <a:schemeClr val="accent1">
                    <a:alpha val="0"/>
                  </a:schemeClr>
                </a:gs>
                <a:gs pos="100000">
                  <a:schemeClr val="accent1"/>
                </a:gs>
              </a:gsLst>
              <a:lin ang="5400000" scaled="1"/>
            </a:gradFill>
            <a:prstDash val="solid"/>
            <a:miter lim="800000"/>
          </a:ln>
          <a:effectLst/>
        </p:spPr>
      </p:cxnSp>
      <p:sp>
        <p:nvSpPr>
          <p:cNvPr id="36" name="矩形 35"/>
          <p:cNvSpPr/>
          <p:nvPr>
            <p:custDataLst>
              <p:tags r:id="rId13"/>
            </p:custDataLst>
          </p:nvPr>
        </p:nvSpPr>
        <p:spPr>
          <a:xfrm>
            <a:off x="2976880" y="4752975"/>
            <a:ext cx="2277110" cy="1330325"/>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400">
                <a:solidFill>
                  <a:schemeClr val="tx1">
                    <a:lumMod val="85000"/>
                    <a:lumOff val="15000"/>
                  </a:schemeClr>
                </a:solidFill>
                <a:latin typeface="+mn-ea"/>
                <a:cs typeface="+mn-ea"/>
              </a:rPr>
              <a:t>营造出立体的声音效果，增强用户的</a:t>
            </a:r>
            <a:r>
              <a:rPr lang="zh-CN" altLang="en-US" sz="1400">
                <a:solidFill>
                  <a:schemeClr val="tx1">
                    <a:lumMod val="85000"/>
                    <a:lumOff val="15000"/>
                  </a:schemeClr>
                </a:solidFill>
                <a:latin typeface="+mn-ea"/>
                <a:cs typeface="+mn-ea"/>
              </a:rPr>
              <a:t>沉浸感</a:t>
            </a:r>
            <a:endParaRPr lang="zh-CN" altLang="en-US" sz="1400">
              <a:solidFill>
                <a:schemeClr val="tx1">
                  <a:lumMod val="85000"/>
                  <a:lumOff val="15000"/>
                </a:schemeClr>
              </a:solidFill>
              <a:latin typeface="+mn-ea"/>
              <a:cs typeface="+mn-ea"/>
            </a:endParaRPr>
          </a:p>
        </p:txBody>
      </p:sp>
      <p:sp>
        <p:nvSpPr>
          <p:cNvPr id="37" name="矩形 36"/>
          <p:cNvSpPr/>
          <p:nvPr>
            <p:custDataLst>
              <p:tags r:id="rId14"/>
            </p:custDataLst>
          </p:nvPr>
        </p:nvSpPr>
        <p:spPr>
          <a:xfrm>
            <a:off x="2976880" y="4173855"/>
            <a:ext cx="2277110" cy="530225"/>
          </a:xfrm>
          <a:prstGeom prst="rect">
            <a:avLst/>
          </a:prstGeom>
          <a:noFill/>
        </p:spPr>
        <p:txBody>
          <a:bodyPr wrap="square" lIns="0" tIns="0" rIns="0" bIns="0" rtlCol="0" anchor="b">
            <a:noAutofit/>
          </a:bodyPr>
          <a:lstStyle/>
          <a:p>
            <a:pPr algn="ctr">
              <a:spcBef>
                <a:spcPct val="0"/>
              </a:spcBef>
              <a:spcAft>
                <a:spcPct val="0"/>
              </a:spcAft>
            </a:pPr>
            <a:r>
              <a:rPr lang="en-US" altLang="zh-CN" sz="2000" b="1">
                <a:solidFill>
                  <a:schemeClr val="accent1"/>
                </a:solidFill>
                <a:latin typeface="+mn-ea"/>
                <a:cs typeface="+mn-ea"/>
              </a:rPr>
              <a:t>3D</a:t>
            </a:r>
            <a:r>
              <a:rPr lang="zh-CN" altLang="en-US" sz="2000" b="1">
                <a:solidFill>
                  <a:schemeClr val="accent1"/>
                </a:solidFill>
                <a:latin typeface="+mn-ea"/>
                <a:cs typeface="+mn-ea"/>
              </a:rPr>
              <a:t>音效</a:t>
            </a:r>
            <a:r>
              <a:rPr lang="zh-CN" altLang="en-US" sz="2000" b="1">
                <a:solidFill>
                  <a:schemeClr val="accent1"/>
                </a:solidFill>
                <a:latin typeface="+mn-ea"/>
                <a:cs typeface="+mn-ea"/>
              </a:rPr>
              <a:t>技术</a:t>
            </a:r>
            <a:endParaRPr lang="zh-CN" altLang="en-US" sz="2000" b="1">
              <a:solidFill>
                <a:schemeClr val="accent1"/>
              </a:solidFill>
              <a:latin typeface="+mn-ea"/>
              <a:cs typeface="+mn-ea"/>
            </a:endParaRPr>
          </a:p>
        </p:txBody>
      </p:sp>
      <p:cxnSp>
        <p:nvCxnSpPr>
          <p:cNvPr id="16" name="直接连接符 15"/>
          <p:cNvCxnSpPr/>
          <p:nvPr>
            <p:custDataLst>
              <p:tags r:id="rId15"/>
            </p:custDataLst>
          </p:nvPr>
        </p:nvCxnSpPr>
        <p:spPr>
          <a:xfrm>
            <a:off x="697865" y="3752930"/>
            <a:ext cx="10800000" cy="0"/>
          </a:xfrm>
          <a:prstGeom prst="line">
            <a:avLst/>
          </a:prstGeom>
          <a:noFill/>
          <a:ln w="25400" cap="flat" cmpd="sng" algn="ctr">
            <a:gradFill>
              <a:gsLst>
                <a:gs pos="0">
                  <a:schemeClr val="accent1">
                    <a:alpha val="0"/>
                  </a:schemeClr>
                </a:gs>
                <a:gs pos="54000">
                  <a:schemeClr val="accent1"/>
                </a:gs>
                <a:gs pos="100000">
                  <a:schemeClr val="accent1">
                    <a:alpha val="0"/>
                  </a:schemeClr>
                </a:gs>
              </a:gsLst>
              <a:lin ang="0" scaled="0"/>
            </a:gradFill>
            <a:prstDash val="solid"/>
            <a:miter lim="800000"/>
          </a:ln>
          <a:effectLst/>
        </p:spPr>
      </p:cxnSp>
      <p:sp>
        <p:nvSpPr>
          <p:cNvPr id="17" name="椭圆 16"/>
          <p:cNvSpPr/>
          <p:nvPr>
            <p:custDataLst>
              <p:tags r:id="rId16"/>
            </p:custDataLst>
          </p:nvPr>
        </p:nvSpPr>
        <p:spPr>
          <a:xfrm>
            <a:off x="5980443" y="3624531"/>
            <a:ext cx="249555" cy="249555"/>
          </a:xfrm>
          <a:prstGeom prst="ellipse">
            <a:avLst/>
          </a:prstGeom>
          <a:solidFill>
            <a:schemeClr val="accent1">
              <a:alpha val="30000"/>
            </a:schemeClr>
          </a:solidFill>
          <a:ln w="635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prstClr val="white"/>
              </a:solidFill>
              <a:effectLst/>
              <a:uLnTx/>
              <a:uFillTx/>
              <a:latin typeface="+mj-ea"/>
              <a:ea typeface="+mj-ea"/>
              <a:sym typeface="Arial" panose="020B0604020202020204" pitchFamily="34" charset="0"/>
            </a:endParaRPr>
          </a:p>
        </p:txBody>
      </p:sp>
      <p:sp>
        <p:nvSpPr>
          <p:cNvPr id="18" name="椭圆 17"/>
          <p:cNvSpPr/>
          <p:nvPr>
            <p:custDataLst>
              <p:tags r:id="rId17"/>
            </p:custDataLst>
          </p:nvPr>
        </p:nvSpPr>
        <p:spPr>
          <a:xfrm>
            <a:off x="6041720" y="3685808"/>
            <a:ext cx="127000" cy="127000"/>
          </a:xfrm>
          <a:prstGeom prst="ellipse">
            <a:avLst/>
          </a:prstGeom>
          <a:solidFill>
            <a:schemeClr val="accent1"/>
          </a:solidFill>
          <a:ln w="63500" cap="flat" cmpd="sng" algn="ctr">
            <a:solidFill>
              <a:schemeClr val="accent1">
                <a:alpha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prstClr val="white"/>
              </a:solidFill>
              <a:effectLst/>
              <a:uLnTx/>
              <a:uFillTx/>
              <a:latin typeface="+mj-ea"/>
              <a:ea typeface="+mj-ea"/>
              <a:sym typeface="Arial" panose="020B0604020202020204" pitchFamily="34" charset="0"/>
            </a:endParaRPr>
          </a:p>
        </p:txBody>
      </p:sp>
      <p:sp>
        <p:nvSpPr>
          <p:cNvPr id="19" name="矩形 18"/>
          <p:cNvSpPr/>
          <p:nvPr>
            <p:custDataLst>
              <p:tags r:id="rId18"/>
            </p:custDataLst>
          </p:nvPr>
        </p:nvSpPr>
        <p:spPr>
          <a:xfrm>
            <a:off x="4670028" y="1351016"/>
            <a:ext cx="2870385" cy="1979930"/>
          </a:xfrm>
          <a:prstGeom prst="rect">
            <a:avLst/>
          </a:prstGeom>
          <a:solidFill>
            <a:schemeClr val="bg1">
              <a:alpha val="0"/>
            </a:schemeClr>
          </a:solidFill>
          <a:ln w="12700" cap="flat" cmpd="sng" algn="ctr">
            <a:gradFill>
              <a:gsLst>
                <a:gs pos="0">
                  <a:schemeClr val="accent1"/>
                </a:gs>
                <a:gs pos="80000">
                  <a:schemeClr val="accent1">
                    <a:alpha val="0"/>
                  </a:schemeClr>
                </a:gs>
              </a:gsLst>
              <a:lin ang="1620000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000000">
                  <a:lumMod val="75000"/>
                  <a:lumOff val="25000"/>
                </a:srgbClr>
              </a:solidFill>
              <a:effectLst/>
              <a:uLnTx/>
              <a:uFillTx/>
              <a:latin typeface="+mj-ea"/>
              <a:ea typeface="+mj-ea"/>
              <a:sym typeface="Arial" panose="020B0604020202020204" pitchFamily="34" charset="0"/>
            </a:endParaRPr>
          </a:p>
        </p:txBody>
      </p:sp>
      <p:cxnSp>
        <p:nvCxnSpPr>
          <p:cNvPr id="20" name="直接连接符 19"/>
          <p:cNvCxnSpPr/>
          <p:nvPr>
            <p:custDataLst>
              <p:tags r:id="rId19"/>
            </p:custDataLst>
          </p:nvPr>
        </p:nvCxnSpPr>
        <p:spPr>
          <a:xfrm flipH="1" flipV="1">
            <a:off x="6105220" y="3330946"/>
            <a:ext cx="1" cy="293585"/>
          </a:xfrm>
          <a:prstGeom prst="line">
            <a:avLst/>
          </a:prstGeom>
          <a:noFill/>
          <a:ln w="12700" cap="flat" cmpd="sng" algn="ctr">
            <a:gradFill>
              <a:gsLst>
                <a:gs pos="0">
                  <a:schemeClr val="accent1">
                    <a:alpha val="0"/>
                  </a:schemeClr>
                </a:gs>
                <a:gs pos="100000">
                  <a:schemeClr val="accent1"/>
                </a:gs>
              </a:gsLst>
              <a:lin ang="5400000" scaled="1"/>
            </a:gradFill>
            <a:prstDash val="solid"/>
            <a:miter lim="800000"/>
          </a:ln>
          <a:effectLst/>
        </p:spPr>
      </p:cxnSp>
      <p:sp>
        <p:nvSpPr>
          <p:cNvPr id="38" name="矩形 37"/>
          <p:cNvSpPr/>
          <p:nvPr>
            <p:custDataLst>
              <p:tags r:id="rId20"/>
            </p:custDataLst>
          </p:nvPr>
        </p:nvSpPr>
        <p:spPr>
          <a:xfrm>
            <a:off x="4966970" y="1996440"/>
            <a:ext cx="2277110" cy="1330325"/>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400">
                <a:solidFill>
                  <a:schemeClr val="tx1">
                    <a:lumMod val="85000"/>
                    <a:lumOff val="15000"/>
                  </a:schemeClr>
                </a:solidFill>
                <a:latin typeface="+mn-ea"/>
                <a:cs typeface="+mn-ea"/>
              </a:rPr>
              <a:t>需要使用双目显示、全色彩显示和高帧率等</a:t>
            </a:r>
            <a:r>
              <a:rPr lang="zh-CN" altLang="en-US" sz="1400">
                <a:solidFill>
                  <a:schemeClr val="tx1">
                    <a:lumMod val="85000"/>
                    <a:lumOff val="15000"/>
                  </a:schemeClr>
                </a:solidFill>
                <a:latin typeface="+mn-ea"/>
                <a:cs typeface="+mn-ea"/>
              </a:rPr>
              <a:t>技术特性</a:t>
            </a:r>
            <a:endParaRPr lang="zh-CN" altLang="en-US" sz="1400">
              <a:solidFill>
                <a:schemeClr val="tx1">
                  <a:lumMod val="85000"/>
                  <a:lumOff val="15000"/>
                </a:schemeClr>
              </a:solidFill>
              <a:latin typeface="+mn-ea"/>
              <a:cs typeface="+mn-ea"/>
            </a:endParaRPr>
          </a:p>
          <a:p>
            <a:pPr algn="ctr">
              <a:lnSpc>
                <a:spcPct val="150000"/>
              </a:lnSpc>
              <a:spcBef>
                <a:spcPct val="0"/>
              </a:spcBef>
              <a:spcAft>
                <a:spcPct val="0"/>
              </a:spcAft>
            </a:pPr>
            <a:r>
              <a:rPr lang="zh-CN" altLang="en-US" sz="1400">
                <a:solidFill>
                  <a:schemeClr val="tx1">
                    <a:lumMod val="85000"/>
                    <a:lumOff val="15000"/>
                  </a:schemeClr>
                </a:solidFill>
                <a:latin typeface="+mn-ea"/>
                <a:cs typeface="+mn-ea"/>
              </a:rPr>
              <a:t>还需要考虑镜头的移动范围和聚焦</a:t>
            </a:r>
            <a:r>
              <a:rPr lang="zh-CN" altLang="en-US" sz="1400">
                <a:solidFill>
                  <a:schemeClr val="tx1">
                    <a:lumMod val="85000"/>
                    <a:lumOff val="15000"/>
                  </a:schemeClr>
                </a:solidFill>
                <a:latin typeface="+mn-ea"/>
                <a:cs typeface="+mn-ea"/>
              </a:rPr>
              <a:t>过程中的舒适度</a:t>
            </a:r>
            <a:endParaRPr lang="zh-CN" altLang="en-US" sz="1400">
              <a:solidFill>
                <a:schemeClr val="tx1">
                  <a:lumMod val="85000"/>
                  <a:lumOff val="15000"/>
                </a:schemeClr>
              </a:solidFill>
              <a:latin typeface="+mn-ea"/>
              <a:cs typeface="+mn-ea"/>
            </a:endParaRPr>
          </a:p>
        </p:txBody>
      </p:sp>
      <p:sp>
        <p:nvSpPr>
          <p:cNvPr id="39" name="矩形 38"/>
          <p:cNvSpPr/>
          <p:nvPr>
            <p:custDataLst>
              <p:tags r:id="rId21"/>
            </p:custDataLst>
          </p:nvPr>
        </p:nvSpPr>
        <p:spPr>
          <a:xfrm>
            <a:off x="4966970" y="1430655"/>
            <a:ext cx="2277110" cy="530225"/>
          </a:xfrm>
          <a:prstGeom prst="rect">
            <a:avLst/>
          </a:prstGeom>
          <a:noFill/>
        </p:spPr>
        <p:txBody>
          <a:bodyPr wrap="square" lIns="0" tIns="0" rIns="0" bIns="0" rtlCol="0" anchor="b">
            <a:noAutofit/>
          </a:bodyPr>
          <a:lstStyle/>
          <a:p>
            <a:pPr algn="ctr">
              <a:spcBef>
                <a:spcPct val="0"/>
              </a:spcBef>
              <a:spcAft>
                <a:spcPct val="0"/>
              </a:spcAft>
            </a:pPr>
            <a:r>
              <a:rPr lang="zh-CN" altLang="en-US" sz="2000" b="1">
                <a:solidFill>
                  <a:schemeClr val="accent1"/>
                </a:solidFill>
                <a:latin typeface="+mn-ea"/>
                <a:cs typeface="+mn-ea"/>
              </a:rPr>
              <a:t>复杂的</a:t>
            </a:r>
            <a:r>
              <a:rPr lang="zh-CN" altLang="en-US" sz="2000" b="1">
                <a:solidFill>
                  <a:schemeClr val="accent1"/>
                </a:solidFill>
                <a:latin typeface="+mn-ea"/>
                <a:cs typeface="+mn-ea"/>
              </a:rPr>
              <a:t>光学系统设计</a:t>
            </a:r>
            <a:endParaRPr lang="zh-CN" altLang="en-US" sz="2000" b="1">
              <a:solidFill>
                <a:schemeClr val="accent1"/>
              </a:solidFill>
              <a:latin typeface="+mn-ea"/>
              <a:cs typeface="+mn-ea"/>
            </a:endParaRPr>
          </a:p>
        </p:txBody>
      </p:sp>
      <p:sp>
        <p:nvSpPr>
          <p:cNvPr id="23" name="椭圆 22"/>
          <p:cNvSpPr/>
          <p:nvPr>
            <p:custDataLst>
              <p:tags r:id="rId22"/>
            </p:custDataLst>
          </p:nvPr>
        </p:nvSpPr>
        <p:spPr>
          <a:xfrm>
            <a:off x="9933212" y="3624531"/>
            <a:ext cx="249555" cy="249555"/>
          </a:xfrm>
          <a:prstGeom prst="ellipse">
            <a:avLst/>
          </a:prstGeom>
          <a:solidFill>
            <a:schemeClr val="accent1">
              <a:alpha val="30000"/>
            </a:schemeClr>
          </a:solidFill>
          <a:ln w="635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prstClr val="white"/>
              </a:solidFill>
              <a:effectLst/>
              <a:uLnTx/>
              <a:uFillTx/>
              <a:latin typeface="+mj-ea"/>
              <a:ea typeface="+mj-ea"/>
              <a:sym typeface="Arial" panose="020B0604020202020204" pitchFamily="34" charset="0"/>
            </a:endParaRPr>
          </a:p>
        </p:txBody>
      </p:sp>
      <p:sp>
        <p:nvSpPr>
          <p:cNvPr id="24" name="椭圆 23"/>
          <p:cNvSpPr/>
          <p:nvPr>
            <p:custDataLst>
              <p:tags r:id="rId23"/>
            </p:custDataLst>
          </p:nvPr>
        </p:nvSpPr>
        <p:spPr>
          <a:xfrm>
            <a:off x="9994489" y="3685808"/>
            <a:ext cx="127000" cy="127000"/>
          </a:xfrm>
          <a:prstGeom prst="ellipse">
            <a:avLst/>
          </a:prstGeom>
          <a:solidFill>
            <a:schemeClr val="accent1"/>
          </a:solidFill>
          <a:ln w="63500" cap="flat" cmpd="sng" algn="ctr">
            <a:solidFill>
              <a:schemeClr val="accent1">
                <a:alpha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prstClr val="white"/>
              </a:solidFill>
              <a:effectLst/>
              <a:uLnTx/>
              <a:uFillTx/>
              <a:latin typeface="+mj-ea"/>
              <a:ea typeface="+mj-ea"/>
              <a:sym typeface="Arial" panose="020B0604020202020204" pitchFamily="34" charset="0"/>
            </a:endParaRPr>
          </a:p>
        </p:txBody>
      </p:sp>
      <p:sp>
        <p:nvSpPr>
          <p:cNvPr id="25" name="矩形 24"/>
          <p:cNvSpPr/>
          <p:nvPr>
            <p:custDataLst>
              <p:tags r:id="rId24"/>
            </p:custDataLst>
          </p:nvPr>
        </p:nvSpPr>
        <p:spPr>
          <a:xfrm>
            <a:off x="8622797" y="1351016"/>
            <a:ext cx="2870385" cy="1979930"/>
          </a:xfrm>
          <a:prstGeom prst="rect">
            <a:avLst/>
          </a:prstGeom>
          <a:solidFill>
            <a:schemeClr val="bg1">
              <a:alpha val="0"/>
            </a:schemeClr>
          </a:solidFill>
          <a:ln w="12700" cap="flat" cmpd="sng" algn="ctr">
            <a:gradFill>
              <a:gsLst>
                <a:gs pos="0">
                  <a:schemeClr val="accent1"/>
                </a:gs>
                <a:gs pos="80000">
                  <a:schemeClr val="accent1">
                    <a:alpha val="0"/>
                  </a:schemeClr>
                </a:gs>
              </a:gsLst>
              <a:lin ang="1620000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000000">
                  <a:lumMod val="75000"/>
                  <a:lumOff val="25000"/>
                </a:srgbClr>
              </a:solidFill>
              <a:effectLst/>
              <a:uLnTx/>
              <a:uFillTx/>
              <a:latin typeface="+mj-ea"/>
              <a:ea typeface="+mj-ea"/>
              <a:sym typeface="Arial" panose="020B0604020202020204" pitchFamily="34" charset="0"/>
            </a:endParaRPr>
          </a:p>
        </p:txBody>
      </p:sp>
      <p:cxnSp>
        <p:nvCxnSpPr>
          <p:cNvPr id="26" name="直接连接符 25"/>
          <p:cNvCxnSpPr/>
          <p:nvPr>
            <p:custDataLst>
              <p:tags r:id="rId25"/>
            </p:custDataLst>
          </p:nvPr>
        </p:nvCxnSpPr>
        <p:spPr>
          <a:xfrm flipH="1" flipV="1">
            <a:off x="10057989" y="3330946"/>
            <a:ext cx="1" cy="293585"/>
          </a:xfrm>
          <a:prstGeom prst="line">
            <a:avLst/>
          </a:prstGeom>
          <a:noFill/>
          <a:ln w="12700" cap="flat" cmpd="sng" algn="ctr">
            <a:gradFill>
              <a:gsLst>
                <a:gs pos="0">
                  <a:schemeClr val="accent1">
                    <a:alpha val="0"/>
                  </a:schemeClr>
                </a:gs>
                <a:gs pos="100000">
                  <a:schemeClr val="accent1"/>
                </a:gs>
              </a:gsLst>
              <a:lin ang="5400000" scaled="1"/>
            </a:gradFill>
            <a:prstDash val="solid"/>
            <a:miter lim="800000"/>
          </a:ln>
          <a:effectLst/>
        </p:spPr>
      </p:cxnSp>
      <p:sp>
        <p:nvSpPr>
          <p:cNvPr id="40" name="矩形 39"/>
          <p:cNvSpPr/>
          <p:nvPr>
            <p:custDataLst>
              <p:tags r:id="rId26"/>
            </p:custDataLst>
          </p:nvPr>
        </p:nvSpPr>
        <p:spPr>
          <a:xfrm>
            <a:off x="8919210" y="1996440"/>
            <a:ext cx="2277110" cy="1330325"/>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400" dirty="0">
                <a:solidFill>
                  <a:schemeClr val="tx1">
                    <a:lumMod val="85000"/>
                    <a:lumOff val="15000"/>
                  </a:schemeClr>
                </a:solidFill>
                <a:latin typeface="+mn-ea"/>
                <a:cs typeface="+mn-ea"/>
              </a:rPr>
              <a:t>传感器</a:t>
            </a:r>
            <a:r>
              <a:rPr lang="zh-CN" altLang="en-US" sz="1400" dirty="0">
                <a:solidFill>
                  <a:schemeClr val="tx1">
                    <a:lumMod val="85000"/>
                    <a:lumOff val="15000"/>
                  </a:schemeClr>
                </a:solidFill>
                <a:latin typeface="+mn-ea"/>
                <a:cs typeface="+mn-ea"/>
              </a:rPr>
              <a:t>实时检测头部运动</a:t>
            </a:r>
            <a:r>
              <a:rPr lang="en-US" altLang="zh-CN" sz="1400" dirty="0">
                <a:solidFill>
                  <a:schemeClr val="tx1">
                    <a:lumMod val="85000"/>
                    <a:lumOff val="15000"/>
                  </a:schemeClr>
                </a:solidFill>
                <a:latin typeface="+mn-ea"/>
                <a:cs typeface="+mn-ea"/>
              </a:rPr>
              <a:t>——&gt;</a:t>
            </a:r>
            <a:r>
              <a:rPr lang="zh-CN" altLang="en-US" sz="1400" dirty="0">
                <a:solidFill>
                  <a:schemeClr val="tx1">
                    <a:lumMod val="85000"/>
                    <a:lumOff val="15000"/>
                  </a:schemeClr>
                </a:solidFill>
                <a:latin typeface="+mn-ea"/>
                <a:cs typeface="+mn-ea"/>
              </a:rPr>
              <a:t>传输给处理器</a:t>
            </a:r>
            <a:endParaRPr lang="zh-CN" altLang="en-US" sz="1400" dirty="0">
              <a:solidFill>
                <a:schemeClr val="tx1">
                  <a:lumMod val="85000"/>
                  <a:lumOff val="15000"/>
                </a:schemeClr>
              </a:solidFill>
              <a:latin typeface="+mn-ea"/>
              <a:cs typeface="+mn-ea"/>
            </a:endParaRPr>
          </a:p>
        </p:txBody>
      </p:sp>
      <p:sp>
        <p:nvSpPr>
          <p:cNvPr id="41" name="矩形 40"/>
          <p:cNvSpPr/>
          <p:nvPr>
            <p:custDataLst>
              <p:tags r:id="rId27"/>
            </p:custDataLst>
          </p:nvPr>
        </p:nvSpPr>
        <p:spPr>
          <a:xfrm>
            <a:off x="8919210" y="1430655"/>
            <a:ext cx="2277110" cy="530225"/>
          </a:xfrm>
          <a:prstGeom prst="rect">
            <a:avLst/>
          </a:prstGeom>
          <a:noFill/>
        </p:spPr>
        <p:txBody>
          <a:bodyPr wrap="square" lIns="0" tIns="0" rIns="0" bIns="0" rtlCol="0" anchor="b">
            <a:noAutofit/>
          </a:bodyPr>
          <a:lstStyle/>
          <a:p>
            <a:pPr algn="ctr">
              <a:spcBef>
                <a:spcPct val="0"/>
              </a:spcBef>
              <a:spcAft>
                <a:spcPct val="0"/>
              </a:spcAft>
            </a:pPr>
            <a:r>
              <a:rPr lang="zh-CN" altLang="en-US" sz="2000" b="1">
                <a:solidFill>
                  <a:schemeClr val="accent1"/>
                </a:solidFill>
                <a:latin typeface="+mn-ea"/>
                <a:cs typeface="+mn-ea"/>
              </a:rPr>
              <a:t>头部运动跟踪技术</a:t>
            </a:r>
            <a:endParaRPr lang="zh-CN" altLang="en-US" sz="2000" b="1">
              <a:solidFill>
                <a:schemeClr val="accent1"/>
              </a:solidFill>
              <a:latin typeface="+mn-ea"/>
              <a:cs typeface="+mn-ea"/>
            </a:endParaRPr>
          </a:p>
        </p:txBody>
      </p:sp>
      <p:sp>
        <p:nvSpPr>
          <p:cNvPr id="29" name="椭圆 28"/>
          <p:cNvSpPr/>
          <p:nvPr>
            <p:custDataLst>
              <p:tags r:id="rId28"/>
            </p:custDataLst>
          </p:nvPr>
        </p:nvSpPr>
        <p:spPr>
          <a:xfrm flipV="1">
            <a:off x="7942355" y="3629234"/>
            <a:ext cx="249555" cy="249555"/>
          </a:xfrm>
          <a:prstGeom prst="ellipse">
            <a:avLst/>
          </a:prstGeom>
          <a:solidFill>
            <a:schemeClr val="accent1">
              <a:alpha val="30000"/>
            </a:schemeClr>
          </a:solidFill>
          <a:ln w="635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prstClr val="white"/>
              </a:solidFill>
              <a:effectLst/>
              <a:uLnTx/>
              <a:uFillTx/>
              <a:latin typeface="+mj-ea"/>
              <a:ea typeface="+mj-ea"/>
              <a:sym typeface="Arial" panose="020B0604020202020204" pitchFamily="34" charset="0"/>
            </a:endParaRPr>
          </a:p>
        </p:txBody>
      </p:sp>
      <p:sp>
        <p:nvSpPr>
          <p:cNvPr id="30" name="椭圆 29"/>
          <p:cNvSpPr/>
          <p:nvPr>
            <p:custDataLst>
              <p:tags r:id="rId29"/>
            </p:custDataLst>
          </p:nvPr>
        </p:nvSpPr>
        <p:spPr>
          <a:xfrm flipV="1">
            <a:off x="8003632" y="3690511"/>
            <a:ext cx="127000" cy="127000"/>
          </a:xfrm>
          <a:prstGeom prst="ellipse">
            <a:avLst/>
          </a:prstGeom>
          <a:solidFill>
            <a:schemeClr val="accent1"/>
          </a:solidFill>
          <a:ln w="63500" cap="flat" cmpd="sng" algn="ctr">
            <a:solidFill>
              <a:schemeClr val="accent1">
                <a:alpha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prstClr val="white"/>
              </a:solidFill>
              <a:effectLst/>
              <a:uLnTx/>
              <a:uFillTx/>
              <a:latin typeface="+mj-ea"/>
              <a:ea typeface="+mj-ea"/>
              <a:sym typeface="Arial" panose="020B0604020202020204" pitchFamily="34" charset="0"/>
            </a:endParaRPr>
          </a:p>
        </p:txBody>
      </p:sp>
      <p:cxnSp>
        <p:nvCxnSpPr>
          <p:cNvPr id="31" name="直接连接符 30"/>
          <p:cNvCxnSpPr/>
          <p:nvPr>
            <p:custDataLst>
              <p:tags r:id="rId30"/>
            </p:custDataLst>
          </p:nvPr>
        </p:nvCxnSpPr>
        <p:spPr>
          <a:xfrm flipH="1">
            <a:off x="8067132" y="3900172"/>
            <a:ext cx="1" cy="293585"/>
          </a:xfrm>
          <a:prstGeom prst="line">
            <a:avLst/>
          </a:prstGeom>
          <a:noFill/>
          <a:ln w="12700" cap="flat" cmpd="sng" algn="ctr">
            <a:gradFill>
              <a:gsLst>
                <a:gs pos="0">
                  <a:schemeClr val="accent1">
                    <a:alpha val="0"/>
                  </a:schemeClr>
                </a:gs>
                <a:gs pos="100000">
                  <a:schemeClr val="accent1"/>
                </a:gs>
              </a:gsLst>
              <a:lin ang="5400000" scaled="1"/>
            </a:gradFill>
            <a:prstDash val="solid"/>
            <a:miter lim="800000"/>
          </a:ln>
          <a:effectLst/>
        </p:spPr>
      </p:cxnSp>
      <p:sp>
        <p:nvSpPr>
          <p:cNvPr id="42" name="矩形 41"/>
          <p:cNvSpPr/>
          <p:nvPr>
            <p:custDataLst>
              <p:tags r:id="rId31"/>
            </p:custDataLst>
          </p:nvPr>
        </p:nvSpPr>
        <p:spPr>
          <a:xfrm>
            <a:off x="6928485" y="4754245"/>
            <a:ext cx="2277110" cy="1330325"/>
          </a:xfrm>
          <a:prstGeom prst="rect">
            <a:avLst/>
          </a:prstGeom>
          <a:noFill/>
        </p:spPr>
        <p:txBody>
          <a:bodyPr wrap="square" lIns="0" tIns="0" rIns="0" bIns="0" rtlCol="0" anchor="t" anchorCtr="0">
            <a:noAutofit/>
          </a:bodyPr>
          <a:lstStyle/>
          <a:p>
            <a:pPr algn="ctr">
              <a:lnSpc>
                <a:spcPct val="150000"/>
              </a:lnSpc>
              <a:spcBef>
                <a:spcPct val="0"/>
              </a:spcBef>
              <a:spcAft>
                <a:spcPct val="0"/>
              </a:spcAft>
            </a:pPr>
            <a:r>
              <a:rPr lang="zh-CN" altLang="en-US" sz="1400">
                <a:solidFill>
                  <a:schemeClr val="tx1">
                    <a:lumMod val="85000"/>
                    <a:lumOff val="15000"/>
                  </a:schemeClr>
                </a:solidFill>
                <a:latin typeface="+mn-ea"/>
                <a:cs typeface="+mn-ea"/>
              </a:rPr>
              <a:t>减少线缆的束缚，提高用户的</a:t>
            </a:r>
            <a:r>
              <a:rPr lang="zh-CN" altLang="en-US" sz="1400">
                <a:solidFill>
                  <a:schemeClr val="tx1">
                    <a:lumMod val="85000"/>
                    <a:lumOff val="15000"/>
                  </a:schemeClr>
                </a:solidFill>
                <a:latin typeface="+mn-ea"/>
                <a:cs typeface="+mn-ea"/>
              </a:rPr>
              <a:t>使用体验</a:t>
            </a:r>
            <a:endParaRPr lang="zh-CN" altLang="en-US" sz="1400">
              <a:solidFill>
                <a:schemeClr val="tx1">
                  <a:lumMod val="85000"/>
                  <a:lumOff val="15000"/>
                </a:schemeClr>
              </a:solidFill>
              <a:latin typeface="+mn-ea"/>
              <a:cs typeface="+mn-ea"/>
            </a:endParaRPr>
          </a:p>
        </p:txBody>
      </p:sp>
      <p:sp>
        <p:nvSpPr>
          <p:cNvPr id="43" name="矩形 42"/>
          <p:cNvSpPr/>
          <p:nvPr>
            <p:custDataLst>
              <p:tags r:id="rId32"/>
            </p:custDataLst>
          </p:nvPr>
        </p:nvSpPr>
        <p:spPr>
          <a:xfrm>
            <a:off x="6928485" y="4174490"/>
            <a:ext cx="2277110" cy="530225"/>
          </a:xfrm>
          <a:prstGeom prst="rect">
            <a:avLst/>
          </a:prstGeom>
          <a:noFill/>
        </p:spPr>
        <p:txBody>
          <a:bodyPr wrap="square" lIns="0" tIns="0" rIns="0" bIns="0" rtlCol="0" anchor="b">
            <a:noAutofit/>
          </a:bodyPr>
          <a:lstStyle/>
          <a:p>
            <a:pPr algn="ctr">
              <a:spcBef>
                <a:spcPct val="0"/>
              </a:spcBef>
              <a:spcAft>
                <a:spcPct val="0"/>
              </a:spcAft>
            </a:pPr>
            <a:r>
              <a:rPr lang="zh-CN" altLang="en-US" sz="2000" b="1">
                <a:solidFill>
                  <a:schemeClr val="accent1"/>
                </a:solidFill>
                <a:latin typeface="+mn-ea"/>
                <a:cs typeface="+mn-ea"/>
              </a:rPr>
              <a:t>无线传输</a:t>
            </a:r>
            <a:r>
              <a:rPr lang="zh-CN" altLang="en-US" sz="2000" b="1">
                <a:solidFill>
                  <a:schemeClr val="accent1"/>
                </a:solidFill>
                <a:latin typeface="+mn-ea"/>
                <a:cs typeface="+mn-ea"/>
              </a:rPr>
              <a:t>技术</a:t>
            </a:r>
            <a:endParaRPr lang="zh-CN" altLang="en-US" sz="2000" b="1">
              <a:solidFill>
                <a:schemeClr val="accent1"/>
              </a:solidFill>
              <a:latin typeface="+mn-ea"/>
              <a:cs typeface="+mn-ea"/>
            </a:endParaRPr>
          </a:p>
        </p:txBody>
      </p:sp>
    </p:spTree>
    <p:custDataLst>
      <p:tags r:id="rId3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DED8CC"/>
        </a:solidFill>
        <a:effectLst/>
      </p:bgPr>
    </p:bg>
    <p:spTree>
      <p:nvGrpSpPr>
        <p:cNvPr id="1" name=""/>
        <p:cNvGrpSpPr/>
        <p:nvPr/>
      </p:nvGrpSpPr>
      <p:grpSpPr>
        <a:xfrm>
          <a:off x="0" y="0"/>
          <a:ext cx="0" cy="0"/>
          <a:chOff x="0" y="0"/>
          <a:chExt cx="0" cy="0"/>
        </a:xfrm>
      </p:grpSpPr>
      <p:sp>
        <p:nvSpPr>
          <p:cNvPr id="14" name="椭圆 13"/>
          <p:cNvSpPr/>
          <p:nvPr/>
        </p:nvSpPr>
        <p:spPr>
          <a:xfrm>
            <a:off x="5342255" y="2439670"/>
            <a:ext cx="1992630" cy="1992630"/>
          </a:xfrm>
          <a:prstGeom prst="ellipse">
            <a:avLst/>
          </a:prstGeom>
          <a:noFill/>
          <a:ln>
            <a:solidFill>
              <a:srgbClr val="7E59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342255" y="2684780"/>
            <a:ext cx="3546475" cy="2491740"/>
          </a:xfrm>
          <a:prstGeom prst="rect">
            <a:avLst/>
          </a:prstGeom>
          <a:noFill/>
        </p:spPr>
        <p:txBody>
          <a:bodyPr wrap="square" rtlCol="0">
            <a:spAutoFit/>
          </a:bodyPr>
          <a:lstStyle/>
          <a:p>
            <a:pPr>
              <a:lnSpc>
                <a:spcPct val="150000"/>
              </a:lnSpc>
            </a:pPr>
            <a:r>
              <a:rPr lang="en-US" altLang="zh-CN" sz="1800" spc="500" noProof="1">
                <a:solidFill>
                  <a:srgbClr val="7E593C"/>
                </a:solidFill>
                <a:latin typeface="+mj-lt"/>
                <a:ea typeface="宋体" panose="02010600030101010101" pitchFamily="2" charset="-122"/>
                <a:cs typeface="+mj-lt"/>
              </a:rPr>
              <a:t>   </a:t>
            </a:r>
            <a:r>
              <a:rPr lang="en-US" altLang="zh-CN" sz="2800" spc="200" noProof="1">
                <a:solidFill>
                  <a:srgbClr val="7E593C"/>
                </a:solidFill>
                <a:latin typeface="+mj-lt"/>
                <a:ea typeface="宋体" panose="02010600030101010101" pitchFamily="2" charset="-122"/>
                <a:cs typeface="+mj-lt"/>
                <a:sym typeface="+mn-ea"/>
              </a:rPr>
              <a:t> </a:t>
            </a:r>
            <a:endParaRPr lang="en-US" altLang="zh-CN" sz="2800" spc="200" noProof="1">
              <a:solidFill>
                <a:schemeClr val="bg1">
                  <a:lumMod val="50000"/>
                </a:schemeClr>
              </a:solidFill>
              <a:latin typeface="+mj-lt"/>
              <a:cs typeface="+mj-lt"/>
              <a:sym typeface="+mn-ea"/>
            </a:endParaRPr>
          </a:p>
          <a:p>
            <a:pPr>
              <a:lnSpc>
                <a:spcPct val="150000"/>
              </a:lnSpc>
            </a:pPr>
            <a:endParaRPr lang="en-US" altLang="zh-CN" sz="2800" spc="200" noProof="1">
              <a:solidFill>
                <a:schemeClr val="tx1">
                  <a:lumMod val="95000"/>
                  <a:lumOff val="5000"/>
                </a:schemeClr>
              </a:solidFill>
              <a:latin typeface="+mj-lt"/>
              <a:cs typeface="+mj-lt"/>
            </a:endParaRPr>
          </a:p>
          <a:p>
            <a:pPr>
              <a:lnSpc>
                <a:spcPct val="150000"/>
              </a:lnSpc>
            </a:pPr>
            <a:endParaRPr lang="en-US" altLang="zh-CN" sz="1200"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4" name="文本框 3"/>
          <p:cNvSpPr txBox="1"/>
          <p:nvPr/>
        </p:nvSpPr>
        <p:spPr>
          <a:xfrm>
            <a:off x="7811135" y="4827905"/>
            <a:ext cx="3409315" cy="922020"/>
          </a:xfrm>
          <a:prstGeom prst="rect">
            <a:avLst/>
          </a:prstGeom>
          <a:noFill/>
        </p:spPr>
        <p:txBody>
          <a:bodyPr wrap="square" rtlCol="0">
            <a:spAutoFit/>
          </a:bodyPr>
          <a:lstStyle/>
          <a:p>
            <a:pPr algn="r">
              <a:lnSpc>
                <a:spcPct val="150000"/>
              </a:lnSpc>
            </a:pPr>
            <a:r>
              <a:rPr lang="en-US" altLang="zh-CN" spc="200" noProof="1">
                <a:solidFill>
                  <a:schemeClr val="bg1"/>
                </a:solidFill>
                <a:latin typeface="+mj-lt"/>
                <a:ea typeface="宋体" panose="02010600030101010101" pitchFamily="2" charset="-122"/>
                <a:cs typeface="+mj-lt"/>
                <a:sym typeface="+mn-ea"/>
              </a:rPr>
              <a:t>.</a:t>
            </a:r>
            <a:endParaRPr lang="en-US" altLang="zh-CN" spc="200" noProof="1">
              <a:solidFill>
                <a:schemeClr val="bg1">
                  <a:lumMod val="50000"/>
                </a:schemeClr>
              </a:solidFill>
              <a:latin typeface="+mj-lt"/>
              <a:cs typeface="+mj-lt"/>
            </a:endParaRPr>
          </a:p>
          <a:p>
            <a:pPr>
              <a:lnSpc>
                <a:spcPct val="150000"/>
              </a:lnSpc>
            </a:pPr>
            <a:endParaRPr lang="en-US" altLang="zh-CN" spc="200" noProof="1">
              <a:solidFill>
                <a:schemeClr val="bg1">
                  <a:lumMod val="50000"/>
                </a:schemeClr>
              </a:solidFill>
              <a:latin typeface="+mj-lt"/>
              <a:cs typeface="+mj-lt"/>
            </a:endParaRPr>
          </a:p>
        </p:txBody>
      </p:sp>
      <p:pic>
        <p:nvPicPr>
          <p:cNvPr id="13" name="图片 12" descr="d909388ef9f30ac29dfb903d38a6302"/>
          <p:cNvPicPr>
            <a:picLocks noChangeAspect="1"/>
          </p:cNvPicPr>
          <p:nvPr/>
        </p:nvPicPr>
        <p:blipFill>
          <a:blip r:embed="rId1"/>
          <a:srcRect l="-3560" t="23088" r="30412" b="51335"/>
          <a:stretch>
            <a:fillRect/>
          </a:stretch>
        </p:blipFill>
        <p:spPr>
          <a:xfrm rot="16200000">
            <a:off x="-2012950" y="1948815"/>
            <a:ext cx="7264400" cy="3288665"/>
          </a:xfrm>
          <a:prstGeom prst="rect">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15" name="文本框 14"/>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07</a:t>
            </a:r>
            <a:endParaRPr lang="en-US" dirty="0"/>
          </a:p>
        </p:txBody>
      </p:sp>
      <p:cxnSp>
        <p:nvCxnSpPr>
          <p:cNvPr id="17" name="曲线连接符 16"/>
          <p:cNvCxnSpPr/>
          <p:nvPr/>
        </p:nvCxnSpPr>
        <p:spPr>
          <a:xfrm rot="5400000">
            <a:off x="6447155" y="1844040"/>
            <a:ext cx="5062220" cy="5003165"/>
          </a:xfrm>
          <a:prstGeom prst="curvedConnector3">
            <a:avLst>
              <a:gd name="adj1" fmla="val 50006"/>
            </a:avLst>
          </a:prstGeom>
          <a:ln>
            <a:solidFill>
              <a:srgbClr val="7E593C"/>
            </a:solidFill>
          </a:ln>
        </p:spPr>
        <p:style>
          <a:lnRef idx="1">
            <a:schemeClr val="accent1"/>
          </a:lnRef>
          <a:fillRef idx="0">
            <a:schemeClr val="accent1"/>
          </a:fillRef>
          <a:effectRef idx="0">
            <a:schemeClr val="accent1"/>
          </a:effectRef>
          <a:fontRef idx="minor">
            <a:schemeClr val="tx1"/>
          </a:fontRef>
        </p:style>
      </p:cxnSp>
      <p:cxnSp>
        <p:nvCxnSpPr>
          <p:cNvPr id="19" name="曲线连接符 18"/>
          <p:cNvCxnSpPr/>
          <p:nvPr/>
        </p:nvCxnSpPr>
        <p:spPr>
          <a:xfrm rot="5400000" flipV="1">
            <a:off x="7647305" y="277495"/>
            <a:ext cx="2973070" cy="2340610"/>
          </a:xfrm>
          <a:prstGeom prst="curvedConnector3">
            <a:avLst>
              <a:gd name="adj1" fmla="val 50021"/>
            </a:avLst>
          </a:prstGeom>
          <a:ln>
            <a:solidFill>
              <a:srgbClr val="7E593C"/>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1631950" y="4221480"/>
            <a:ext cx="2447925" cy="2637155"/>
          </a:xfrm>
          <a:prstGeom prst="rect">
            <a:avLst/>
          </a:prstGeom>
          <a:solidFill>
            <a:srgbClr val="DED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曲线连接符 21"/>
          <p:cNvCxnSpPr/>
          <p:nvPr/>
        </p:nvCxnSpPr>
        <p:spPr>
          <a:xfrm>
            <a:off x="-24765" y="1988820"/>
            <a:ext cx="6264910" cy="4869180"/>
          </a:xfrm>
          <a:prstGeom prst="curvedConnector3">
            <a:avLst>
              <a:gd name="adj1" fmla="val 50010"/>
            </a:avLst>
          </a:prstGeom>
          <a:ln>
            <a:solidFill>
              <a:srgbClr val="7E593C"/>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2927350" y="2421255"/>
            <a:ext cx="7506970" cy="1938020"/>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p>
            <a:r>
              <a:rPr lang="en-US" altLang="zh-CN" sz="6000">
                <a:solidFill>
                  <a:schemeClr val="accent3"/>
                </a:solidFill>
                <a:effectLst/>
              </a:rPr>
              <a:t>VR</a:t>
            </a:r>
            <a:r>
              <a:rPr lang="zh-CN" altLang="en-US" sz="6000">
                <a:solidFill>
                  <a:schemeClr val="accent3"/>
                </a:solidFill>
                <a:effectLst/>
              </a:rPr>
              <a:t>技术存在的问题以及</a:t>
            </a:r>
            <a:r>
              <a:rPr lang="en-US" altLang="zh-CN" sz="6000">
                <a:solidFill>
                  <a:schemeClr val="accent3"/>
                </a:solidFill>
                <a:effectLst/>
              </a:rPr>
              <a:t>VR</a:t>
            </a:r>
            <a:r>
              <a:rPr lang="zh-CN" altLang="en-US" sz="6000">
                <a:solidFill>
                  <a:schemeClr val="accent3"/>
                </a:solidFill>
                <a:effectLst/>
              </a:rPr>
              <a:t>领域存在的争议</a:t>
            </a:r>
            <a:endParaRPr lang="zh-CN" altLang="en-US" sz="6000">
              <a:solidFill>
                <a:schemeClr val="accent3"/>
              </a:solidFill>
              <a:effectLst/>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DED8CC"/>
        </a:solidFill>
        <a:effectLst/>
      </p:bgPr>
    </p:bg>
    <p:spTree>
      <p:nvGrpSpPr>
        <p:cNvPr id="1" name=""/>
        <p:cNvGrpSpPr/>
        <p:nvPr/>
      </p:nvGrpSpPr>
      <p:grpSpPr>
        <a:xfrm>
          <a:off x="0" y="0"/>
          <a:ext cx="0" cy="0"/>
          <a:chOff x="0" y="0"/>
          <a:chExt cx="0" cy="0"/>
        </a:xfrm>
      </p:grpSpPr>
      <p:sp>
        <p:nvSpPr>
          <p:cNvPr id="14" name="椭圆 13"/>
          <p:cNvSpPr/>
          <p:nvPr/>
        </p:nvSpPr>
        <p:spPr>
          <a:xfrm>
            <a:off x="5342255" y="2439670"/>
            <a:ext cx="1992630" cy="1992630"/>
          </a:xfrm>
          <a:prstGeom prst="ellipse">
            <a:avLst/>
          </a:prstGeom>
          <a:noFill/>
          <a:ln>
            <a:solidFill>
              <a:srgbClr val="7E59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342255" y="2684780"/>
            <a:ext cx="3546475" cy="2491740"/>
          </a:xfrm>
          <a:prstGeom prst="rect">
            <a:avLst/>
          </a:prstGeom>
          <a:noFill/>
        </p:spPr>
        <p:txBody>
          <a:bodyPr wrap="square" rtlCol="0">
            <a:spAutoFit/>
          </a:bodyPr>
          <a:lstStyle/>
          <a:p>
            <a:pPr>
              <a:lnSpc>
                <a:spcPct val="150000"/>
              </a:lnSpc>
            </a:pPr>
            <a:r>
              <a:rPr lang="en-US" altLang="zh-CN" sz="1800" spc="500" noProof="1">
                <a:solidFill>
                  <a:srgbClr val="7E593C"/>
                </a:solidFill>
                <a:latin typeface="+mj-lt"/>
                <a:ea typeface="宋体" panose="02010600030101010101" pitchFamily="2" charset="-122"/>
                <a:cs typeface="+mj-lt"/>
              </a:rPr>
              <a:t>   </a:t>
            </a:r>
            <a:r>
              <a:rPr lang="en-US" altLang="zh-CN" sz="2800" spc="200" noProof="1">
                <a:solidFill>
                  <a:srgbClr val="7E593C"/>
                </a:solidFill>
                <a:latin typeface="+mj-lt"/>
                <a:ea typeface="宋体" panose="02010600030101010101" pitchFamily="2" charset="-122"/>
                <a:cs typeface="+mj-lt"/>
                <a:sym typeface="+mn-ea"/>
              </a:rPr>
              <a:t> </a:t>
            </a:r>
            <a:endParaRPr lang="en-US" altLang="zh-CN" sz="2800" spc="200" noProof="1">
              <a:solidFill>
                <a:schemeClr val="bg1">
                  <a:lumMod val="50000"/>
                </a:schemeClr>
              </a:solidFill>
              <a:latin typeface="+mj-lt"/>
              <a:cs typeface="+mj-lt"/>
              <a:sym typeface="+mn-ea"/>
            </a:endParaRPr>
          </a:p>
          <a:p>
            <a:pPr>
              <a:lnSpc>
                <a:spcPct val="150000"/>
              </a:lnSpc>
            </a:pPr>
            <a:endParaRPr lang="en-US" altLang="zh-CN" sz="2800" spc="200" noProof="1">
              <a:solidFill>
                <a:schemeClr val="tx1">
                  <a:lumMod val="95000"/>
                  <a:lumOff val="5000"/>
                </a:schemeClr>
              </a:solidFill>
              <a:latin typeface="+mj-lt"/>
              <a:cs typeface="+mj-lt"/>
            </a:endParaRPr>
          </a:p>
          <a:p>
            <a:pPr>
              <a:lnSpc>
                <a:spcPct val="150000"/>
              </a:lnSpc>
            </a:pPr>
            <a:endParaRPr lang="en-US" altLang="zh-CN" sz="1200"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4" name="文本框 3"/>
          <p:cNvSpPr txBox="1"/>
          <p:nvPr/>
        </p:nvSpPr>
        <p:spPr>
          <a:xfrm>
            <a:off x="7811135" y="4827905"/>
            <a:ext cx="3409315" cy="922020"/>
          </a:xfrm>
          <a:prstGeom prst="rect">
            <a:avLst/>
          </a:prstGeom>
          <a:noFill/>
        </p:spPr>
        <p:txBody>
          <a:bodyPr wrap="square" rtlCol="0">
            <a:spAutoFit/>
          </a:bodyPr>
          <a:lstStyle/>
          <a:p>
            <a:pPr algn="r">
              <a:lnSpc>
                <a:spcPct val="150000"/>
              </a:lnSpc>
            </a:pPr>
            <a:r>
              <a:rPr lang="en-US" altLang="zh-CN" spc="200" noProof="1">
                <a:solidFill>
                  <a:schemeClr val="bg1"/>
                </a:solidFill>
                <a:latin typeface="+mj-lt"/>
                <a:ea typeface="宋体" panose="02010600030101010101" pitchFamily="2" charset="-122"/>
                <a:cs typeface="+mj-lt"/>
                <a:sym typeface="+mn-ea"/>
              </a:rPr>
              <a:t>.</a:t>
            </a:r>
            <a:endParaRPr lang="en-US" altLang="zh-CN" spc="200" noProof="1">
              <a:solidFill>
                <a:schemeClr val="bg1">
                  <a:lumMod val="50000"/>
                </a:schemeClr>
              </a:solidFill>
              <a:latin typeface="+mj-lt"/>
              <a:cs typeface="+mj-lt"/>
            </a:endParaRPr>
          </a:p>
          <a:p>
            <a:pPr>
              <a:lnSpc>
                <a:spcPct val="150000"/>
              </a:lnSpc>
            </a:pPr>
            <a:endParaRPr lang="en-US" altLang="zh-CN" spc="200" noProof="1">
              <a:solidFill>
                <a:schemeClr val="bg1">
                  <a:lumMod val="50000"/>
                </a:schemeClr>
              </a:solidFill>
              <a:latin typeface="+mj-lt"/>
              <a:cs typeface="+mj-lt"/>
            </a:endParaRPr>
          </a:p>
        </p:txBody>
      </p:sp>
      <p:pic>
        <p:nvPicPr>
          <p:cNvPr id="13" name="图片 12" descr="d909388ef9f30ac29dfb903d38a6302"/>
          <p:cNvPicPr>
            <a:picLocks noChangeAspect="1"/>
          </p:cNvPicPr>
          <p:nvPr/>
        </p:nvPicPr>
        <p:blipFill>
          <a:blip r:embed="rId1"/>
          <a:srcRect l="-3560" t="23088" r="30412" b="51335"/>
          <a:stretch>
            <a:fillRect/>
          </a:stretch>
        </p:blipFill>
        <p:spPr>
          <a:xfrm rot="16200000">
            <a:off x="-2012950" y="1948815"/>
            <a:ext cx="7264400" cy="3288665"/>
          </a:xfrm>
          <a:prstGeom prst="rect">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15" name="文本框 14"/>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07</a:t>
            </a:r>
            <a:endParaRPr lang="en-US" dirty="0"/>
          </a:p>
        </p:txBody>
      </p:sp>
      <p:cxnSp>
        <p:nvCxnSpPr>
          <p:cNvPr id="17" name="曲线连接符 16"/>
          <p:cNvCxnSpPr/>
          <p:nvPr/>
        </p:nvCxnSpPr>
        <p:spPr>
          <a:xfrm rot="5400000">
            <a:off x="6447155" y="1844040"/>
            <a:ext cx="5062220" cy="5003165"/>
          </a:xfrm>
          <a:prstGeom prst="curvedConnector3">
            <a:avLst>
              <a:gd name="adj1" fmla="val 50006"/>
            </a:avLst>
          </a:prstGeom>
          <a:ln>
            <a:solidFill>
              <a:srgbClr val="7E593C"/>
            </a:solidFill>
          </a:ln>
        </p:spPr>
        <p:style>
          <a:lnRef idx="1">
            <a:schemeClr val="accent1"/>
          </a:lnRef>
          <a:fillRef idx="0">
            <a:schemeClr val="accent1"/>
          </a:fillRef>
          <a:effectRef idx="0">
            <a:schemeClr val="accent1"/>
          </a:effectRef>
          <a:fontRef idx="minor">
            <a:schemeClr val="tx1"/>
          </a:fontRef>
        </p:style>
      </p:cxnSp>
      <p:cxnSp>
        <p:nvCxnSpPr>
          <p:cNvPr id="19" name="曲线连接符 18"/>
          <p:cNvCxnSpPr/>
          <p:nvPr/>
        </p:nvCxnSpPr>
        <p:spPr>
          <a:xfrm rot="5400000" flipV="1">
            <a:off x="7647305" y="277495"/>
            <a:ext cx="2973070" cy="2340610"/>
          </a:xfrm>
          <a:prstGeom prst="curvedConnector3">
            <a:avLst>
              <a:gd name="adj1" fmla="val 50021"/>
            </a:avLst>
          </a:prstGeom>
          <a:ln>
            <a:solidFill>
              <a:srgbClr val="7E593C"/>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1631950" y="4221480"/>
            <a:ext cx="2447925" cy="2637155"/>
          </a:xfrm>
          <a:prstGeom prst="rect">
            <a:avLst/>
          </a:prstGeom>
          <a:solidFill>
            <a:srgbClr val="DED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曲线连接符 21"/>
          <p:cNvCxnSpPr/>
          <p:nvPr/>
        </p:nvCxnSpPr>
        <p:spPr>
          <a:xfrm>
            <a:off x="-24765" y="1988820"/>
            <a:ext cx="6264910" cy="4869180"/>
          </a:xfrm>
          <a:prstGeom prst="curvedConnector3">
            <a:avLst>
              <a:gd name="adj1" fmla="val 50010"/>
            </a:avLst>
          </a:prstGeom>
          <a:ln>
            <a:solidFill>
              <a:srgbClr val="7E593C"/>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271270" y="495300"/>
            <a:ext cx="7930515" cy="368300"/>
          </a:xfrm>
          <a:prstGeom prst="rect">
            <a:avLst/>
          </a:prstGeom>
          <a:noFill/>
        </p:spPr>
        <p:txBody>
          <a:bodyPr wrap="square" rtlCol="0">
            <a:spAutoFit/>
          </a:bodyPr>
          <a:p>
            <a:r>
              <a:rPr lang="zh-CN" altLang="en-US"/>
              <a:t>（一）、共性技术短板凸显，</a:t>
            </a:r>
            <a:r>
              <a:rPr lang="zh-CN" altLang="en-US"/>
              <a:t>仍需要长期积累沉淀。</a:t>
            </a:r>
            <a:endParaRPr lang="zh-CN" altLang="en-US"/>
          </a:p>
        </p:txBody>
      </p:sp>
      <p:sp>
        <p:nvSpPr>
          <p:cNvPr id="6" name="文本框 5"/>
          <p:cNvSpPr txBox="1"/>
          <p:nvPr/>
        </p:nvSpPr>
        <p:spPr>
          <a:xfrm>
            <a:off x="1487805" y="1155065"/>
            <a:ext cx="6954520" cy="368300"/>
          </a:xfrm>
          <a:prstGeom prst="rect">
            <a:avLst/>
          </a:prstGeom>
          <a:noFill/>
        </p:spPr>
        <p:txBody>
          <a:bodyPr wrap="square" rtlCol="0">
            <a:spAutoFit/>
          </a:bodyPr>
          <a:p>
            <a:r>
              <a:rPr lang="zh-CN" altLang="en-US"/>
              <a:t>①、核心关键技术领域积累不足</a:t>
            </a:r>
            <a:endParaRPr lang="zh-CN" altLang="en-US"/>
          </a:p>
        </p:txBody>
      </p:sp>
      <p:sp>
        <p:nvSpPr>
          <p:cNvPr id="7" name="文本框 6"/>
          <p:cNvSpPr txBox="1"/>
          <p:nvPr/>
        </p:nvSpPr>
        <p:spPr>
          <a:xfrm>
            <a:off x="1487805" y="1523365"/>
            <a:ext cx="4227195" cy="368300"/>
          </a:xfrm>
          <a:prstGeom prst="rect">
            <a:avLst/>
          </a:prstGeom>
          <a:noFill/>
        </p:spPr>
        <p:txBody>
          <a:bodyPr wrap="square" rtlCol="0">
            <a:spAutoFit/>
          </a:bodyPr>
          <a:p>
            <a:r>
              <a:rPr lang="zh-CN" altLang="en-US">
                <a:sym typeface="+mn-ea"/>
              </a:rPr>
              <a:t>②、关键器件缺失</a:t>
            </a:r>
            <a:endParaRPr lang="zh-CN" altLang="en-US"/>
          </a:p>
        </p:txBody>
      </p:sp>
      <p:sp>
        <p:nvSpPr>
          <p:cNvPr id="8" name="文本框 7"/>
          <p:cNvSpPr txBox="1"/>
          <p:nvPr/>
        </p:nvSpPr>
        <p:spPr>
          <a:xfrm>
            <a:off x="1487805" y="1988820"/>
            <a:ext cx="3833495" cy="645160"/>
          </a:xfrm>
          <a:prstGeom prst="rect">
            <a:avLst/>
          </a:prstGeom>
          <a:noFill/>
        </p:spPr>
        <p:txBody>
          <a:bodyPr wrap="square" rtlCol="0">
            <a:spAutoFit/>
          </a:bodyPr>
          <a:p>
            <a:r>
              <a:rPr lang="zh-CN" altLang="en-US">
                <a:sym typeface="+mn-ea"/>
              </a:rPr>
              <a:t>③、相关配套技术不成熟等等。</a:t>
            </a:r>
            <a:endParaRPr lang="zh-CN" altLang="en-US"/>
          </a:p>
          <a:p>
            <a:endParaRPr lang="zh-CN" altLang="en-US"/>
          </a:p>
        </p:txBody>
      </p:sp>
      <p:sp>
        <p:nvSpPr>
          <p:cNvPr id="16" name="文本框 15"/>
          <p:cNvSpPr txBox="1"/>
          <p:nvPr/>
        </p:nvSpPr>
        <p:spPr>
          <a:xfrm>
            <a:off x="1271270" y="2646680"/>
            <a:ext cx="8705850" cy="2030095"/>
          </a:xfrm>
          <a:prstGeom prst="rect">
            <a:avLst/>
          </a:prstGeom>
          <a:noFill/>
        </p:spPr>
        <p:txBody>
          <a:bodyPr wrap="square" rtlCol="0">
            <a:spAutoFit/>
          </a:bodyPr>
          <a:p>
            <a:r>
              <a:rPr lang="zh-CN" altLang="en-US"/>
              <a:t>（二）、标准化取得一定成效，</a:t>
            </a:r>
            <a:r>
              <a:rPr lang="zh-CN" altLang="en-US"/>
              <a:t>但仍有较大欠缺。</a:t>
            </a:r>
            <a:endParaRPr lang="zh-CN" altLang="en-US"/>
          </a:p>
          <a:p>
            <a:endParaRPr lang="zh-CN" altLang="en-US"/>
          </a:p>
          <a:p>
            <a:r>
              <a:rPr lang="zh-CN" altLang="en-US"/>
              <a:t>①、我国虚拟现实标准统一化</a:t>
            </a:r>
            <a:r>
              <a:rPr lang="zh-CN" altLang="en-US"/>
              <a:t>仍有欠缺</a:t>
            </a:r>
            <a:endParaRPr lang="zh-CN" altLang="en-US"/>
          </a:p>
          <a:p>
            <a:r>
              <a:rPr lang="zh-CN" altLang="en-US"/>
              <a:t>例如：软硬件和内容厂商仍以各自为战为主，视场角、观看距离等参数上定义不同造成了</a:t>
            </a:r>
            <a:r>
              <a:rPr lang="en-US" altLang="zh-CN"/>
              <a:t>APP</a:t>
            </a:r>
            <a:r>
              <a:rPr lang="zh-CN" altLang="en-US"/>
              <a:t>、</a:t>
            </a:r>
            <a:r>
              <a:rPr lang="en-US" altLang="zh-CN"/>
              <a:t>VR</a:t>
            </a:r>
            <a:r>
              <a:rPr lang="zh-CN" altLang="en-US"/>
              <a:t>设备和内容之间兼容性差，对产品技术和市场发展</a:t>
            </a:r>
            <a:r>
              <a:rPr lang="zh-CN" altLang="en-US"/>
              <a:t>造成障碍。</a:t>
            </a:r>
            <a:endParaRPr lang="zh-CN" altLang="en-US"/>
          </a:p>
          <a:p>
            <a:r>
              <a:rPr lang="zh-CN" altLang="en-US"/>
              <a:t>②、</a:t>
            </a:r>
            <a:r>
              <a:rPr lang="zh-CN" altLang="en-US"/>
              <a:t>标准缺失</a:t>
            </a:r>
            <a:endParaRPr lang="zh-CN" altLang="en-US"/>
          </a:p>
          <a:p>
            <a:r>
              <a:rPr lang="zh-CN" altLang="en-US"/>
              <a:t>例如：针对</a:t>
            </a:r>
            <a:r>
              <a:rPr lang="en-US" altLang="zh-CN"/>
              <a:t>VR</a:t>
            </a:r>
            <a:r>
              <a:rPr lang="zh-CN" altLang="en-US"/>
              <a:t>设备的电气和电磁兼容安全标准确实，用户人身安全</a:t>
            </a:r>
            <a:r>
              <a:rPr lang="zh-CN" altLang="en-US"/>
              <a:t>存在隐患。</a:t>
            </a:r>
            <a:endParaRPr lang="zh-CN" altLang="en-US"/>
          </a:p>
        </p:txBody>
      </p:sp>
      <p:sp>
        <p:nvSpPr>
          <p:cNvPr id="18" name="文本框 17"/>
          <p:cNvSpPr txBox="1"/>
          <p:nvPr/>
        </p:nvSpPr>
        <p:spPr>
          <a:xfrm>
            <a:off x="1460500" y="4792980"/>
            <a:ext cx="7515860" cy="368300"/>
          </a:xfrm>
          <a:prstGeom prst="rect">
            <a:avLst/>
          </a:prstGeom>
          <a:noFill/>
        </p:spPr>
        <p:txBody>
          <a:bodyPr wrap="square" rtlCol="0">
            <a:spAutoFit/>
          </a:bodyPr>
          <a:p>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DED8CC"/>
        </a:solidFill>
        <a:effectLst/>
      </p:bgPr>
    </p:bg>
    <p:spTree>
      <p:nvGrpSpPr>
        <p:cNvPr id="1" name=""/>
        <p:cNvGrpSpPr/>
        <p:nvPr/>
      </p:nvGrpSpPr>
      <p:grpSpPr>
        <a:xfrm>
          <a:off x="0" y="0"/>
          <a:ext cx="0" cy="0"/>
          <a:chOff x="0" y="0"/>
          <a:chExt cx="0" cy="0"/>
        </a:xfrm>
      </p:grpSpPr>
      <p:sp>
        <p:nvSpPr>
          <p:cNvPr id="14" name="椭圆 13"/>
          <p:cNvSpPr/>
          <p:nvPr/>
        </p:nvSpPr>
        <p:spPr>
          <a:xfrm>
            <a:off x="5342255" y="2439670"/>
            <a:ext cx="1992630" cy="1992630"/>
          </a:xfrm>
          <a:prstGeom prst="ellipse">
            <a:avLst/>
          </a:prstGeom>
          <a:noFill/>
          <a:ln>
            <a:solidFill>
              <a:srgbClr val="7E59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342255" y="2684780"/>
            <a:ext cx="3546475" cy="2491740"/>
          </a:xfrm>
          <a:prstGeom prst="rect">
            <a:avLst/>
          </a:prstGeom>
          <a:noFill/>
        </p:spPr>
        <p:txBody>
          <a:bodyPr wrap="square" rtlCol="0">
            <a:spAutoFit/>
          </a:bodyPr>
          <a:lstStyle/>
          <a:p>
            <a:pPr>
              <a:lnSpc>
                <a:spcPct val="150000"/>
              </a:lnSpc>
            </a:pPr>
            <a:r>
              <a:rPr lang="en-US" altLang="zh-CN" sz="1800" spc="500" noProof="1">
                <a:solidFill>
                  <a:srgbClr val="7E593C"/>
                </a:solidFill>
                <a:latin typeface="+mj-lt"/>
                <a:ea typeface="宋体" panose="02010600030101010101" pitchFamily="2" charset="-122"/>
                <a:cs typeface="+mj-lt"/>
              </a:rPr>
              <a:t>   </a:t>
            </a:r>
            <a:r>
              <a:rPr lang="en-US" altLang="zh-CN" sz="2800" spc="200" noProof="1">
                <a:solidFill>
                  <a:srgbClr val="7E593C"/>
                </a:solidFill>
                <a:latin typeface="+mj-lt"/>
                <a:ea typeface="宋体" panose="02010600030101010101" pitchFamily="2" charset="-122"/>
                <a:cs typeface="+mj-lt"/>
                <a:sym typeface="+mn-ea"/>
              </a:rPr>
              <a:t> </a:t>
            </a:r>
            <a:endParaRPr lang="en-US" altLang="zh-CN" sz="2800" spc="200" noProof="1">
              <a:solidFill>
                <a:schemeClr val="bg1">
                  <a:lumMod val="50000"/>
                </a:schemeClr>
              </a:solidFill>
              <a:latin typeface="+mj-lt"/>
              <a:cs typeface="+mj-lt"/>
              <a:sym typeface="+mn-ea"/>
            </a:endParaRPr>
          </a:p>
          <a:p>
            <a:pPr>
              <a:lnSpc>
                <a:spcPct val="150000"/>
              </a:lnSpc>
            </a:pPr>
            <a:endParaRPr lang="en-US" altLang="zh-CN" sz="2800" spc="200" noProof="1">
              <a:solidFill>
                <a:schemeClr val="tx1">
                  <a:lumMod val="95000"/>
                  <a:lumOff val="5000"/>
                </a:schemeClr>
              </a:solidFill>
              <a:latin typeface="+mj-lt"/>
              <a:cs typeface="+mj-lt"/>
            </a:endParaRPr>
          </a:p>
          <a:p>
            <a:pPr>
              <a:lnSpc>
                <a:spcPct val="150000"/>
              </a:lnSpc>
            </a:pPr>
            <a:endParaRPr lang="en-US" altLang="zh-CN" sz="1200"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4" name="文本框 3"/>
          <p:cNvSpPr txBox="1"/>
          <p:nvPr/>
        </p:nvSpPr>
        <p:spPr>
          <a:xfrm>
            <a:off x="7811135" y="4827905"/>
            <a:ext cx="3409315" cy="922020"/>
          </a:xfrm>
          <a:prstGeom prst="rect">
            <a:avLst/>
          </a:prstGeom>
          <a:noFill/>
        </p:spPr>
        <p:txBody>
          <a:bodyPr wrap="square" rtlCol="0">
            <a:spAutoFit/>
          </a:bodyPr>
          <a:lstStyle/>
          <a:p>
            <a:pPr algn="r">
              <a:lnSpc>
                <a:spcPct val="150000"/>
              </a:lnSpc>
            </a:pPr>
            <a:r>
              <a:rPr lang="en-US" altLang="zh-CN" spc="200" noProof="1">
                <a:solidFill>
                  <a:schemeClr val="bg1"/>
                </a:solidFill>
                <a:latin typeface="+mj-lt"/>
                <a:ea typeface="宋体" panose="02010600030101010101" pitchFamily="2" charset="-122"/>
                <a:cs typeface="+mj-lt"/>
                <a:sym typeface="+mn-ea"/>
              </a:rPr>
              <a:t>.</a:t>
            </a:r>
            <a:endParaRPr lang="en-US" altLang="zh-CN" spc="200" noProof="1">
              <a:solidFill>
                <a:schemeClr val="bg1">
                  <a:lumMod val="50000"/>
                </a:schemeClr>
              </a:solidFill>
              <a:latin typeface="+mj-lt"/>
              <a:cs typeface="+mj-lt"/>
            </a:endParaRPr>
          </a:p>
          <a:p>
            <a:pPr>
              <a:lnSpc>
                <a:spcPct val="150000"/>
              </a:lnSpc>
            </a:pPr>
            <a:endParaRPr lang="en-US" altLang="zh-CN" spc="200" noProof="1">
              <a:solidFill>
                <a:schemeClr val="bg1">
                  <a:lumMod val="50000"/>
                </a:schemeClr>
              </a:solidFill>
              <a:latin typeface="+mj-lt"/>
              <a:cs typeface="+mj-lt"/>
            </a:endParaRPr>
          </a:p>
        </p:txBody>
      </p:sp>
      <p:pic>
        <p:nvPicPr>
          <p:cNvPr id="13" name="图片 12" descr="d909388ef9f30ac29dfb903d38a6302"/>
          <p:cNvPicPr>
            <a:picLocks noChangeAspect="1"/>
          </p:cNvPicPr>
          <p:nvPr/>
        </p:nvPicPr>
        <p:blipFill>
          <a:blip r:embed="rId1"/>
          <a:srcRect l="-3560" t="23088" r="30412" b="51335"/>
          <a:stretch>
            <a:fillRect/>
          </a:stretch>
        </p:blipFill>
        <p:spPr>
          <a:xfrm rot="16200000">
            <a:off x="-2012950" y="1948815"/>
            <a:ext cx="7264400" cy="3288665"/>
          </a:xfrm>
          <a:prstGeom prst="rect">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15" name="文本框 14"/>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07</a:t>
            </a:r>
            <a:endParaRPr lang="en-US" dirty="0"/>
          </a:p>
        </p:txBody>
      </p:sp>
      <p:cxnSp>
        <p:nvCxnSpPr>
          <p:cNvPr id="17" name="曲线连接符 16"/>
          <p:cNvCxnSpPr/>
          <p:nvPr/>
        </p:nvCxnSpPr>
        <p:spPr>
          <a:xfrm rot="5400000">
            <a:off x="6447155" y="1844040"/>
            <a:ext cx="5062220" cy="5003165"/>
          </a:xfrm>
          <a:prstGeom prst="curvedConnector3">
            <a:avLst>
              <a:gd name="adj1" fmla="val 50006"/>
            </a:avLst>
          </a:prstGeom>
          <a:ln>
            <a:solidFill>
              <a:srgbClr val="7E593C"/>
            </a:solidFill>
          </a:ln>
        </p:spPr>
        <p:style>
          <a:lnRef idx="1">
            <a:schemeClr val="accent1"/>
          </a:lnRef>
          <a:fillRef idx="0">
            <a:schemeClr val="accent1"/>
          </a:fillRef>
          <a:effectRef idx="0">
            <a:schemeClr val="accent1"/>
          </a:effectRef>
          <a:fontRef idx="minor">
            <a:schemeClr val="tx1"/>
          </a:fontRef>
        </p:style>
      </p:cxnSp>
      <p:cxnSp>
        <p:nvCxnSpPr>
          <p:cNvPr id="19" name="曲线连接符 18"/>
          <p:cNvCxnSpPr/>
          <p:nvPr/>
        </p:nvCxnSpPr>
        <p:spPr>
          <a:xfrm rot="5400000" flipV="1">
            <a:off x="7647305" y="277495"/>
            <a:ext cx="2973070" cy="2340610"/>
          </a:xfrm>
          <a:prstGeom prst="curvedConnector3">
            <a:avLst>
              <a:gd name="adj1" fmla="val 50021"/>
            </a:avLst>
          </a:prstGeom>
          <a:ln>
            <a:solidFill>
              <a:srgbClr val="7E593C"/>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1631950" y="4221480"/>
            <a:ext cx="2447925" cy="2637155"/>
          </a:xfrm>
          <a:prstGeom prst="rect">
            <a:avLst/>
          </a:prstGeom>
          <a:solidFill>
            <a:srgbClr val="DED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曲线连接符 21"/>
          <p:cNvCxnSpPr/>
          <p:nvPr/>
        </p:nvCxnSpPr>
        <p:spPr>
          <a:xfrm>
            <a:off x="-24765" y="1988820"/>
            <a:ext cx="6264910" cy="4869180"/>
          </a:xfrm>
          <a:prstGeom prst="curvedConnector3">
            <a:avLst>
              <a:gd name="adj1" fmla="val 50010"/>
            </a:avLst>
          </a:prstGeom>
          <a:ln>
            <a:solidFill>
              <a:srgbClr val="7E593C"/>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056005" y="1146175"/>
            <a:ext cx="10400030" cy="3692525"/>
          </a:xfrm>
          <a:prstGeom prst="rect">
            <a:avLst/>
          </a:prstGeom>
          <a:noFill/>
        </p:spPr>
        <p:txBody>
          <a:bodyPr wrap="square" rtlCol="0">
            <a:spAutoFit/>
          </a:bodyPr>
          <a:p>
            <a:r>
              <a:rPr lang="zh-CN" altLang="en-US"/>
              <a:t>（三）、内容相对匮乏，应用生态亟待</a:t>
            </a:r>
            <a:r>
              <a:rPr lang="zh-CN" altLang="en-US"/>
              <a:t>建立</a:t>
            </a:r>
            <a:endParaRPr lang="zh-CN" altLang="en-US"/>
          </a:p>
          <a:p>
            <a:endParaRPr lang="zh-CN" altLang="en-US"/>
          </a:p>
          <a:p>
            <a:r>
              <a:rPr lang="zh-CN" altLang="en-US"/>
              <a:t>由于基础技术环节存在不足，内容和应用成为我国虚拟现实产业发展的</a:t>
            </a:r>
            <a:r>
              <a:rPr lang="zh-CN" altLang="en-US"/>
              <a:t>主战场。</a:t>
            </a:r>
            <a:endParaRPr lang="zh-CN" altLang="en-US"/>
          </a:p>
          <a:p>
            <a:endParaRPr lang="zh-CN" altLang="en-US"/>
          </a:p>
          <a:p>
            <a:r>
              <a:rPr lang="zh-CN" altLang="en-US"/>
              <a:t>但是当前虚拟现实内容仍然较为匮乏，应用范围和影响力仍显</a:t>
            </a:r>
            <a:r>
              <a:rPr lang="zh-CN" altLang="en-US"/>
              <a:t>不足。</a:t>
            </a:r>
            <a:endParaRPr lang="zh-CN" altLang="en-US"/>
          </a:p>
          <a:p>
            <a:endParaRPr lang="zh-CN" altLang="en-US"/>
          </a:p>
          <a:p>
            <a:r>
              <a:rPr lang="zh-CN" altLang="en-US"/>
              <a:t>①、针对虚拟现实应用的消费级文化娱乐内容供应</a:t>
            </a:r>
            <a:r>
              <a:rPr lang="zh-CN" altLang="en-US"/>
              <a:t>严重不足。</a:t>
            </a:r>
            <a:endParaRPr lang="zh-CN" altLang="en-US"/>
          </a:p>
          <a:p>
            <a:r>
              <a:rPr lang="zh-CN" altLang="en-US"/>
              <a:t>②、数字内容像虚拟现实产品移植投入高、难度大。</a:t>
            </a:r>
            <a:endParaRPr lang="zh-CN" altLang="en-US"/>
          </a:p>
          <a:p>
            <a:r>
              <a:rPr lang="zh-CN" altLang="en-US"/>
              <a:t>③、虚拟现实产品内容体验不佳、</a:t>
            </a:r>
            <a:r>
              <a:rPr lang="zh-CN" altLang="en-US"/>
              <a:t>用户粘性较低。</a:t>
            </a:r>
            <a:endParaRPr lang="zh-CN" altLang="en-US"/>
          </a:p>
          <a:p>
            <a:r>
              <a:rPr lang="zh-CN" altLang="en-US"/>
              <a:t>④、国内企业在虚拟现实产品形态、应用场景、内容提供等方面普遍缺乏定义能力，应用开发工具缺乏，</a:t>
            </a:r>
            <a:r>
              <a:rPr lang="zh-CN" altLang="en-US"/>
              <a:t>系统集成能力不足。</a:t>
            </a:r>
            <a:endParaRPr lang="zh-CN" altLang="en-US"/>
          </a:p>
          <a:p>
            <a:endParaRPr lang="zh-CN" altLang="en-US"/>
          </a:p>
          <a:p>
            <a:r>
              <a:rPr lang="zh-CN" altLang="en-US"/>
              <a:t>应用生态和服务体系</a:t>
            </a:r>
            <a:r>
              <a:rPr lang="zh-CN" altLang="en-US"/>
              <a:t>尚不健全。</a:t>
            </a:r>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DED8CC"/>
        </a:solidFill>
        <a:effectLst/>
      </p:bgPr>
    </p:bg>
    <p:spTree>
      <p:nvGrpSpPr>
        <p:cNvPr id="1" name=""/>
        <p:cNvGrpSpPr/>
        <p:nvPr/>
      </p:nvGrpSpPr>
      <p:grpSpPr>
        <a:xfrm>
          <a:off x="0" y="0"/>
          <a:ext cx="0" cy="0"/>
          <a:chOff x="0" y="0"/>
          <a:chExt cx="0" cy="0"/>
        </a:xfrm>
      </p:grpSpPr>
      <p:sp>
        <p:nvSpPr>
          <p:cNvPr id="14" name="椭圆 13"/>
          <p:cNvSpPr/>
          <p:nvPr/>
        </p:nvSpPr>
        <p:spPr>
          <a:xfrm>
            <a:off x="5342255" y="2439670"/>
            <a:ext cx="1992630" cy="1992630"/>
          </a:xfrm>
          <a:prstGeom prst="ellipse">
            <a:avLst/>
          </a:prstGeom>
          <a:noFill/>
          <a:ln>
            <a:solidFill>
              <a:srgbClr val="7E59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342255" y="2684780"/>
            <a:ext cx="3546475" cy="2491740"/>
          </a:xfrm>
          <a:prstGeom prst="rect">
            <a:avLst/>
          </a:prstGeom>
          <a:noFill/>
        </p:spPr>
        <p:txBody>
          <a:bodyPr wrap="square" rtlCol="0">
            <a:spAutoFit/>
          </a:bodyPr>
          <a:lstStyle/>
          <a:p>
            <a:pPr>
              <a:lnSpc>
                <a:spcPct val="150000"/>
              </a:lnSpc>
            </a:pPr>
            <a:r>
              <a:rPr lang="en-US" altLang="zh-CN" sz="1800" spc="500" noProof="1">
                <a:solidFill>
                  <a:srgbClr val="7E593C"/>
                </a:solidFill>
                <a:latin typeface="+mj-lt"/>
                <a:ea typeface="宋体" panose="02010600030101010101" pitchFamily="2" charset="-122"/>
                <a:cs typeface="+mj-lt"/>
              </a:rPr>
              <a:t>   </a:t>
            </a:r>
            <a:r>
              <a:rPr lang="en-US" altLang="zh-CN" sz="2800" spc="200" noProof="1">
                <a:solidFill>
                  <a:srgbClr val="7E593C"/>
                </a:solidFill>
                <a:latin typeface="+mj-lt"/>
                <a:ea typeface="宋体" panose="02010600030101010101" pitchFamily="2" charset="-122"/>
                <a:cs typeface="+mj-lt"/>
                <a:sym typeface="+mn-ea"/>
              </a:rPr>
              <a:t> </a:t>
            </a:r>
            <a:endParaRPr lang="en-US" altLang="zh-CN" sz="2800" spc="200" noProof="1">
              <a:solidFill>
                <a:schemeClr val="bg1">
                  <a:lumMod val="50000"/>
                </a:schemeClr>
              </a:solidFill>
              <a:latin typeface="+mj-lt"/>
              <a:cs typeface="+mj-lt"/>
              <a:sym typeface="+mn-ea"/>
            </a:endParaRPr>
          </a:p>
          <a:p>
            <a:pPr>
              <a:lnSpc>
                <a:spcPct val="150000"/>
              </a:lnSpc>
            </a:pPr>
            <a:endParaRPr lang="en-US" altLang="zh-CN" sz="2800" spc="200" noProof="1">
              <a:solidFill>
                <a:schemeClr val="tx1">
                  <a:lumMod val="95000"/>
                  <a:lumOff val="5000"/>
                </a:schemeClr>
              </a:solidFill>
              <a:latin typeface="+mj-lt"/>
              <a:cs typeface="+mj-lt"/>
            </a:endParaRPr>
          </a:p>
          <a:p>
            <a:pPr>
              <a:lnSpc>
                <a:spcPct val="150000"/>
              </a:lnSpc>
            </a:pPr>
            <a:endParaRPr lang="en-US" altLang="zh-CN" sz="1200"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4" name="文本框 3"/>
          <p:cNvSpPr txBox="1"/>
          <p:nvPr/>
        </p:nvSpPr>
        <p:spPr>
          <a:xfrm>
            <a:off x="7811135" y="4827905"/>
            <a:ext cx="3409315" cy="922020"/>
          </a:xfrm>
          <a:prstGeom prst="rect">
            <a:avLst/>
          </a:prstGeom>
          <a:noFill/>
        </p:spPr>
        <p:txBody>
          <a:bodyPr wrap="square" rtlCol="0">
            <a:spAutoFit/>
          </a:bodyPr>
          <a:lstStyle/>
          <a:p>
            <a:pPr algn="r">
              <a:lnSpc>
                <a:spcPct val="150000"/>
              </a:lnSpc>
            </a:pPr>
            <a:r>
              <a:rPr lang="en-US" altLang="zh-CN" spc="200" noProof="1">
                <a:solidFill>
                  <a:schemeClr val="bg1"/>
                </a:solidFill>
                <a:latin typeface="+mj-lt"/>
                <a:ea typeface="宋体" panose="02010600030101010101" pitchFamily="2" charset="-122"/>
                <a:cs typeface="+mj-lt"/>
                <a:sym typeface="+mn-ea"/>
              </a:rPr>
              <a:t>.</a:t>
            </a:r>
            <a:endParaRPr lang="en-US" altLang="zh-CN" spc="200" noProof="1">
              <a:solidFill>
                <a:schemeClr val="bg1">
                  <a:lumMod val="50000"/>
                </a:schemeClr>
              </a:solidFill>
              <a:latin typeface="+mj-lt"/>
              <a:cs typeface="+mj-lt"/>
            </a:endParaRPr>
          </a:p>
          <a:p>
            <a:pPr>
              <a:lnSpc>
                <a:spcPct val="150000"/>
              </a:lnSpc>
            </a:pPr>
            <a:endParaRPr lang="en-US" altLang="zh-CN" spc="200" noProof="1">
              <a:solidFill>
                <a:schemeClr val="bg1">
                  <a:lumMod val="50000"/>
                </a:schemeClr>
              </a:solidFill>
              <a:latin typeface="+mj-lt"/>
              <a:cs typeface="+mj-lt"/>
            </a:endParaRPr>
          </a:p>
        </p:txBody>
      </p:sp>
      <p:pic>
        <p:nvPicPr>
          <p:cNvPr id="13" name="图片 12" descr="d909388ef9f30ac29dfb903d38a6302"/>
          <p:cNvPicPr>
            <a:picLocks noChangeAspect="1"/>
          </p:cNvPicPr>
          <p:nvPr/>
        </p:nvPicPr>
        <p:blipFill>
          <a:blip r:embed="rId1"/>
          <a:srcRect l="-3560" t="23088" r="30412" b="51335"/>
          <a:stretch>
            <a:fillRect/>
          </a:stretch>
        </p:blipFill>
        <p:spPr>
          <a:xfrm rot="16200000">
            <a:off x="-2012950" y="1948815"/>
            <a:ext cx="7264400" cy="3288665"/>
          </a:xfrm>
          <a:prstGeom prst="rect">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15" name="文本框 14"/>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07</a:t>
            </a:r>
            <a:endParaRPr lang="en-US" dirty="0"/>
          </a:p>
        </p:txBody>
      </p:sp>
      <p:cxnSp>
        <p:nvCxnSpPr>
          <p:cNvPr id="17" name="曲线连接符 16"/>
          <p:cNvCxnSpPr/>
          <p:nvPr/>
        </p:nvCxnSpPr>
        <p:spPr>
          <a:xfrm rot="5400000">
            <a:off x="6447155" y="1844040"/>
            <a:ext cx="5062220" cy="5003165"/>
          </a:xfrm>
          <a:prstGeom prst="curvedConnector3">
            <a:avLst>
              <a:gd name="adj1" fmla="val 50006"/>
            </a:avLst>
          </a:prstGeom>
          <a:ln>
            <a:solidFill>
              <a:srgbClr val="7E593C"/>
            </a:solidFill>
          </a:ln>
        </p:spPr>
        <p:style>
          <a:lnRef idx="1">
            <a:schemeClr val="accent1"/>
          </a:lnRef>
          <a:fillRef idx="0">
            <a:schemeClr val="accent1"/>
          </a:fillRef>
          <a:effectRef idx="0">
            <a:schemeClr val="accent1"/>
          </a:effectRef>
          <a:fontRef idx="minor">
            <a:schemeClr val="tx1"/>
          </a:fontRef>
        </p:style>
      </p:cxnSp>
      <p:cxnSp>
        <p:nvCxnSpPr>
          <p:cNvPr id="19" name="曲线连接符 18"/>
          <p:cNvCxnSpPr/>
          <p:nvPr/>
        </p:nvCxnSpPr>
        <p:spPr>
          <a:xfrm rot="5400000" flipV="1">
            <a:off x="7647305" y="277495"/>
            <a:ext cx="2973070" cy="2340610"/>
          </a:xfrm>
          <a:prstGeom prst="curvedConnector3">
            <a:avLst>
              <a:gd name="adj1" fmla="val 50021"/>
            </a:avLst>
          </a:prstGeom>
          <a:ln>
            <a:solidFill>
              <a:srgbClr val="7E593C"/>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1631950" y="4221480"/>
            <a:ext cx="2447925" cy="2637155"/>
          </a:xfrm>
          <a:prstGeom prst="rect">
            <a:avLst/>
          </a:prstGeom>
          <a:solidFill>
            <a:srgbClr val="DED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曲线连接符 21"/>
          <p:cNvCxnSpPr/>
          <p:nvPr/>
        </p:nvCxnSpPr>
        <p:spPr>
          <a:xfrm>
            <a:off x="-24765" y="1988820"/>
            <a:ext cx="6264910" cy="4869180"/>
          </a:xfrm>
          <a:prstGeom prst="curvedConnector3">
            <a:avLst>
              <a:gd name="adj1" fmla="val 50010"/>
            </a:avLst>
          </a:prstGeom>
          <a:ln>
            <a:solidFill>
              <a:srgbClr val="7E593C"/>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958850" y="1040130"/>
            <a:ext cx="11024235" cy="3415030"/>
          </a:xfrm>
          <a:prstGeom prst="rect">
            <a:avLst/>
          </a:prstGeom>
          <a:noFill/>
        </p:spPr>
        <p:txBody>
          <a:bodyPr wrap="square" rtlCol="0">
            <a:spAutoFit/>
          </a:bodyPr>
          <a:p>
            <a:r>
              <a:rPr lang="zh-CN" altLang="en-US"/>
              <a:t>（四）、企业</a:t>
            </a:r>
            <a:r>
              <a:rPr lang="en-US" altLang="zh-CN"/>
              <a:t>“</a:t>
            </a:r>
            <a:r>
              <a:rPr lang="zh-CN" altLang="en-US"/>
              <a:t>一哄而上</a:t>
            </a:r>
            <a:r>
              <a:rPr lang="en-US" altLang="zh-CN"/>
              <a:t>”</a:t>
            </a:r>
            <a:r>
              <a:rPr lang="zh-CN" altLang="en-US"/>
              <a:t>，高端产业低端化</a:t>
            </a:r>
            <a:r>
              <a:rPr lang="zh-CN" altLang="en-US"/>
              <a:t>需要警惕。</a:t>
            </a:r>
            <a:endParaRPr lang="zh-CN" altLang="en-US"/>
          </a:p>
          <a:p>
            <a:endParaRPr lang="zh-CN" altLang="en-US"/>
          </a:p>
          <a:p>
            <a:r>
              <a:rPr lang="zh-CN" altLang="en-US"/>
              <a:t>①、企业出现</a:t>
            </a:r>
            <a:r>
              <a:rPr lang="zh-CN" altLang="en-US"/>
              <a:t>盲目发展势头。</a:t>
            </a:r>
            <a:endParaRPr lang="zh-CN" altLang="en-US"/>
          </a:p>
          <a:p>
            <a:endParaRPr lang="zh-CN" altLang="en-US"/>
          </a:p>
          <a:p>
            <a:r>
              <a:rPr lang="zh-CN" altLang="en-US"/>
              <a:t>大部分企业成品集中于结构简单成本低廉的移动端</a:t>
            </a:r>
            <a:r>
              <a:rPr lang="en-US" altLang="zh-CN"/>
              <a:t>VR</a:t>
            </a:r>
            <a:r>
              <a:rPr lang="zh-CN" altLang="en-US"/>
              <a:t>设备，相对于传统智能终端技术提升不明显，个性化、差异化</a:t>
            </a:r>
            <a:r>
              <a:rPr lang="zh-CN" altLang="en-US"/>
              <a:t>应用缺乏。</a:t>
            </a:r>
            <a:endParaRPr lang="zh-CN" altLang="en-US"/>
          </a:p>
          <a:p>
            <a:endParaRPr lang="zh-CN" altLang="en-US"/>
          </a:p>
          <a:p>
            <a:r>
              <a:rPr lang="zh-CN" altLang="en-US"/>
              <a:t>长此以往，虚拟现实市场极易重蹈类似智能手机</a:t>
            </a:r>
            <a:r>
              <a:rPr lang="en-US" altLang="zh-CN"/>
              <a:t>“</a:t>
            </a:r>
            <a:r>
              <a:rPr lang="zh-CN" altLang="en-US"/>
              <a:t>低价竞争</a:t>
            </a:r>
            <a:r>
              <a:rPr lang="en-US" altLang="zh-CN"/>
              <a:t>”</a:t>
            </a:r>
            <a:r>
              <a:rPr lang="zh-CN" altLang="en-US"/>
              <a:t>的</a:t>
            </a:r>
            <a:r>
              <a:rPr lang="zh-CN" altLang="en-US"/>
              <a:t>覆辙。</a:t>
            </a:r>
            <a:endParaRPr lang="zh-CN" altLang="en-US"/>
          </a:p>
          <a:p>
            <a:endParaRPr lang="zh-CN" altLang="en-US"/>
          </a:p>
          <a:p>
            <a:r>
              <a:rPr lang="zh-CN" altLang="en-US"/>
              <a:t>②、地方政府发展热情过于高涨。</a:t>
            </a:r>
            <a:endParaRPr lang="zh-CN" altLang="en-US"/>
          </a:p>
          <a:p>
            <a:endParaRPr lang="en-US" altLang="zh-CN"/>
          </a:p>
          <a:p>
            <a:r>
              <a:rPr lang="zh-CN" altLang="en-US"/>
              <a:t>由于不能同</a:t>
            </a:r>
            <a:r>
              <a:rPr lang="zh-CN" altLang="en-US"/>
              <a:t>时管理，导致产业趋同化竞争开始凸显，不同地方政府</a:t>
            </a:r>
            <a:r>
              <a:rPr lang="zh-CN" altLang="en-US"/>
              <a:t>发展差异较大。</a:t>
            </a:r>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DED8CC"/>
        </a:solidFill>
        <a:effectLst/>
      </p:bgPr>
    </p:bg>
    <p:spTree>
      <p:nvGrpSpPr>
        <p:cNvPr id="1" name=""/>
        <p:cNvGrpSpPr/>
        <p:nvPr/>
      </p:nvGrpSpPr>
      <p:grpSpPr>
        <a:xfrm>
          <a:off x="0" y="0"/>
          <a:ext cx="0" cy="0"/>
          <a:chOff x="0" y="0"/>
          <a:chExt cx="0" cy="0"/>
        </a:xfrm>
      </p:grpSpPr>
      <p:sp>
        <p:nvSpPr>
          <p:cNvPr id="14" name="椭圆 13"/>
          <p:cNvSpPr/>
          <p:nvPr/>
        </p:nvSpPr>
        <p:spPr>
          <a:xfrm>
            <a:off x="5342255" y="2439670"/>
            <a:ext cx="1992630" cy="1992630"/>
          </a:xfrm>
          <a:prstGeom prst="ellipse">
            <a:avLst/>
          </a:prstGeom>
          <a:noFill/>
          <a:ln>
            <a:solidFill>
              <a:srgbClr val="7E59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342255" y="2684780"/>
            <a:ext cx="3546475" cy="2491740"/>
          </a:xfrm>
          <a:prstGeom prst="rect">
            <a:avLst/>
          </a:prstGeom>
          <a:noFill/>
        </p:spPr>
        <p:txBody>
          <a:bodyPr wrap="square" rtlCol="0">
            <a:spAutoFit/>
          </a:bodyPr>
          <a:lstStyle/>
          <a:p>
            <a:pPr>
              <a:lnSpc>
                <a:spcPct val="150000"/>
              </a:lnSpc>
            </a:pPr>
            <a:r>
              <a:rPr lang="en-US" altLang="zh-CN" sz="1800" spc="500" noProof="1">
                <a:solidFill>
                  <a:srgbClr val="7E593C"/>
                </a:solidFill>
                <a:latin typeface="+mj-lt"/>
                <a:ea typeface="宋体" panose="02010600030101010101" pitchFamily="2" charset="-122"/>
                <a:cs typeface="+mj-lt"/>
              </a:rPr>
              <a:t>   </a:t>
            </a:r>
            <a:r>
              <a:rPr lang="en-US" altLang="zh-CN" sz="2800" spc="200" noProof="1">
                <a:solidFill>
                  <a:srgbClr val="7E593C"/>
                </a:solidFill>
                <a:latin typeface="+mj-lt"/>
                <a:ea typeface="宋体" panose="02010600030101010101" pitchFamily="2" charset="-122"/>
                <a:cs typeface="+mj-lt"/>
                <a:sym typeface="+mn-ea"/>
              </a:rPr>
              <a:t> </a:t>
            </a:r>
            <a:endParaRPr lang="en-US" altLang="zh-CN" sz="2800" spc="200" noProof="1">
              <a:solidFill>
                <a:schemeClr val="bg1">
                  <a:lumMod val="50000"/>
                </a:schemeClr>
              </a:solidFill>
              <a:latin typeface="+mj-lt"/>
              <a:cs typeface="+mj-lt"/>
              <a:sym typeface="+mn-ea"/>
            </a:endParaRPr>
          </a:p>
          <a:p>
            <a:pPr>
              <a:lnSpc>
                <a:spcPct val="150000"/>
              </a:lnSpc>
            </a:pPr>
            <a:endParaRPr lang="en-US" altLang="zh-CN" sz="2800" spc="200" noProof="1">
              <a:solidFill>
                <a:schemeClr val="tx1">
                  <a:lumMod val="95000"/>
                  <a:lumOff val="5000"/>
                </a:schemeClr>
              </a:solidFill>
              <a:latin typeface="+mj-lt"/>
              <a:cs typeface="+mj-lt"/>
            </a:endParaRPr>
          </a:p>
          <a:p>
            <a:pPr>
              <a:lnSpc>
                <a:spcPct val="150000"/>
              </a:lnSpc>
            </a:pPr>
            <a:endParaRPr lang="en-US" altLang="zh-CN" sz="1200"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4" name="文本框 3"/>
          <p:cNvSpPr txBox="1"/>
          <p:nvPr/>
        </p:nvSpPr>
        <p:spPr>
          <a:xfrm>
            <a:off x="7811135" y="4827905"/>
            <a:ext cx="3409315" cy="922020"/>
          </a:xfrm>
          <a:prstGeom prst="rect">
            <a:avLst/>
          </a:prstGeom>
          <a:noFill/>
        </p:spPr>
        <p:txBody>
          <a:bodyPr wrap="square" rtlCol="0">
            <a:spAutoFit/>
          </a:bodyPr>
          <a:lstStyle/>
          <a:p>
            <a:pPr algn="r">
              <a:lnSpc>
                <a:spcPct val="150000"/>
              </a:lnSpc>
            </a:pPr>
            <a:r>
              <a:rPr lang="en-US" altLang="zh-CN" spc="200" noProof="1">
                <a:solidFill>
                  <a:schemeClr val="bg1"/>
                </a:solidFill>
                <a:latin typeface="+mj-lt"/>
                <a:ea typeface="宋体" panose="02010600030101010101" pitchFamily="2" charset="-122"/>
                <a:cs typeface="+mj-lt"/>
                <a:sym typeface="+mn-ea"/>
              </a:rPr>
              <a:t>.</a:t>
            </a:r>
            <a:endParaRPr lang="en-US" altLang="zh-CN" spc="200" noProof="1">
              <a:solidFill>
                <a:schemeClr val="bg1">
                  <a:lumMod val="50000"/>
                </a:schemeClr>
              </a:solidFill>
              <a:latin typeface="+mj-lt"/>
              <a:cs typeface="+mj-lt"/>
            </a:endParaRPr>
          </a:p>
          <a:p>
            <a:pPr>
              <a:lnSpc>
                <a:spcPct val="150000"/>
              </a:lnSpc>
            </a:pPr>
            <a:endParaRPr lang="en-US" altLang="zh-CN" spc="200" noProof="1">
              <a:solidFill>
                <a:schemeClr val="bg1">
                  <a:lumMod val="50000"/>
                </a:schemeClr>
              </a:solidFill>
              <a:latin typeface="+mj-lt"/>
              <a:cs typeface="+mj-lt"/>
            </a:endParaRPr>
          </a:p>
        </p:txBody>
      </p:sp>
      <p:pic>
        <p:nvPicPr>
          <p:cNvPr id="13" name="图片 12" descr="d909388ef9f30ac29dfb903d38a6302"/>
          <p:cNvPicPr>
            <a:picLocks noChangeAspect="1"/>
          </p:cNvPicPr>
          <p:nvPr/>
        </p:nvPicPr>
        <p:blipFill>
          <a:blip r:embed="rId1"/>
          <a:srcRect l="-3560" t="23088" r="30412" b="51335"/>
          <a:stretch>
            <a:fillRect/>
          </a:stretch>
        </p:blipFill>
        <p:spPr>
          <a:xfrm rot="16200000">
            <a:off x="-2012950" y="1948815"/>
            <a:ext cx="7264400" cy="3288665"/>
          </a:xfrm>
          <a:prstGeom prst="rect">
            <a:avLst/>
          </a:prstGeom>
        </p:spPr>
      </p:pic>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15" name="文本框 14"/>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07</a:t>
            </a:r>
            <a:endParaRPr lang="en-US" dirty="0"/>
          </a:p>
        </p:txBody>
      </p:sp>
      <p:cxnSp>
        <p:nvCxnSpPr>
          <p:cNvPr id="17" name="曲线连接符 16"/>
          <p:cNvCxnSpPr/>
          <p:nvPr/>
        </p:nvCxnSpPr>
        <p:spPr>
          <a:xfrm rot="5400000">
            <a:off x="6447155" y="1844040"/>
            <a:ext cx="5062220" cy="5003165"/>
          </a:xfrm>
          <a:prstGeom prst="curvedConnector3">
            <a:avLst>
              <a:gd name="adj1" fmla="val 50006"/>
            </a:avLst>
          </a:prstGeom>
          <a:ln>
            <a:solidFill>
              <a:srgbClr val="7E593C"/>
            </a:solidFill>
          </a:ln>
        </p:spPr>
        <p:style>
          <a:lnRef idx="1">
            <a:schemeClr val="accent1"/>
          </a:lnRef>
          <a:fillRef idx="0">
            <a:schemeClr val="accent1"/>
          </a:fillRef>
          <a:effectRef idx="0">
            <a:schemeClr val="accent1"/>
          </a:effectRef>
          <a:fontRef idx="minor">
            <a:schemeClr val="tx1"/>
          </a:fontRef>
        </p:style>
      </p:cxnSp>
      <p:cxnSp>
        <p:nvCxnSpPr>
          <p:cNvPr id="19" name="曲线连接符 18"/>
          <p:cNvCxnSpPr/>
          <p:nvPr/>
        </p:nvCxnSpPr>
        <p:spPr>
          <a:xfrm rot="5400000" flipV="1">
            <a:off x="7647305" y="277495"/>
            <a:ext cx="2973070" cy="2340610"/>
          </a:xfrm>
          <a:prstGeom prst="curvedConnector3">
            <a:avLst>
              <a:gd name="adj1" fmla="val 50021"/>
            </a:avLst>
          </a:prstGeom>
          <a:ln>
            <a:solidFill>
              <a:srgbClr val="7E593C"/>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1631950" y="4221480"/>
            <a:ext cx="2447925" cy="2637155"/>
          </a:xfrm>
          <a:prstGeom prst="rect">
            <a:avLst/>
          </a:prstGeom>
          <a:solidFill>
            <a:srgbClr val="DED8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曲线连接符 21"/>
          <p:cNvCxnSpPr/>
          <p:nvPr/>
        </p:nvCxnSpPr>
        <p:spPr>
          <a:xfrm>
            <a:off x="-24765" y="1988820"/>
            <a:ext cx="6264910" cy="4869180"/>
          </a:xfrm>
          <a:prstGeom prst="curvedConnector3">
            <a:avLst>
              <a:gd name="adj1" fmla="val 50010"/>
            </a:avLst>
          </a:prstGeom>
          <a:ln>
            <a:solidFill>
              <a:srgbClr val="7E593C"/>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85850" y="925830"/>
            <a:ext cx="9978390" cy="4799965"/>
          </a:xfrm>
          <a:prstGeom prst="rect">
            <a:avLst/>
          </a:prstGeom>
          <a:noFill/>
        </p:spPr>
        <p:txBody>
          <a:bodyPr wrap="square" rtlCol="0">
            <a:spAutoFit/>
          </a:bodyPr>
          <a:p>
            <a:r>
              <a:rPr lang="zh-CN" altLang="en-US"/>
              <a:t>（五）、人才缺口巨大，人才队伍建设</a:t>
            </a:r>
            <a:r>
              <a:rPr lang="zh-CN" altLang="en-US"/>
              <a:t>任重道远。</a:t>
            </a:r>
            <a:endParaRPr lang="zh-CN" altLang="en-US"/>
          </a:p>
          <a:p>
            <a:endParaRPr lang="zh-CN" altLang="en-US"/>
          </a:p>
          <a:p>
            <a:r>
              <a:rPr lang="zh-CN" altLang="en-US"/>
              <a:t>虚拟现实技术涉足多个</a:t>
            </a:r>
            <a:r>
              <a:rPr lang="zh-CN" altLang="en-US"/>
              <a:t>尖端领域。</a:t>
            </a:r>
            <a:endParaRPr lang="zh-CN" altLang="en-US"/>
          </a:p>
          <a:p>
            <a:endParaRPr lang="zh-CN" altLang="en-US"/>
          </a:p>
          <a:p>
            <a:r>
              <a:rPr lang="zh-CN" altLang="en-US"/>
              <a:t>例如：图形图像、交互、光学、计算登多个尖端领域。</a:t>
            </a:r>
            <a:endParaRPr lang="zh-CN" altLang="en-US"/>
          </a:p>
          <a:p>
            <a:endParaRPr lang="zh-CN" altLang="en-US"/>
          </a:p>
          <a:p>
            <a:r>
              <a:rPr lang="zh-CN" altLang="en-US"/>
              <a:t>①、对于人才的要求较为</a:t>
            </a:r>
            <a:r>
              <a:rPr lang="zh-CN" altLang="en-US"/>
              <a:t>严苛。</a:t>
            </a:r>
            <a:endParaRPr lang="zh-CN" altLang="en-US"/>
          </a:p>
          <a:p>
            <a:endParaRPr lang="zh-CN" altLang="en-US"/>
          </a:p>
          <a:p>
            <a:r>
              <a:rPr lang="zh-CN" altLang="en-US"/>
              <a:t>不过我国虚拟现实技术人员大多是从游戏、动漫、</a:t>
            </a:r>
            <a:r>
              <a:rPr lang="en-US" altLang="zh-CN"/>
              <a:t>3D</a:t>
            </a:r>
            <a:r>
              <a:rPr lang="zh-CN" altLang="en-US"/>
              <a:t>仿真、模型等行业转型而来，由于行业技术间的差异性，这些人才要快速融入虚拟现实领域</a:t>
            </a:r>
            <a:r>
              <a:rPr lang="zh-CN" altLang="en-US"/>
              <a:t>仍然较为困难。</a:t>
            </a:r>
            <a:endParaRPr lang="zh-CN" altLang="en-US"/>
          </a:p>
          <a:p>
            <a:endParaRPr lang="zh-CN" altLang="en-US"/>
          </a:p>
          <a:p>
            <a:r>
              <a:rPr lang="zh-CN" altLang="en-US"/>
              <a:t>②、我国的虚拟现实人才需求量高达</a:t>
            </a:r>
            <a:r>
              <a:rPr lang="en-US" altLang="zh-CN"/>
              <a:t>18%</a:t>
            </a:r>
            <a:r>
              <a:rPr lang="zh-CN" altLang="en-US"/>
              <a:t>，仅次于</a:t>
            </a:r>
            <a:r>
              <a:rPr lang="zh-CN" altLang="en-US"/>
              <a:t>美国。</a:t>
            </a:r>
            <a:endParaRPr lang="zh-CN" altLang="en-US"/>
          </a:p>
          <a:p>
            <a:endParaRPr lang="zh-CN" altLang="en-US"/>
          </a:p>
          <a:p>
            <a:r>
              <a:rPr lang="zh-CN" altLang="en-US"/>
              <a:t>也就是说，中国面临巨大的虚拟现实人才缺口，如果不能很好地解决人才问题，虚拟现实产业快速健康发展</a:t>
            </a:r>
            <a:r>
              <a:rPr lang="zh-CN" altLang="en-US"/>
              <a:t>将成为空谈。</a:t>
            </a:r>
            <a:endParaRPr lang="zh-CN" altLang="en-US"/>
          </a:p>
          <a:p>
            <a:endParaRPr lang="zh-CN" altLang="en-US"/>
          </a:p>
          <a:p>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2" name="文本框 11"/>
          <p:cNvSpPr txBox="1"/>
          <p:nvPr/>
        </p:nvSpPr>
        <p:spPr>
          <a:xfrm>
            <a:off x="5342255" y="2684780"/>
            <a:ext cx="3546475" cy="922020"/>
          </a:xfrm>
          <a:prstGeom prst="rect">
            <a:avLst/>
          </a:prstGeom>
          <a:noFill/>
        </p:spPr>
        <p:txBody>
          <a:bodyPr wrap="square" rtlCol="0">
            <a:spAutoFit/>
          </a:bodyPr>
          <a:lstStyle/>
          <a:p>
            <a:pPr>
              <a:lnSpc>
                <a:spcPct val="150000"/>
              </a:lnSpc>
            </a:pPr>
            <a:r>
              <a:rPr lang="en-US" altLang="zh-CN" sz="1800" spc="500" noProof="1">
                <a:solidFill>
                  <a:srgbClr val="7E593C"/>
                </a:solidFill>
                <a:latin typeface="+mj-lt"/>
                <a:ea typeface="宋体" panose="02010600030101010101" pitchFamily="2" charset="-122"/>
                <a:cs typeface="+mj-lt"/>
              </a:rPr>
              <a:t> </a:t>
            </a:r>
            <a:endParaRPr lang="en-US" altLang="zh-CN"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4" name="文本框 3"/>
          <p:cNvSpPr txBox="1"/>
          <p:nvPr/>
        </p:nvSpPr>
        <p:spPr>
          <a:xfrm>
            <a:off x="7811135" y="4827905"/>
            <a:ext cx="3409315" cy="922020"/>
          </a:xfrm>
          <a:prstGeom prst="rect">
            <a:avLst/>
          </a:prstGeom>
          <a:noFill/>
        </p:spPr>
        <p:txBody>
          <a:bodyPr wrap="square" rtlCol="0">
            <a:spAutoFit/>
          </a:bodyPr>
          <a:lstStyle/>
          <a:p>
            <a:pPr algn="r">
              <a:lnSpc>
                <a:spcPct val="150000"/>
              </a:lnSpc>
            </a:pPr>
            <a:r>
              <a:rPr lang="en-US" altLang="zh-CN" spc="200" noProof="1">
                <a:solidFill>
                  <a:schemeClr val="bg1"/>
                </a:solidFill>
                <a:latin typeface="+mj-lt"/>
                <a:ea typeface="宋体" panose="02010600030101010101" pitchFamily="2" charset="-122"/>
                <a:cs typeface="+mj-lt"/>
                <a:sym typeface="+mn-ea"/>
              </a:rPr>
              <a:t>.</a:t>
            </a:r>
            <a:endParaRPr lang="en-US" altLang="zh-CN" spc="200" noProof="1">
              <a:solidFill>
                <a:schemeClr val="bg1">
                  <a:lumMod val="50000"/>
                </a:schemeClr>
              </a:solidFill>
              <a:latin typeface="+mj-lt"/>
              <a:cs typeface="+mj-lt"/>
            </a:endParaRPr>
          </a:p>
          <a:p>
            <a:pPr>
              <a:lnSpc>
                <a:spcPct val="150000"/>
              </a:lnSpc>
            </a:pPr>
            <a:endParaRPr lang="en-US" altLang="zh-CN" spc="200" noProof="1">
              <a:solidFill>
                <a:schemeClr val="bg1">
                  <a:lumMod val="50000"/>
                </a:schemeClr>
              </a:solidFill>
              <a:latin typeface="+mj-lt"/>
              <a:cs typeface="+mj-lt"/>
            </a:endParaRPr>
          </a:p>
        </p:txBody>
      </p:sp>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15" name="文本框 14"/>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07</a:t>
            </a:r>
            <a:endParaRPr lang="en-US" dirty="0"/>
          </a:p>
        </p:txBody>
      </p:sp>
      <p:sp>
        <p:nvSpPr>
          <p:cNvPr id="2" name="文本框 1"/>
          <p:cNvSpPr txBox="1"/>
          <p:nvPr/>
        </p:nvSpPr>
        <p:spPr>
          <a:xfrm>
            <a:off x="4152265" y="2853055"/>
            <a:ext cx="4528185" cy="1106805"/>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p>
            <a:r>
              <a:rPr lang="zh-CN" altLang="en-US" sz="6600">
                <a:solidFill>
                  <a:schemeClr val="accent3"/>
                </a:solidFill>
                <a:effectLst/>
              </a:rPr>
              <a:t>如何解决呢</a:t>
            </a:r>
            <a:r>
              <a:rPr lang="zh-CN" altLang="en-US" sz="6600">
                <a:solidFill>
                  <a:schemeClr val="accent3"/>
                </a:solidFill>
              </a:rPr>
              <a:t>？</a:t>
            </a:r>
            <a:endParaRPr lang="zh-CN" altLang="en-US" sz="6600">
              <a:solidFill>
                <a:schemeClr val="accent3"/>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2" name="文本框 11"/>
          <p:cNvSpPr txBox="1"/>
          <p:nvPr/>
        </p:nvSpPr>
        <p:spPr>
          <a:xfrm>
            <a:off x="5342255" y="2684780"/>
            <a:ext cx="3546475" cy="922020"/>
          </a:xfrm>
          <a:prstGeom prst="rect">
            <a:avLst/>
          </a:prstGeom>
          <a:noFill/>
        </p:spPr>
        <p:txBody>
          <a:bodyPr wrap="square" rtlCol="0">
            <a:spAutoFit/>
          </a:bodyPr>
          <a:lstStyle/>
          <a:p>
            <a:pPr>
              <a:lnSpc>
                <a:spcPct val="150000"/>
              </a:lnSpc>
            </a:pPr>
            <a:r>
              <a:rPr lang="en-US" altLang="zh-CN" sz="1800" spc="500" noProof="1">
                <a:solidFill>
                  <a:srgbClr val="7E593C"/>
                </a:solidFill>
                <a:latin typeface="+mj-lt"/>
                <a:ea typeface="宋体" panose="02010600030101010101" pitchFamily="2" charset="-122"/>
                <a:cs typeface="+mj-lt"/>
              </a:rPr>
              <a:t> </a:t>
            </a:r>
            <a:endParaRPr lang="en-US" altLang="zh-CN"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4" name="文本框 3"/>
          <p:cNvSpPr txBox="1"/>
          <p:nvPr/>
        </p:nvSpPr>
        <p:spPr>
          <a:xfrm>
            <a:off x="7811135" y="4827905"/>
            <a:ext cx="3409315" cy="922020"/>
          </a:xfrm>
          <a:prstGeom prst="rect">
            <a:avLst/>
          </a:prstGeom>
          <a:noFill/>
        </p:spPr>
        <p:txBody>
          <a:bodyPr wrap="square" rtlCol="0">
            <a:spAutoFit/>
          </a:bodyPr>
          <a:lstStyle/>
          <a:p>
            <a:pPr algn="r">
              <a:lnSpc>
                <a:spcPct val="150000"/>
              </a:lnSpc>
            </a:pPr>
            <a:r>
              <a:rPr lang="en-US" altLang="zh-CN" spc="200" noProof="1">
                <a:solidFill>
                  <a:schemeClr val="bg1"/>
                </a:solidFill>
                <a:latin typeface="+mj-lt"/>
                <a:ea typeface="宋体" panose="02010600030101010101" pitchFamily="2" charset="-122"/>
                <a:cs typeface="+mj-lt"/>
                <a:sym typeface="+mn-ea"/>
              </a:rPr>
              <a:t>.</a:t>
            </a:r>
            <a:endParaRPr lang="en-US" altLang="zh-CN" spc="200" noProof="1">
              <a:solidFill>
                <a:schemeClr val="bg1">
                  <a:lumMod val="50000"/>
                </a:schemeClr>
              </a:solidFill>
              <a:latin typeface="+mj-lt"/>
              <a:cs typeface="+mj-lt"/>
            </a:endParaRPr>
          </a:p>
          <a:p>
            <a:pPr>
              <a:lnSpc>
                <a:spcPct val="150000"/>
              </a:lnSpc>
            </a:pPr>
            <a:endParaRPr lang="en-US" altLang="zh-CN" spc="200" noProof="1">
              <a:solidFill>
                <a:schemeClr val="bg1">
                  <a:lumMod val="50000"/>
                </a:schemeClr>
              </a:solidFill>
              <a:latin typeface="+mj-lt"/>
              <a:cs typeface="+mj-lt"/>
            </a:endParaRPr>
          </a:p>
        </p:txBody>
      </p:sp>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15" name="文本框 14"/>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07</a:t>
            </a:r>
            <a:endParaRPr lang="en-US" dirty="0"/>
          </a:p>
        </p:txBody>
      </p:sp>
      <p:sp>
        <p:nvSpPr>
          <p:cNvPr id="3" name="文本框 2"/>
          <p:cNvSpPr txBox="1"/>
          <p:nvPr/>
        </p:nvSpPr>
        <p:spPr>
          <a:xfrm>
            <a:off x="1028700" y="1059180"/>
            <a:ext cx="7741285" cy="4246245"/>
          </a:xfrm>
          <a:prstGeom prst="rect">
            <a:avLst/>
          </a:prstGeom>
          <a:noFill/>
        </p:spPr>
        <p:txBody>
          <a:bodyPr wrap="square" rtlCol="0">
            <a:spAutoFit/>
          </a:bodyPr>
          <a:p>
            <a:r>
              <a:rPr lang="zh-CN" altLang="en-US"/>
              <a:t>首先</a:t>
            </a:r>
            <a:r>
              <a:rPr lang="en-US" altLang="zh-CN"/>
              <a:t> </a:t>
            </a:r>
            <a:r>
              <a:rPr lang="zh-CN" altLang="en-US"/>
              <a:t>为了解决共性技术短板的问题，</a:t>
            </a:r>
            <a:r>
              <a:rPr lang="zh-CN" altLang="en-US"/>
              <a:t>我国已经付出了努力。</a:t>
            </a:r>
            <a:endParaRPr lang="zh-CN" altLang="en-US"/>
          </a:p>
          <a:p>
            <a:endParaRPr lang="zh-CN" altLang="en-US"/>
          </a:p>
          <a:p>
            <a:r>
              <a:rPr lang="en-US" altLang="zh-CN"/>
              <a:t>2016</a:t>
            </a:r>
            <a:r>
              <a:rPr lang="zh-CN" altLang="en-US"/>
              <a:t>年，我国通过推动产学研合作、成立产业联盟、建设产业创新中心等多种方式，为推进显示产业关键共性技术研发</a:t>
            </a:r>
            <a:r>
              <a:rPr lang="zh-CN" altLang="en-US"/>
              <a:t>进行了积极谋划布局。</a:t>
            </a:r>
            <a:endParaRPr lang="zh-CN" altLang="en-US"/>
          </a:p>
          <a:p>
            <a:endParaRPr lang="zh-CN" altLang="en-US"/>
          </a:p>
          <a:p>
            <a:r>
              <a:rPr lang="zh-CN" altLang="en-US"/>
              <a:t>同时，依靠近几年的科研投入，已经在人机交互、行业应用等方面</a:t>
            </a:r>
            <a:r>
              <a:rPr lang="zh-CN" altLang="en-US"/>
              <a:t>拥有了一定的技术储备。</a:t>
            </a:r>
            <a:endParaRPr lang="zh-CN" altLang="en-US"/>
          </a:p>
          <a:p>
            <a:endParaRPr lang="zh-CN" altLang="en-US"/>
          </a:p>
          <a:p>
            <a:r>
              <a:rPr lang="zh-CN" altLang="en-US"/>
              <a:t>真正解决共性技术短板</a:t>
            </a:r>
            <a:r>
              <a:rPr lang="zh-CN" altLang="en-US"/>
              <a:t>不在一朝一夕。</a:t>
            </a:r>
            <a:endParaRPr lang="zh-CN" altLang="en-US"/>
          </a:p>
          <a:p>
            <a:endParaRPr lang="zh-CN" altLang="en-US"/>
          </a:p>
          <a:p>
            <a:r>
              <a:rPr lang="zh-CN" altLang="en-US"/>
              <a:t>单点技术突破阶段</a:t>
            </a:r>
            <a:r>
              <a:rPr lang="en-US" altLang="zh-CN"/>
              <a:t>——&gt;</a:t>
            </a:r>
            <a:r>
              <a:rPr lang="zh-CN" altLang="en-US"/>
              <a:t>系统性创新突破阶段</a:t>
            </a:r>
            <a:endParaRPr lang="zh-CN" altLang="en-US"/>
          </a:p>
          <a:p>
            <a:endParaRPr lang="zh-CN" altLang="en-US"/>
          </a:p>
          <a:p>
            <a:r>
              <a:rPr lang="zh-CN" altLang="en-US">
                <a:sym typeface="+mn-ea"/>
              </a:rPr>
              <a:t>为了扩大</a:t>
            </a:r>
            <a:r>
              <a:rPr lang="zh-CN" altLang="en-US">
                <a:sym typeface="+mn-ea"/>
              </a:rPr>
              <a:t>人才队伍：亟须强化人才队伍建设工作，在培养本土优质人才的同时，加快对海外创新型企业的并购和高端人才的引进。</a:t>
            </a:r>
            <a:endParaRPr lang="en-US" altLang="zh-CN"/>
          </a:p>
          <a:p>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2" name="文本框 11"/>
          <p:cNvSpPr txBox="1"/>
          <p:nvPr/>
        </p:nvSpPr>
        <p:spPr>
          <a:xfrm>
            <a:off x="5342255" y="2684780"/>
            <a:ext cx="3546475" cy="922020"/>
          </a:xfrm>
          <a:prstGeom prst="rect">
            <a:avLst/>
          </a:prstGeom>
          <a:noFill/>
        </p:spPr>
        <p:txBody>
          <a:bodyPr wrap="square" rtlCol="0">
            <a:spAutoFit/>
          </a:bodyPr>
          <a:lstStyle/>
          <a:p>
            <a:pPr>
              <a:lnSpc>
                <a:spcPct val="150000"/>
              </a:lnSpc>
            </a:pPr>
            <a:r>
              <a:rPr lang="en-US" altLang="zh-CN" sz="1800" spc="500" noProof="1">
                <a:solidFill>
                  <a:srgbClr val="7E593C"/>
                </a:solidFill>
                <a:latin typeface="+mj-lt"/>
                <a:ea typeface="宋体" panose="02010600030101010101" pitchFamily="2" charset="-122"/>
                <a:cs typeface="+mj-lt"/>
              </a:rPr>
              <a:t> </a:t>
            </a:r>
            <a:endParaRPr lang="en-US" altLang="zh-CN" spc="200" noProof="1">
              <a:solidFill>
                <a:schemeClr val="bg1">
                  <a:lumMod val="50000"/>
                </a:schemeClr>
              </a:solidFill>
              <a:latin typeface="+mj-lt"/>
              <a:cs typeface="+mj-lt"/>
            </a:endParaRPr>
          </a:p>
          <a:p>
            <a:pPr algn="ctr">
              <a:lnSpc>
                <a:spcPct val="150000"/>
              </a:lnSpc>
            </a:pPr>
            <a:endParaRPr lang="en-US" altLang="zh-CN" spc="200" noProof="1">
              <a:solidFill>
                <a:schemeClr val="bg1">
                  <a:lumMod val="50000"/>
                </a:schemeClr>
              </a:solidFill>
              <a:latin typeface="+mj-lt"/>
              <a:cs typeface="+mj-lt"/>
            </a:endParaRPr>
          </a:p>
        </p:txBody>
      </p:sp>
      <p:sp>
        <p:nvSpPr>
          <p:cNvPr id="4" name="文本框 3"/>
          <p:cNvSpPr txBox="1"/>
          <p:nvPr/>
        </p:nvSpPr>
        <p:spPr>
          <a:xfrm>
            <a:off x="7811135" y="4827905"/>
            <a:ext cx="3409315" cy="922020"/>
          </a:xfrm>
          <a:prstGeom prst="rect">
            <a:avLst/>
          </a:prstGeom>
          <a:noFill/>
        </p:spPr>
        <p:txBody>
          <a:bodyPr wrap="square" rtlCol="0">
            <a:spAutoFit/>
          </a:bodyPr>
          <a:lstStyle/>
          <a:p>
            <a:pPr algn="r">
              <a:lnSpc>
                <a:spcPct val="150000"/>
              </a:lnSpc>
            </a:pPr>
            <a:r>
              <a:rPr lang="en-US" altLang="zh-CN" spc="200" noProof="1">
                <a:solidFill>
                  <a:schemeClr val="bg1"/>
                </a:solidFill>
                <a:latin typeface="+mj-lt"/>
                <a:ea typeface="宋体" panose="02010600030101010101" pitchFamily="2" charset="-122"/>
                <a:cs typeface="+mj-lt"/>
                <a:sym typeface="+mn-ea"/>
              </a:rPr>
              <a:t>.</a:t>
            </a:r>
            <a:endParaRPr lang="en-US" altLang="zh-CN" spc="200" noProof="1">
              <a:solidFill>
                <a:schemeClr val="bg1">
                  <a:lumMod val="50000"/>
                </a:schemeClr>
              </a:solidFill>
              <a:latin typeface="+mj-lt"/>
              <a:cs typeface="+mj-lt"/>
            </a:endParaRPr>
          </a:p>
          <a:p>
            <a:pPr>
              <a:lnSpc>
                <a:spcPct val="150000"/>
              </a:lnSpc>
            </a:pPr>
            <a:endParaRPr lang="en-US" altLang="zh-CN" spc="200" noProof="1">
              <a:solidFill>
                <a:schemeClr val="bg1">
                  <a:lumMod val="50000"/>
                </a:schemeClr>
              </a:solidFill>
              <a:latin typeface="+mj-lt"/>
              <a:cs typeface="+mj-lt"/>
            </a:endParaRPr>
          </a:p>
        </p:txBody>
      </p:sp>
      <p:sp>
        <p:nvSpPr>
          <p:cNvPr id="184" name=" 184"/>
          <p:cNvSpPr/>
          <p:nvPr/>
        </p:nvSpPr>
        <p:spPr>
          <a:xfrm>
            <a:off x="469900" y="400050"/>
            <a:ext cx="558800" cy="558800"/>
          </a:xfrm>
          <a:prstGeom prst="ellipse">
            <a:avLst/>
          </a:prstGeom>
          <a:solidFill>
            <a:srgbClr val="7E59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15" name="文本框 14"/>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07</a:t>
            </a:r>
            <a:endParaRPr lang="en-US" dirty="0"/>
          </a:p>
        </p:txBody>
      </p:sp>
      <p:sp>
        <p:nvSpPr>
          <p:cNvPr id="6" name="文本框 5"/>
          <p:cNvSpPr txBox="1"/>
          <p:nvPr/>
        </p:nvSpPr>
        <p:spPr>
          <a:xfrm>
            <a:off x="1225550" y="548640"/>
            <a:ext cx="8428355" cy="4399915"/>
          </a:xfrm>
          <a:prstGeom prst="rect">
            <a:avLst/>
          </a:prstGeom>
          <a:noFill/>
        </p:spPr>
        <p:txBody>
          <a:bodyPr wrap="square" rtlCol="0">
            <a:spAutoFit/>
          </a:bodyPr>
          <a:p>
            <a:r>
              <a:rPr lang="zh-CN" altLang="en-US" sz="2800">
                <a:ln w="9525">
                  <a:solidFill>
                    <a:schemeClr val="bg1"/>
                  </a:solidFill>
                  <a:prstDash val="solid"/>
                </a:ln>
                <a:solidFill>
                  <a:schemeClr val="tx1"/>
                </a:solidFill>
                <a:effectLst>
                  <a:outerShdw blurRad="12700" dist="38100" dir="2700000" algn="tl" rotWithShape="0">
                    <a:schemeClr val="bg1">
                      <a:lumMod val="50000"/>
                    </a:schemeClr>
                  </a:outerShdw>
                </a:effectLst>
              </a:rPr>
              <a:t>国家、政府的支持至关重要。</a:t>
            </a:r>
            <a:endParaRPr lang="zh-CN" altLang="en-US" sz="2800">
              <a:ln w="9525">
                <a:solidFill>
                  <a:schemeClr val="bg1"/>
                </a:solidFill>
                <a:prstDash val="solid"/>
              </a:ln>
              <a:solidFill>
                <a:schemeClr val="tx1"/>
              </a:solidFill>
              <a:effectLst>
                <a:outerShdw blurRad="12700" dist="38100" dir="2700000" algn="tl" rotWithShape="0">
                  <a:schemeClr val="bg1">
                    <a:lumMod val="50000"/>
                  </a:schemeClr>
                </a:outerShdw>
              </a:effectLst>
            </a:endParaRPr>
          </a:p>
          <a:p>
            <a:endParaRPr lang="zh-CN" altLang="en-US"/>
          </a:p>
          <a:p>
            <a:endParaRPr lang="zh-CN" altLang="en-US"/>
          </a:p>
          <a:p>
            <a:endParaRPr lang="zh-CN" altLang="en-US"/>
          </a:p>
          <a:p>
            <a:endParaRPr lang="zh-CN" altLang="en-US"/>
          </a:p>
          <a:p>
            <a:endParaRPr lang="zh-CN" altLang="en-US"/>
          </a:p>
          <a:p>
            <a:r>
              <a:rPr lang="zh-CN" altLang="en-US"/>
              <a:t>①、建立相关的法律法规，保证用户的人身</a:t>
            </a:r>
            <a:r>
              <a:rPr lang="zh-CN" altLang="en-US"/>
              <a:t>安全。</a:t>
            </a:r>
            <a:endParaRPr lang="zh-CN" altLang="en-US"/>
          </a:p>
          <a:p>
            <a:endParaRPr lang="zh-CN" altLang="en-US"/>
          </a:p>
          <a:p>
            <a:r>
              <a:rPr lang="zh-CN" altLang="en-US"/>
              <a:t>②、升高虚拟现实技术发展的门槛，防止低端技术发展进程超出高端技术许多的</a:t>
            </a:r>
            <a:r>
              <a:rPr lang="zh-CN" altLang="en-US"/>
              <a:t>尴尬问题。</a:t>
            </a:r>
            <a:endParaRPr lang="zh-CN" altLang="en-US"/>
          </a:p>
          <a:p>
            <a:endParaRPr lang="zh-CN" altLang="en-US"/>
          </a:p>
          <a:p>
            <a:r>
              <a:rPr lang="zh-CN" altLang="en-US"/>
              <a:t>③、加大虚拟现实技术在医疗、娱乐、教育、工业制造、商业等领域的应用场景。</a:t>
            </a:r>
            <a:endParaRPr lang="zh-CN" altLang="en-US"/>
          </a:p>
          <a:p>
            <a:endParaRPr lang="zh-CN" altLang="en-US"/>
          </a:p>
          <a:p>
            <a:r>
              <a:rPr lang="zh-CN" altLang="en-US"/>
              <a:t>企业：</a:t>
            </a:r>
            <a:endParaRPr lang="zh-CN" altLang="en-US"/>
          </a:p>
          <a:p>
            <a:r>
              <a:rPr lang="zh-CN" altLang="en-US"/>
              <a:t> </a:t>
            </a:r>
            <a:r>
              <a:rPr lang="en-US" altLang="zh-CN"/>
              <a:t>     </a:t>
            </a:r>
            <a:r>
              <a:rPr lang="zh-CN" altLang="en-US"/>
              <a:t>明确</a:t>
            </a:r>
            <a:r>
              <a:rPr lang="zh-CN" altLang="en-US"/>
              <a:t>目标需求。</a:t>
            </a:r>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3741516"/>
            <a:ext cx="12191999" cy="1902243"/>
          </a:xfrm>
          <a:prstGeom prst="rect">
            <a:avLst/>
          </a:prstGeom>
          <a:solidFill>
            <a:srgbClr val="B496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t="457" b="1320"/>
          <a:stretch>
            <a:fillRect/>
          </a:stretch>
        </p:blipFill>
        <p:spPr>
          <a:xfrm>
            <a:off x="858810" y="2013994"/>
            <a:ext cx="6416329" cy="4201610"/>
          </a:xfrm>
          <a:prstGeom prst="rect">
            <a:avLst/>
          </a:prstGeom>
          <a:effectLst>
            <a:outerShdw blurRad="50800" dist="38100" dir="2700000" algn="tl" rotWithShape="0">
              <a:prstClr val="black">
                <a:alpha val="40000"/>
              </a:prstClr>
            </a:outerShdw>
          </a:effectLst>
        </p:spPr>
      </p:pic>
      <p:sp>
        <p:nvSpPr>
          <p:cNvPr id="9" name="矩形 8"/>
          <p:cNvSpPr/>
          <p:nvPr/>
        </p:nvSpPr>
        <p:spPr>
          <a:xfrm>
            <a:off x="1487877" y="495453"/>
            <a:ext cx="5271135" cy="521970"/>
          </a:xfrm>
          <a:prstGeom prst="rect">
            <a:avLst/>
          </a:prstGeom>
        </p:spPr>
        <p:txBody>
          <a:bodyPr wrap="none">
            <a:spAutoFit/>
          </a:bodyPr>
          <a:lstStyle/>
          <a:p>
            <a:r>
              <a:rPr lang="en-US" altLang="zh-CN" sz="2800" dirty="0">
                <a:solidFill>
                  <a:srgbClr val="7E593C"/>
                </a:solidFill>
                <a:latin typeface="Century Gothic" panose="020B0502020202020204" pitchFamily="34" charset="0"/>
              </a:rPr>
              <a:t>VR</a:t>
            </a:r>
            <a:r>
              <a:rPr lang="zh-CN" altLang="en-US" sz="2800" dirty="0">
                <a:solidFill>
                  <a:srgbClr val="7E593C"/>
                </a:solidFill>
                <a:latin typeface="Century Gothic" panose="020B0502020202020204" pitchFamily="34" charset="0"/>
              </a:rPr>
              <a:t>技术</a:t>
            </a:r>
            <a:r>
              <a:rPr lang="zh-CN" altLang="en-US" sz="2800" dirty="0">
                <a:solidFill>
                  <a:srgbClr val="7E593C"/>
                </a:solidFill>
                <a:latin typeface="Century Gothic" panose="020B0502020202020204" pitchFamily="34" charset="0"/>
              </a:rPr>
              <a:t>目前在人们生活中的应用</a:t>
            </a:r>
            <a:endParaRPr lang="zh-CN" altLang="en-US" sz="2800" dirty="0">
              <a:solidFill>
                <a:srgbClr val="7E593C"/>
              </a:solidFill>
              <a:latin typeface="Century Gothic" panose="020B0502020202020204" pitchFamily="34" charset="0"/>
            </a:endParaRPr>
          </a:p>
        </p:txBody>
      </p:sp>
      <p:sp>
        <p:nvSpPr>
          <p:cNvPr id="11" name=" 184"/>
          <p:cNvSpPr/>
          <p:nvPr/>
        </p:nvSpPr>
        <p:spPr>
          <a:xfrm>
            <a:off x="469900" y="400050"/>
            <a:ext cx="558800" cy="558800"/>
          </a:xfrm>
          <a:prstGeom prst="ellipse">
            <a:avLst/>
          </a:prstGeom>
          <a:solidFill>
            <a:srgbClr val="9A574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12" name="文本框 11"/>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08</a:t>
            </a:r>
            <a:endParaRPr lang="en-US" dirty="0"/>
          </a:p>
        </p:txBody>
      </p:sp>
      <p:sp>
        <p:nvSpPr>
          <p:cNvPr id="2" name="文本框 1"/>
          <p:cNvSpPr txBox="1"/>
          <p:nvPr/>
        </p:nvSpPr>
        <p:spPr>
          <a:xfrm>
            <a:off x="7392035" y="1052830"/>
            <a:ext cx="4509770" cy="2584450"/>
          </a:xfrm>
          <a:prstGeom prst="rect">
            <a:avLst/>
          </a:prstGeom>
          <a:noFill/>
        </p:spPr>
        <p:txBody>
          <a:bodyPr wrap="square" rtlCol="0">
            <a:spAutoFit/>
          </a:bodyPr>
          <a:p>
            <a:r>
              <a:rPr lang="zh-CN" altLang="en-US">
                <a:gradFill>
                  <a:gsLst>
                    <a:gs pos="0">
                      <a:srgbClr val="D9A87F"/>
                    </a:gs>
                    <a:gs pos="100000">
                      <a:srgbClr val="AC693C"/>
                    </a:gs>
                  </a:gsLst>
                  <a:lin ang="5400000" scaled="1"/>
                </a:gradFill>
              </a:rPr>
              <a:t> 例如，在娱乐方面，我们可以尝试观看VR演唱会或体育比赛，感受沉浸式的现场氛围；在教育方面，我们可以利用VR应用来辅助学习，使学习过程更加生动有趣；在购物方面，我们可以利用VR技术在线上购物平台挑选商品，享受便捷的购物体验；在旅游方面，我们可以借助VR技术在家中“游览”世界各地名胜古迹，丰富自己的视野和体验。</a:t>
            </a:r>
            <a:endParaRPr lang="zh-CN" altLang="en-US">
              <a:gradFill>
                <a:gsLst>
                  <a:gs pos="0">
                    <a:srgbClr val="D9A87F"/>
                  </a:gs>
                  <a:gs pos="100000">
                    <a:srgbClr val="AC693C"/>
                  </a:gs>
                </a:gsLst>
                <a:lin ang="5400000" scaled="1"/>
              </a:gradFill>
            </a:endParaRPr>
          </a:p>
        </p:txBody>
      </p:sp>
      <p:sp>
        <p:nvSpPr>
          <p:cNvPr id="3" name="文本框 2"/>
          <p:cNvSpPr txBox="1"/>
          <p:nvPr/>
        </p:nvSpPr>
        <p:spPr>
          <a:xfrm>
            <a:off x="647065" y="1116965"/>
            <a:ext cx="6672580" cy="645160"/>
          </a:xfrm>
          <a:prstGeom prst="rect">
            <a:avLst/>
          </a:prstGeom>
          <a:noFill/>
        </p:spPr>
        <p:txBody>
          <a:bodyPr wrap="square" rtlCol="0">
            <a:spAutoFit/>
          </a:bodyPr>
          <a:p>
            <a:r>
              <a:rPr lang="zh-CN" altLang="en-US">
                <a:solidFill>
                  <a:srgbClr val="FF0000"/>
                </a:solidFill>
                <a:sym typeface="+mn-ea"/>
              </a:rPr>
              <a:t>在实际应用中，我们可以充分利用VR技术的优势来提升日常生活品质。</a:t>
            </a:r>
            <a:endParaRPr lang="zh-CN" altLang="en-US">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 218"/>
          <p:cNvSpPr/>
          <p:nvPr/>
        </p:nvSpPr>
        <p:spPr>
          <a:xfrm rot="19680000">
            <a:off x="2475865" y="1478915"/>
            <a:ext cx="1583690" cy="2375535"/>
          </a:xfrm>
          <a:custGeom>
            <a:avLst/>
            <a:gdLst>
              <a:gd name="connsiteX0" fmla="*/ 586581 w 1173161"/>
              <a:gd name="connsiteY0" fmla="*/ 0 h 1672438"/>
              <a:gd name="connsiteX1" fmla="*/ 1001356 w 1173161"/>
              <a:gd name="connsiteY1" fmla="*/ 171806 h 1672438"/>
              <a:gd name="connsiteX2" fmla="*/ 1001356 w 1173161"/>
              <a:gd name="connsiteY2" fmla="*/ 1001357 h 1672438"/>
              <a:gd name="connsiteX3" fmla="*/ 586581 w 1173161"/>
              <a:gd name="connsiteY3" fmla="*/ 1672438 h 1672438"/>
              <a:gd name="connsiteX4" fmla="*/ 171805 w 1173161"/>
              <a:gd name="connsiteY4" fmla="*/ 1001357 h 1672438"/>
              <a:gd name="connsiteX5" fmla="*/ 171805 w 1173161"/>
              <a:gd name="connsiteY5" fmla="*/ 171806 h 1672438"/>
              <a:gd name="connsiteX6" fmla="*/ 586581 w 1173161"/>
              <a:gd name="connsiteY6" fmla="*/ 0 h 167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3161" h="1672438">
                <a:moveTo>
                  <a:pt x="586581" y="0"/>
                </a:moveTo>
                <a:cubicBezTo>
                  <a:pt x="736700" y="0"/>
                  <a:pt x="886819" y="57269"/>
                  <a:pt x="1001356" y="171806"/>
                </a:cubicBezTo>
                <a:cubicBezTo>
                  <a:pt x="1230430" y="400880"/>
                  <a:pt x="1230430" y="772282"/>
                  <a:pt x="1001356" y="1001357"/>
                </a:cubicBezTo>
                <a:cubicBezTo>
                  <a:pt x="820380" y="1182333"/>
                  <a:pt x="682121" y="1406027"/>
                  <a:pt x="586581" y="1672438"/>
                </a:cubicBezTo>
                <a:cubicBezTo>
                  <a:pt x="491040" y="1406027"/>
                  <a:pt x="352782" y="1182333"/>
                  <a:pt x="171805" y="1001357"/>
                </a:cubicBezTo>
                <a:cubicBezTo>
                  <a:pt x="-57269" y="772282"/>
                  <a:pt x="-57269" y="400880"/>
                  <a:pt x="171805" y="171806"/>
                </a:cubicBezTo>
                <a:cubicBezTo>
                  <a:pt x="286343" y="57269"/>
                  <a:pt x="436462" y="0"/>
                  <a:pt x="586581" y="0"/>
                </a:cubicBezTo>
                <a:close/>
              </a:path>
            </a:pathLst>
          </a:custGeom>
          <a:solidFill>
            <a:srgbClr val="9A5742"/>
          </a:solidFill>
          <a:ln>
            <a:noFill/>
          </a:ln>
        </p:spPr>
        <p:style>
          <a:lnRef idx="2">
            <a:schemeClr val="accent1">
              <a:shade val="50000"/>
            </a:schemeClr>
          </a:lnRef>
          <a:fillRef idx="1">
            <a:schemeClr val="accent1"/>
          </a:fillRef>
          <a:effectRef idx="0">
            <a:schemeClr val="accent1"/>
          </a:effectRef>
          <a:fontRef idx="minor">
            <a:schemeClr val="lt1"/>
          </a:fontRef>
        </p:style>
        <p:txBody>
          <a:bodyPr bIns="57600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solidFill>
                <a:srgbClr val="FFFFFF"/>
              </a:solidFill>
            </a:endParaRPr>
          </a:p>
        </p:txBody>
      </p:sp>
      <p:sp>
        <p:nvSpPr>
          <p:cNvPr id="11" name=" 218"/>
          <p:cNvSpPr/>
          <p:nvPr/>
        </p:nvSpPr>
        <p:spPr>
          <a:xfrm>
            <a:off x="3355340" y="2107565"/>
            <a:ext cx="1574800" cy="2362200"/>
          </a:xfrm>
          <a:custGeom>
            <a:avLst/>
            <a:gdLst>
              <a:gd name="connsiteX0" fmla="*/ 586581 w 1173161"/>
              <a:gd name="connsiteY0" fmla="*/ 0 h 1672438"/>
              <a:gd name="connsiteX1" fmla="*/ 1001356 w 1173161"/>
              <a:gd name="connsiteY1" fmla="*/ 171806 h 1672438"/>
              <a:gd name="connsiteX2" fmla="*/ 1001356 w 1173161"/>
              <a:gd name="connsiteY2" fmla="*/ 1001357 h 1672438"/>
              <a:gd name="connsiteX3" fmla="*/ 586581 w 1173161"/>
              <a:gd name="connsiteY3" fmla="*/ 1672438 h 1672438"/>
              <a:gd name="connsiteX4" fmla="*/ 171805 w 1173161"/>
              <a:gd name="connsiteY4" fmla="*/ 1001357 h 1672438"/>
              <a:gd name="connsiteX5" fmla="*/ 171805 w 1173161"/>
              <a:gd name="connsiteY5" fmla="*/ 171806 h 1672438"/>
              <a:gd name="connsiteX6" fmla="*/ 586581 w 1173161"/>
              <a:gd name="connsiteY6" fmla="*/ 0 h 167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3161" h="1672438">
                <a:moveTo>
                  <a:pt x="586581" y="0"/>
                </a:moveTo>
                <a:cubicBezTo>
                  <a:pt x="736700" y="0"/>
                  <a:pt x="886819" y="57269"/>
                  <a:pt x="1001356" y="171806"/>
                </a:cubicBezTo>
                <a:cubicBezTo>
                  <a:pt x="1230430" y="400880"/>
                  <a:pt x="1230430" y="772282"/>
                  <a:pt x="1001356" y="1001357"/>
                </a:cubicBezTo>
                <a:cubicBezTo>
                  <a:pt x="820380" y="1182333"/>
                  <a:pt x="682121" y="1406027"/>
                  <a:pt x="586581" y="1672438"/>
                </a:cubicBezTo>
                <a:cubicBezTo>
                  <a:pt x="491040" y="1406027"/>
                  <a:pt x="352782" y="1182333"/>
                  <a:pt x="171805" y="1001357"/>
                </a:cubicBezTo>
                <a:cubicBezTo>
                  <a:pt x="-57269" y="772282"/>
                  <a:pt x="-57269" y="400880"/>
                  <a:pt x="171805" y="171806"/>
                </a:cubicBezTo>
                <a:cubicBezTo>
                  <a:pt x="286343" y="57269"/>
                  <a:pt x="436462" y="0"/>
                  <a:pt x="586581" y="0"/>
                </a:cubicBezTo>
                <a:close/>
              </a:path>
            </a:pathLst>
          </a:custGeom>
          <a:solidFill>
            <a:srgbClr val="B4967C"/>
          </a:solidFill>
          <a:ln>
            <a:noFill/>
          </a:ln>
        </p:spPr>
        <p:style>
          <a:lnRef idx="2">
            <a:schemeClr val="accent1">
              <a:shade val="50000"/>
            </a:schemeClr>
          </a:lnRef>
          <a:fillRef idx="1">
            <a:schemeClr val="accent1"/>
          </a:fillRef>
          <a:effectRef idx="0">
            <a:schemeClr val="accent1"/>
          </a:effectRef>
          <a:fontRef idx="minor">
            <a:schemeClr val="lt1"/>
          </a:fontRef>
        </p:style>
        <p:txBody>
          <a:bodyPr bIns="57600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solidFill>
                <a:srgbClr val="FFFFFF"/>
              </a:solidFill>
            </a:endParaRPr>
          </a:p>
        </p:txBody>
      </p:sp>
      <p:sp>
        <p:nvSpPr>
          <p:cNvPr id="12" name=" 218"/>
          <p:cNvSpPr/>
          <p:nvPr/>
        </p:nvSpPr>
        <p:spPr>
          <a:xfrm rot="1980000">
            <a:off x="3870325" y="2923540"/>
            <a:ext cx="1760855" cy="2641600"/>
          </a:xfrm>
          <a:custGeom>
            <a:avLst/>
            <a:gdLst>
              <a:gd name="connsiteX0" fmla="*/ 586581 w 1173161"/>
              <a:gd name="connsiteY0" fmla="*/ 0 h 1672438"/>
              <a:gd name="connsiteX1" fmla="*/ 1001356 w 1173161"/>
              <a:gd name="connsiteY1" fmla="*/ 171806 h 1672438"/>
              <a:gd name="connsiteX2" fmla="*/ 1001356 w 1173161"/>
              <a:gd name="connsiteY2" fmla="*/ 1001357 h 1672438"/>
              <a:gd name="connsiteX3" fmla="*/ 586581 w 1173161"/>
              <a:gd name="connsiteY3" fmla="*/ 1672438 h 1672438"/>
              <a:gd name="connsiteX4" fmla="*/ 171805 w 1173161"/>
              <a:gd name="connsiteY4" fmla="*/ 1001357 h 1672438"/>
              <a:gd name="connsiteX5" fmla="*/ 171805 w 1173161"/>
              <a:gd name="connsiteY5" fmla="*/ 171806 h 1672438"/>
              <a:gd name="connsiteX6" fmla="*/ 586581 w 1173161"/>
              <a:gd name="connsiteY6" fmla="*/ 0 h 167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3161" h="1672438">
                <a:moveTo>
                  <a:pt x="586581" y="0"/>
                </a:moveTo>
                <a:cubicBezTo>
                  <a:pt x="736700" y="0"/>
                  <a:pt x="886819" y="57269"/>
                  <a:pt x="1001356" y="171806"/>
                </a:cubicBezTo>
                <a:cubicBezTo>
                  <a:pt x="1230430" y="400880"/>
                  <a:pt x="1230430" y="772282"/>
                  <a:pt x="1001356" y="1001357"/>
                </a:cubicBezTo>
                <a:cubicBezTo>
                  <a:pt x="820380" y="1182333"/>
                  <a:pt x="682121" y="1406027"/>
                  <a:pt x="586581" y="1672438"/>
                </a:cubicBezTo>
                <a:cubicBezTo>
                  <a:pt x="491040" y="1406027"/>
                  <a:pt x="352782" y="1182333"/>
                  <a:pt x="171805" y="1001357"/>
                </a:cubicBezTo>
                <a:cubicBezTo>
                  <a:pt x="-57269" y="772282"/>
                  <a:pt x="-57269" y="400880"/>
                  <a:pt x="171805" y="171806"/>
                </a:cubicBezTo>
                <a:cubicBezTo>
                  <a:pt x="286343" y="57269"/>
                  <a:pt x="436462" y="0"/>
                  <a:pt x="586581" y="0"/>
                </a:cubicBezTo>
                <a:close/>
              </a:path>
            </a:pathLst>
          </a:custGeom>
          <a:solidFill>
            <a:srgbClr val="B8AFA0"/>
          </a:solidFill>
          <a:ln>
            <a:noFill/>
          </a:ln>
        </p:spPr>
        <p:style>
          <a:lnRef idx="2">
            <a:schemeClr val="accent1">
              <a:shade val="50000"/>
            </a:schemeClr>
          </a:lnRef>
          <a:fillRef idx="1">
            <a:schemeClr val="accent1"/>
          </a:fillRef>
          <a:effectRef idx="0">
            <a:schemeClr val="accent1"/>
          </a:effectRef>
          <a:fontRef idx="minor">
            <a:schemeClr val="lt1"/>
          </a:fontRef>
        </p:style>
        <p:txBody>
          <a:bodyPr bIns="57600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solidFill>
                <a:srgbClr val="FFFFFF"/>
              </a:solidFill>
            </a:endParaRPr>
          </a:p>
        </p:txBody>
      </p:sp>
      <p:sp>
        <p:nvSpPr>
          <p:cNvPr id="184" name=" 184"/>
          <p:cNvSpPr/>
          <p:nvPr/>
        </p:nvSpPr>
        <p:spPr>
          <a:xfrm>
            <a:off x="2712085" y="4041140"/>
            <a:ext cx="1080135" cy="1080135"/>
          </a:xfrm>
          <a:prstGeom prst="ellipse">
            <a:avLst/>
          </a:prstGeom>
          <a:noFill/>
          <a:ln w="25400">
            <a:solidFill>
              <a:srgbClr val="9A5742"/>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3" name=" 184"/>
          <p:cNvSpPr/>
          <p:nvPr/>
        </p:nvSpPr>
        <p:spPr>
          <a:xfrm>
            <a:off x="469900" y="400050"/>
            <a:ext cx="558800" cy="558800"/>
          </a:xfrm>
          <a:prstGeom prst="ellipse">
            <a:avLst/>
          </a:prstGeom>
          <a:solidFill>
            <a:srgbClr val="9A574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ltLang="zh-CN" sz="3200" spc="200">
              <a:solidFill>
                <a:schemeClr val="bg1"/>
              </a:solidFill>
              <a:uFillTx/>
              <a:latin typeface="+mj-lt"/>
              <a:cs typeface="+mj-lt"/>
              <a:sym typeface="+mn-ea"/>
            </a:endParaRPr>
          </a:p>
        </p:txBody>
      </p:sp>
      <p:sp>
        <p:nvSpPr>
          <p:cNvPr id="14" name="文本框 13"/>
          <p:cNvSpPr txBox="1"/>
          <p:nvPr/>
        </p:nvSpPr>
        <p:spPr>
          <a:xfrm>
            <a:off x="541020" y="495300"/>
            <a:ext cx="487680" cy="368300"/>
          </a:xfrm>
          <a:prstGeom prst="rect">
            <a:avLst/>
          </a:prstGeom>
          <a:noFill/>
        </p:spPr>
        <p:txBody>
          <a:bodyPr wrap="square" rtlCol="0" anchor="t">
            <a:spAutoFit/>
          </a:bodyPr>
          <a:lstStyle/>
          <a:p>
            <a:pPr algn="ctr" eaLnBrk="1" fontAlgn="auto" hangingPunct="1">
              <a:spcBef>
                <a:spcPts val="0"/>
              </a:spcBef>
              <a:spcAft>
                <a:spcPts val="0"/>
              </a:spcAft>
              <a:defRPr/>
            </a:pPr>
            <a:r>
              <a:rPr lang="en-US" altLang="zh-CN" spc="200" dirty="0">
                <a:solidFill>
                  <a:schemeClr val="bg1"/>
                </a:solidFill>
                <a:uFillTx/>
                <a:latin typeface="+mj-lt"/>
                <a:cs typeface="+mj-lt"/>
                <a:sym typeface="+mn-ea"/>
              </a:rPr>
              <a:t>09</a:t>
            </a:r>
            <a:endParaRPr lang="en-US" dirty="0"/>
          </a:p>
        </p:txBody>
      </p:sp>
      <p:sp>
        <p:nvSpPr>
          <p:cNvPr id="15" name="文本框 14"/>
          <p:cNvSpPr txBox="1"/>
          <p:nvPr/>
        </p:nvSpPr>
        <p:spPr>
          <a:xfrm>
            <a:off x="2775585" y="2216785"/>
            <a:ext cx="944880" cy="368300"/>
          </a:xfrm>
          <a:prstGeom prst="rect">
            <a:avLst/>
          </a:prstGeom>
          <a:noFill/>
        </p:spPr>
        <p:txBody>
          <a:bodyPr wrap="square" rtlCol="0" anchor="t">
            <a:spAutoFit/>
          </a:bodyPr>
          <a:lstStyle/>
          <a:p>
            <a:r>
              <a:rPr lang="en-US" altLang="zh-CN" b="1" spc="200">
                <a:solidFill>
                  <a:schemeClr val="bg1"/>
                </a:solidFill>
                <a:uFillTx/>
                <a:latin typeface="+mj-lt"/>
                <a:cs typeface="+mj-lt"/>
                <a:sym typeface="+mn-ea"/>
              </a:rPr>
              <a:t>A</a:t>
            </a:r>
            <a:endParaRPr lang="en-US" altLang="zh-CN" b="1" spc="200">
              <a:solidFill>
                <a:schemeClr val="bg1"/>
              </a:solidFill>
              <a:uFillTx/>
              <a:latin typeface="+mj-lt"/>
              <a:cs typeface="+mj-lt"/>
              <a:sym typeface="+mn-ea"/>
            </a:endParaRPr>
          </a:p>
        </p:txBody>
      </p:sp>
      <p:sp>
        <p:nvSpPr>
          <p:cNvPr id="17" name="文本框 16"/>
          <p:cNvSpPr txBox="1"/>
          <p:nvPr/>
        </p:nvSpPr>
        <p:spPr>
          <a:xfrm>
            <a:off x="3978910" y="2630805"/>
            <a:ext cx="944880" cy="368300"/>
          </a:xfrm>
          <a:prstGeom prst="rect">
            <a:avLst/>
          </a:prstGeom>
          <a:noFill/>
        </p:spPr>
        <p:txBody>
          <a:bodyPr wrap="square" rtlCol="0" anchor="t">
            <a:spAutoFit/>
          </a:bodyPr>
          <a:lstStyle/>
          <a:p>
            <a:r>
              <a:rPr lang="en-US" altLang="zh-CN" b="1" spc="200">
                <a:solidFill>
                  <a:schemeClr val="bg1"/>
                </a:solidFill>
                <a:uFillTx/>
                <a:latin typeface="+mj-lt"/>
                <a:cs typeface="+mj-lt"/>
                <a:sym typeface="+mn-ea"/>
              </a:rPr>
              <a:t>B</a:t>
            </a:r>
            <a:endParaRPr lang="en-US" altLang="zh-CN" b="1" spc="200">
              <a:solidFill>
                <a:schemeClr val="bg1"/>
              </a:solidFill>
              <a:uFillTx/>
              <a:latin typeface="+mj-lt"/>
              <a:cs typeface="+mj-lt"/>
              <a:sym typeface="+mn-ea"/>
            </a:endParaRPr>
          </a:p>
        </p:txBody>
      </p:sp>
      <p:sp>
        <p:nvSpPr>
          <p:cNvPr id="19" name="文本框 18"/>
          <p:cNvSpPr txBox="1"/>
          <p:nvPr/>
        </p:nvSpPr>
        <p:spPr>
          <a:xfrm>
            <a:off x="4823460" y="3618865"/>
            <a:ext cx="944880" cy="368300"/>
          </a:xfrm>
          <a:prstGeom prst="rect">
            <a:avLst/>
          </a:prstGeom>
          <a:noFill/>
        </p:spPr>
        <p:txBody>
          <a:bodyPr wrap="square" rtlCol="0" anchor="t">
            <a:spAutoFit/>
          </a:bodyPr>
          <a:lstStyle/>
          <a:p>
            <a:r>
              <a:rPr lang="en-US" altLang="zh-CN" b="1" spc="200">
                <a:solidFill>
                  <a:schemeClr val="bg1"/>
                </a:solidFill>
                <a:uFillTx/>
                <a:latin typeface="+mj-lt"/>
                <a:cs typeface="+mj-lt"/>
                <a:sym typeface="+mn-ea"/>
              </a:rPr>
              <a:t>C</a:t>
            </a:r>
            <a:endParaRPr lang="en-US" altLang="zh-CN" b="1" spc="200">
              <a:solidFill>
                <a:schemeClr val="bg1"/>
              </a:solidFill>
              <a:uFillTx/>
              <a:latin typeface="+mj-lt"/>
              <a:cs typeface="+mj-lt"/>
              <a:sym typeface="+mn-ea"/>
            </a:endParaRPr>
          </a:p>
        </p:txBody>
      </p:sp>
      <p:sp>
        <p:nvSpPr>
          <p:cNvPr id="24" name="文本框 23"/>
          <p:cNvSpPr txBox="1"/>
          <p:nvPr/>
        </p:nvSpPr>
        <p:spPr>
          <a:xfrm>
            <a:off x="7791450" y="863600"/>
            <a:ext cx="2534285" cy="1198880"/>
          </a:xfrm>
          <a:prstGeom prst="rect">
            <a:avLst/>
          </a:prstGeom>
          <a:noFill/>
        </p:spPr>
        <p:txBody>
          <a:bodyPr wrap="square" rtlCol="0">
            <a:spAutoFit/>
          </a:bodyPr>
          <a:lstStyle/>
          <a:p>
            <a:pPr>
              <a:lnSpc>
                <a:spcPct val="150000"/>
              </a:lnSpc>
            </a:pPr>
            <a:endParaRPr lang="en-US" altLang="zh-CN" sz="1200" spc="200">
              <a:solidFill>
                <a:srgbClr val="9A5742"/>
              </a:solidFill>
              <a:uFillTx/>
              <a:latin typeface="+mj-lt"/>
              <a:cs typeface="+mj-lt"/>
            </a:endParaRPr>
          </a:p>
          <a:p>
            <a:pPr>
              <a:lnSpc>
                <a:spcPct val="150000"/>
              </a:lnSpc>
            </a:pPr>
            <a:r>
              <a:rPr lang="en-US" altLang="zh-CN" sz="1800" b="1" spc="200">
                <a:solidFill>
                  <a:srgbClr val="9A5742"/>
                </a:solidFill>
                <a:uFillTx/>
                <a:latin typeface="+mj-lt"/>
                <a:cs typeface="+mj-lt"/>
              </a:rPr>
              <a:t>A</a:t>
            </a:r>
            <a:endParaRPr lang="en-US" altLang="zh-CN" sz="1800" b="1" spc="200">
              <a:solidFill>
                <a:srgbClr val="9A5742"/>
              </a:solidFill>
              <a:uFillTx/>
              <a:latin typeface="+mj-lt"/>
              <a:cs typeface="+mj-lt"/>
            </a:endParaRPr>
          </a:p>
          <a:p>
            <a:pPr>
              <a:lnSpc>
                <a:spcPct val="150000"/>
              </a:lnSpc>
            </a:pPr>
            <a:endParaRPr lang="en-US" altLang="zh-CN" sz="1800" spc="200">
              <a:solidFill>
                <a:schemeClr val="bg1">
                  <a:lumMod val="50000"/>
                </a:schemeClr>
              </a:solidFill>
              <a:uFillTx/>
              <a:latin typeface="+mj-lt"/>
              <a:cs typeface="+mj-lt"/>
            </a:endParaRPr>
          </a:p>
        </p:txBody>
      </p:sp>
      <p:sp>
        <p:nvSpPr>
          <p:cNvPr id="25" name="文本框 24"/>
          <p:cNvSpPr txBox="1"/>
          <p:nvPr/>
        </p:nvSpPr>
        <p:spPr>
          <a:xfrm>
            <a:off x="7791450" y="2821305"/>
            <a:ext cx="2701290" cy="922020"/>
          </a:xfrm>
          <a:prstGeom prst="rect">
            <a:avLst/>
          </a:prstGeom>
          <a:noFill/>
        </p:spPr>
        <p:txBody>
          <a:bodyPr wrap="square" rtlCol="0">
            <a:spAutoFit/>
          </a:bodyPr>
          <a:lstStyle/>
          <a:p>
            <a:pPr>
              <a:lnSpc>
                <a:spcPct val="150000"/>
              </a:lnSpc>
            </a:pPr>
            <a:r>
              <a:rPr lang="en-US" altLang="zh-CN" sz="1800" b="1" spc="200">
                <a:solidFill>
                  <a:srgbClr val="9A5742"/>
                </a:solidFill>
                <a:uFillTx/>
                <a:latin typeface="+mj-lt"/>
                <a:cs typeface="+mj-lt"/>
                <a:sym typeface="+mn-ea"/>
              </a:rPr>
              <a:t>B</a:t>
            </a:r>
            <a:endParaRPr lang="en-US" altLang="zh-CN" sz="1800" b="1" spc="200">
              <a:solidFill>
                <a:srgbClr val="9A5742"/>
              </a:solidFill>
              <a:uFillTx/>
              <a:latin typeface="+mj-lt"/>
              <a:cs typeface="+mj-lt"/>
              <a:sym typeface="+mn-ea"/>
            </a:endParaRPr>
          </a:p>
          <a:p>
            <a:pPr>
              <a:lnSpc>
                <a:spcPct val="150000"/>
              </a:lnSpc>
            </a:pPr>
            <a:endParaRPr lang="en-US" altLang="zh-CN" sz="1800" spc="200">
              <a:solidFill>
                <a:schemeClr val="bg1">
                  <a:lumMod val="50000"/>
                </a:schemeClr>
              </a:solidFill>
              <a:uFillTx/>
              <a:latin typeface="+mj-lt"/>
              <a:cs typeface="+mj-lt"/>
            </a:endParaRPr>
          </a:p>
        </p:txBody>
      </p:sp>
      <p:sp>
        <p:nvSpPr>
          <p:cNvPr id="26" name="文本框 25"/>
          <p:cNvSpPr txBox="1"/>
          <p:nvPr/>
        </p:nvSpPr>
        <p:spPr>
          <a:xfrm>
            <a:off x="7791450" y="4365625"/>
            <a:ext cx="2534285" cy="1337945"/>
          </a:xfrm>
          <a:prstGeom prst="rect">
            <a:avLst/>
          </a:prstGeom>
          <a:noFill/>
        </p:spPr>
        <p:txBody>
          <a:bodyPr wrap="square" rtlCol="0">
            <a:spAutoFit/>
          </a:bodyPr>
          <a:lstStyle/>
          <a:p>
            <a:pPr>
              <a:lnSpc>
                <a:spcPct val="150000"/>
              </a:lnSpc>
            </a:pPr>
            <a:r>
              <a:rPr lang="en-US" altLang="zh-CN" sz="1800" b="1" spc="200">
                <a:solidFill>
                  <a:srgbClr val="9A5742"/>
                </a:solidFill>
                <a:uFillTx/>
                <a:latin typeface="+mj-lt"/>
                <a:cs typeface="+mj-lt"/>
              </a:rPr>
              <a:t>C</a:t>
            </a:r>
            <a:endParaRPr lang="en-US" altLang="zh-CN" sz="1800" b="1" spc="200">
              <a:solidFill>
                <a:srgbClr val="9A5742"/>
              </a:solidFill>
              <a:uFillTx/>
              <a:latin typeface="+mj-lt"/>
              <a:cs typeface="+mj-lt"/>
            </a:endParaRPr>
          </a:p>
          <a:p>
            <a:pPr>
              <a:lnSpc>
                <a:spcPct val="150000"/>
              </a:lnSpc>
            </a:pPr>
            <a:endParaRPr lang="en-US" altLang="zh-CN" sz="1800" spc="200">
              <a:solidFill>
                <a:schemeClr val="bg1">
                  <a:lumMod val="50000"/>
                </a:schemeClr>
              </a:solidFill>
              <a:uFillTx/>
              <a:latin typeface="+mj-lt"/>
              <a:cs typeface="+mj-lt"/>
            </a:endParaRPr>
          </a:p>
          <a:p>
            <a:pPr>
              <a:lnSpc>
                <a:spcPct val="150000"/>
              </a:lnSpc>
            </a:pPr>
            <a:endParaRPr lang="en-US" altLang="zh-CN" sz="1800" spc="200">
              <a:solidFill>
                <a:schemeClr val="bg1">
                  <a:lumMod val="50000"/>
                </a:schemeClr>
              </a:solidFill>
              <a:uFillTx/>
              <a:latin typeface="+mj-lt"/>
              <a:cs typeface="+mj-lt"/>
            </a:endParaRPr>
          </a:p>
        </p:txBody>
      </p:sp>
      <p:sp>
        <p:nvSpPr>
          <p:cNvPr id="2" name="文本框 1"/>
          <p:cNvSpPr txBox="1"/>
          <p:nvPr/>
        </p:nvSpPr>
        <p:spPr>
          <a:xfrm>
            <a:off x="1266825" y="476885"/>
            <a:ext cx="6967220" cy="368300"/>
          </a:xfrm>
          <a:prstGeom prst="rect">
            <a:avLst/>
          </a:prstGeom>
          <a:noFill/>
        </p:spPr>
        <p:txBody>
          <a:bodyPr wrap="square" rtlCol="0">
            <a:spAutoFit/>
          </a:bodyPr>
          <a:p>
            <a:r>
              <a:rPr lang="en-US" altLang="zh-CN"/>
              <a:t>VR</a:t>
            </a:r>
            <a:r>
              <a:rPr lang="zh-CN" altLang="en-US"/>
              <a:t>未来的发展、</a:t>
            </a:r>
            <a:r>
              <a:rPr lang="zh-CN" altLang="en-US"/>
              <a:t>着重发展的方面</a:t>
            </a:r>
            <a:endParaRPr lang="zh-CN" altLang="en-US"/>
          </a:p>
        </p:txBody>
      </p:sp>
      <p:sp>
        <p:nvSpPr>
          <p:cNvPr id="3" name="文本框 2"/>
          <p:cNvSpPr txBox="1"/>
          <p:nvPr/>
        </p:nvSpPr>
        <p:spPr>
          <a:xfrm>
            <a:off x="8204835" y="1125220"/>
            <a:ext cx="2937510" cy="1198880"/>
          </a:xfrm>
          <a:prstGeom prst="rect">
            <a:avLst/>
          </a:prstGeom>
          <a:noFill/>
        </p:spPr>
        <p:txBody>
          <a:bodyPr wrap="square" rtlCol="0">
            <a:spAutoFit/>
          </a:bodyPr>
          <a:p>
            <a:r>
              <a:rPr lang="zh-CN" altLang="en-US">
                <a:solidFill>
                  <a:srgbClr val="FF0000"/>
                </a:solidFill>
              </a:rPr>
              <a:t>用户数据的安全和隐私保护</a:t>
            </a:r>
            <a:endParaRPr lang="zh-CN" altLang="en-US">
              <a:solidFill>
                <a:srgbClr val="FF0000"/>
              </a:solidFill>
            </a:endParaRPr>
          </a:p>
          <a:p>
            <a:endParaRPr lang="zh-CN" altLang="en-US"/>
          </a:p>
          <a:p>
            <a:r>
              <a:rPr lang="zh-CN" altLang="en-US"/>
              <a:t>例如，采用更加安全的数据加密和</a:t>
            </a:r>
            <a:r>
              <a:rPr lang="zh-CN" altLang="en-US"/>
              <a:t>身份验证技术</a:t>
            </a:r>
            <a:endParaRPr lang="zh-CN" altLang="en-US"/>
          </a:p>
        </p:txBody>
      </p:sp>
      <p:sp>
        <p:nvSpPr>
          <p:cNvPr id="4" name="文本框 3"/>
          <p:cNvSpPr txBox="1"/>
          <p:nvPr/>
        </p:nvSpPr>
        <p:spPr>
          <a:xfrm>
            <a:off x="8234045" y="2716530"/>
            <a:ext cx="2914650" cy="1753235"/>
          </a:xfrm>
          <a:prstGeom prst="rect">
            <a:avLst/>
          </a:prstGeom>
          <a:noFill/>
        </p:spPr>
        <p:txBody>
          <a:bodyPr wrap="square" rtlCol="0">
            <a:spAutoFit/>
          </a:bodyPr>
          <a:p>
            <a:r>
              <a:rPr lang="zh-CN" altLang="en-US">
                <a:solidFill>
                  <a:srgbClr val="FF0000"/>
                </a:solidFill>
              </a:rPr>
              <a:t>注重用户体验和个性化需求</a:t>
            </a:r>
            <a:endParaRPr lang="zh-CN" altLang="en-US">
              <a:solidFill>
                <a:srgbClr val="FF0000"/>
              </a:solidFill>
            </a:endParaRPr>
          </a:p>
          <a:p>
            <a:endParaRPr lang="zh-CN" altLang="en-US">
              <a:solidFill>
                <a:srgbClr val="FF0000"/>
              </a:solidFill>
            </a:endParaRPr>
          </a:p>
          <a:p>
            <a:r>
              <a:rPr lang="zh-CN" altLang="en-US"/>
              <a:t>提高用户体验，为用户量身定做适合自己的</a:t>
            </a:r>
            <a:r>
              <a:rPr lang="zh-CN" altLang="en-US"/>
              <a:t>发展方案。</a:t>
            </a:r>
            <a:endParaRPr lang="zh-CN" altLang="en-US"/>
          </a:p>
        </p:txBody>
      </p:sp>
      <p:sp>
        <p:nvSpPr>
          <p:cNvPr id="5" name="文本框 4"/>
          <p:cNvSpPr txBox="1"/>
          <p:nvPr/>
        </p:nvSpPr>
        <p:spPr>
          <a:xfrm>
            <a:off x="8298180" y="4461510"/>
            <a:ext cx="2982595" cy="368300"/>
          </a:xfrm>
          <a:prstGeom prst="rect">
            <a:avLst/>
          </a:prstGeom>
          <a:noFill/>
        </p:spPr>
        <p:txBody>
          <a:bodyPr wrap="square" rtlCol="0">
            <a:spAutoFit/>
          </a:bodyPr>
          <a:p>
            <a:r>
              <a:rPr lang="en-US" altLang="zh-CN">
                <a:solidFill>
                  <a:srgbClr val="FF0000"/>
                </a:solidFill>
              </a:rPr>
              <a:t>VR</a:t>
            </a:r>
            <a:r>
              <a:rPr lang="zh-CN" altLang="en-US">
                <a:solidFill>
                  <a:srgbClr val="FF0000"/>
                </a:solidFill>
              </a:rPr>
              <a:t>技术与其他技术的融合</a:t>
            </a:r>
            <a:endParaRPr lang="zh-CN" altLang="en-US">
              <a:solidFill>
                <a:srgbClr val="FF0000"/>
              </a:solidFill>
            </a:endParaRPr>
          </a:p>
        </p:txBody>
      </p:sp>
      <p:sp>
        <p:nvSpPr>
          <p:cNvPr id="6" name="文本框 5"/>
          <p:cNvSpPr txBox="1"/>
          <p:nvPr/>
        </p:nvSpPr>
        <p:spPr>
          <a:xfrm>
            <a:off x="695325" y="5734050"/>
            <a:ext cx="6740525" cy="645160"/>
          </a:xfrm>
          <a:prstGeom prst="rect">
            <a:avLst/>
          </a:prstGeom>
          <a:noFill/>
        </p:spPr>
        <p:txBody>
          <a:bodyPr wrap="square" rtlCol="0">
            <a:spAutoFit/>
          </a:bodyPr>
          <a:p>
            <a:r>
              <a:rPr lang="zh-CN" altLang="en-US">
                <a:ln w="9525">
                  <a:solidFill>
                    <a:schemeClr val="bg1"/>
                  </a:solidFill>
                  <a:prstDash val="solid"/>
                </a:ln>
                <a:solidFill>
                  <a:schemeClr val="tx1"/>
                </a:solidFill>
                <a:effectLst>
                  <a:outerShdw blurRad="12700" dist="38100" dir="2700000" algn="tl" rotWithShape="0">
                    <a:schemeClr val="bg1">
                      <a:lumMod val="50000"/>
                    </a:schemeClr>
                  </a:outerShdw>
                </a:effectLst>
              </a:rPr>
              <a:t>一切的一切，都是为了为用户带来更加智能、个性化、多样化的虚拟世界体验。</a:t>
            </a:r>
            <a:endParaRPr lang="zh-CN" altLang="en-US">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d909388ef9f30ac29dfb903d38a6302"/>
          <p:cNvPicPr>
            <a:picLocks noChangeAspect="1"/>
          </p:cNvPicPr>
          <p:nvPr/>
        </p:nvPicPr>
        <p:blipFill>
          <a:blip r:embed="rId1"/>
          <a:srcRect l="5637" r="20993"/>
          <a:stretch>
            <a:fillRect/>
          </a:stretch>
        </p:blipFill>
        <p:spPr>
          <a:xfrm rot="16200000">
            <a:off x="2633345" y="-2690495"/>
            <a:ext cx="6935470" cy="12238355"/>
          </a:xfrm>
          <a:prstGeom prst="rect">
            <a:avLst/>
          </a:prstGeom>
        </p:spPr>
      </p:pic>
      <p:cxnSp>
        <p:nvCxnSpPr>
          <p:cNvPr id="10" name="直接连接符 9"/>
          <p:cNvCxnSpPr/>
          <p:nvPr/>
        </p:nvCxnSpPr>
        <p:spPr>
          <a:xfrm flipH="1">
            <a:off x="2496185" y="1772920"/>
            <a:ext cx="215900" cy="403225"/>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9450705" y="5877560"/>
            <a:ext cx="389890" cy="113665"/>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0056495" y="4221480"/>
            <a:ext cx="237490" cy="128905"/>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16275" y="1052830"/>
            <a:ext cx="184785" cy="259715"/>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072130" y="1772920"/>
            <a:ext cx="113030" cy="194945"/>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flipV="1">
            <a:off x="9450705" y="5081905"/>
            <a:ext cx="102235" cy="147320"/>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9984740" y="4805680"/>
            <a:ext cx="71755" cy="63500"/>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559560" y="1454150"/>
            <a:ext cx="144145" cy="46355"/>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flipV="1">
            <a:off x="10056495" y="5229225"/>
            <a:ext cx="144145" cy="72390"/>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496185" y="1306830"/>
            <a:ext cx="72390" cy="193675"/>
          </a:xfrm>
          <a:prstGeom prst="line">
            <a:avLst/>
          </a:prstGeom>
          <a:ln w="69850"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00550" y="2801620"/>
            <a:ext cx="4547870" cy="768350"/>
          </a:xfrm>
          <a:prstGeom prst="rect">
            <a:avLst/>
          </a:prstGeom>
          <a:noFill/>
        </p:spPr>
        <p:txBody>
          <a:bodyPr wrap="square" rtlCol="0">
            <a:spAutoFit/>
          </a:bodyPr>
          <a:lstStyle/>
          <a:p>
            <a:pPr>
              <a:lnSpc>
                <a:spcPct val="100000"/>
              </a:lnSpc>
            </a:pPr>
            <a:r>
              <a:rPr lang="en-US" altLang="zh-CN" sz="4400" spc="200">
                <a:solidFill>
                  <a:schemeClr val="bg1"/>
                </a:solidFill>
                <a:uFillTx/>
                <a:latin typeface="+mj-lt"/>
                <a:cs typeface="+mj-lt"/>
              </a:rPr>
              <a:t>THANK YOU</a:t>
            </a:r>
            <a:endParaRPr lang="en-US" altLang="zh-CN" sz="4400" spc="200">
              <a:solidFill>
                <a:schemeClr val="bg1"/>
              </a:solidFill>
              <a:uFillTx/>
              <a:latin typeface="+mj-lt"/>
              <a:cs typeface="+mj-lt"/>
            </a:endParaRPr>
          </a:p>
        </p:txBody>
      </p:sp>
      <p:sp>
        <p:nvSpPr>
          <p:cNvPr id="3" name="文本框 2"/>
          <p:cNvSpPr txBox="1"/>
          <p:nvPr/>
        </p:nvSpPr>
        <p:spPr>
          <a:xfrm>
            <a:off x="3764280" y="3601085"/>
            <a:ext cx="4983480" cy="306705"/>
          </a:xfrm>
          <a:prstGeom prst="rect">
            <a:avLst/>
          </a:prstGeom>
          <a:noFill/>
        </p:spPr>
        <p:txBody>
          <a:bodyPr wrap="square" rtlCol="0" anchor="t">
            <a:spAutoFit/>
          </a:bodyPr>
          <a:lstStyle/>
          <a:p>
            <a:pPr algn="ctr"/>
            <a:endParaRPr lang="en-US" altLang="zh-CN" sz="1400" spc="400" noProof="1">
              <a:solidFill>
                <a:schemeClr val="bg1"/>
              </a:solidFill>
              <a:uFillTx/>
              <a:latin typeface="Arial" panose="020B0604020202020204" pitchFamily="34" charset="0"/>
              <a:ea typeface="宋体" panose="02010600030101010101" pitchFamily="2" charset="-122"/>
              <a:cs typeface="+mn-cs"/>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0200_1*a*1"/>
  <p:tag name="KSO_WM_TEMPLATE_CATEGORY" val="custom"/>
  <p:tag name="KSO_WM_TEMPLATE_INDEX" val="20230200"/>
  <p:tag name="KSO_WM_UNIT_LAYERLEVEL" val="1"/>
  <p:tag name="KSO_WM_TAG_VERSION" val="3.0"/>
  <p:tag name="KSO_WM_BEAUTIFY_FLAG" val="#wm#"/>
  <p:tag name="KSO_WM_UNIT_PRESET_TEXT" val="单击此处添加标题"/>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0200_1*i*1"/>
  <p:tag name="KSO_WM_TEMPLATE_CATEGORY" val="custom"/>
  <p:tag name="KSO_WM_TEMPLATE_INDEX" val="20230200"/>
  <p:tag name="KSO_WM_UNIT_LAYERLEVEL" val="1"/>
  <p:tag name="KSO_WM_TAG_VERSION" val="3.0"/>
  <p:tag name="KSO_WM_BEAUTIFY_FLAG" val="#wm#"/>
</p:tagLst>
</file>

<file path=ppt/tags/tag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custom20230200_1*h_a*1_1"/>
  <p:tag name="KSO_WM_TEMPLATE_CATEGORY" val="custom"/>
  <p:tag name="KSO_WM_TEMPLATE_INDEX" val="20230200"/>
  <p:tag name="KSO_WM_UNIT_LAYERLEVEL" val="1_1"/>
  <p:tag name="KSO_WM_TAG_VERSION" val="3.0"/>
  <p:tag name="KSO_WM_BEAUTIFY_FLAG" val="#wm#"/>
  <p:tag name="KSO_WM_UNIT_PRESET_TEXT" val="单击此处添加标题"/>
</p:tagLst>
</file>

<file path=ppt/tags/tag9.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custom20230200_1*h_f*1_1"/>
  <p:tag name="KSO_WM_TEMPLATE_CATEGORY" val="custom"/>
  <p:tag name="KSO_WM_TEMPLATE_INDEX" val="20230200"/>
  <p:tag name="KSO_WM_UNIT_LAYERLEVEL" val="1_1"/>
  <p:tag name="KSO_WM_TAG_VERSION" val="3.0"/>
  <p:tag name="KSO_WM_BEAUTIFY_FLAG" val="#wm#"/>
  <p:tag name="KSO_WM_UNIT_PRESET_TEXT" val="单击此处添加文本具体内容，简明扼要地阐述您的观点。根据需要可酌情增减文字，以便观者准确地理解您传达的思想"/>
</p:tagLst>
</file>

<file path=ppt/tags/tag10.xml><?xml version="1.0" encoding="utf-8"?>
<p:tagLst xmlns:p="http://schemas.openxmlformats.org/presentationml/2006/main">
  <p:tag name="KSO_WM_UNIT_VALUE" val="1230*1058"/>
  <p:tag name="KSO_WM_UNIT_HIGHLIGHT" val="0"/>
  <p:tag name="KSO_WM_UNIT_COMPATIBLE" val="0"/>
  <p:tag name="KSO_WM_UNIT_DIAGRAM_ISNUMVISUAL" val="0"/>
  <p:tag name="KSO_WM_UNIT_DIAGRAM_ISREFERUNIT" val="0"/>
  <p:tag name="KSO_WM_UNIT_TYPE" val="d"/>
  <p:tag name="KSO_WM_UNIT_INDEX" val="1"/>
  <p:tag name="KSO_WM_UNIT_ID" val="custom20230200_1*d*1"/>
  <p:tag name="KSO_WM_TEMPLATE_CATEGORY" val="custom"/>
  <p:tag name="KSO_WM_TEMPLATE_INDEX" val="20230200"/>
  <p:tag name="KSO_WM_UNIT_LAYERLEVEL" val="1"/>
  <p:tag name="KSO_WM_TAG_VERSION" val="3.0"/>
  <p:tag name="KSO_WM_BEAUTIFY_FLAG" val="#wm#"/>
</p:tagLst>
</file>

<file path=ppt/tags/tag11.xml><?xml version="1.0" encoding="utf-8"?>
<p:tagLst xmlns:p="http://schemas.openxmlformats.org/presentationml/2006/main">
  <p:tag name="KSO_WM_SLIDE_ID" val="custom20230200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466.8*63.5"/>
  <p:tag name="KSO_WM_SLIDE_POSITION" val="67.55*418.1"/>
  <p:tag name="KSO_WM_TAG_VERSION" val="3.0"/>
  <p:tag name="KSO_WM_BEAUTIFY_FLAG" val="#wm#"/>
  <p:tag name="KSO_WM_TEMPLATE_CATEGORY" val="custom"/>
  <p:tag name="KSO_WM_TEMPLATE_INDEX" val="20230200"/>
  <p:tag name="KSO_WM_SLIDE_LAYOUT" val="a_d_β_h"/>
  <p:tag name="KSO_WM_SLIDE_LAYOUT_CNT" val="1_1_1_1"/>
</p:tagLst>
</file>

<file path=ppt/tags/tag1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TEXT_FILL_FORE_SCHEMECOLOR_INDEX" val="13"/>
  <p:tag name="KSO_WM_UNIT_TEXT_FILL_TYPE" val="1"/>
  <p:tag name="KSO_WM_UNIT_USESOURCEFORMAT_APPLY" val="1"/>
  <p:tag name="KSO_WM_UNIT_VALUE" val="29"/>
  <p:tag name="KSO_WM_TEMPLATE_INDEX" val="20231770"/>
  <p:tag name="KSO_WM_UNIT_ID" val="custom20231770_1*a*1"/>
  <p:tag name="KSO_WM_UNIT_PRESET_TEXT" val="单击此处添加标题"/>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1770_1*i*1"/>
  <p:tag name="KSO_WM_TEMPLATE_CATEGORY" val="custom"/>
  <p:tag name="KSO_WM_TEMPLATE_INDEX" val="20231770"/>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4.xml><?xml version="1.0" encoding="utf-8"?>
<p:tagLst xmlns:p="http://schemas.openxmlformats.org/presentationml/2006/main">
  <p:tag name="KSO_WM_UNIT_VALUE" val="1233*871"/>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1770_1*d*1"/>
  <p:tag name="KSO_WM_TEMPLATE_CATEGORY" val="custom"/>
  <p:tag name="KSO_WM_TEMPLATE_INDEX" val="20231770"/>
  <p:tag name="KSO_WM_UNIT_LAYERLEVEL" val="1"/>
  <p:tag name="KSO_WM_TAG_VERSION" val="3.0"/>
  <p:tag name="KSO_WM_BEAUTIFY_FLAG" val="#wm#"/>
  <p:tag name="KSO_WM_UNIT_LINE_FORE_SCHEMECOLOR_INDEX" val="13"/>
  <p:tag name="KSO_WM_UNIT_LINE_FILL_TYPE" val="2"/>
  <p:tag name="KSO_WM_UNIT_SHADOW_SCHEMECOLOR_INDEX" val="13"/>
  <p:tag name="KSO_WM_UNIT_USESOURCEFORMAT_APPLY" val="1"/>
</p:tagLst>
</file>

<file path=ppt/tags/tag1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761_2*l_h_i*1_1_2"/>
  <p:tag name="KSO_WM_TEMPLATE_CATEGORY" val="diagram"/>
  <p:tag name="KSO_WM_TEMPLATE_INDEX" val="2023176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65000000000003,&quot;left&quot;:348.605105903205,&quot;top&quot;:107.32503937007873,&quot;width&quot;:558.4000244140625}"/>
  <p:tag name="KSO_WM_DIAGRAM_COLOR_MATCH_VALUE" val="{&quot;shape&quot;:{&quot;fill&quot;:{&quot;solid&quot;:{&quot;brightness&quot;:0.6000000238418579,&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761_2*l_h_i*1_1_1"/>
  <p:tag name="KSO_WM_TEMPLATE_CATEGORY" val="diagram"/>
  <p:tag name="KSO_WM_TEMPLATE_INDEX" val="2023176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65000000000003,&quot;left&quot;:348.605105903205,&quot;top&quot;:107.32503937007873,&quot;width&quot;:558.400024414062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PRESET_TEXT" val="01"/>
</p:tagLst>
</file>

<file path=ppt/tags/tag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61_2*l_h_f*1_1_1"/>
  <p:tag name="KSO_WM_TEMPLATE_CATEGORY" val="diagram"/>
  <p:tag name="KSO_WM_TEMPLATE_INDEX" val="2023176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65000000000003,&quot;left&quot;:348.605105903205,&quot;top&quot;:107.32503937007873,&quot;width&quot;:558.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项正文，文字是您思想的提炼，请尽量言简意赅的阐述观点。单击此处输入你的项正文，请尽量言简意赅的阐述观点。"/>
</p:tagLst>
</file>

<file path=ppt/tags/tag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61_2*l_h_a*1_1_1"/>
  <p:tag name="KSO_WM_TEMPLATE_CATEGORY" val="diagram"/>
  <p:tag name="KSO_WM_TEMPLATE_INDEX" val="2023176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65000000000003,&quot;left&quot;:348.605105903205,&quot;top&quot;:107.32503937007873,&quot;width&quot;:558.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标题"/>
</p:tagLst>
</file>

<file path=ppt/tags/tag1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761_2*l_h_i*1_2_2"/>
  <p:tag name="KSO_WM_TEMPLATE_CATEGORY" val="diagram"/>
  <p:tag name="KSO_WM_TEMPLATE_INDEX" val="2023176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65000000000003,&quot;left&quot;:348.605105903205,&quot;top&quot;:107.32503937007873,&quot;width&quot;:558.4000244140625}"/>
  <p:tag name="KSO_WM_DIAGRAM_COLOR_MATCH_VALUE" val="{&quot;shape&quot;:{&quot;fill&quot;:{&quot;solid&quot;:{&quot;brightness&quot;:0.6000000238418579,&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1761_2*l_h_i*1_2_1"/>
  <p:tag name="KSO_WM_TEMPLATE_CATEGORY" val="diagram"/>
  <p:tag name="KSO_WM_TEMPLATE_INDEX" val="2023176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65000000000003,&quot;left&quot;:348.605105903205,&quot;top&quot;:107.32503937007873,&quot;width&quot;:558.400024414062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PRESET_TEXT" val="02"/>
</p:tagLst>
</file>

<file path=ppt/tags/tag2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761_2*l_h_f*1_2_1"/>
  <p:tag name="KSO_WM_TEMPLATE_CATEGORY" val="diagram"/>
  <p:tag name="KSO_WM_TEMPLATE_INDEX" val="2023176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65000000000003,&quot;left&quot;:348.605105903205,&quot;top&quot;:107.32503937007873,&quot;width&quot;:558.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项正文，文字是您思想的提炼，请尽量言简意赅的阐述观点。单击此处输入你的项正文，请尽量言简意赅的阐述观点。"/>
</p:tagLst>
</file>

<file path=ppt/tags/tag2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61_2*l_h_a*1_2_1"/>
  <p:tag name="KSO_WM_TEMPLATE_CATEGORY" val="diagram"/>
  <p:tag name="KSO_WM_TEMPLATE_INDEX" val="2023176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65000000000003,&quot;left&quot;:348.605105903205,&quot;top&quot;:107.32503937007873,&quot;width&quot;:558.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标题"/>
</p:tagLst>
</file>

<file path=ppt/tags/tag2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761_2*l_h_i*1_3_2"/>
  <p:tag name="KSO_WM_TEMPLATE_CATEGORY" val="diagram"/>
  <p:tag name="KSO_WM_TEMPLATE_INDEX" val="20231761"/>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65.65000000000003,&quot;left&quot;:348.605105903205,&quot;top&quot;:107.32503937007873,&quot;width&quot;:558.4000244140625}"/>
  <p:tag name="KSO_WM_DIAGRAM_COLOR_MATCH_VALUE" val="{&quot;shape&quot;:{&quot;fill&quot;:{&quot;solid&quot;:{&quot;brightness&quot;:0.6000000238418579,&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1761_2*l_h_i*1_3_1"/>
  <p:tag name="KSO_WM_TEMPLATE_CATEGORY" val="diagram"/>
  <p:tag name="KSO_WM_TEMPLATE_INDEX" val="2023176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65000000000003,&quot;left&quot;:348.605105903205,&quot;top&quot;:107.32503937007873,&quot;width&quot;:558.400024414062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PRESET_TEXT" val="03"/>
</p:tagLst>
</file>

<file path=ppt/tags/tag2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761_2*l_h_f*1_3_1"/>
  <p:tag name="KSO_WM_TEMPLATE_CATEGORY" val="diagram"/>
  <p:tag name="KSO_WM_TEMPLATE_INDEX" val="2023176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65000000000003,&quot;left&quot;:348.605105903205,&quot;top&quot;:107.32503937007873,&quot;width&quot;:558.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项正文，文字是您思想的提炼，请尽量言简意赅的阐述观点。单击此处输入你的项正文，请尽量言简意赅的阐述观点。"/>
</p:tagLst>
</file>

<file path=ppt/tags/tag2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761_2*l_h_a*1_3_1"/>
  <p:tag name="KSO_WM_TEMPLATE_CATEGORY" val="diagram"/>
  <p:tag name="KSO_WM_TEMPLATE_INDEX" val="20231761"/>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65000000000003,&quot;left&quot;:348.605105903205,&quot;top&quot;:107.32503937007873,&quot;width&quot;:558.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标题"/>
</p:tagLst>
</file>

<file path=ppt/tags/tag27.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58.4*365.65"/>
  <p:tag name="KSO_WM_SLIDE_POSITION" val="348.605*107.325"/>
  <p:tag name="KSO_WM_SLIDE_LAYOUT" val="a_d_l"/>
  <p:tag name="KSO_WM_SLIDE_LAYOUT_CNT" val="1_1_1"/>
  <p:tag name="KSO_WM_SPECIAL_SOURCE" val="bdnull"/>
  <p:tag name="KSO_WM_DIAGRAM_GROUP_CODE" val="l1-1"/>
  <p:tag name="KSO_WM_SLIDE_DIAGTYPE" val="l"/>
  <p:tag name="KSO_WM_TEMPLATE_INDEX" val="20231770"/>
  <p:tag name="KSO_WM_TEMPLATE_SUBCATEGORY" val="0"/>
  <p:tag name="KSO_WM_SLIDE_INDEX" val="1"/>
  <p:tag name="KSO_WM_TAG_VERSION" val="3.0"/>
  <p:tag name="KSO_WM_SLIDE_ID" val="custom20231770_1"/>
  <p:tag name="KSO_WM_SLIDE_ITEM_CNT" val="3"/>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TEMPLATE_CATEGORY" val="diagram"/>
  <p:tag name="KSO_WM_TEMPLATE_INDEX" val="20233560"/>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MAX_ITEMCNT" val="3"/>
  <p:tag name="KSO_WM_DIAGRAM_MIN_ITEMCNT" val="3"/>
  <p:tag name="KSO_WM_DIAGRAM_VIRTUALLY_FRAME" val="{&quot;height&quot;:326.75772076464074,&quot;left&quot;:54.74999939926026,&quot;top&quot;:133.9,&quot;width&quot;:294.500000600739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PRESET_TEXT" val="01"/>
  <p:tag name="KSO_WM_UNIT_ID" val="diagram20233560_1*l_h_i*1_1_1"/>
  <p:tag name="KSO_WM_UNIT_INDEX" val="1_1_1"/>
  <p:tag name="KSO_WM_DIAGRAM_GROUP_CODE" val="l1-1"/>
</p:tagLst>
</file>

<file path=ppt/tags/tag2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TEMPLATE_CATEGORY" val="diagram"/>
  <p:tag name="KSO_WM_TEMPLATE_INDEX" val="20233560"/>
  <p:tag name="KSO_WM_UNIT_LAYERLEVEL" val="1_1_1"/>
  <p:tag name="KSO_WM_TAG_VERSION" val="3.0"/>
  <p:tag name="KSO_WM_BEAUTIFY_FLAG" val="#wm#"/>
  <p:tag name="KSO_WM_DIAGRAM_MAX_ITEMCNT" val="3"/>
  <p:tag name="KSO_WM_DIAGRAM_MIN_ITEMCNT" val="3"/>
  <p:tag name="KSO_WM_DIAGRAM_VIRTUALLY_FRAME" val="{&quot;height&quot;:326.75772076464074,&quot;left&quot;:54.74999939926026,&quot;top&quot;:133.9,&quot;width&quot;:294.500000600739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3"/>
  <p:tag name="KSO_WM_UNIT_TEXT_FILL_FORE_SCHEMECOLOR_INDEX" val="1"/>
  <p:tag name="KSO_WM_UNIT_TEXT_FILL_TYPE" val="1"/>
  <p:tag name="KSO_WM_UNIT_PRESET_TEXT" val="单击添加文本具体内容"/>
  <p:tag name="KSO_WM_UNIT_ID" val="diagram20233560_1*l_h_f*1_1_1"/>
  <p:tag name="KSO_WM_UNIT_INDEX" val="1_1_1"/>
  <p:tag name="KSO_WM_DIAGRAM_GROUP_CODE" val="l1-1"/>
</p:tagLst>
</file>

<file path=ppt/tags/tag3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TEMPLATE_CATEGORY" val="diagram"/>
  <p:tag name="KSO_WM_TEMPLATE_INDEX" val="20233560"/>
  <p:tag name="KSO_WM_UNIT_LAYERLEVEL" val="1_1_1"/>
  <p:tag name="KSO_WM_TAG_VERSION" val="3.0"/>
  <p:tag name="KSO_WM_BEAUTIFY_FLAG" val="#wm#"/>
  <p:tag name="KSO_WM_DIAGRAM_MAX_ITEMCNT" val="3"/>
  <p:tag name="KSO_WM_DIAGRAM_MIN_ITEMCNT" val="3"/>
  <p:tag name="KSO_WM_DIAGRAM_VIRTUALLY_FRAME" val="{&quot;height&quot;:326.75772076464074,&quot;left&quot;:54.74999939926026,&quot;top&quot;:133.9,&quot;width&quot;:294.500000600739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3"/>
  <p:tag name="KSO_WM_UNIT_TEXT_FILL_FORE_SCHEMECOLOR_INDEX" val="1"/>
  <p:tag name="KSO_WM_UNIT_TEXT_FILL_TYPE" val="1"/>
  <p:tag name="KSO_WM_UNIT_PRESET_TEXT" val="单击添加文本具体内容"/>
  <p:tag name="KSO_WM_UNIT_ID" val="diagram20233560_1*l_h_f*1_3_1"/>
  <p:tag name="KSO_WM_UNIT_INDEX" val="1_3_1"/>
  <p:tag name="KSO_WM_DIAGRAM_GROUP_CODE" val="l1-1"/>
</p:tagLst>
</file>

<file path=ppt/tags/tag3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TEMPLATE_CATEGORY" val="diagram"/>
  <p:tag name="KSO_WM_TEMPLATE_INDEX" val="20233560"/>
  <p:tag name="KSO_WM_UNIT_LAYERLEVEL" val="1_1_1"/>
  <p:tag name="KSO_WM_TAG_VERSION" val="3.0"/>
  <p:tag name="KSO_WM_BEAUTIFY_FLAG" val="#wm#"/>
  <p:tag name="KSO_WM_DIAGRAM_MAX_ITEMCNT" val="3"/>
  <p:tag name="KSO_WM_DIAGRAM_MIN_ITEMCNT" val="3"/>
  <p:tag name="KSO_WM_DIAGRAM_VIRTUALLY_FRAME" val="{&quot;height&quot;:326.75772076464074,&quot;left&quot;:54.74999939926026,&quot;top&quot;:133.9,&quot;width&quot;:294.500000600739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3"/>
  <p:tag name="KSO_WM_UNIT_TEXT_FILL_FORE_SCHEMECOLOR_INDEX" val="1"/>
  <p:tag name="KSO_WM_UNIT_TEXT_FILL_TYPE" val="1"/>
  <p:tag name="KSO_WM_UNIT_PRESET_TEXT" val="单击添加文本具体内容"/>
  <p:tag name="KSO_WM_UNIT_ID" val="diagram20233560_1*l_h_f*1_2_1"/>
  <p:tag name="KSO_WM_UNIT_INDEX" val="1_2_1"/>
  <p:tag name="KSO_WM_DIAGRAM_GROUP_CODE" val="l1-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TEMPLATE_CATEGORY" val="diagram"/>
  <p:tag name="KSO_WM_TEMPLATE_INDEX" val="20233560"/>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MAX_ITEMCNT" val="3"/>
  <p:tag name="KSO_WM_DIAGRAM_MIN_ITEMCNT" val="3"/>
  <p:tag name="KSO_WM_DIAGRAM_VIRTUALLY_FRAME" val="{&quot;height&quot;:326.75772076464074,&quot;left&quot;:54.74999939926026,&quot;top&quot;:133.9,&quot;width&quot;:294.500000600739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PRESET_TEXT" val="02"/>
  <p:tag name="KSO_WM_UNIT_ID" val="diagram20233560_1*l_h_i*1_2_1"/>
  <p:tag name="KSO_WM_UNIT_INDEX" val="1_2_1"/>
  <p:tag name="KSO_WM_DIAGRAM_GROUP_CODE" val="l1-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TEMPLATE_CATEGORY" val="diagram"/>
  <p:tag name="KSO_WM_TEMPLATE_INDEX" val="20233560"/>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MAX_ITEMCNT" val="3"/>
  <p:tag name="KSO_WM_DIAGRAM_MIN_ITEMCNT" val="3"/>
  <p:tag name="KSO_WM_DIAGRAM_VIRTUALLY_FRAME" val="{&quot;height&quot;:326.75772076464074,&quot;left&quot;:54.74999939926026,&quot;top&quot;:133.9,&quot;width&quot;:294.500000600739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PRESET_TEXT" val="03"/>
  <p:tag name="KSO_WM_UNIT_ID" val="diagram20233560_1*l_h_i*1_3_1"/>
  <p:tag name="KSO_WM_UNIT_INDEX" val="1_3_1"/>
  <p:tag name="KSO_WM_DIAGRAM_GROUP_CODE" val="l1-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3629_1*i*1"/>
  <p:tag name="KSO_WM_TEMPLATE_CATEGORY" val="custom"/>
  <p:tag name="KSO_WM_TEMPLATE_INDEX" val="20233629"/>
  <p:tag name="KSO_WM_UNIT_LAYERLEVEL" val="1"/>
  <p:tag name="KSO_WM_TAG_VERSION" val="3.0"/>
  <p:tag name="KSO_WM_BEAUTIFY_FLAG" val="#wm#"/>
</p:tagLst>
</file>

<file path=ppt/tags/tag35.xml><?xml version="1.0" encoding="utf-8"?>
<p:tagLst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3629"/>
  <p:tag name="KSO_WM_UNIT_ID" val="custom20233629_1*a*1"/>
  <p:tag name="KSO_WM_UNIT_PRESET_TEXT" val="单击此处添加标题内容"/>
</p:tagLst>
</file>

<file path=ppt/tags/tag36.xml><?xml version="1.0" encoding="utf-8"?>
<p:tagLst xmlns:p="http://schemas.openxmlformats.org/presentationml/2006/main">
  <p:tag name="KSO_WM_UNIT_VALUE" val="1770*2181"/>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3629_1*d*1"/>
  <p:tag name="KSO_WM_TEMPLATE_CATEGORY" val="custom"/>
  <p:tag name="KSO_WM_TEMPLATE_INDEX" val="20233629"/>
  <p:tag name="KSO_WM_UNIT_LAYERLEVEL" val="1"/>
  <p:tag name="KSO_WM_TAG_VERSION" val="3.0"/>
  <p:tag name="KSO_WM_BEAUTIFY_FLAG" val="#wm#"/>
</p:tagLst>
</file>

<file path=ppt/tags/tag37.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d_l"/>
  <p:tag name="KSO_WM_SLIDE_LAYOUT_CNT" val="1_1_1"/>
  <p:tag name="KSO_WM_SLIDE_TYPE" val="text"/>
  <p:tag name="KSO_WM_SLIDE_SUBTYPE" val="picTxt"/>
  <p:tag name="KSO_WM_SLIDE_SIZE" val="294.48*284.711"/>
  <p:tag name="KSO_WM_SLIDE_POSITION" val="54.75*175.946"/>
  <p:tag name="KSO_WM_TEMPLATE_INDEX" val="20233629"/>
  <p:tag name="KSO_WM_TEMPLATE_SUBCATEGORY" val="0"/>
  <p:tag name="KSO_WM_SLIDE_INDEX" val="1"/>
  <p:tag name="KSO_WM_TAG_VERSION" val="3.0"/>
  <p:tag name="KSO_WM_SLIDE_ID" val="custom20233629_1"/>
  <p:tag name="KSO_WM_SLIDE_ITEM_CNT" val="3"/>
</p:tagLst>
</file>

<file path=ppt/tags/tag38.xml><?xml version="1.0" encoding="utf-8"?>
<p:tagLst xmlns:p="http://schemas.openxmlformats.org/presentationml/2006/main">
  <p:tag name="KSO_WM_UNIT_ISCONTENTSTITLE" val="0"/>
  <p:tag name="KSO_WM_UNIT_ISNUMDGMTITLE" val="0"/>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1143_1*a*1"/>
  <p:tag name="KSO_WM_TEMPLATE_CATEGORY" val="custom"/>
  <p:tag name="KSO_WM_TEMPLATE_INDEX" val="20231143"/>
  <p:tag name="KSO_WM_UNIT_LAYERLEVEL" val="1"/>
  <p:tag name="KSO_WM_TAG_VERSION" val="3.0"/>
  <p:tag name="KSO_WM_BEAUTIFY_FLAG" val="#wm#"/>
  <p:tag name="KSO_WM_UNIT_PRESET_TEXT" val="单击此处添加标题"/>
</p:tagLst>
</file>

<file path=ppt/tags/tag39.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31143_1*b*1"/>
  <p:tag name="KSO_WM_TEMPLATE_CATEGORY" val="custom"/>
  <p:tag name="KSO_WM_TEMPLATE_INDEX" val="20231143"/>
  <p:tag name="KSO_WM_UNIT_LAYERLEVEL" val="1"/>
  <p:tag name="KSO_WM_TAG_VERSION" val="3.0"/>
  <p:tag name="KSO_WM_BEAUTIFY_FLAG" val="#wm#"/>
  <p:tag name="KSO_WM_UNIT_PRESET_TEXT" val="单击此处编辑副标题"/>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1143_1*i*1"/>
  <p:tag name="KSO_WM_TEMPLATE_CATEGORY" val="custom"/>
  <p:tag name="KSO_WM_TEMPLATE_INDEX" val="20231143"/>
  <p:tag name="KSO_WM_UNIT_LAYERLEVEL" val="1"/>
  <p:tag name="KSO_WM_TAG_VERSION" val="3.0"/>
  <p:tag name="KSO_WM_BEAUTIFY_FLAG" val="#wm#"/>
  <p:tag name="KSO_WM_DIAGRAM_GROUP_CODE" val="l1-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1143_1*i*2"/>
  <p:tag name="KSO_WM_TEMPLATE_CATEGORY" val="custom"/>
  <p:tag name="KSO_WM_TEMPLATE_INDEX" val="20231143"/>
  <p:tag name="KSO_WM_UNIT_LAYERLEVEL" val="1"/>
  <p:tag name="KSO_WM_TAG_VERSION" val="3.0"/>
  <p:tag name="KSO_WM_BEAUTIFY_FLAG" val="#wm#"/>
  <p:tag name="KSO_WM_DIAGRAM_GROUP_CODE" val="l1-1"/>
</p:tagLst>
</file>

<file path=ppt/tags/tag42.xml><?xml version="1.0" encoding="utf-8"?>
<p:tagLst xmlns:p="http://schemas.openxmlformats.org/presentationml/2006/main">
  <p:tag name="KSO_WM_UNIT_SUBTYPE" val="a"/>
  <p:tag name="KSO_WM_UNIT_NOCLEAR" val="0"/>
  <p:tag name="KSO_WM_UNIT_VALUE" val="90"/>
  <p:tag name="KSO_WM_UNIT_HIGHLIGHT" val="0"/>
  <p:tag name="KSO_WM_UNIT_COMPATIBLE" val="0"/>
  <p:tag name="KSO_WM_UNIT_DIAGRAM_ISNUMVISUAL" val="0"/>
  <p:tag name="KSO_WM_UNIT_DIAGRAM_ISREFERUNIT" val="0"/>
  <p:tag name="KSO_WM_UNIT_TYPE" val="f"/>
  <p:tag name="KSO_WM_UNIT_INDEX" val="1"/>
  <p:tag name="KSO_WM_UNIT_ID" val="custom20231143_1*f*1"/>
  <p:tag name="KSO_WM_TEMPLATE_CATEGORY" val="custom"/>
  <p:tag name="KSO_WM_TEMPLATE_INDEX" val="20231143"/>
  <p:tag name="KSO_WM_UNIT_LAYERLEVEL" val="1"/>
  <p:tag name="KSO_WM_TAG_VERSION" val="3.0"/>
  <p:tag name="KSO_WM_BEAUTIFY_FLAG" val="#wm#"/>
  <p:tag name="KSO_WM_DIAGRAM_GROUP_CODE" val="l1-1"/>
  <p:tag name="KSO_WM_UNIT_PRESET_TEXT" val="单击此处添加文本具体内容，简明扼要地阐述您的观点。根据需要可酌情增减文字，以便观者准确地理解您传达的思想"/>
</p:tagLst>
</file>

<file path=ppt/tags/tag43.xml><?xml version="1.0" encoding="utf-8"?>
<p:tagLst xmlns:p="http://schemas.openxmlformats.org/presentationml/2006/main">
  <p:tag name="KSO_WM_UNIT_VALUE" val="1185*790"/>
  <p:tag name="KSO_WM_UNIT_HIGHLIGHT" val="0"/>
  <p:tag name="KSO_WM_UNIT_COMPATIBLE" val="0"/>
  <p:tag name="KSO_WM_UNIT_DIAGRAM_ISNUMVISUAL" val="0"/>
  <p:tag name="KSO_WM_UNIT_DIAGRAM_ISREFERUNIT" val="0"/>
  <p:tag name="KSO_WM_UNIT_TYPE" val="d"/>
  <p:tag name="KSO_WM_UNIT_INDEX" val="1"/>
  <p:tag name="KSO_WM_UNIT_ID" val="custom20231143_1*d*1"/>
  <p:tag name="KSO_WM_TEMPLATE_CATEGORY" val="custom"/>
  <p:tag name="KSO_WM_TEMPLATE_INDEX" val="20231143"/>
  <p:tag name="KSO_WM_UNIT_LAYERLEVEL" val="1"/>
  <p:tag name="KSO_WM_TAG_VERSION" val="3.0"/>
  <p:tag name="KSO_WM_BEAUTIFY_FLAG" val="#wm#"/>
  <p:tag name="KSO_WM_DIAGRAM_GROUP_CODE" val="l1-1"/>
</p:tagLst>
</file>

<file path=ppt/tags/tag44.xml><?xml version="1.0" encoding="utf-8"?>
<p:tagLst xmlns:p="http://schemas.openxmlformats.org/presentationml/2006/main">
  <p:tag name="KSO_WM_DIAGRAM_VERSION" val="3"/>
  <p:tag name="KSO_WM_DIAGRAM_COLOR_TRICK" val="4"/>
  <p:tag name="KSO_WM_DIAGRAM_COLOR_TEXT_CAN_REMOVE" val="n"/>
  <p:tag name="KSO_WM_UNIT_SUBTYPE" val="a"/>
  <p:tag name="KSO_WM_UNIT_NOCLEAR" val="0"/>
  <p:tag name="KSO_WM_UNIT_VALUE" val="4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123_1*l_h_f*1_1_1"/>
  <p:tag name="KSO_WM_TEMPLATE_CATEGORY" val="diagram"/>
  <p:tag name="KSO_WM_TEMPLATE_INDEX" val="20231123"/>
  <p:tag name="KSO_WM_UNIT_LAYERLEVEL" val="1_1_1"/>
  <p:tag name="KSO_WM_TAG_VERSION" val="3.0"/>
  <p:tag name="KSO_WM_BEAUTIFY_FLAG" val="#wm#"/>
  <p:tag name="KSO_WM_DIAGRAM_MAX_ITEMCNT" val="6"/>
  <p:tag name="KSO_WM_DIAGRAM_MIN_ITEMCNT" val="2"/>
  <p:tag name="KSO_WM_DIAGRAM_VIRTUALLY_FRAME" val="{&quot;height&quot;:215.71259842519686,&quot;left&quot;:47.72501220703125,&quot;top&quot;:299.28740157480314,&quot;width&quot;:569.97498779296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项正文文字是您思想的提炼，请尽量言简意赅的阐述观点"/>
</p:tagLst>
</file>

<file path=ppt/tags/tag45.xml><?xml version="1.0" encoding="utf-8"?>
<p:tagLst xmlns:p="http://schemas.openxmlformats.org/presentationml/2006/main">
  <p:tag name="KSO_WM_DIAGRAM_VERSION" val="3"/>
  <p:tag name="KSO_WM_DIAGRAM_COLOR_TRICK" val="4"/>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123_1*l_h_a*1_1_1"/>
  <p:tag name="KSO_WM_TEMPLATE_CATEGORY" val="diagram"/>
  <p:tag name="KSO_WM_TEMPLATE_INDEX" val="20231123"/>
  <p:tag name="KSO_WM_UNIT_LAYERLEVEL" val="1_1_1"/>
  <p:tag name="KSO_WM_TAG_VERSION" val="3.0"/>
  <p:tag name="KSO_WM_BEAUTIFY_FLAG" val="#wm#"/>
  <p:tag name="KSO_WM_DIAGRAM_MAX_ITEMCNT" val="6"/>
  <p:tag name="KSO_WM_DIAGRAM_MIN_ITEMCNT" val="2"/>
  <p:tag name="KSO_WM_DIAGRAM_VIRTUALLY_FRAME" val="{&quot;height&quot;:215.71259842519686,&quot;left&quot;:47.72501220703125,&quot;top&quot;:299.28740157480314,&quot;width&quot;:569.97498779296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标题"/>
</p:tagLst>
</file>

<file path=ppt/tags/tag46.xml><?xml version="1.0" encoding="utf-8"?>
<p:tagLst xmlns:p="http://schemas.openxmlformats.org/presentationml/2006/main">
  <p:tag name="KSO_WM_DIAGRAM_VERSION" val="3"/>
  <p:tag name="KSO_WM_DIAGRAM_COLOR_TRICK" val="4"/>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123_1*l_h_a*1_2_1"/>
  <p:tag name="KSO_WM_TEMPLATE_CATEGORY" val="diagram"/>
  <p:tag name="KSO_WM_TEMPLATE_INDEX" val="20231123"/>
  <p:tag name="KSO_WM_UNIT_LAYERLEVEL" val="1_1_1"/>
  <p:tag name="KSO_WM_TAG_VERSION" val="3.0"/>
  <p:tag name="KSO_WM_BEAUTIFY_FLAG" val="#wm#"/>
  <p:tag name="KSO_WM_DIAGRAM_MAX_ITEMCNT" val="6"/>
  <p:tag name="KSO_WM_DIAGRAM_MIN_ITEMCNT" val="2"/>
  <p:tag name="KSO_WM_DIAGRAM_VIRTUALLY_FRAME" val="{&quot;height&quot;:215.71259842519686,&quot;left&quot;:47.72501220703125,&quot;top&quot;:299.28740157480314,&quot;width&quot;:569.97498779296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标题"/>
</p:tagLst>
</file>

<file path=ppt/tags/tag47.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123_1*l_h_i*1_1_1"/>
  <p:tag name="KSO_WM_TEMPLATE_CATEGORY" val="diagram"/>
  <p:tag name="KSO_WM_TEMPLATE_INDEX" val="20231123"/>
  <p:tag name="KSO_WM_UNIT_LAYERLEVEL" val="1_1_1"/>
  <p:tag name="KSO_WM_TAG_VERSION" val="3.0"/>
  <p:tag name="KSO_WM_BEAUTIFY_FLAG" val="#wm#"/>
  <p:tag name="KSO_WM_DIAGRAM_MAX_ITEMCNT" val="6"/>
  <p:tag name="KSO_WM_DIAGRAM_MIN_ITEMCNT" val="2"/>
  <p:tag name="KSO_WM_DIAGRAM_VIRTUALLY_FRAME" val="{&quot;height&quot;:215.71259842519686,&quot;left&quot;:47.72501220703125,&quot;top&quot;:299.28740157480314,&quot;width&quot;:569.97498779296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Lst>
</file>

<file path=ppt/tags/tag48.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123_1*l_h_i*1_2_1"/>
  <p:tag name="KSO_WM_TEMPLATE_CATEGORY" val="diagram"/>
  <p:tag name="KSO_WM_TEMPLATE_INDEX" val="20231123"/>
  <p:tag name="KSO_WM_UNIT_LAYERLEVEL" val="1_1_1"/>
  <p:tag name="KSO_WM_TAG_VERSION" val="3.0"/>
  <p:tag name="KSO_WM_BEAUTIFY_FLAG" val="#wm#"/>
  <p:tag name="KSO_WM_DIAGRAM_MAX_ITEMCNT" val="6"/>
  <p:tag name="KSO_WM_DIAGRAM_MIN_ITEMCNT" val="2"/>
  <p:tag name="KSO_WM_DIAGRAM_VIRTUALLY_FRAME" val="{&quot;height&quot;:215.71259842519686,&quot;left&quot;:47.72501220703125,&quot;top&quot;:299.28740157480314,&quot;width&quot;:569.97498779296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Lst>
</file>

<file path=ppt/tags/tag49.xml><?xml version="1.0" encoding="utf-8"?>
<p:tagLst xmlns:p="http://schemas.openxmlformats.org/presentationml/2006/main">
  <p:tag name="KSO_WM_DIAGRAM_VERSION" val="3"/>
  <p:tag name="KSO_WM_DIAGRAM_COLOR_TRICK" val="4"/>
  <p:tag name="KSO_WM_DIAGRAM_COLOR_TEXT_CAN_REMOVE" val="n"/>
  <p:tag name="KSO_WM_UNIT_SUBTYPE" val="a"/>
  <p:tag name="KSO_WM_UNIT_NOCLEAR" val="0"/>
  <p:tag name="KSO_WM_UNIT_VALUE" val="4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123_1*l_h_f*1_2_1"/>
  <p:tag name="KSO_WM_TEMPLATE_CATEGORY" val="diagram"/>
  <p:tag name="KSO_WM_TEMPLATE_INDEX" val="20231123"/>
  <p:tag name="KSO_WM_UNIT_LAYERLEVEL" val="1_1_1"/>
  <p:tag name="KSO_WM_TAG_VERSION" val="3.0"/>
  <p:tag name="KSO_WM_BEAUTIFY_FLAG" val="#wm#"/>
  <p:tag name="KSO_WM_DIAGRAM_MAX_ITEMCNT" val="6"/>
  <p:tag name="KSO_WM_DIAGRAM_MIN_ITEMCNT" val="2"/>
  <p:tag name="KSO_WM_DIAGRAM_VIRTUALLY_FRAME" val="{&quot;height&quot;:215.71259842519686,&quot;left&quot;:47.72501220703125,&quot;top&quot;:299.28740157480314,&quot;width&quot;:569.974987792968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项正文文字是您思想的提炼，请尽量言简意赅的阐述观点"/>
</p:tagLst>
</file>

<file path=ppt/tags/tag50.xml><?xml version="1.0" encoding="utf-8"?>
<p:tagLst xmlns:p="http://schemas.openxmlformats.org/presentationml/2006/main">
  <p:tag name="KSO_WM_BEAUTIFY_FLAG" val="#wm#"/>
  <p:tag name="KSO_WM_TEMPLATE_CATEGORY" val="custom"/>
  <p:tag name="KSO_WM_TEMPLATE_INDEX" val="20231143"/>
  <p:tag name="KSO_WM_SLIDE_ID" val="custom20231143_1"/>
  <p:tag name="KSO_WM_TEMPLATE_SUBCATEGORY" val="0"/>
  <p:tag name="KSO_WM_TEMPLATE_MASTER_TYPE" val="0"/>
  <p:tag name="KSO_WM_TEMPLATE_COLOR_TYPE" val="0"/>
  <p:tag name="KSO_WM_SLIDE_TYPE" val="text"/>
  <p:tag name="KSO_WM_SLIDE_SUBTYPE" val="picTxt"/>
  <p:tag name="KSO_WM_SLIDE_ITEM_CNT" val="2"/>
  <p:tag name="KSO_WM_SLIDE_INDEX" val="1"/>
  <p:tag name="KSO_WM_SLIDE_SIZE" val="520.35*107.2"/>
  <p:tag name="KSO_WM_SLIDE_POSITION" val="61.6*308.575"/>
  <p:tag name="KSO_WM_DIAGRAM_GROUP_CODE" val="l1-1"/>
  <p:tag name="KSO_WM_SLIDE_DIAGTYPE" val="l"/>
  <p:tag name="KSO_WM_TAG_VERSION" val="3.0"/>
  <p:tag name="KSO_WM_SLIDE_LAYOUT" val="a_b_d_f_l"/>
  <p:tag name="KSO_WM_SLIDE_LAYOUT_CNT" val="1_1_1_1_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1774_1*a*1"/>
  <p:tag name="KSO_WM_TEMPLATE_CATEGORY" val="custom"/>
  <p:tag name="KSO_WM_TEMPLATE_INDEX" val="20231774"/>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PRESET_TEXT" val="单击此处添加标题"/>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765_2*l_h_d*1_3_1"/>
  <p:tag name="KSO_WM_TEMPLATE_CATEGORY" val="diagram"/>
  <p:tag name="KSO_WM_TEMPLATE_INDEX" val="20231765"/>
  <p:tag name="KSO_WM_UNIT_LAYERLEVEL" val="1_1_1"/>
  <p:tag name="KSO_WM_TAG_VERSION" val="3.0"/>
  <p:tag name="KSO_WM_BEAUTIFY_FLAG" val="#wm#"/>
  <p:tag name="KSO_WM_DIAGRAM_VERSION" val="3"/>
  <p:tag name="KSO_WM_DIAGRAM_COLOR_TRICK" val="1"/>
  <p:tag name="KSO_WM_DIAGRAM_COLOR_TEXT_CAN_REMOVE" val="n"/>
  <p:tag name="KSO_WM_UNIT_VALUE" val="547*936"/>
  <p:tag name="KSO_WM_UNIT_TYPE" val="l_h_d"/>
  <p:tag name="KSO_WM_UNIT_INDEX" val="1_3_1"/>
  <p:tag name="KSO_WM_DIAGRAM_MAX_ITEMCNT" val="4"/>
  <p:tag name="KSO_WM_DIAGRAM_MIN_ITEMCNT" val="2"/>
  <p:tag name="KSO_WM_DIAGRAM_VIRTUALLY_FRAME" val="{&quot;height&quot;:382.09497070312506,&quot;left&quot;:54.41801715520423,&quot;top&quot;:107.08160913662645,&quot;width&quot;:851.11010742187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765_2*l_h_d*1_1_1"/>
  <p:tag name="KSO_WM_TEMPLATE_CATEGORY" val="diagram"/>
  <p:tag name="KSO_WM_TEMPLATE_INDEX" val="20231765"/>
  <p:tag name="KSO_WM_UNIT_LAYERLEVEL" val="1_1_1"/>
  <p:tag name="KSO_WM_TAG_VERSION" val="3.0"/>
  <p:tag name="KSO_WM_BEAUTIFY_FLAG" val="#wm#"/>
  <p:tag name="KSO_WM_DIAGRAM_VERSION" val="3"/>
  <p:tag name="KSO_WM_DIAGRAM_COLOR_TRICK" val="1"/>
  <p:tag name="KSO_WM_DIAGRAM_COLOR_TEXT_CAN_REMOVE" val="n"/>
  <p:tag name="KSO_WM_UNIT_VALUE" val="547*936"/>
  <p:tag name="KSO_WM_UNIT_TYPE" val="l_h_d"/>
  <p:tag name="KSO_WM_UNIT_INDEX" val="1_1_1"/>
  <p:tag name="KSO_WM_DIAGRAM_MAX_ITEMCNT" val="4"/>
  <p:tag name="KSO_WM_DIAGRAM_MIN_ITEMCNT" val="2"/>
  <p:tag name="KSO_WM_DIAGRAM_VIRTUALLY_FRAME" val="{&quot;height&quot;:382.09497070312506,&quot;left&quot;:54.41801715520423,&quot;top&quot;:107.08160913662645,&quot;width&quot;:851.11010742187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Lst>
</file>

<file path=ppt/tags/tag5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765_2*l_h_i*1_1_1"/>
  <p:tag name="KSO_WM_TEMPLATE_CATEGORY" val="diagram"/>
  <p:tag name="KSO_WM_TEMPLATE_INDEX" val="20231765"/>
  <p:tag name="KSO_WM_UNIT_LAYERLEVEL" val="1_1_1"/>
  <p:tag name="KSO_WM_TAG_VERSION" val="3.0"/>
  <p:tag name="KSO_WM_BEAUTIFY_FLAG" val="#wm#"/>
  <p:tag name="KSO_WM_DIAGRAM_MAX_ITEMCNT" val="4"/>
  <p:tag name="KSO_WM_DIAGRAM_MIN_ITEMCNT" val="2"/>
  <p:tag name="KSO_WM_DIAGRAM_VIRTUALLY_FRAME" val="{&quot;height&quot;:382.09497070312506,&quot;left&quot;:54.41801715520423,&quot;top&quot;:107.08160913662645,&quot;width&quot;:851.110107421875}"/>
  <p:tag name="KSO_WM_DIAGRAM_COLOR_MATCH_VALUE" val="{&quot;shape&quot;:{&quot;fill&quot;:{&quot;type&quot;:0},&quot;glow&quot;:{&quot;colorType&quot;:0},&quot;line&quot;:{&quot;gradient&quot;:[{&quot;brightness&quot;:1,&quot;colorType&quot;:1,&quot;foreColorIndex&quot;:5,&quot;pos&quot;:0,&quot;transparency&quot;:1},{&quot;brightness&quot;:0.6000000238418579,&quot;colorType&quot;:1,&quot;foreColorIndex&quot;:5,&quot;pos&quot;:0.6899999976158142,&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5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65_2*l_h_f*1_1_1"/>
  <p:tag name="KSO_WM_TEMPLATE_CATEGORY" val="diagram"/>
  <p:tag name="KSO_WM_TEMPLATE_INDEX" val="2023176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09497070312506,&quot;left&quot;:54.41801715520423,&quot;top&quot;:107.08160913662645,&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具体内容，简明扼要地阐述您的观点。根据需要可酌情增减文字。"/>
</p:tagLst>
</file>

<file path=ppt/tags/tag5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65_2*l_h_a*1_1_1"/>
  <p:tag name="KSO_WM_TEMPLATE_CATEGORY" val="diagram"/>
  <p:tag name="KSO_WM_TEMPLATE_INDEX" val="2023176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09497070312506,&quot;left&quot;:54.41801715520423,&quot;top&quot;:107.08160913662645,&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文档标题"/>
</p:tagLst>
</file>

<file path=ppt/tags/tag5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765_2*l_h_i*1_2_1"/>
  <p:tag name="KSO_WM_TEMPLATE_CATEGORY" val="diagram"/>
  <p:tag name="KSO_WM_TEMPLATE_INDEX" val="20231765"/>
  <p:tag name="KSO_WM_UNIT_LAYERLEVEL" val="1_1_1"/>
  <p:tag name="KSO_WM_TAG_VERSION" val="3.0"/>
  <p:tag name="KSO_WM_BEAUTIFY_FLAG" val="#wm#"/>
  <p:tag name="KSO_WM_DIAGRAM_MAX_ITEMCNT" val="4"/>
  <p:tag name="KSO_WM_DIAGRAM_MIN_ITEMCNT" val="2"/>
  <p:tag name="KSO_WM_DIAGRAM_VIRTUALLY_FRAME" val="{&quot;height&quot;:382.09497070312506,&quot;left&quot;:54.41801715520423,&quot;top&quot;:107.08160913662645,&quot;width&quot;:851.110107421875}"/>
  <p:tag name="KSO_WM_DIAGRAM_COLOR_MATCH_VALUE" val="{&quot;shape&quot;:{&quot;fill&quot;:{&quot;type&quot;:0},&quot;glow&quot;:{&quot;colorType&quot;:0},&quot;line&quot;:{&quot;gradient&quot;:[{&quot;brightness&quot;:1,&quot;colorType&quot;:1,&quot;foreColorIndex&quot;:5,&quot;pos&quot;:0,&quot;transparency&quot;:1},{&quot;brightness&quot;:0.6000000238418579,&quot;colorType&quot;:1,&quot;foreColorIndex&quot;:5,&quot;pos&quot;:0.6899999976158142,&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5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765_2*l_h_f*1_2_1"/>
  <p:tag name="KSO_WM_TEMPLATE_CATEGORY" val="diagram"/>
  <p:tag name="KSO_WM_TEMPLATE_INDEX" val="2023176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09497070312506,&quot;left&quot;:54.41801715520423,&quot;top&quot;:107.08160913662645,&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具体内容，简明扼要地阐述您的观点。根据需要可酌情增减文字。"/>
</p:tagLst>
</file>

<file path=ppt/tags/tag5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65_2*l_h_a*1_2_1"/>
  <p:tag name="KSO_WM_TEMPLATE_CATEGORY" val="diagram"/>
  <p:tag name="KSO_WM_TEMPLATE_INDEX" val="2023176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09497070312506,&quot;left&quot;:54.41801715520423,&quot;top&quot;:107.08160913662645,&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文档标题"/>
</p:tagLst>
</file>

<file path=ppt/tags/tag6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1765_2*l_h_i*1_3_1"/>
  <p:tag name="KSO_WM_TEMPLATE_CATEGORY" val="diagram"/>
  <p:tag name="KSO_WM_TEMPLATE_INDEX" val="20231765"/>
  <p:tag name="KSO_WM_UNIT_LAYERLEVEL" val="1_1_1"/>
  <p:tag name="KSO_WM_TAG_VERSION" val="3.0"/>
  <p:tag name="KSO_WM_BEAUTIFY_FLAG" val="#wm#"/>
  <p:tag name="KSO_WM_DIAGRAM_MAX_ITEMCNT" val="4"/>
  <p:tag name="KSO_WM_DIAGRAM_MIN_ITEMCNT" val="2"/>
  <p:tag name="KSO_WM_DIAGRAM_VIRTUALLY_FRAME" val="{&quot;height&quot;:382.09497070312506,&quot;left&quot;:54.41801715520423,&quot;top&quot;:107.08160913662645,&quot;width&quot;:851.110107421875}"/>
  <p:tag name="KSO_WM_DIAGRAM_COLOR_MATCH_VALUE" val="{&quot;shape&quot;:{&quot;fill&quot;:{&quot;type&quot;:0},&quot;glow&quot;:{&quot;colorType&quot;:0},&quot;line&quot;:{&quot;gradient&quot;:[{&quot;brightness&quot;:1,&quot;colorType&quot;:1,&quot;foreColorIndex&quot;:5,&quot;pos&quot;:0,&quot;transparency&quot;:1},{&quot;brightness&quot;:0.6000000238418579,&quot;colorType&quot;:1,&quot;foreColorIndex&quot;:5,&quot;pos&quot;:0.6899999976158142,&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6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765_2*l_h_f*1_3_1"/>
  <p:tag name="KSO_WM_TEMPLATE_CATEGORY" val="diagram"/>
  <p:tag name="KSO_WM_TEMPLATE_INDEX" val="2023176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09497070312506,&quot;left&quot;:54.41801715520423,&quot;top&quot;:107.08160913662645,&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具体内容，简明扼要地阐述您的观点。根据需要可酌情增减文字。"/>
</p:tagLst>
</file>

<file path=ppt/tags/tag6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765_2*l_h_a*1_3_1"/>
  <p:tag name="KSO_WM_TEMPLATE_CATEGORY" val="diagram"/>
  <p:tag name="KSO_WM_TEMPLATE_INDEX" val="2023176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2.09497070312506,&quot;left&quot;:54.41801715520423,&quot;top&quot;:107.08160913662645,&quot;width&quot;:851.110107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文档标题"/>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765_2*l_h_d*1_2_1"/>
  <p:tag name="KSO_WM_TEMPLATE_CATEGORY" val="diagram"/>
  <p:tag name="KSO_WM_TEMPLATE_INDEX" val="20231765"/>
  <p:tag name="KSO_WM_UNIT_LAYERLEVEL" val="1_1_1"/>
  <p:tag name="KSO_WM_TAG_VERSION" val="3.0"/>
  <p:tag name="KSO_WM_BEAUTIFY_FLAG" val="#wm#"/>
  <p:tag name="KSO_WM_DIAGRAM_VERSION" val="3"/>
  <p:tag name="KSO_WM_DIAGRAM_COLOR_TRICK" val="1"/>
  <p:tag name="KSO_WM_DIAGRAM_COLOR_TEXT_CAN_REMOVE" val="n"/>
  <p:tag name="KSO_WM_UNIT_VALUE" val="547*936"/>
  <p:tag name="KSO_WM_UNIT_TYPE" val="l_h_d"/>
  <p:tag name="KSO_WM_UNIT_INDEX" val="1_2_1"/>
  <p:tag name="KSO_WM_DIAGRAM_MAX_ITEMCNT" val="4"/>
  <p:tag name="KSO_WM_DIAGRAM_MIN_ITEMCNT" val="2"/>
  <p:tag name="KSO_WM_DIAGRAM_VIRTUALLY_FRAME" val="{&quot;height&quot;:382.09497070312506,&quot;left&quot;:54.41801715520423,&quot;top&quot;:107.08160913662645,&quot;width&quot;:851.11010742187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Lst>
</file>

<file path=ppt/tags/tag64.xml><?xml version="1.0" encoding="utf-8"?>
<p:tagLst xmlns:p="http://schemas.openxmlformats.org/presentationml/2006/main">
  <p:tag name="KSO_WM_SLIDE_ID" val="custom20231774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1774"/>
  <p:tag name="KSO_WM_SLIDE_TYPE" val="text"/>
  <p:tag name="KSO_WM_SLIDE_SUBTYPE" val="picTxt"/>
  <p:tag name="KSO_WM_SLIDE_SIZE" val="850.448*382.064"/>
  <p:tag name="KSO_WM_SLIDE_POSITION" val="54.7493*107.097"/>
  <p:tag name="KSO_WM_SLIDE_LAYOUT" val="a_l"/>
  <p:tag name="KSO_WM_SLIDE_LAYOUT_CNT" val="1_1"/>
  <p:tag name="KSO_WM_SPECIAL_SOURCE" val="bdnull"/>
  <p:tag name="KSO_WM_DIAGRAM_GROUP_CODE" val="l1-1"/>
  <p:tag name="KSO_WM_SLIDE_DIAGTYPE" val="l"/>
</p:tagLst>
</file>

<file path=ppt/tags/tag65.xml><?xml version="1.0" encoding="utf-8"?>
<p:tagLst xmlns:p="http://schemas.openxmlformats.org/presentationml/2006/mai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DIAGRAM_GROUP_CODE" val="l143-1"/>
  <p:tag name="KSO_WM_UNIT_TYPE" val="a"/>
  <p:tag name="KSO_WM_UNIT_INDEX" val="1"/>
  <p:tag name="KSO_WM_TEMPLATE_CATEGORY" val="custom"/>
  <p:tag name="KSO_WM_UNIT_LAYERLEVEL" val="1"/>
  <p:tag name="KSO_WM_TAG_VERSION" val="3.0"/>
  <p:tag name="KSO_WM_BEAUTIFY_FLAG" val="#wm#"/>
  <p:tag name="KSO_WM_TEMPLATE_INDEX" val="20232406"/>
  <p:tag name="KSO_WM_UNIT_ID" val="custom20232406_1*a*1"/>
  <p:tag name="KSO_WM_UNIT_PRESET_TEXT" val="单击此处添加标题"/>
</p:tagLst>
</file>

<file path=ppt/tags/tag66.xml><?xml version="1.0" encoding="utf-8"?>
<p:tagLst xmlns:p="http://schemas.openxmlformats.org/presentationml/2006/main">
  <p:tag name="KSO_WM_UNIT_VALUE" val="1677*1676"/>
  <p:tag name="KSO_WM_UNIT_HIGHLIGHT" val="0"/>
  <p:tag name="KSO_WM_UNIT_COMPATIBLE" val="0"/>
  <p:tag name="KSO_WM_UNIT_DIAGRAM_ISNUMVISUAL" val="0"/>
  <p:tag name="KSO_WM_UNIT_DIAGRAM_ISREFERUNIT" val="0"/>
  <p:tag name="KSO_WM_DIAGRAM_GROUP_CODE" val="l143-1"/>
  <p:tag name="KSO_WM_UNIT_TYPE" val="d"/>
  <p:tag name="KSO_WM_UNIT_INDEX" val="1"/>
  <p:tag name="KSO_WM_UNIT_ID" val="custom20232406_1*d*1"/>
  <p:tag name="KSO_WM_TEMPLATE_CATEGORY" val="custom"/>
  <p:tag name="KSO_WM_TEMPLATE_INDEX" val="20232406"/>
  <p:tag name="KSO_WM_UNIT_LAYERLEVEL" val="1"/>
  <p:tag name="KSO_WM_TAG_VERSION" val="3.0"/>
  <p:tag name="KSO_WM_BEAUTIFY_FLAG" val="#wm#"/>
</p:tagLst>
</file>

<file path=ppt/tags/tag6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TEMPLATE_CATEGORY" val="diagram"/>
  <p:tag name="KSO_WM_TEMPLATE_INDEX" val="20231712"/>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377.1499938964844,&quot;left&quot;:52.7,&quot;top&quot;:112.82500305175782,&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项正文，文字是您思想的提炼，请尽量言简意赅的阐述观点"/>
  <p:tag name="KSO_WM_UNIT_ID" val="diagram20231712_2*l_h_f*1_1_1"/>
  <p:tag name="KSO_WM_UNIT_INDEX" val="1_1_1"/>
  <p:tag name="KSO_WM_DIAGRAM_GROUP_CODE" val="l1-1"/>
</p:tagLst>
</file>

<file path=ppt/tags/tag6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1712"/>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377.1499938964844,&quot;left&quot;:52.7,&quot;top&quot;:112.82500305175782,&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项标题"/>
  <p:tag name="KSO_WM_UNIT_ID" val="diagram20231712_2*l_h_a*1_1_1"/>
  <p:tag name="KSO_WM_UNIT_INDEX" val="1_1_1"/>
  <p:tag name="KSO_WM_DIAGRAM_GROUP_CODE" val="l1-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TEMPLATE_CATEGORY" val="diagram"/>
  <p:tag name="KSO_WM_TEMPLATE_INDEX" val="20231712"/>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77.1499938964844,&quot;left&quot;:52.7,&quot;top&quot;:112.82500305175782,&quot;width&quot;:362.7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PRESET_TEXT" val="01"/>
  <p:tag name="KSO_WM_UNIT_ID" val="diagram20231712_2*l_h_i*1_1_1"/>
  <p:tag name="KSO_WM_UNIT_INDEX" val="1_1_1"/>
  <p:tag name="KSO_WM_DIAGRAM_GROUP_CODE" val="l1-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TEMPLATE_CATEGORY" val="diagram"/>
  <p:tag name="KSO_WM_TEMPLATE_INDEX" val="20231712"/>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77.1499938964844,&quot;left&quot;:52.7,&quot;top&quot;:112.82500305175782,&quot;width&quot;:362.7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PRESET_TEXT" val="03"/>
  <p:tag name="KSO_WM_UNIT_ID" val="diagram20231712_2*l_h_i*1_3_1"/>
  <p:tag name="KSO_WM_UNIT_INDEX" val="1_3_1"/>
  <p:tag name="KSO_WM_DIAGRAM_GROUP_CODE" val="l1-1"/>
</p:tagLst>
</file>

<file path=ppt/tags/tag7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TEMPLATE_CATEGORY" val="diagram"/>
  <p:tag name="KSO_WM_TEMPLATE_INDEX" val="20231712"/>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377.1499938964844,&quot;left&quot;:52.7,&quot;top&quot;:112.82500305175782,&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项正文，文字是您思想的提炼，请尽量言简意赅的阐述观点"/>
  <p:tag name="KSO_WM_UNIT_ID" val="diagram20231712_2*l_h_f*1_3_1"/>
  <p:tag name="KSO_WM_UNIT_INDEX" val="1_3_1"/>
  <p:tag name="KSO_WM_DIAGRAM_GROUP_CODE" val="l1-1"/>
</p:tagLst>
</file>

<file path=ppt/tags/tag7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1712"/>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377.1499938964844,&quot;left&quot;:52.7,&quot;top&quot;:112.82500305175782,&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项标题"/>
  <p:tag name="KSO_WM_UNIT_ID" val="diagram20231712_2*l_h_a*1_3_1"/>
  <p:tag name="KSO_WM_UNIT_INDEX" val="1_3_1"/>
  <p:tag name="KSO_WM_DIAGRAM_GROUP_CODE" val="l1-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TEMPLATE_CATEGORY" val="diagram"/>
  <p:tag name="KSO_WM_TEMPLATE_INDEX" val="20231712"/>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MAX_ITEMCNT" val="5"/>
  <p:tag name="KSO_WM_DIAGRAM_MIN_ITEMCNT" val="2"/>
  <p:tag name="KSO_WM_DIAGRAM_VIRTUALLY_FRAME" val="{&quot;height&quot;:377.1499938964844,&quot;left&quot;:52.7,&quot;top&quot;:112.82500305175782,&quot;width&quot;:362.7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PRESET_TEXT" val="02"/>
  <p:tag name="KSO_WM_UNIT_ID" val="diagram20231712_2*l_h_i*1_2_1"/>
  <p:tag name="KSO_WM_UNIT_INDEX" val="1_2_1"/>
  <p:tag name="KSO_WM_DIAGRAM_GROUP_CODE" val="l1-1"/>
</p:tagLst>
</file>

<file path=ppt/tags/tag7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TEMPLATE_CATEGORY" val="diagram"/>
  <p:tag name="KSO_WM_TEMPLATE_INDEX" val="20231712"/>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377.1499938964844,&quot;left&quot;:52.7,&quot;top&quot;:112.82500305175782,&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项正文，文字是您思想的提炼，请尽量言简意赅的阐述观点"/>
  <p:tag name="KSO_WM_UNIT_ID" val="diagram20231712_2*l_h_f*1_2_1"/>
  <p:tag name="KSO_WM_UNIT_INDEX" val="1_2_1"/>
  <p:tag name="KSO_WM_DIAGRAM_GROUP_CODE" val="l1-1"/>
</p:tagLst>
</file>

<file path=ppt/tags/tag7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1712"/>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377.1499938964844,&quot;left&quot;:52.7,&quot;top&quot;:112.82500305175782,&quot;width&quot;:362.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项标题"/>
  <p:tag name="KSO_WM_UNIT_ID" val="diagram20231712_2*l_h_a*1_2_1"/>
  <p:tag name="KSO_WM_UNIT_INDEX" val="1_2_1"/>
  <p:tag name="KSO_WM_DIAGRAM_GROUP_CODE" val="l1-1"/>
</p:tagLst>
</file>

<file path=ppt/tags/tag76.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362.75*317.05"/>
  <p:tag name="KSO_WM_SLIDE_POSITION" val="52.7*158.3"/>
  <p:tag name="KSO_WM_SLIDE_LAYOUT" val="a_d_l"/>
  <p:tag name="KSO_WM_SLIDE_LAYOUT_CNT" val="1_1_1"/>
  <p:tag name="KSO_WM_SPECIAL_SOURCE" val="bdnull"/>
  <p:tag name="KSO_WM_DIAGRAM_GROUP_CODE" val="l1-1"/>
  <p:tag name="KSO_WM_SLIDE_DIAGTYPE" val="l"/>
  <p:tag name="KSO_WM_TEMPLATE_INDEX" val="20232406"/>
  <p:tag name="KSO_WM_TEMPLATE_SUBCATEGORY" val="0"/>
  <p:tag name="KSO_WM_SLIDE_INDEX" val="1"/>
  <p:tag name="KSO_WM_TAG_VERSION" val="3.0"/>
  <p:tag name="KSO_WM_SLIDE_ID" val="custom20232406_1"/>
  <p:tag name="KSO_WM_SLIDE_ITEM_CNT" val="3"/>
</p:tagLst>
</file>

<file path=ppt/tags/tag77.xml><?xml version="1.0" encoding="utf-8"?>
<p:tagLst xmlns:p="http://schemas.openxmlformats.org/presentationml/2006/main">
  <p:tag name="KSO_WM_UNIT_VALUE" val="1903*1761"/>
  <p:tag name="KSO_WM_UNIT_HIGHLIGHT" val="0"/>
  <p:tag name="KSO_WM_UNIT_COMPATIBLE" val="0"/>
  <p:tag name="KSO_WM_UNIT_DIAGRAM_ISNUMVISUAL" val="0"/>
  <p:tag name="KSO_WM_UNIT_DIAGRAM_ISREFERUNIT" val="0"/>
  <p:tag name="KSO_WM_UNIT_TYPE" val="d"/>
  <p:tag name="KSO_WM_UNIT_INDEX" val="1"/>
  <p:tag name="KSO_WM_UNIT_ID" val="custom20232469_1*d*1"/>
  <p:tag name="KSO_WM_TEMPLATE_CATEGORY" val="custom"/>
  <p:tag name="KSO_WM_TEMPLATE_INDEX" val="20232469"/>
  <p:tag name="KSO_WM_UNIT_LAYERLEVEL" val="1"/>
  <p:tag name="KSO_WM_TAG_VERSION" val="3.0"/>
  <p:tag name="KSO_WM_BEAUTIFY_FLAG" val="#wm#"/>
  <p:tag name="KSO_WM_DIAGRAM_GROUP_CODE" val="l1-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2469_1*i*1"/>
  <p:tag name="KSO_WM_TEMPLATE_CATEGORY" val="custom"/>
  <p:tag name="KSO_WM_TEMPLATE_INDEX" val="20232469"/>
  <p:tag name="KSO_WM_UNIT_LAYERLEVEL" val="1"/>
  <p:tag name="KSO_WM_TAG_VERSION" val="3.0"/>
  <p:tag name="KSO_WM_BEAUTIFY_FLAG" val="#wm#"/>
  <p:tag name="KSO_WM_DIAGRAM_VERSION" val="3"/>
  <p:tag name="KSO_WM_DIAGRAM_COLOR_TRICK" val="1"/>
  <p:tag name="KSO_WM_DIAGRAM_COLOR_TEXT_CAN_REMOVE" val="n"/>
</p:tagLst>
</file>

<file path=ppt/tags/tag79.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2469"/>
  <p:tag name="KSO_WM_UNIT_ID" val="custom20232469_1*a*1"/>
  <p:tag name="KSO_WM_UNIT_PRESET_TEXT" val="单击此处添加标题"/>
</p:tagLst>
</file>

<file path=ppt/tags/tag8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TEMPLATE_CATEGORY" val="diagram"/>
  <p:tag name="KSO_WM_TEMPLATE_INDEX" val="2023187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MAX_ITEMCNT" val="4"/>
  <p:tag name="KSO_WM_DIAGRAM_MIN_ITEMCNT" val="2"/>
  <p:tag name="KSO_WM_DIAGRAM_VIRTUALLY_FRAME" val="{&quot;height&quot;:272.0911417322836,&quot;left&quot;:122.8,&quot;top&quot;:167.92503937007874,&quot;width&quot;:372.30000305175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
  <p:tag name="KSO_WM_UNIT_ID" val="diagram20231879_1*l_h_f*1_1_1"/>
  <p:tag name="KSO_WM_UNIT_INDEX" val="1_1_1"/>
  <p:tag name="KSO_WM_DIAGRAM_GROUP_CODE" val="l1-1"/>
</p:tagLst>
</file>

<file path=ppt/tags/tag8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187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MAX_ITEMCNT" val="4"/>
  <p:tag name="KSO_WM_DIAGRAM_MIN_ITEMCNT" val="2"/>
  <p:tag name="KSO_WM_DIAGRAM_VIRTUALLY_FRAME" val="{&quot;height&quot;:272.0911417322836,&quot;left&quot;:122.8,&quot;top&quot;:167.92503937007874,&quot;width&quot;:372.30000305175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添加项标题"/>
  <p:tag name="KSO_WM_UNIT_ID" val="diagram20231879_1*l_h_a*1_1_1"/>
  <p:tag name="KSO_WM_UNIT_INDEX" val="1_1_1"/>
  <p:tag name="KSO_WM_DIAGRAM_GROUP_CODE" val="l1-1"/>
</p:tagLst>
</file>

<file path=ppt/tags/tag8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TEMPLATE_CATEGORY" val="diagram"/>
  <p:tag name="KSO_WM_TEMPLATE_INDEX" val="2023187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MAX_ITEMCNT" val="4"/>
  <p:tag name="KSO_WM_DIAGRAM_MIN_ITEMCNT" val="2"/>
  <p:tag name="KSO_WM_DIAGRAM_VIRTUALLY_FRAME" val="{&quot;height&quot;:272.0911417322836,&quot;left&quot;:122.8,&quot;top&quot;:167.92503937007874,&quot;width&quot;:372.30000305175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
  <p:tag name="KSO_WM_UNIT_ID" val="diagram20231879_1*l_h_f*1_2_1"/>
  <p:tag name="KSO_WM_UNIT_INDEX" val="1_2_1"/>
  <p:tag name="KSO_WM_DIAGRAM_GROUP_CODE" val="l1-1"/>
</p:tagLst>
</file>

<file path=ppt/tags/tag8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TEMPLATE_CATEGORY" val="diagram"/>
  <p:tag name="KSO_WM_TEMPLATE_INDEX" val="2023187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MAX_ITEMCNT" val="4"/>
  <p:tag name="KSO_WM_DIAGRAM_MIN_ITEMCNT" val="2"/>
  <p:tag name="KSO_WM_DIAGRAM_VIRTUALLY_FRAME" val="{&quot;height&quot;:272.0911417322836,&quot;left&quot;:122.8,&quot;top&quot;:167.92503937007874,&quot;width&quot;:372.30000305175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添加项标题"/>
  <p:tag name="KSO_WM_UNIT_ID" val="diagram20231879_1*l_h_a*1_2_1"/>
  <p:tag name="KSO_WM_UNIT_INDEX" val="1_2_1"/>
  <p:tag name="KSO_WM_DIAGRAM_GROUP_CODE" val="l1-1"/>
</p:tagLst>
</file>

<file path=ppt/tags/tag84.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370.05*194.782"/>
  <p:tag name="KSO_WM_SLIDE_POSITION" val="125*240.075"/>
  <p:tag name="KSO_WM_SLIDE_LAYOUT" val="a_d_l"/>
  <p:tag name="KSO_WM_SLIDE_LAYOUT_CNT" val="1_1_1"/>
  <p:tag name="KSO_WM_SPECIAL_SOURCE" val="bdnull"/>
  <p:tag name="KSO_WM_DIAGRAM_GROUP_CODE" val="l1-1"/>
  <p:tag name="KSO_WM_SLIDE_DIAGTYPE" val="l"/>
  <p:tag name="KSO_WM_TEMPLATE_INDEX" val="20232469"/>
  <p:tag name="KSO_WM_TEMPLATE_SUBCATEGORY" val="0"/>
  <p:tag name="KSO_WM_SLIDE_INDEX" val="1"/>
  <p:tag name="KSO_WM_TAG_VERSION" val="3.0"/>
  <p:tag name="KSO_WM_SLIDE_ID" val="custom20232469_1"/>
  <p:tag name="KSO_WM_SLIDE_ITEM_CNT" val="2"/>
</p:tagLst>
</file>

<file path=ppt/tags/tag8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3272_1*a*1"/>
  <p:tag name="KSO_WM_TEMPLATE_CATEGORY" val="custom"/>
  <p:tag name="KSO_WM_TEMPLATE_INDEX" val="20233272"/>
  <p:tag name="KSO_WM_UNIT_LAYERLEVEL" val="1"/>
  <p:tag name="KSO_WM_TAG_VERSION" val="3.0"/>
  <p:tag name="KSO_WM_BEAUTIFY_FLAG" val="#wm#"/>
  <p:tag name="KSO_WM_UNIT_VALUE" val="29"/>
  <p:tag name="KSO_WM_UNIT_PRESET_TEXT" val="单击此处添加标题"/>
  <p:tag name="KSO_WM_UNIT_TEXT_FILL_FORE_SCHEMECOLOR_INDEX" val="15"/>
  <p:tag name="KSO_WM_UNIT_TEXT_FILL_TYPE" val="1"/>
  <p:tag name="KSO_WM_UNIT_USESOURCEFORMAT_APPLY" val="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3272_1*i*1"/>
  <p:tag name="KSO_WM_TEMPLATE_CATEGORY" val="custom"/>
  <p:tag name="KSO_WM_TEMPLATE_INDEX" val="20233272"/>
  <p:tag name="KSO_WM_UNIT_LAYERLEVEL" val="1"/>
  <p:tag name="KSO_WM_TAG_VERSION" val="3.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3272_1*i*2"/>
  <p:tag name="KSO_WM_TEMPLATE_CATEGORY" val="custom"/>
  <p:tag name="KSO_WM_TEMPLATE_INDEX" val="20233272"/>
  <p:tag name="KSO_WM_UNIT_LAYERLEVEL" val="1"/>
  <p:tag name="KSO_WM_TAG_VERSION" val="3.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33272_1*i*3"/>
  <p:tag name="KSO_WM_TEMPLATE_CATEGORY" val="custom"/>
  <p:tag name="KSO_WM_TEMPLATE_INDEX" val="20233272"/>
  <p:tag name="KSO_WM_UNIT_LAYERLEVEL" val="1"/>
  <p:tag name="KSO_WM_TAG_VERSION" val="3.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33272_1*i*4"/>
  <p:tag name="KSO_WM_TEMPLATE_CATEGORY" val="custom"/>
  <p:tag name="KSO_WM_TEMPLATE_INDEX" val="20233272"/>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33272_1*i*5"/>
  <p:tag name="KSO_WM_TEMPLATE_CATEGORY" val="custom"/>
  <p:tag name="KSO_WM_TEMPLATE_INDEX" val="20233272"/>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33272_1*i*6"/>
  <p:tag name="KSO_WM_TEMPLATE_CATEGORY" val="custom"/>
  <p:tag name="KSO_WM_TEMPLATE_INDEX" val="20233272"/>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92.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SUBTYPE" val="a"/>
  <p:tag name="KSO_WM_UNIT_NOCLEAR" val="0"/>
  <p:tag name="KSO_WM_UNIT_VALUE" val="217"/>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271_1*l_h_f*1_2_1"/>
  <p:tag name="KSO_WM_TEMPLATE_CATEGORY" val="diagram"/>
  <p:tag name="KSO_WM_TEMPLATE_INDEX" val="20233271"/>
  <p:tag name="KSO_WM_UNIT_LAYERLEVEL" val="1_1_1"/>
  <p:tag name="KSO_WM_TAG_VERSION" val="3.0"/>
  <p:tag name="KSO_WM_DIAGRAM_MAX_ITEMCNT" val="2"/>
  <p:tag name="KSO_WM_DIAGRAM_MIN_ITEMCNT" val="2"/>
  <p:tag name="KSO_WM_DIAGRAM_VIRTUALLY_FRAME" val="{&quot;height&quot;:377.40032958984375,&quot;width&quot;:413.85827636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正文，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单击此处添加正文，文字是您思想的提炼，请言简意赅的阐述您的观点。单击此处添加正文"/>
  <p:tag name="KSO_WM_UNIT_TEXT_FILL_FORE_SCHEMECOLOR_INDEX" val="1"/>
  <p:tag name="KSO_WM_UNIT_TEXT_FILL_TYPE" val="1"/>
  <p:tag name="KSO_WM_UNIT_USESOURCEFORMAT_APPLY" val="1"/>
</p:tagLst>
</file>

<file path=ppt/tags/tag93.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SUBTYPE" val="a"/>
  <p:tag name="KSO_WM_UNIT_NOCLEAR" val="0"/>
  <p:tag name="KSO_WM_UNIT_VALUE" val="217"/>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271_1*l_h_f*1_1_1"/>
  <p:tag name="KSO_WM_TEMPLATE_CATEGORY" val="diagram"/>
  <p:tag name="KSO_WM_TEMPLATE_INDEX" val="20233271"/>
  <p:tag name="KSO_WM_UNIT_LAYERLEVEL" val="1_1_1"/>
  <p:tag name="KSO_WM_TAG_VERSION" val="3.0"/>
  <p:tag name="KSO_WM_DIAGRAM_MAX_ITEMCNT" val="2"/>
  <p:tag name="KSO_WM_DIAGRAM_MIN_ITEMCNT" val="2"/>
  <p:tag name="KSO_WM_DIAGRAM_VIRTUALLY_FRAME" val="{&quot;height&quot;:377.40032958984375,&quot;width&quot;:413.85827636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正文，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单击此处添加正文，文字是您思想的提炼，请言简意赅的阐述您的观点。单击此处添加正文"/>
  <p:tag name="KSO_WM_UNIT_TEXT_FILL_FORE_SCHEMECOLOR_INDEX" val="1"/>
  <p:tag name="KSO_WM_UNIT_TEXT_FILL_TYPE" val="1"/>
  <p:tag name="KSO_WM_UNIT_USESOURCEFORMAT_APPLY" val="1"/>
</p:tagLst>
</file>

<file path=ppt/tags/tag9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71_1*l_h_a*1_2_1"/>
  <p:tag name="KSO_WM_TEMPLATE_CATEGORY" val="diagram"/>
  <p:tag name="KSO_WM_TEMPLATE_INDEX" val="20233271"/>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2"/>
  <p:tag name="KSO_WM_DIAGRAM_MIN_ITEMCNT" val="2"/>
  <p:tag name="KSO_WM_DIAGRAM_VIRTUALLY_FRAME" val="{&quot;height&quot;:377.40032958984375,&quot;width&quot;:413.85827636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
  <p:tag name="KSO_WM_UNIT_TEXT_FILL_FORE_SCHEMECOLOR_INDEX" val="1"/>
  <p:tag name="KSO_WM_UNIT_TEXT_FILL_TYPE" val="1"/>
  <p:tag name="KSO_WM_UNIT_USESOURCEFORMAT_APPLY" val="1"/>
</p:tagLst>
</file>

<file path=ppt/tags/tag9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71_1*l_h_a*1_1_1"/>
  <p:tag name="KSO_WM_TEMPLATE_CATEGORY" val="diagram"/>
  <p:tag name="KSO_WM_TEMPLATE_INDEX" val="20233271"/>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2"/>
  <p:tag name="KSO_WM_DIAGRAM_MIN_ITEMCNT" val="2"/>
  <p:tag name="KSO_WM_DIAGRAM_VIRTUALLY_FRAME" val="{&quot;height&quot;:377.40032958984375,&quot;width&quot;:413.85827636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
  <p:tag name="KSO_WM_UNIT_TEXT_FILL_FORE_SCHEMECOLOR_INDEX" val="1"/>
  <p:tag name="KSO_WM_UNIT_TEXT_FILL_TYPE" val="1"/>
  <p:tag name="KSO_WM_UNIT_USESOURCEFORMAT_APPLY" val="1"/>
</p:tagLst>
</file>

<file path=ppt/tags/tag96.xml><?xml version="1.0" encoding="utf-8"?>
<p:tagLst xmlns:p="http://schemas.openxmlformats.org/presentationml/2006/main">
  <p:tag name="KSO_WM_SLIDE_ID" val="custom20233272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3272"/>
  <p:tag name="KSO_WM_SLIDE_TYPE" val="text"/>
  <p:tag name="KSO_WM_SLIDE_SUBTYPE" val="diag"/>
  <p:tag name="KSO_WM_SLIDE_SIZE" val="413.858*341.273"/>
  <p:tag name="KSO_WM_SLIDE_POSITION" val="72.1946*158.577"/>
  <p:tag name="KSO_WM_SLIDE_LAYOUT" val="a_l"/>
  <p:tag name="KSO_WM_SLIDE_LAYOUT_CNT" val="1_1"/>
  <p:tag name="KSO_WM_SPECIAL_SOURCE" val="bdnull"/>
  <p:tag name="KSO_WM_DIAGRAM_GROUP_CODE" val="l1-1"/>
  <p:tag name="KSO_WM_SLIDE_DIAGTYPE" val="l"/>
</p:tagLst>
</file>

<file path=ppt/tags/tag9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3272_1*a*1"/>
  <p:tag name="KSO_WM_TEMPLATE_CATEGORY" val="custom"/>
  <p:tag name="KSO_WM_TEMPLATE_INDEX" val="20233272"/>
  <p:tag name="KSO_WM_UNIT_LAYERLEVEL" val="1"/>
  <p:tag name="KSO_WM_TAG_VERSION" val="3.0"/>
  <p:tag name="KSO_WM_BEAUTIFY_FLAG" val="#wm#"/>
  <p:tag name="KSO_WM_UNIT_VALUE" val="29"/>
  <p:tag name="KSO_WM_UNIT_PRESET_TEXT" val="单击此处添加标题"/>
  <p:tag name="KSO_WM_UNIT_TEXT_FILL_FORE_SCHEMECOLOR_INDEX" val="15"/>
  <p:tag name="KSO_WM_UNIT_TEXT_FILL_TYPE" val="1"/>
  <p:tag name="KSO_WM_UNIT_USESOURCEFORMAT_APPLY"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3272_1*i*1"/>
  <p:tag name="KSO_WM_TEMPLATE_CATEGORY" val="custom"/>
  <p:tag name="KSO_WM_TEMPLATE_INDEX" val="20233272"/>
  <p:tag name="KSO_WM_UNIT_LAYERLEVEL" val="1"/>
  <p:tag name="KSO_WM_TAG_VERSION" val="3.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3272_1*i*2"/>
  <p:tag name="KSO_WM_TEMPLATE_CATEGORY" val="custom"/>
  <p:tag name="KSO_WM_TEMPLATE_INDEX" val="20233272"/>
  <p:tag name="KSO_WM_UNIT_LAYERLEVEL" val="1"/>
  <p:tag name="KSO_WM_TAG_VERSION" val="3.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33272_1*i*3"/>
  <p:tag name="KSO_WM_TEMPLATE_CATEGORY" val="custom"/>
  <p:tag name="KSO_WM_TEMPLATE_INDEX" val="20233272"/>
  <p:tag name="KSO_WM_UNIT_LAYERLEVEL" val="1"/>
  <p:tag name="KSO_WM_TAG_VERSION" val="3.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33272_1*i*4"/>
  <p:tag name="KSO_WM_TEMPLATE_CATEGORY" val="custom"/>
  <p:tag name="KSO_WM_TEMPLATE_INDEX" val="20233272"/>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33272_1*i*5"/>
  <p:tag name="KSO_WM_TEMPLATE_CATEGORY" val="custom"/>
  <p:tag name="KSO_WM_TEMPLATE_INDEX" val="20233272"/>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33272_1*i*6"/>
  <p:tag name="KSO_WM_TEMPLATE_CATEGORY" val="custom"/>
  <p:tag name="KSO_WM_TEMPLATE_INDEX" val="20233272"/>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04.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SUBTYPE" val="a"/>
  <p:tag name="KSO_WM_UNIT_NOCLEAR" val="0"/>
  <p:tag name="KSO_WM_UNIT_VALUE" val="217"/>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271_1*l_h_f*1_2_1"/>
  <p:tag name="KSO_WM_TEMPLATE_CATEGORY" val="diagram"/>
  <p:tag name="KSO_WM_TEMPLATE_INDEX" val="20233271"/>
  <p:tag name="KSO_WM_UNIT_LAYERLEVEL" val="1_1_1"/>
  <p:tag name="KSO_WM_TAG_VERSION" val="3.0"/>
  <p:tag name="KSO_WM_DIAGRAM_MAX_ITEMCNT" val="2"/>
  <p:tag name="KSO_WM_DIAGRAM_MIN_ITEMCNT" val="2"/>
  <p:tag name="KSO_WM_DIAGRAM_VIRTUALLY_FRAME" val="{&quot;height&quot;:377.46724409448814,&quot;left&quot;:72.19614173228346,&quot;top&quot;:122.45,&quot;width&quot;:413.9134645669290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正文，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单击此处添加正文，文字是您思想的提炼，请言简意赅的阐述您的观点。单击此处添加正文"/>
  <p:tag name="KSO_WM_UNIT_TEXT_FILL_FORE_SCHEMECOLOR_INDEX" val="1"/>
  <p:tag name="KSO_WM_UNIT_TEXT_FILL_TYPE" val="1"/>
  <p:tag name="KSO_WM_UNIT_USESOURCEFORMAT_APPLY" val="1"/>
</p:tagLst>
</file>

<file path=ppt/tags/tag105.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SUBTYPE" val="a"/>
  <p:tag name="KSO_WM_UNIT_NOCLEAR" val="0"/>
  <p:tag name="KSO_WM_UNIT_VALUE" val="217"/>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271_1*l_h_f*1_1_1"/>
  <p:tag name="KSO_WM_TEMPLATE_CATEGORY" val="diagram"/>
  <p:tag name="KSO_WM_TEMPLATE_INDEX" val="20233271"/>
  <p:tag name="KSO_WM_UNIT_LAYERLEVEL" val="1_1_1"/>
  <p:tag name="KSO_WM_TAG_VERSION" val="3.0"/>
  <p:tag name="KSO_WM_DIAGRAM_MAX_ITEMCNT" val="2"/>
  <p:tag name="KSO_WM_DIAGRAM_MIN_ITEMCNT" val="2"/>
  <p:tag name="KSO_WM_DIAGRAM_VIRTUALLY_FRAME" val="{&quot;height&quot;:377.46724409448814,&quot;left&quot;:72.19614173228346,&quot;top&quot;:122.45,&quot;width&quot;:413.9134645669290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正文，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单击此处添加正文，文字是您思想的提炼，请言简意赅的阐述您的观点。单击此处添加正文"/>
  <p:tag name="KSO_WM_UNIT_TEXT_FILL_FORE_SCHEMECOLOR_INDEX" val="1"/>
  <p:tag name="KSO_WM_UNIT_TEXT_FILL_TYPE" val="1"/>
  <p:tag name="KSO_WM_UNIT_USESOURCEFORMAT_APPLY" val="1"/>
</p:tagLst>
</file>

<file path=ppt/tags/tag10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71_1*l_h_a*1_2_1"/>
  <p:tag name="KSO_WM_TEMPLATE_CATEGORY" val="diagram"/>
  <p:tag name="KSO_WM_TEMPLATE_INDEX" val="20233271"/>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2"/>
  <p:tag name="KSO_WM_DIAGRAM_MIN_ITEMCNT" val="2"/>
  <p:tag name="KSO_WM_DIAGRAM_VIRTUALLY_FRAME" val="{&quot;height&quot;:377.46724409448814,&quot;left&quot;:72.19614173228346,&quot;top&quot;:122.45,&quot;width&quot;:413.9134645669290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
  <p:tag name="KSO_WM_UNIT_TEXT_FILL_FORE_SCHEMECOLOR_INDEX" val="1"/>
  <p:tag name="KSO_WM_UNIT_TEXT_FILL_TYPE" val="1"/>
  <p:tag name="KSO_WM_UNIT_USESOURCEFORMAT_APPLY" val="1"/>
</p:tagLst>
</file>

<file path=ppt/tags/tag10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71_1*l_h_a*1_1_1"/>
  <p:tag name="KSO_WM_TEMPLATE_CATEGORY" val="diagram"/>
  <p:tag name="KSO_WM_TEMPLATE_INDEX" val="20233271"/>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2"/>
  <p:tag name="KSO_WM_DIAGRAM_MIN_ITEMCNT" val="2"/>
  <p:tag name="KSO_WM_DIAGRAM_VIRTUALLY_FRAME" val="{&quot;height&quot;:377.46724409448814,&quot;left&quot;:72.19614173228346,&quot;top&quot;:122.45,&quot;width&quot;:413.9134645669290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
  <p:tag name="KSO_WM_UNIT_TEXT_FILL_FORE_SCHEMECOLOR_INDEX" val="1"/>
  <p:tag name="KSO_WM_UNIT_TEXT_FILL_TYPE" val="1"/>
  <p:tag name="KSO_WM_UNIT_USESOURCEFORMAT_APPLY" val="1"/>
</p:tagLst>
</file>

<file path=ppt/tags/tag108.xml><?xml version="1.0" encoding="utf-8"?>
<p:tagLst xmlns:p="http://schemas.openxmlformats.org/presentationml/2006/main">
  <p:tag name="KSO_WM_SLIDE_ID" val="custom20233272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3272"/>
  <p:tag name="KSO_WM_SLIDE_TYPE" val="text"/>
  <p:tag name="KSO_WM_SLIDE_SUBTYPE" val="diag"/>
  <p:tag name="KSO_WM_SLIDE_SIZE" val="413.858*341.273"/>
  <p:tag name="KSO_WM_SLIDE_POSITION" val="72.1946*158.577"/>
  <p:tag name="KSO_WM_SLIDE_LAYOUT" val="a_l"/>
  <p:tag name="KSO_WM_SLIDE_LAYOUT_CNT" val="1_1"/>
  <p:tag name="KSO_WM_SPECIAL_SOURCE" val="bdnull"/>
  <p:tag name="KSO_WM_DIAGRAM_GROUP_CODE" val="l1-1"/>
  <p:tag name="KSO_WM_SLIDE_DIAGTYPE" val="l"/>
</p:tagLst>
</file>

<file path=ppt/tags/tag10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1190_1*d*1"/>
  <p:tag name="KSO_WM_TEMPLATE_CATEGORY" val="custom"/>
  <p:tag name="KSO_WM_TEMPLATE_INDEX" val="20231190"/>
  <p:tag name="KSO_WM_UNIT_LAYERLEVEL" val="1"/>
  <p:tag name="KSO_WM_TAG_VERSION" val="3.0"/>
  <p:tag name="KSO_WM_UNIT_VALUE" val="1111*3388"/>
  <p:tag name="KSO_WM_UNIT_TYPE" val="d"/>
  <p:tag name="KSO_WM_UNIT_INDEX" val="1"/>
</p:tagLst>
</file>

<file path=ppt/tags/tag110.xml><?xml version="1.0" encoding="utf-8"?>
<p:tagLst xmlns:p="http://schemas.openxmlformats.org/presentationml/2006/main">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SHADOW_SCHEMECOLOR_INDEX_BRIGHTNESS" val="0"/>
  <p:tag name="KSO_WM_UNIT_SHADOW_SCHEMECOLOR_INDEX" val="5"/>
  <p:tag name="KSO_WM_UNIT_TEXT_FILL_FORE_SCHEMECOLOR_INDEX_BRIGHTNESS" val="0"/>
  <p:tag name="KSO_WM_UNIT_TEXT_FILL_FORE_SCHEMECOLOR_INDEX" val="13"/>
  <p:tag name="KSO_WM_UNIT_TEXT_FILL_TYPE" val="1"/>
  <p:tag name="KSO_WM_UNIT_HIGHLIGHT" val="0"/>
  <p:tag name="KSO_WM_UNIT_COMPATIBLE" val="0"/>
  <p:tag name="KSO_WM_UNIT_DIAGRAM_ISNUMVISUAL" val="0"/>
  <p:tag name="KSO_WM_UNIT_DIAGRAM_ISREFERUNIT" val="0"/>
  <p:tag name="KSO_WM_UNIT_ID" val="custom20231190_1*i*4"/>
  <p:tag name="KSO_WM_TEMPLATE_CATEGORY" val="custom"/>
  <p:tag name="KSO_WM_TEMPLATE_INDEX" val="20231190"/>
  <p:tag name="KSO_WM_UNIT_LAYERLEVEL" val="1"/>
  <p:tag name="KSO_WM_TAG_VERSION" val="3.0"/>
  <p:tag name="KSO_WM_UNIT_TYPE" val="i"/>
  <p:tag name="KSO_WM_UNIT_INDEX" val="4"/>
</p:tagLst>
</file>

<file path=ppt/tags/tag111.xml><?xml version="1.0" encoding="utf-8"?>
<p:tagLst xmlns:p="http://schemas.openxmlformats.org/presentationml/2006/main">
  <p:tag name="KSO_WM_BEAUTIFY_FLAG" val="#wm#"/>
  <p:tag name="KSO_WM_UNIT_FILL_FORE_SCHEMECOLOR_INDEX_1_BRIGHTNESS" val="0.4"/>
  <p:tag name="KSO_WM_UNIT_FILL_FORE_SCHEMECOLOR_INDEX_1" val="5"/>
  <p:tag name="KSO_WM_UNIT_FILL_FORE_SCHEMECOLOR_INDEX_1_POS" val="0.15"/>
  <p:tag name="KSO_WM_UNIT_FILL_FORE_SCHEMECOLOR_INDEX_1_TRANS" val="0"/>
  <p:tag name="KSO_WM_UNIT_FILL_FORE_SCHEMECOLOR_INDEX_2_BRIGHTNESS" val="0"/>
  <p:tag name="KSO_WM_UNIT_FILL_FORE_SCHEMECOLOR_INDEX_2" val="5"/>
  <p:tag name="KSO_WM_UNIT_FILL_FORE_SCHEMECOLOR_INDEX_2_POS" val="1"/>
  <p:tag name="KSO_WM_UNIT_FILL_FORE_SCHEMECOLOR_INDEX_2_TRANS" val="0"/>
  <p:tag name="KSO_WM_UNIT_FILL_GRADIENT_TYPE" val="0"/>
  <p:tag name="KSO_WM_UNIT_FILL_GRADIENT_ANGLE" val="60"/>
  <p:tag name="KSO_WM_UNIT_FILL_GRADIENT_DIRECTION" val="-2"/>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custom20231190_1*i*3"/>
  <p:tag name="KSO_WM_TEMPLATE_CATEGORY" val="custom"/>
  <p:tag name="KSO_WM_TEMPLATE_INDEX" val="20231190"/>
  <p:tag name="KSO_WM_UNIT_LAYERLEVEL" val="1"/>
  <p:tag name="KSO_WM_TAG_VERSION" val="3.0"/>
  <p:tag name="KSO_WM_UNIT_TYPE" val="i"/>
  <p:tag name="KSO_WM_UNIT_INDEX" val="3"/>
</p:tagLst>
</file>

<file path=ppt/tags/tag11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1190_1*i*1"/>
  <p:tag name="KSO_WM_TEMPLATE_CATEGORY" val="custom"/>
  <p:tag name="KSO_WM_TEMPLATE_INDEX" val="20231190"/>
  <p:tag name="KSO_WM_UNIT_LAYERLEVEL" val="1"/>
  <p:tag name="KSO_WM_TAG_VERSION" val="3.0"/>
  <p:tag name="KSO_WM_UNIT_TYPE" val="i"/>
  <p:tag name="KSO_WM_UNIT_INDEX" val="1"/>
</p:tagLst>
</file>

<file path=ppt/tags/tag113.xml><?xml version="1.0" encoding="utf-8"?>
<p:tagLst xmlns:p="http://schemas.openxmlformats.org/presentationml/2006/main">
  <p:tag name="KSO_WM_BEAUTIFY_FLAG" val="#wm#"/>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custom20231190_1*i*2"/>
  <p:tag name="KSO_WM_TEMPLATE_CATEGORY" val="custom"/>
  <p:tag name="KSO_WM_TEMPLATE_INDEX" val="20231190"/>
  <p:tag name="KSO_WM_UNIT_LAYERLEVEL" val="1"/>
  <p:tag name="KSO_WM_TAG_VERSION" val="3.0"/>
  <p:tag name="KSO_WM_UNIT_TYPE" val="i"/>
  <p:tag name="KSO_WM_UNIT_INDEX" val="2"/>
</p:tagLst>
</file>

<file path=ppt/tags/tag11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1190_1*f*1"/>
  <p:tag name="KSO_WM_TEMPLATE_CATEGORY" val="custom"/>
  <p:tag name="KSO_WM_TEMPLATE_INDEX" val="20231190"/>
  <p:tag name="KSO_WM_UNIT_LAYERLEVEL" val="1"/>
  <p:tag name="KSO_WM_TAG_VERSION" val="3.0"/>
  <p:tag name="KSO_WM_BEAUTIFY_FLAG" val="#wm#"/>
  <p:tag name="KSO_WM_UNIT_TEXT_FILL_FORE_SCHEMECOLOR_INDEX_BRIGHTNESS" val="0.35"/>
  <p:tag name="KSO_WM_UNIT_TEXT_FILL_FORE_SCHEMECOLOR_INDEX" val="13"/>
  <p:tag name="KSO_WM_UNIT_TEXT_FILL_TYPE" val="1"/>
  <p:tag name="KSO_WM_UNIT_PRESET_TEXT" val="单击此处输入你的项正文，文字是您思想的提炼，请尽量言简意赅的阐述观点&#10;单击此处输入你的项正文，文字是您思想的提炼"/>
</p:tagLst>
</file>

<file path=ppt/tags/tag115.xml><?xml version="1.0" encoding="utf-8"?>
<p:tagLst xmlns:p="http://schemas.openxmlformats.org/presentationml/2006/main">
  <p:tag name="KSO_WM_UNIT_ISCONTENTSTITLE" val="0"/>
  <p:tag name="KSO_WM_UNIT_ISNUMDGMTITLE" val="0"/>
  <p:tag name="KSO_WM_UNIT_NOCLEAR" val="0"/>
  <p:tag name="KSO_WM_UNIT_VALUE" val="23"/>
  <p:tag name="KSO_WM_UNIT_HIGHLIGHT" val="0"/>
  <p:tag name="KSO_WM_UNIT_COMPATIBLE" val="0"/>
  <p:tag name="KSO_WM_UNIT_DIAGRAM_ISNUMVISUAL" val="0"/>
  <p:tag name="KSO_WM_UNIT_DIAGRAM_ISREFERUNIT" val="0"/>
  <p:tag name="KSO_WM_UNIT_TYPE" val="a"/>
  <p:tag name="KSO_WM_UNIT_INDEX" val="1"/>
  <p:tag name="KSO_WM_TEMPLATE_CATEGORY" val="custom"/>
  <p:tag name="KSO_WM_UNIT_LAYERLEVEL" val="1"/>
  <p:tag name="KSO_WM_TAG_VERSION" val="3.0"/>
  <p:tag name="KSO_WM_BEAUTIFY_FLAG" val="#wm#"/>
  <p:tag name="KSO_WM_UNIT_PRESET_TEXT" val="单击此处添加标题内容"/>
  <p:tag name="KSO_WM_TEMPLATE_INDEX" val="20231190"/>
  <p:tag name="KSO_WM_UNIT_ID" val="custom20231190_1*a*1"/>
</p:tagLst>
</file>

<file path=ppt/tags/tag116.xml><?xml version="1.0" encoding="utf-8"?>
<p:tagLst xmlns:p="http://schemas.openxmlformats.org/presentationml/2006/main">
  <p:tag name="KSO_WM_BEAUTIFY_FLAG" val="#wm#"/>
  <p:tag name="KSO_WM_TEMPLATE_CATEGORY" val="custom"/>
  <p:tag name="KSO_WM_TEMPLATE_MASTER_TYPE" val="0"/>
  <p:tag name="KSO_WM_TEMPLATE_COLOR_TYPE" val="0"/>
  <p:tag name="KSO_WM_SLIDE_TYPE" val="text"/>
  <p:tag name="KSO_WM_SLIDE_SUBTYPE" val="picTxt"/>
  <p:tag name="KSO_WM_SLIDE_SIZE" val="961*499"/>
  <p:tag name="KSO_WM_SLIDE_POSITION" val="-1*0"/>
  <p:tag name="KSO_WM_SLIDE_LAYOUT" val="a_d_f"/>
  <p:tag name="KSO_WM_SLIDE_LAYOUT_CNT" val="1_1_1"/>
  <p:tag name="KSO_WM_TEMPLATE_INDEX" val="20231190"/>
  <p:tag name="KSO_WM_TEMPLATE_SUBCATEGORY" val="0"/>
  <p:tag name="KSO_WM_SLIDE_INDEX" val="1"/>
  <p:tag name="KSO_WM_TAG_VERSION" val="3.0"/>
  <p:tag name="KSO_WM_SLIDE_ID" val="custom20231190_1"/>
  <p:tag name="KSO_WM_SLIDE_ITEM_CNT"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6585_1*i*1"/>
  <p:tag name="KSO_WM_TEMPLATE_CATEGORY" val="diagram"/>
  <p:tag name="KSO_WM_TEMPLATE_INDEX" val="20196585"/>
  <p:tag name="KSO_WM_UNIT_LAYERLEVEL" val="1"/>
  <p:tag name="KSO_WM_TAG_VERSION" val="1.0"/>
  <p:tag name="KSO_WM_BEAUTIFY_FLAG" val="#wm#"/>
  <p:tag name="KSO_WM_UNIT_COLOR_SCHEME_SHAPE_ID" val="3"/>
  <p:tag name="KSO_WM_UNIT_COLOR_SCHEME_PARENT_PAGE" val="0_1"/>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6585_1*i*2"/>
  <p:tag name="KSO_WM_TEMPLATE_CATEGORY" val="diagram"/>
  <p:tag name="KSO_WM_TEMPLATE_INDEX" val="20196585"/>
  <p:tag name="KSO_WM_UNIT_LAYERLEVEL" val="1"/>
  <p:tag name="KSO_WM_TAG_VERSION" val="1.0"/>
  <p:tag name="KSO_WM_BEAUTIFY_FLAG" val="#wm#"/>
  <p:tag name="KSO_WM_UNIT_COLOR_SCHEME_SHAPE_ID" val="4"/>
  <p:tag name="KSO_WM_UNIT_COLOR_SCHEME_PARENT_PAGE" val="0_1"/>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14"/>
  <p:tag name="KSO_WM_UNIT_TEXT_FILL_TYPE"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6585_1*i*3"/>
  <p:tag name="KSO_WM_TEMPLATE_CATEGORY" val="diagram"/>
  <p:tag name="KSO_WM_TEMPLATE_INDEX" val="20196585"/>
  <p:tag name="KSO_WM_UNIT_LAYERLEVEL" val="1"/>
  <p:tag name="KSO_WM_TAG_VERSION" val="1.0"/>
  <p:tag name="KSO_WM_BEAUTIFY_FLAG" val="#wm#"/>
  <p:tag name="KSO_WM_UNIT_COLOR_SCHEME_SHAPE_ID" val="5"/>
  <p:tag name="KSO_WM_UNIT_COLOR_SCHEME_PARENT_PAGE" val="0_1"/>
  <p:tag name="KSO_WM_UNIT_DECOLORIZATION" val="1"/>
  <p:tag name="KSO_WM_UNIT_LINE_FORE_SCHEMECOLOR_INDEX_BRIGHTNESS" val="0"/>
  <p:tag name="KSO_WM_UNIT_LINE_FORE_SCHEMECOLOR_INDEX" val="5"/>
  <p:tag name="KSO_WM_UNIT_LINE_FILL_TYPE"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6585_1*i*4"/>
  <p:tag name="KSO_WM_TEMPLATE_CATEGORY" val="diagram"/>
  <p:tag name="KSO_WM_TEMPLATE_INDEX" val="20196585"/>
  <p:tag name="KSO_WM_UNIT_LAYERLEVEL" val="1"/>
  <p:tag name="KSO_WM_TAG_VERSION" val="1.0"/>
  <p:tag name="KSO_WM_BEAUTIFY_FLAG" val="#wm#"/>
  <p:tag name="KSO_WM_UNIT_COLOR_SCHEME_SHAPE_ID" val="7"/>
  <p:tag name="KSO_WM_UNIT_COLOR_SCHEME_PARENT_PAGE" val="0_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6585_1*i*5"/>
  <p:tag name="KSO_WM_TEMPLATE_CATEGORY" val="diagram"/>
  <p:tag name="KSO_WM_TEMPLATE_INDEX" val="20196585"/>
  <p:tag name="KSO_WM_UNIT_LAYERLEVEL" val="1"/>
  <p:tag name="KSO_WM_TAG_VERSION" val="1.0"/>
  <p:tag name="KSO_WM_BEAUTIFY_FLAG" val="#wm#"/>
  <p:tag name="KSO_WM_UNIT_COLOR_SCHEME_SHAPE_ID" val="11"/>
  <p:tag name="KSO_WM_UNIT_COLOR_SCHEME_PARENT_PAGE" val="0_1"/>
  <p:tag name="KSO_WM_UNIT_DECOLORIZATION" val="1"/>
  <p:tag name="KSO_WM_UNIT_LINE_FORE_SCHEMECOLOR_INDEX_BRIGHTNESS" val="-0.25"/>
  <p:tag name="KSO_WM_UNIT_LINE_FORE_SCHEMECOLOR_INDEX" val="7"/>
  <p:tag name="KSO_WM_UNIT_LINE_FILL_TYPE" val="2"/>
  <p:tag name="KSO_WM_UNIT_TEXT_FILL_FORE_SCHEMECOLOR_INDEX_BRIGHTNESS" val="0"/>
  <p:tag name="KSO_WM_UNIT_TEXT_FILL_FORE_SCHEMECOLOR_INDEX" val="2"/>
  <p:tag name="KSO_WM_UNIT_TEXT_FILL_TYPE" val="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6585_1*i*6"/>
  <p:tag name="KSO_WM_TEMPLATE_CATEGORY" val="diagram"/>
  <p:tag name="KSO_WM_TEMPLATE_INDEX" val="20196585"/>
  <p:tag name="KSO_WM_UNIT_LAYERLEVEL" val="1"/>
  <p:tag name="KSO_WM_TAG_VERSION" val="1.0"/>
  <p:tag name="KSO_WM_BEAUTIFY_FLAG" val="#wm#"/>
  <p:tag name="KSO_WM_UNIT_COLOR_SCHEME_SHAPE_ID" val="12"/>
  <p:tag name="KSO_WM_UNIT_COLOR_SCHEME_PARENT_PAGE" val="0_1"/>
  <p:tag name="KSO_WM_UNIT_DECOLORIZATION" val="1"/>
  <p:tag name="KSO_WM_UNIT_LINE_FORE_SCHEMECOLOR_INDEX_BRIGHTNESS" val="-0.25"/>
  <p:tag name="KSO_WM_UNIT_LINE_FORE_SCHEMECOLOR_INDEX" val="7"/>
  <p:tag name="KSO_WM_UNIT_LINE_FILL_TYPE" val="2"/>
  <p:tag name="KSO_WM_UNIT_TEXT_FILL_FORE_SCHEMECOLOR_INDEX_BRIGHTNESS" val="0"/>
  <p:tag name="KSO_WM_UNIT_TEXT_FILL_FORE_SCHEMECOLOR_INDEX" val="2"/>
  <p:tag name="KSO_WM_UNIT_TEXT_FILL_TYPE"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6585_1*i*7"/>
  <p:tag name="KSO_WM_TEMPLATE_CATEGORY" val="diagram"/>
  <p:tag name="KSO_WM_TEMPLATE_INDEX" val="20196585"/>
  <p:tag name="KSO_WM_UNIT_LAYERLEVEL" val="1"/>
  <p:tag name="KSO_WM_TAG_VERSION" val="1.0"/>
  <p:tag name="KSO_WM_BEAUTIFY_FLAG" val="#wm#"/>
  <p:tag name="KSO_WM_UNIT_COLOR_SCHEME_SHAPE_ID" val="8"/>
  <p:tag name="KSO_WM_UNIT_COLOR_SCHEME_PARENT_PAGE" val="0_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6585_1*i*8"/>
  <p:tag name="KSO_WM_TEMPLATE_CATEGORY" val="diagram"/>
  <p:tag name="KSO_WM_TEMPLATE_INDEX" val="20196585"/>
  <p:tag name="KSO_WM_UNIT_LAYERLEVEL" val="1"/>
  <p:tag name="KSO_WM_TAG_VERSION" val="1.0"/>
  <p:tag name="KSO_WM_BEAUTIFY_FLAG" val="#wm#"/>
  <p:tag name="KSO_WM_UNIT_COLOR_SCHEME_SHAPE_ID" val="9"/>
  <p:tag name="KSO_WM_UNIT_COLOR_SCHEME_PARENT_PAGE" val="0_1"/>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6585_1*i*9"/>
  <p:tag name="KSO_WM_TEMPLATE_CATEGORY" val="diagram"/>
  <p:tag name="KSO_WM_TEMPLATE_INDEX" val="20196585"/>
  <p:tag name="KSO_WM_UNIT_LAYERLEVEL" val="1"/>
  <p:tag name="KSO_WM_TAG_VERSION" val="1.0"/>
  <p:tag name="KSO_WM_BEAUTIFY_FLAG" val="#wm#"/>
  <p:tag name="KSO_WM_UNIT_COLOR_SCHEME_SHAPE_ID" val="10"/>
  <p:tag name="KSO_WM_UNIT_COLOR_SCHEME_PARENT_PAGE" val="0_1"/>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6.xml><?xml version="1.0" encoding="utf-8"?>
<p:tagLst xmlns:p="http://schemas.openxmlformats.org/presentationml/2006/main">
  <p:tag name="KSO_WM_UNIT_TEXT_PART_ID_V2" val="d-9-2"/>
  <p:tag name="KSO_WM_UNIT_PRESET_TEXT" val="点击此处添加正文，文字是您思想的提炼，为了最终呈现发布的良好效果，请尽量言简意赅的阐述观点。"/>
  <p:tag name="KSO_WM_UNIT_NOCLEAR" val="0"/>
  <p:tag name="KSO_WM_UNIT_VALUE" val="62"/>
  <p:tag name="KSO_WM_UNIT_HIGHLIGHT" val="0"/>
  <p:tag name="KSO_WM_UNIT_COMPATIBLE" val="0"/>
  <p:tag name="KSO_WM_UNIT_DIAGRAM_ISNUMVISUAL" val="0"/>
  <p:tag name="KSO_WM_UNIT_DIAGRAM_ISREFERUNIT" val="0"/>
  <p:tag name="KSO_WM_UNIT_TYPE" val="f"/>
  <p:tag name="KSO_WM_UNIT_INDEX" val="1"/>
  <p:tag name="KSO_WM_UNIT_ID" val="diagram20196585_1*f*1"/>
  <p:tag name="KSO_WM_TEMPLATE_CATEGORY" val="diagram"/>
  <p:tag name="KSO_WM_TEMPLATE_INDEX" val="20196585"/>
  <p:tag name="KSO_WM_UNIT_LAYERLEVEL" val="1"/>
  <p:tag name="KSO_WM_TAG_VERSION" val="1.0"/>
  <p:tag name="KSO_WM_BEAUTIFY_FLAG" val="#wm#"/>
  <p:tag name="KSO_WM_UNIT_COLOR_SCHEME_SHAPE_ID" val="18"/>
  <p:tag name="KSO_WM_UNIT_COLOR_SCHEME_PARENT_PAGE" val="0_1"/>
  <p:tag name="KSO_WM_UNIT_TEXT_FILL_FORE_SCHEMECOLOR_INDEX_BRIGHTNESS" val="0"/>
  <p:tag name="KSO_WM_UNIT_TEXT_FILL_FORE_SCHEMECOLOR_INDEX" val="13"/>
  <p:tag name="KSO_WM_UNIT_TEXT_FILL_TYPE" val="1"/>
</p:tagLst>
</file>

<file path=ppt/tags/tag127.xml><?xml version="1.0" encoding="utf-8"?>
<p:tagLst xmlns:p="http://schemas.openxmlformats.org/presentationml/2006/main">
  <p:tag name="KSO_WM_UNIT_TEXT_PART_ID_V2" val="d-4-2"/>
  <p:tag name="KSO_WM_UNIT_PRESET_TEXT" val="单击此处添加小标题：&#13;点击此处添加正文，文字是您思想的提炼，为了最终呈现发布的良好效果，请言简意赅的阐述观点。&#13;单击此处添加小标题：&#13;您的正文已经字字珠玑，但信息却千丝万缕，需要用更多的文字来表述；但请您尽可能提炼思想的精髓。&#13;单击此处添加小标题：&#13;为了能让您有更直观的字数感受，并进一步方便使用，我们为您标注了最适合的位置。"/>
  <p:tag name="KSO_WM_UNIT_NOCLEAR" val="1"/>
  <p:tag name="KSO_WM_UNIT_VALUE" val="416"/>
  <p:tag name="KSO_WM_UNIT_HIGHLIGHT" val="0"/>
  <p:tag name="KSO_WM_UNIT_COMPATIBLE" val="0"/>
  <p:tag name="KSO_WM_UNIT_DIAGRAM_ISNUMVISUAL" val="0"/>
  <p:tag name="KSO_WM_UNIT_DIAGRAM_ISREFERUNIT" val="0"/>
  <p:tag name="KSO_WM_UNIT_TYPE" val="f"/>
  <p:tag name="KSO_WM_UNIT_INDEX" val="2"/>
  <p:tag name="KSO_WM_UNIT_ID" val="diagram20196585_1*f*2"/>
  <p:tag name="KSO_WM_TEMPLATE_CATEGORY" val="diagram"/>
  <p:tag name="KSO_WM_TEMPLATE_INDEX" val="20196585"/>
  <p:tag name="KSO_WM_UNIT_LAYERLEVEL" val="1"/>
  <p:tag name="KSO_WM_TAG_VERSION" val="1.0"/>
  <p:tag name="KSO_WM_BEAUTIFY_FLAG" val="#wm#"/>
  <p:tag name="KSO_WM_UNIT_COLOR_SCHEME_SHAPE_ID" val="21"/>
  <p:tag name="KSO_WM_UNIT_COLOR_SCHEME_PARENT_PAGE" val="0_1"/>
  <p:tag name="KSO_WM_UNIT_TEXT_FILL_FORE_SCHEMECOLOR_INDEX_BRIGHTNESS" val="0"/>
  <p:tag name="KSO_WM_UNIT_TEXT_FILL_FORE_SCHEMECOLOR_INDEX" val="13"/>
  <p:tag name="KSO_WM_UNIT_TEXT_FILL_TYPE" val="1"/>
</p:tagLst>
</file>

<file path=ppt/tags/tag128.xml><?xml version="1.0" encoding="utf-8"?>
<p:tagLst xmlns:p="http://schemas.openxmlformats.org/presentationml/2006/main">
  <p:tag name="KSO_WM_SLIDE_ID" val="diagram20196585_1"/>
  <p:tag name="KSO_WM_TEMPLATE_SUBCATEGORY" val="0"/>
  <p:tag name="KSO_WM_SLIDE_ITEM_CNT" val="0"/>
  <p:tag name="KSO_WM_SLIDE_INDEX" val="1"/>
  <p:tag name="KSO_WM_TAG_VERSION" val="1.0"/>
  <p:tag name="KSO_WM_BEAUTIFY_FLAG" val="#wm#"/>
  <p:tag name="KSO_WM_TEMPLATE_CATEGORY" val="diagram"/>
  <p:tag name="KSO_WM_TEMPLATE_INDEX" val="20196585"/>
  <p:tag name="KSO_WM_SLIDE_LAYOUT" val="f"/>
  <p:tag name="KSO_WM_SLIDE_LAYOUT_CNT" val="2"/>
  <p:tag name="KSO_WM_SLIDE_TYPE" val="text"/>
  <p:tag name="KSO_WM_SLIDE_SUBTYPE" val="pureTxt"/>
  <p:tag name="KSO_WM_SLIDE_SIZE" val="959*452"/>
  <p:tag name="KSO_WM_SLIDE_POSITION" val="0*88"/>
  <p:tag name="KSO_WM_SLIDE_COLORSCHEME_VERSION" val="3.2"/>
  <p:tag name="KSO_WM_TEMPLATE_MASTER_TYPE" val="0"/>
  <p:tag name="KSO_WM_TEMPLATE_COLOR_TYPE"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
  <p:tag name="KSO_WM_UNIT_ID" val="diagram20202576_1*i*1"/>
  <p:tag name="KSO_WM_TEMPLATE_CATEGORY" val="diagram"/>
  <p:tag name="KSO_WM_TEMPLATE_INDEX" val="20202576"/>
  <p:tag name="KSO_WM_UNIT_LAYERLEVEL" val="1"/>
  <p:tag name="KSO_WM_TAG_VERSION" val="1.0"/>
  <p:tag name="KSO_WM_BEAUTIFY_FLAG" val="#wm#"/>
  <p:tag name="KSO_WM_UNIT_FILL_FORE_SCHEMECOLOR_INDEX_BRIGHTNESS" val="-0.15"/>
  <p:tag name="KSO_WM_UNIT_FILL_FORE_SCHEMECOLOR_INDEX" val="16"/>
  <p:tag name="KSO_WM_UNIT_FILL_BACK_SCHEMECOLOR_INDEX_BRIGHTNESS" val="0"/>
  <p:tag name="KSO_WM_UNIT_FILL_BACK_SCHEMECOLOR_INDEX" val="16"/>
  <p:tag name="KSO_WM_UNIT_FILL_TYPE" val="2"/>
  <p:tag name="KSO_WM_UNIT_TEXT_FILL_FORE_SCHEMECOLOR_INDEX_BRIGHTNESS" val="0"/>
  <p:tag name="KSO_WM_UNIT_TEXT_FILL_FORE_SCHEMECOLOR_INDEX" val="14"/>
  <p:tag name="KSO_WM_UNIT_TEXT_FILL_TYPE"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2"/>
  <p:tag name="KSO_WM_UNIT_ID" val="diagram20202576_1*i*2"/>
  <p:tag name="KSO_WM_TEMPLATE_CATEGORY" val="diagram"/>
  <p:tag name="KSO_WM_TEMPLATE_INDEX" val="20202576"/>
  <p:tag name="KSO_WM_UNIT_LAYERLEVEL" val="1"/>
  <p:tag name="KSO_WM_TAG_VERSION" val="1.0"/>
  <p:tag name="KSO_WM_BEAUTIFY_FLAG" val="#wm#"/>
  <p:tag name="KSO_WM_UNIT_FILL_FORE_SCHEMECOLOR_INDEX_BRIGHTNESS" val="0"/>
  <p:tag name="KSO_WM_UNIT_FILL_FORE_SCHEMECOLOR_INDEX" val="16"/>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4"/>
  <p:tag name="KSO_WM_UNIT_TEXT_FILL_TYPE"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3"/>
  <p:tag name="KSO_WM_UNIT_ID" val="diagram20202576_1*i*3"/>
  <p:tag name="KSO_WM_TEMPLATE_CATEGORY" val="diagram"/>
  <p:tag name="KSO_WM_TEMPLATE_INDEX" val="20202576"/>
  <p:tag name="KSO_WM_UNIT_LAYERLEVEL" val="1"/>
  <p:tag name="KSO_WM_TAG_VERSION" val="1.0"/>
  <p:tag name="KSO_WM_BEAUTIFY_FLAG" val="#wm#"/>
  <p:tag name="KSO_WM_UNIT_LINE_FORE_SCHEMECOLOR_INDEX_BRIGHTNESS" val="0.4"/>
  <p:tag name="KSO_WM_UNIT_LINE_FORE_SCHEMECOLOR_INDEX" val="5"/>
  <p:tag name="KSO_WM_UNIT_LINE_FILL_TYPE" val="2"/>
  <p:tag name="KSO_WM_UNIT_TEXT_FILL_FORE_SCHEMECOLOR_INDEX_BRIGHTNESS" val="0"/>
  <p:tag name="KSO_WM_UNIT_TEXT_FILL_FORE_SCHEMECOLOR_INDEX" val="14"/>
  <p:tag name="KSO_WM_UNIT_TEXT_FILL_TYPE"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4"/>
  <p:tag name="KSO_WM_UNIT_ID" val="diagram20202576_1*i*4"/>
  <p:tag name="KSO_WM_TEMPLATE_CATEGORY" val="diagram"/>
  <p:tag name="KSO_WM_TEMPLATE_INDEX" val="20202576"/>
  <p:tag name="KSO_WM_UNIT_LAYERLEVEL" val="1"/>
  <p:tag name="KSO_WM_TAG_VERSION" val="1.0"/>
  <p:tag name="KSO_WM_BEAUTIFY_FLAG" val="#wm#"/>
  <p:tag name="KSO_WM_UNIT_LINE_FORE_SCHEMECOLOR_INDEX_BRIGHTNESS" val="0.6"/>
  <p:tag name="KSO_WM_UNIT_LINE_FORE_SCHEMECOLOR_INDEX" val="5"/>
  <p:tag name="KSO_WM_UNIT_LINE_FILL_TYPE" val="2"/>
  <p:tag name="KSO_WM_UNIT_TEXT_FILL_FORE_SCHEMECOLOR_INDEX_BRIGHTNESS" val="0"/>
  <p:tag name="KSO_WM_UNIT_TEXT_FILL_FORE_SCHEMECOLOR_INDEX" val="14"/>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5"/>
  <p:tag name="KSO_WM_UNIT_ID" val="diagram20202576_1*i*5"/>
  <p:tag name="KSO_WM_TEMPLATE_CATEGORY" val="diagram"/>
  <p:tag name="KSO_WM_TEMPLATE_INDEX" val="20202576"/>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6"/>
  <p:tag name="KSO_WM_UNIT_ID" val="diagram20202576_1*i*6"/>
  <p:tag name="KSO_WM_TEMPLATE_CATEGORY" val="diagram"/>
  <p:tag name="KSO_WM_TEMPLATE_INDEX" val="20202576"/>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7"/>
  <p:tag name="KSO_WM_UNIT_ID" val="diagram20202576_1*i*7"/>
  <p:tag name="KSO_WM_TEMPLATE_CATEGORY" val="diagram"/>
  <p:tag name="KSO_WM_TEMPLATE_INDEX" val="20202576"/>
  <p:tag name="KSO_WM_UNIT_LAYERLEVEL" val="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36.xml><?xml version="1.0" encoding="utf-8"?>
<p:tagLst xmlns:p="http://schemas.openxmlformats.org/presentationml/2006/main">
  <p:tag name="KSO_WM_UNIT_TEXT_PART_ID_V2" val="d-3-1"/>
  <p:tag name="KSO_WM_UNIT_PRESET_TEXT" val="单击此处添加小标题&#13;点击此处添加正文，文字是您思想的提炼，为了最终呈现发布的良好效果，请尽量言简意赅的阐述观点；根据需要可酌情增减文字，以便观者可以准确理解您所传达的信息。"/>
  <p:tag name="KSO_WM_UNIT_NOCLEAR" val="1"/>
  <p:tag name="KSO_WM_UNIT_SHOW_EDIT_AREA_INDICATION" val="0"/>
  <p:tag name="KSO_WM_UNIT_VALUE" val="156"/>
  <p:tag name="KSO_WM_UNIT_HIGHLIGHT" val="0"/>
  <p:tag name="KSO_WM_UNIT_COMPATIBLE" val="0"/>
  <p:tag name="KSO_WM_UNIT_DIAGRAM_ISNUMVISUAL" val="0"/>
  <p:tag name="KSO_WM_UNIT_DIAGRAM_IS_NEED_ADD_PATH_ANIM" val="0"/>
  <p:tag name="KSO_WM_UNIT_DIAGRAM_ISREFERUNIT" val="0"/>
  <p:tag name="KSO_WM_UNIT_TYPE" val="f"/>
  <p:tag name="KSO_WM_UNIT_INDEX" val="1"/>
  <p:tag name="KSO_WM_UNIT_ID" val="diagram20202576_1*f*1"/>
  <p:tag name="KSO_WM_TEMPLATE_CATEGORY" val="diagram"/>
  <p:tag name="KSO_WM_TEMPLATE_INDEX" val="20202576"/>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37.xml><?xml version="1.0" encoding="utf-8"?>
<p:tagLst xmlns:p="http://schemas.openxmlformats.org/presentationml/2006/main">
  <p:tag name="KSO_WM_UNIT_TEXT_PART_ID_V2" val="d-3-1"/>
  <p:tag name="KSO_WM_UNIT_PRESET_TEXT" val="单击此处添加小标题&#13;点击此处添加正文，文字是您思想的提炼，为了最终呈现发布的良好效果，请尽量言简意赅的阐述观点；根据需要可酌情增减文字。&#13;您的正文已经字字珠玑，但信息却千丝万缕，需要用更多的文字来表达&#13;但请您尽可能提炼思想的精髓&#13;恰如其分的表达观点，往往事半功倍&#13;为了能让您有更直观的字数感受，并进一步方便使用，我们为您标注了最适合的位置。您输入的文字到这里时，就是最佳视觉效果。"/>
  <p:tag name="KSO_WM_UNIT_NOCLEAR" val="1"/>
  <p:tag name="KSO_WM_UNIT_SHOW_EDIT_AREA_INDICATION" val="0"/>
  <p:tag name="KSO_WM_UNIT_VALUE" val="351"/>
  <p:tag name="KSO_WM_UNIT_HIGHLIGHT" val="0"/>
  <p:tag name="KSO_WM_UNIT_COMPATIBLE" val="0"/>
  <p:tag name="KSO_WM_UNIT_DIAGRAM_ISNUMVISUAL" val="0"/>
  <p:tag name="KSO_WM_UNIT_DIAGRAM_IS_NEED_ADD_PATH_ANIM" val="0"/>
  <p:tag name="KSO_WM_UNIT_DIAGRAM_ISREFERUNIT" val="0"/>
  <p:tag name="KSO_WM_UNIT_TYPE" val="f"/>
  <p:tag name="KSO_WM_UNIT_INDEX" val="2"/>
  <p:tag name="KSO_WM_UNIT_ID" val="diagram20202576_1*f*2"/>
  <p:tag name="KSO_WM_TEMPLATE_CATEGORY" val="diagram"/>
  <p:tag name="KSO_WM_TEMPLATE_INDEX" val="20202576"/>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8"/>
  <p:tag name="KSO_WM_UNIT_ID" val="diagram20202576_1*i*8"/>
  <p:tag name="KSO_WM_TEMPLATE_CATEGORY" val="diagram"/>
  <p:tag name="KSO_WM_TEMPLATE_INDEX" val="20202576"/>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9"/>
  <p:tag name="KSO_WM_UNIT_ID" val="diagram20202576_1*i*9"/>
  <p:tag name="KSO_WM_TEMPLATE_CATEGORY" val="diagram"/>
  <p:tag name="KSO_WM_TEMPLATE_INDEX" val="20202576"/>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0"/>
  <p:tag name="KSO_WM_UNIT_ID" val="diagram20202576_1*i*10"/>
  <p:tag name="KSO_WM_TEMPLATE_CATEGORY" val="diagram"/>
  <p:tag name="KSO_WM_TEMPLATE_INDEX" val="20202576"/>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1"/>
  <p:tag name="KSO_WM_UNIT_ID" val="diagram20202576_1*i*11"/>
  <p:tag name="KSO_WM_TEMPLATE_CATEGORY" val="diagram"/>
  <p:tag name="KSO_WM_TEMPLATE_INDEX" val="20202576"/>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2"/>
  <p:tag name="KSO_WM_UNIT_ID" val="diagram20202576_1*i*12"/>
  <p:tag name="KSO_WM_TEMPLATE_CATEGORY" val="diagram"/>
  <p:tag name="KSO_WM_TEMPLATE_INDEX" val="20202576"/>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3"/>
  <p:tag name="KSO_WM_UNIT_ID" val="diagram20202576_1*i*13"/>
  <p:tag name="KSO_WM_TEMPLATE_CATEGORY" val="diagram"/>
  <p:tag name="KSO_WM_TEMPLATE_INDEX" val="20202576"/>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4"/>
  <p:tag name="KSO_WM_UNIT_ID" val="diagram20202576_1*i*14"/>
  <p:tag name="KSO_WM_TEMPLATE_CATEGORY" val="diagram"/>
  <p:tag name="KSO_WM_TEMPLATE_INDEX" val="20202576"/>
  <p:tag name="KSO_WM_UNIT_LAYERLEVEL" val="1"/>
  <p:tag name="KSO_WM_TAG_VERSION" val="1.0"/>
  <p:tag name="KSO_WM_BEAUTIFY_FLAG" val="#wm#"/>
  <p:tag name="KSO_WM_UNIT_LINE_FORE_SCHEMECOLOR_INDEX_BRIGHTNESS" val="-0.15"/>
  <p:tag name="KSO_WM_UNIT_LINE_FORE_SCHEMECOLOR_INDEX" val="14"/>
  <p:tag name="KSO_WM_UNIT_LINE_FILL_TYPE" val="2"/>
</p:tagLst>
</file>

<file path=ppt/tags/tag145.xml><?xml version="1.0" encoding="utf-8"?>
<p:tagLst xmlns:p="http://schemas.openxmlformats.org/presentationml/2006/main">
  <p:tag name="KSO_WM_BEAUTIFY_FLAG" val="#wm#"/>
  <p:tag name="KSO_WM_TEMPLATE_CATEGORY" val="diagram"/>
  <p:tag name="KSO_WM_TEMPLATE_INDEX" val="20202576"/>
  <p:tag name="KSO_WM_SLIDE_ID" val="diagram20202576_1"/>
  <p:tag name="KSO_WM_SLIDE_ITEM_CNT" val="0"/>
  <p:tag name="KSO_WM_SLIDE_INDEX" val="1"/>
  <p:tag name="KSO_WM_TAG_VERSION" val="1.0"/>
  <p:tag name="KSO_WM_SLIDE_TYPE" val="text"/>
  <p:tag name="KSO_WM_SLIDE_SUBTYPE" val="pureTxt"/>
  <p:tag name="KSO_WM_SLIDE_SIZE" val="960*540"/>
  <p:tag name="KSO_WM_SLIDE_POSITION" val="0*0"/>
  <p:tag name="KSO_WM_SLIDE_LAYOUT" val="f"/>
  <p:tag name="KSO_WM_SLIDE_LAYOUT_CNT" val="2"/>
  <p:tag name="KSO_WM_TEMPLATE_SUBCATEGORY" val="0"/>
  <p:tag name="KSO_WM_TEMPLATE_MASTER_TYPE" val="0"/>
  <p:tag name="KSO_WM_TEMPLATE_COLOR_TYPE" val="0"/>
  <p:tag name="KSO_WM_TEMPLATE_MASTER_THUMB_INDEX" val="0"/>
  <p:tag name="KSO_WM_UNIT_SHOW_EDIT_AREA_INDICATION" val="0"/>
</p:tagLst>
</file>

<file path=ppt/tags/tag14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m1-1"/>
  <p:tag name="KSO_WM_UNIT_TYPE" val="a"/>
  <p:tag name="KSO_WM_UNIT_INDEX" val="1"/>
  <p:tag name="KSO_WM_UNIT_ID" val="diagram20231459_4*a*1"/>
  <p:tag name="KSO_WM_TEMPLATE_CATEGORY" val="diagram"/>
  <p:tag name="KSO_WM_TEMPLATE_INDEX" val="20231459"/>
  <p:tag name="KSO_WM_UNIT_LAYERLEVEL" val="1"/>
  <p:tag name="KSO_WM_TAG_VERSION" val="3.0"/>
  <p:tag name="KSO_WM_BEAUTIFY_FLAG" val="#wm#"/>
  <p:tag name="KSO_WM_UNIT_PRESET_TEXT" val="单击此处添加标题"/>
</p:tagLst>
</file>

<file path=ppt/tags/tag14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20231459_4*m_h_i*1_4_1"/>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14,&quot;transparency&quot;:1},&quot;type&quot;:1},&quot;glow&quot;:{&quot;colorType&quot;:0},&quot;line&quot;:{&quot;gradient&quot;:[{&quot;brightness&quot;:0,&quot;colorType&quot;:1,&quot;foreColorIndex&quot;:5,&quot;pos&quot;:0,&quot;transparency&quot;:0},{&quot;brightness&quot;:0,&quot;colorType&quot;:1,&quot;foreColorIndex&quot;:5,&quot;pos&quot;:0.800000011920929,&quot;transparency&quot;:1}],&quot;type&quot;:2},&quot;shadow&quot;:{&quot;colorType&quot;:0},&quot;threeD&quot;:{&quot;curvedSurface&quot;:{&quot;brightness&quot;:0,&quot;colorType&quot;:2,&quot;rgb&quot;:&quot;#000000&quot;},&quot;depth&quot;:{&quot;colorType&quot;:0}}},&quot;text&quot;:{&quot;fill&quot;:{&quot;solid&quot;:{&quot;brightness&quot;:0.25,&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Lst>
</file>

<file path=ppt/tags/tag14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31459_4*m_h_i*1_2_1"/>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14,&quot;transparency&quot;:1},&quot;type&quot;:1},&quot;glow&quot;:{&quot;colorType&quot;:0},&quot;line&quot;:{&quot;gradient&quot;:[{&quot;brightness&quot;:0,&quot;colorType&quot;:1,&quot;foreColorIndex&quot;:5,&quot;pos&quot;:0,&quot;transparency&quot;:0},{&quot;brightness&quot;:0,&quot;colorType&quot;:1,&quot;foreColorIndex&quot;:5,&quot;pos&quot;:0.800000011920929,&quot;transparency&quot;:1}],&quot;type&quot;:2},&quot;shadow&quot;:{&quot;colorType&quot;:0},&quot;threeD&quot;:{&quot;curvedSurface&quot;:{&quot;brightness&quot;:0,&quot;colorType&quot;:2,&quot;rgb&quot;:&quot;#000000&quot;},&quot;depth&quot;:{&quot;colorType&quot;:0}}},&quot;text&quot;:{&quot;fill&quot;:{&quot;solid&quot;:{&quot;brightness&quot;:0.25,&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Lst>
</file>

<file path=ppt/tags/tag14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31459_4*m_h_i*1_1_2"/>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5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diagram20231459_4*m_h_i*1_1_4"/>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Lst>
</file>

<file path=ppt/tags/tag15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31459_4*m_h_i*1_1_1"/>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14,&quot;transparency&quot;:1},&quot;type&quot;:1},&quot;glow&quot;:{&quot;colorType&quot;:0},&quot;line&quot;:{&quot;gradient&quot;:[{&quot;brightness&quot;:0,&quot;colorType&quot;:1,&quot;foreColorIndex&quot;:5,&quot;pos&quot;:0,&quot;transparency&quot;:0},{&quot;brightness&quot;:0,&quot;colorType&quot;:1,&quot;foreColorIndex&quot;:5,&quot;pos&quot;:0.800000011920929,&quot;transparency&quot;:1}],&quot;type&quot;:2},&quot;shadow&quot;:{&quot;colorType&quot;:0},&quot;threeD&quot;:{&quot;curvedSurface&quot;:{&quot;brightness&quot;:0,&quot;colorType&quot;:2,&quot;rgb&quot;:&quot;#000000&quot;},&quot;depth&quot;:{&quot;colorType&quot;:0}}},&quot;text&quot;:{&quot;fill&quot;:{&quot;solid&quot;:{&quot;brightness&quot;:0.25,&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Lst>
</file>

<file path=ppt/tags/tag15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1459_4*m_h_i*1_1_3"/>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15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1459_4*m_h_f*1_1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项正文，文字是您思想的提炼，请尽量言简意赅的阐述"/>
</p:tagLst>
</file>

<file path=ppt/tags/tag15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1459_4*m_h_a*1_1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项标题"/>
</p:tagLst>
</file>

<file path=ppt/tags/tag15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1459_4*m_h_i*1_2_2"/>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5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4"/>
  <p:tag name="KSO_WM_UNIT_ID" val="diagram20231459_4*m_h_i*1_2_4"/>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Lst>
</file>

<file path=ppt/tags/tag15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31459_4*m_h_i*1_2_3"/>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15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1459_4*m_h_f*1_2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项正文，文字是您思想的提炼，请尽量言简意赅的阐述"/>
</p:tagLst>
</file>

<file path=ppt/tags/tag15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1459_4*m_h_a*1_2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项标题"/>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59_4*m_i*1_1"/>
  <p:tag name="KSO_WM_TEMPLATE_CATEGORY" val="diagram"/>
  <p:tag name="KSO_WM_TEMPLATE_INDEX" val="20231459"/>
  <p:tag name="KSO_WM_UNIT_LAYERLEVEL" val="1_1"/>
  <p:tag name="KSO_WM_TAG_VERSION" val="3.0"/>
  <p:tag name="KSO_WM_BEAUTIFY_FLAG" val="#wm#"/>
  <p:tag name="KSO_WM_DIAGRAM_VERSION" val="3"/>
  <p:tag name="KSO_WM_DIAGRAM_COLOR_TRICK" val="1"/>
  <p:tag name="KSO_WM_DIAGRAM_COLOR_TEXT_CAN_REMOVE" val="n"/>
  <p:tag name="KSO_WM_DIAGRAM_GROUP_CODE" val="m1-1"/>
  <p:tag name="KSO_WM_UNIT_TYPE" val="m_i"/>
  <p:tag name="KSO_WM_UNIT_INDEX" val="1_1"/>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400000214576721,&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16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31459_4*m_h_i*1_3_2"/>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6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4"/>
  <p:tag name="KSO_WM_UNIT_ID" val="diagram20231459_4*m_h_i*1_3_4"/>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Lst>
</file>

<file path=ppt/tags/tag16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31459_4*m_h_i*1_3_1"/>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14,&quot;transparency&quot;:1},&quot;type&quot;:1},&quot;glow&quot;:{&quot;colorType&quot;:0},&quot;line&quot;:{&quot;gradient&quot;:[{&quot;brightness&quot;:0,&quot;colorType&quot;:1,&quot;foreColorIndex&quot;:5,&quot;pos&quot;:0,&quot;transparency&quot;:0},{&quot;brightness&quot;:0,&quot;colorType&quot;:1,&quot;foreColorIndex&quot;:5,&quot;pos&quot;:0.800000011920929,&quot;transparency&quot;:1}],&quot;type&quot;:2},&quot;shadow&quot;:{&quot;colorType&quot;:0},&quot;threeD&quot;:{&quot;curvedSurface&quot;:{&quot;brightness&quot;:0,&quot;colorType&quot;:2,&quot;rgb&quot;:&quot;#000000&quot;},&quot;depth&quot;:{&quot;colorType&quot;:0}}},&quot;text&quot;:{&quot;fill&quot;:{&quot;solid&quot;:{&quot;brightness&quot;:0.25,&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Lst>
</file>

<file path=ppt/tags/tag16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31459_4*m_h_i*1_3_3"/>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16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1459_4*m_h_f*1_3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项正文，文字是您思想的提炼，请尽量言简意赅的阐述"/>
</p:tagLst>
</file>

<file path=ppt/tags/tag16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3_1"/>
  <p:tag name="KSO_WM_UNIT_ID" val="diagram20231459_4*m_h_a*1_3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项标题"/>
</p:tagLst>
</file>

<file path=ppt/tags/tag16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5_2"/>
  <p:tag name="KSO_WM_UNIT_ID" val="diagram20231459_4*m_h_i*1_5_2"/>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6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5_4"/>
  <p:tag name="KSO_WM_UNIT_ID" val="diagram20231459_4*m_h_i*1_5_4"/>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Lst>
</file>

<file path=ppt/tags/tag16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5_1"/>
  <p:tag name="KSO_WM_UNIT_ID" val="diagram20231459_4*m_h_i*1_5_1"/>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14,&quot;transparency&quot;:1},&quot;type&quot;:1},&quot;glow&quot;:{&quot;colorType&quot;:0},&quot;line&quot;:{&quot;gradient&quot;:[{&quot;brightness&quot;:0,&quot;colorType&quot;:1,&quot;foreColorIndex&quot;:5,&quot;pos&quot;:0,&quot;transparency&quot;:0},{&quot;brightness&quot;:0,&quot;colorType&quot;:1,&quot;foreColorIndex&quot;:5,&quot;pos&quot;:0.800000011920929,&quot;transparency&quot;:1}],&quot;type&quot;:2},&quot;shadow&quot;:{&quot;colorType&quot;:0},&quot;threeD&quot;:{&quot;curvedSurface&quot;:{&quot;brightness&quot;:0,&quot;colorType&quot;:2,&quot;rgb&quot;:&quot;#000000&quot;},&quot;depth&quot;:{&quot;colorType&quot;:0}}},&quot;text&quot;:{&quot;fill&quot;:{&quot;solid&quot;:{&quot;brightness&quot;:0.25,&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Lst>
</file>

<file path=ppt/tags/tag17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5_3"/>
  <p:tag name="KSO_WM_UNIT_ID" val="diagram20231459_4*m_h_i*1_5_3"/>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17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5_1"/>
  <p:tag name="KSO_WM_UNIT_ID" val="diagram20231459_4*m_h_f*1_5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项正文，文字是您思想的提炼，请尽量言简意赅的阐述"/>
</p:tagLst>
</file>

<file path=ppt/tags/tag17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5_1"/>
  <p:tag name="KSO_WM_UNIT_ID" val="diagram20231459_4*m_h_a*1_5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项标题"/>
</p:tagLst>
</file>

<file path=ppt/tags/tag17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4_2"/>
  <p:tag name="KSO_WM_UNIT_ID" val="diagram20231459_4*m_h_i*1_4_2"/>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7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4_4"/>
  <p:tag name="KSO_WM_UNIT_ID" val="diagram20231459_4*m_h_i*1_4_4"/>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Lst>
</file>

<file path=ppt/tags/tag17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4_3"/>
  <p:tag name="KSO_WM_UNIT_ID" val="diagram20231459_4*m_h_i*1_4_3"/>
  <p:tag name="KSO_WM_TEMPLATE_CATEGORY" val="diagram"/>
  <p:tag name="KSO_WM_TEMPLATE_INDEX" val="20231459"/>
  <p:tag name="KSO_WM_UNIT_LAYERLEVEL" val="1_1_1"/>
  <p:tag name="KSO_WM_TAG_VERSION" val="3.0"/>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17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4_1"/>
  <p:tag name="KSO_WM_UNIT_ID" val="diagram20231459_4*m_h_f*1_4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项正文，文字是您思想的提炼，请尽量言简意赅的阐述"/>
</p:tagLst>
</file>

<file path=ppt/tags/tag17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4_1"/>
  <p:tag name="KSO_WM_UNIT_ID" val="diagram20231459_4*m_h_a*1_4_1"/>
  <p:tag name="KSO_WM_TEMPLATE_CATEGORY" val="diagram"/>
  <p:tag name="KSO_WM_TEMPLATE_INDEX" val="20231459"/>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m1-1"/>
  <p:tag name="KSO_WM_BEAUTIFY_FLAG" val="#wm#"/>
  <p:tag name="KSO_WM_DIAGRAM_MAX_ITEMCNT" val="6"/>
  <p:tag name="KSO_WM_DIAGRAM_MIN_ITEMCNT" val="2"/>
  <p:tag name="KSO_WM_DIAGRAM_VIRTUALLY_FRAME" val="{&quot;height&quot;:380.28558349609375,&quot;left&quot;:54.95,&quot;top&quot;:105.7968145511657,&quot;width&quot;:850.393700787401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添加项标题"/>
</p:tagLst>
</file>

<file path=ppt/tags/tag178.xml><?xml version="1.0" encoding="utf-8"?>
<p:tagLst xmlns:p="http://schemas.openxmlformats.org/presentationml/2006/main">
  <p:tag name="KSO_WM_SLIDE_ID" val="diagram20231459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459"/>
  <p:tag name="KSO_WM_SLIDE_TYPE" val="text"/>
  <p:tag name="KSO_WM_SLIDE_SUBTYPE" val="diag"/>
  <p:tag name="KSO_WM_SLIDE_SIZE" val="850.394*379.121"/>
  <p:tag name="KSO_WM_SLIDE_POSITION" val="54.95*106.379"/>
  <p:tag name="KSO_WM_SLIDE_LAYOUT" val="a_m"/>
  <p:tag name="KSO_WM_SLIDE_LAYOUT_CNT" val="1_1"/>
  <p:tag name="KSO_WM_SPECIAL_SOURCE" val="bdnull"/>
  <p:tag name="KSO_WM_DIAGRAM_GROUP_CODE" val="m1-1"/>
  <p:tag name="KSO_WM_SLIDE_DIAGTYPE" val="m"/>
</p:tagLst>
</file>

<file path=ppt/tags/tag179.xml><?xml version="1.0" encoding="utf-8"?>
<p:tagLst xmlns:p="http://schemas.openxmlformats.org/presentationml/2006/main">
  <p:tag name="KSO_WM_BEAUTIFY_FLAG" val="#wm#"/>
  <p:tag name="KSO_WM_TEMPLATE_CATEGORY" val="custom"/>
  <p:tag name="KSO_WM_TEMPLATE_INDEX" val="20184553"/>
</p:tagLst>
</file>

<file path=ppt/tags/tag180.xml><?xml version="1.0" encoding="utf-8"?>
<p:tagLst xmlns:p="http://schemas.openxmlformats.org/presentationml/2006/main">
  <p:tag name="KSO_WM_BEAUTIFY_FLAG" val="#wm#"/>
  <p:tag name="KSO_WM_TEMPLATE_CATEGORY" val="custom"/>
  <p:tag name="KSO_WM_TEMPLATE_INDEX" val="20184553"/>
</p:tagLst>
</file>

<file path=ppt/tags/tag181.xml><?xml version="1.0" encoding="utf-8"?>
<p:tagLst xmlns:p="http://schemas.openxmlformats.org/presentationml/2006/main">
  <p:tag name="KSO_WM_BEAUTIFY_FLAG" val="#wm#"/>
  <p:tag name="KSO_WM_TEMPLATE_CATEGORY" val="custom"/>
  <p:tag name="KSO_WM_TEMPLATE_INDEX" val="20184553"/>
</p:tagLst>
</file>

<file path=ppt/tags/tag182.xml><?xml version="1.0" encoding="utf-8"?>
<p:tagLst xmlns:p="http://schemas.openxmlformats.org/presentationml/2006/main">
  <p:tag name="KSO_WM_BEAUTIFY_FLAG" val="#wm#"/>
  <p:tag name="KSO_WM_TEMPLATE_CATEGORY" val="custom"/>
  <p:tag name="KSO_WM_TEMPLATE_INDEX" val="20184553"/>
</p:tagLst>
</file>

<file path=ppt/tags/tag183.xml><?xml version="1.0" encoding="utf-8"?>
<p:tagLst xmlns:p="http://schemas.openxmlformats.org/presentationml/2006/main">
  <p:tag name="KSO_WM_BEAUTIFY_FLAG" val="#wm#"/>
  <p:tag name="KSO_WM_TEMPLATE_CATEGORY" val="custom"/>
  <p:tag name="KSO_WM_TEMPLATE_INDEX" val="20184553"/>
</p:tagLst>
</file>

<file path=ppt/tags/tag184.xml><?xml version="1.0" encoding="utf-8"?>
<p:tagLst xmlns:p="http://schemas.openxmlformats.org/presentationml/2006/main">
  <p:tag name="KSO_WM_BEAUTIFY_FLAG" val="#wm#"/>
  <p:tag name="KSO_WM_TEMPLATE_CATEGORY" val="custom"/>
  <p:tag name="KSO_WM_TEMPLATE_INDEX" val="20184553"/>
</p:tagLst>
</file>

<file path=ppt/tags/tag185.xml><?xml version="1.0" encoding="utf-8"?>
<p:tagLst xmlns:p="http://schemas.openxmlformats.org/presentationml/2006/main">
  <p:tag name="KSO_WM_BEAUTIFY_FLAG" val="#wm#"/>
  <p:tag name="KSO_WM_TEMPLATE_CATEGORY" val="custom"/>
  <p:tag name="KSO_WM_TEMPLATE_INDEX" val="20184553"/>
</p:tagLst>
</file>

<file path=ppt/tags/tag186.xml><?xml version="1.0" encoding="utf-8"?>
<p:tagLst xmlns:p="http://schemas.openxmlformats.org/presentationml/2006/main">
  <p:tag name="KSO_WM_BEAUTIFY_FLAG" val="#wm#"/>
  <p:tag name="KSO_WM_TEMPLATE_CATEGORY" val="custom"/>
  <p:tag name="KSO_WM_TEMPLATE_INDEX" val="20184553"/>
</p:tagLst>
</file>

<file path=ppt/tags/tag187.xml><?xml version="1.0" encoding="utf-8"?>
<p:tagLst xmlns:p="http://schemas.openxmlformats.org/presentationml/2006/main">
  <p:tag name="KSO_WM_BEAUTIFY_FLAG" val="#wm#"/>
  <p:tag name="KSO_WM_TEMPLATE_CATEGORY" val="custom"/>
  <p:tag name="KSO_WM_TEMPLATE_INDEX" val="20184651"/>
</p:tagLst>
</file>

<file path=ppt/tags/tag188.xml><?xml version="1.0" encoding="utf-8"?>
<p:tagLst xmlns:p="http://schemas.openxmlformats.org/presentationml/2006/main">
  <p:tag name="commondata" val="eyJoZGlkIjoiMWVlZjdhZWRjNmZlYmYwNmU0MGQ1YzU4NGM4MjkzODUifQ=="/>
  <p:tag name="resource_record_key" val="{&quot;13&quot;:[4532414]}"/>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7580</Words>
  <Application>WPS 演示</Application>
  <PresentationFormat>宽屏</PresentationFormat>
  <Paragraphs>643</Paragraphs>
  <Slides>42</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42</vt:i4>
      </vt:variant>
    </vt:vector>
  </HeadingPairs>
  <TitlesOfParts>
    <vt:vector size="57" baseType="lpstr">
      <vt:lpstr>Arial</vt:lpstr>
      <vt:lpstr>宋体</vt:lpstr>
      <vt:lpstr>Wingdings</vt:lpstr>
      <vt:lpstr>微软雅黑</vt:lpstr>
      <vt:lpstr>Arial Unicode MS</vt:lpstr>
      <vt:lpstr>Calibri</vt:lpstr>
      <vt:lpstr>汉仪雪君体繁</vt:lpstr>
      <vt:lpstr>WPS-Numbers</vt:lpstr>
      <vt:lpstr>Segoe Print</vt:lpstr>
      <vt:lpstr>Century Gothic</vt:lpstr>
      <vt:lpstr>Wingdings</vt:lpstr>
      <vt:lpstr>思源黑体 CN Normal</vt:lpstr>
      <vt:lpstr>思源黑体 CN Heavy</vt:lpstr>
      <vt:lpstr>黑体</vt:lpstr>
      <vt:lpstr>1_默认设计模板</vt:lpstr>
      <vt:lpstr>PowerPoint 演示文稿</vt:lpstr>
      <vt:lpstr>思维模式</vt:lpstr>
      <vt:lpstr>PowerPoint 演示文稿</vt:lpstr>
      <vt:lpstr>PowerPoint 演示文稿</vt:lpstr>
      <vt:lpstr>PowerPoint 演示文稿</vt:lpstr>
      <vt:lpstr>单击此处添加标题</vt:lpstr>
      <vt:lpstr>单击此处添加标题</vt:lpstr>
      <vt:lpstr>单击此处添加标题内容</vt:lpstr>
      <vt:lpstr>单击此处添加标题</vt:lpstr>
      <vt:lpstr>单击此处添加标题</vt:lpstr>
      <vt:lpstr>PowerPoint 演示文稿</vt:lpstr>
      <vt:lpstr>PowerPoint 演示文稿</vt:lpstr>
      <vt:lpstr>单击此处添加标题</vt:lpstr>
      <vt:lpstr>碰撞检测</vt:lpstr>
      <vt:lpstr>PowerPoint 演示文稿</vt:lpstr>
      <vt:lpstr>数值计算</vt:lpstr>
      <vt:lpstr>数值优化算法</vt:lpstr>
      <vt:lpstr>PowerPoint 演示文稿</vt:lpstr>
      <vt:lpstr>单击此处添加标题</vt:lpstr>
      <vt:lpstr>PowerPoint 演示文稿</vt:lpstr>
      <vt:lpstr>PowerPoint 演示文稿</vt:lpstr>
      <vt:lpstr>算法</vt:lpstr>
      <vt:lpstr>算法思维</vt:lpstr>
      <vt:lpstr>PowerPoint 演示文稿</vt:lpstr>
      <vt:lpstr>多项关键技术</vt:lpstr>
      <vt:lpstr>PowerPoint 演示文稿</vt:lpstr>
      <vt:lpstr>PowerPoint 演示文稿</vt:lpstr>
      <vt:lpstr>PowerPoint 演示文稿</vt:lpstr>
      <vt:lpstr>PowerPoint 演示文稿</vt:lpstr>
      <vt:lpstr>PowerPoint 演示文稿</vt:lpstr>
      <vt:lpstr>VR眼镜的实现：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WPS_1694577317</cp:lastModifiedBy>
  <cp:revision>38</cp:revision>
  <dcterms:created xsi:type="dcterms:W3CDTF">2019-04-18T14:16:00Z</dcterms:created>
  <dcterms:modified xsi:type="dcterms:W3CDTF">2024-03-16T14:07:00Z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30A37F1A9442416BBF913292EAADF558_12</vt:lpwstr>
  </property>
</Properties>
</file>