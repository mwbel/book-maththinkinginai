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5" r:id="rId5"/>
    <p:sldId id="266" r:id="rId6"/>
    <p:sldId id="267" r:id="rId7"/>
    <p:sldId id="269" r:id="rId8"/>
    <p:sldId id="270" r:id="rId9"/>
    <p:sldId id="273" r:id="rId10"/>
    <p:sldId id="274" r:id="rId11"/>
    <p:sldId id="275" r:id="rId12"/>
    <p:sldId id="276" r:id="rId13"/>
    <p:sldId id="277" r:id="rId14"/>
    <p:sldId id="278" r:id="rId15"/>
    <p:sldId id="279" r:id="rId16"/>
    <p:sldId id="280" r:id="rId17"/>
    <p:sldId id="281" r:id="rId18"/>
    <p:sldId id="282" r:id="rId19"/>
    <p:sldId id="283" r:id="rId20"/>
    <p:sldId id="271" r:id="rId21"/>
    <p:sldId id="257" r:id="rId22"/>
    <p:sldId id="289" r:id="rId23"/>
    <p:sldId id="290" r:id="rId24"/>
    <p:sldId id="291" r:id="rId25"/>
    <p:sldId id="261" r:id="rId26"/>
    <p:sldId id="262" r:id="rId27"/>
    <p:sldId id="263" r:id="rId28"/>
    <p:sldId id="292" r:id="rId29"/>
    <p:sldId id="293" r:id="rId30"/>
    <p:sldId id="294" r:id="rId31"/>
    <p:sldId id="272" r:id="rId32"/>
    <p:sldId id="287" r:id="rId33"/>
    <p:sldId id="295" r:id="rId34"/>
    <p:sldId id="296" r:id="rId35"/>
    <p:sldId id="297" r:id="rId36"/>
    <p:sldId id="298" r:id="rId37"/>
    <p:sldId id="299" r:id="rId38"/>
    <p:sldId id="303" r:id="rId39"/>
    <p:sldId id="300" r:id="rId40"/>
    <p:sldId id="301" r:id="rId41"/>
    <p:sldId id="264"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8686"/>
    <a:srgbClr val="A8A9A9"/>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0" autoAdjust="0"/>
    <p:restoredTop sz="94660"/>
  </p:normalViewPr>
  <p:slideViewPr>
    <p:cSldViewPr snapToGrid="0" showGuides="1">
      <p:cViewPr varScale="1">
        <p:scale>
          <a:sx n="108" d="100"/>
          <a:sy n="108" d="100"/>
        </p:scale>
        <p:origin x="232"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504172-9BA8-4CA8-BEAE-F84F686EA301}" type="datetimeFigureOut">
              <a:rPr lang="zh-CN" altLang="en-US" smtClean="0"/>
              <a:t>2024/4/18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103B01-BADE-4A88-A6F7-BA77BB24FFA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504172-9BA8-4CA8-BEAE-F84F686EA301}" type="datetimeFigureOut">
              <a:rPr lang="zh-CN" altLang="en-US" smtClean="0"/>
              <a:t>2024/4/18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03B01-BADE-4A88-A6F7-BA77BB24FFA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20.GIF"/></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9.xml"/><Relationship Id="rId7"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28.png"/><Relationship Id="rId5" Type="http://schemas.openxmlformats.org/officeDocument/2006/relationships/tags" Target="../tags/tag11.xml"/><Relationship Id="rId10" Type="http://schemas.openxmlformats.org/officeDocument/2006/relationships/image" Target="../media/image27.png"/><Relationship Id="rId4" Type="http://schemas.openxmlformats.org/officeDocument/2006/relationships/tags" Target="../tags/tag10.xml"/><Relationship Id="rId9" Type="http://schemas.openxmlformats.org/officeDocument/2006/relationships/image" Target="../media/image26.png"/></Relationships>
</file>

<file path=ppt/slides/_rels/slide39.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image" Target="../media/image30.png"/><Relationship Id="rId2" Type="http://schemas.openxmlformats.org/officeDocument/2006/relationships/tags" Target="../tags/tag14.xml"/><Relationship Id="rId16" Type="http://schemas.openxmlformats.org/officeDocument/2006/relationships/image" Target="../media/image29.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slideLayout" Target="../slideLayouts/slideLayout1.xml"/><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31.jpeg"/></Relationships>
</file>

<file path=ppt/slides/_rels/slide41.xml.rels><?xml version="1.0" encoding="UTF-8" standalone="yes"?>
<Relationships xmlns="http://schemas.openxmlformats.org/package/2006/relationships"><Relationship Id="rId3" Type="http://schemas.microsoft.com/office/2007/relationships/hdphoto" Target="../media/hdphoto1.tiff"/><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5" name="组合 4"/>
          <p:cNvGrpSpPr/>
          <p:nvPr/>
        </p:nvGrpSpPr>
        <p:grpSpPr>
          <a:xfrm>
            <a:off x="1137634" y="2510467"/>
            <a:ext cx="9916732" cy="1903625"/>
            <a:chOff x="1137634" y="2760325"/>
            <a:chExt cx="9916732" cy="1903625"/>
          </a:xfrm>
        </p:grpSpPr>
        <p:grpSp>
          <p:nvGrpSpPr>
            <p:cNvPr id="6" name="组合 5"/>
            <p:cNvGrpSpPr/>
            <p:nvPr/>
          </p:nvGrpSpPr>
          <p:grpSpPr>
            <a:xfrm>
              <a:off x="1137634" y="2760325"/>
              <a:ext cx="9916732" cy="1174417"/>
              <a:chOff x="1137634" y="2739236"/>
              <a:chExt cx="9916732" cy="1174417"/>
            </a:xfrm>
          </p:grpSpPr>
          <p:sp>
            <p:nvSpPr>
              <p:cNvPr id="8" name="文本框 7"/>
              <p:cNvSpPr txBox="1"/>
              <p:nvPr/>
            </p:nvSpPr>
            <p:spPr>
              <a:xfrm>
                <a:off x="1137634" y="2739236"/>
                <a:ext cx="9916732" cy="923330"/>
              </a:xfrm>
              <a:prstGeom prst="rect">
                <a:avLst/>
              </a:prstGeom>
              <a:noFill/>
            </p:spPr>
            <p:txBody>
              <a:bodyPr wrap="square" rtlCol="0">
                <a:spAutoFit/>
              </a:bodyPr>
              <a:lstStyle/>
              <a:p>
                <a:pPr algn="ctr"/>
                <a:r>
                  <a:rPr lang="zh-CN" altLang="en-US" sz="5400" dirty="0">
                    <a:solidFill>
                      <a:srgbClr val="868686"/>
                    </a:solidFill>
                    <a:latin typeface="仓耳玄三M W05" pitchFamily="18" charset="-122"/>
                    <a:ea typeface="仓耳玄三M W05" pitchFamily="18" charset="-122"/>
                  </a:rPr>
                  <a:t>矩阵运算在神经网络中的应用</a:t>
                </a:r>
              </a:p>
            </p:txBody>
          </p:sp>
          <p:sp>
            <p:nvSpPr>
              <p:cNvPr id="9" name="矩形 8"/>
              <p:cNvSpPr/>
              <p:nvPr/>
            </p:nvSpPr>
            <p:spPr>
              <a:xfrm>
                <a:off x="2743912" y="3576958"/>
                <a:ext cx="6704176" cy="336695"/>
              </a:xfrm>
              <a:prstGeom prst="rect">
                <a:avLst/>
              </a:prstGeom>
            </p:spPr>
            <p:txBody>
              <a:bodyPr wrap="square">
                <a:spAutoFit/>
              </a:bodyPr>
              <a:lstStyle/>
              <a:p>
                <a:pPr algn="ctr">
                  <a:lnSpc>
                    <a:spcPct val="150000"/>
                  </a:lnSpc>
                </a:pPr>
                <a:r>
                  <a:rPr lang="en-US" altLang="zh-CN" sz="1200" spc="300" noProof="1">
                    <a:solidFill>
                      <a:srgbClr val="868686"/>
                    </a:solidFill>
                    <a:latin typeface="仓耳玄三M W05" pitchFamily="18" charset="-122"/>
                    <a:ea typeface="仓耳玄三M W05" pitchFamily="18" charset="-122"/>
                  </a:rPr>
                  <a:t>Application of matrix operations in neural networks</a:t>
                </a:r>
                <a:endParaRPr lang="zh-CN" altLang="en-US" sz="1200" spc="300" dirty="0">
                  <a:solidFill>
                    <a:srgbClr val="868686"/>
                  </a:solidFill>
                  <a:latin typeface="仓耳玄三M W05" pitchFamily="18" charset="-122"/>
                  <a:ea typeface="仓耳玄三M W05" pitchFamily="18" charset="-122"/>
                </a:endParaRPr>
              </a:p>
            </p:txBody>
          </p:sp>
        </p:grpSp>
        <p:sp>
          <p:nvSpPr>
            <p:cNvPr id="7" name="文本框 6"/>
            <p:cNvSpPr txBox="1"/>
            <p:nvPr/>
          </p:nvSpPr>
          <p:spPr>
            <a:xfrm>
              <a:off x="3547628" y="4325396"/>
              <a:ext cx="4237651" cy="338554"/>
            </a:xfrm>
            <a:prstGeom prst="rect">
              <a:avLst/>
            </a:prstGeom>
            <a:noFill/>
          </p:spPr>
          <p:txBody>
            <a:bodyPr wrap="square" rtlCol="0">
              <a:spAutoFit/>
            </a:bodyPr>
            <a:lstStyle/>
            <a:p>
              <a:r>
                <a:rPr lang="zh-CN" altLang="en-US" sz="1600" dirty="0">
                  <a:solidFill>
                    <a:srgbClr val="868686"/>
                  </a:solidFill>
                  <a:latin typeface="仓耳玄三M W05" pitchFamily="18" charset="-122"/>
                  <a:ea typeface="仓耳玄三M W05" pitchFamily="18" charset="-122"/>
                </a:rPr>
                <a:t>汇报小组成员：蒋宏韬 张国旗 朱景睿 郑同舟</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10" name="组合 9"/>
          <p:cNvGrpSpPr/>
          <p:nvPr/>
        </p:nvGrpSpPr>
        <p:grpSpPr>
          <a:xfrm>
            <a:off x="2276670" y="1546191"/>
            <a:ext cx="7704797" cy="3765619"/>
            <a:chOff x="2022669" y="1726889"/>
            <a:chExt cx="7704797" cy="3765619"/>
          </a:xfrm>
        </p:grpSpPr>
        <p:sp>
          <p:nvSpPr>
            <p:cNvPr id="11" name="Oval 6"/>
            <p:cNvSpPr/>
            <p:nvPr/>
          </p:nvSpPr>
          <p:spPr bwMode="auto">
            <a:xfrm>
              <a:off x="2031483" y="4896142"/>
              <a:ext cx="596878" cy="594970"/>
            </a:xfrm>
            <a:prstGeom prst="ellipse">
              <a:avLst/>
            </a:prstGeom>
            <a:solidFill>
              <a:srgbClr val="868686"/>
            </a:solidFill>
            <a:ln>
              <a:noFill/>
            </a:ln>
          </p:spPr>
          <p:txBody>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eaLnBrk="1" hangingPunct="1">
                <a:buFontTx/>
                <a:buNone/>
              </a:pPr>
              <a:endParaRPr lang="zh-CN" altLang="en-US" sz="2000">
                <a:solidFill>
                  <a:srgbClr val="868686"/>
                </a:solidFill>
                <a:latin typeface="仓耳玄三M W05" pitchFamily="18" charset="-122"/>
                <a:ea typeface="仓耳玄三M W05" pitchFamily="18" charset="-122"/>
              </a:endParaRPr>
            </a:p>
          </p:txBody>
        </p:sp>
        <p:sp>
          <p:nvSpPr>
            <p:cNvPr id="12" name="TextBox 14"/>
            <p:cNvSpPr txBox="1"/>
            <p:nvPr/>
          </p:nvSpPr>
          <p:spPr bwMode="auto">
            <a:xfrm>
              <a:off x="2058053" y="4932017"/>
              <a:ext cx="543739"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eaLnBrk="1" hangingPunct="1">
                <a:buFontTx/>
                <a:buNone/>
              </a:pPr>
              <a:r>
                <a:rPr lang="en-US" altLang="zh-CN" sz="2800" dirty="0">
                  <a:solidFill>
                    <a:schemeClr val="bg1"/>
                  </a:solidFill>
                  <a:latin typeface="仓耳玄三M W05" pitchFamily="18" charset="-122"/>
                  <a:ea typeface="仓耳玄三M W05" pitchFamily="18" charset="-122"/>
                </a:rPr>
                <a:t>03</a:t>
              </a:r>
              <a:endParaRPr lang="zh-CN" altLang="en-US" sz="2800" dirty="0">
                <a:solidFill>
                  <a:schemeClr val="bg1"/>
                </a:solidFill>
                <a:latin typeface="仓耳玄三M W05" pitchFamily="18" charset="-122"/>
                <a:ea typeface="仓耳玄三M W05" pitchFamily="18" charset="-122"/>
              </a:endParaRPr>
            </a:p>
          </p:txBody>
        </p:sp>
        <p:sp>
          <p:nvSpPr>
            <p:cNvPr id="13" name="文本框 48"/>
            <p:cNvSpPr txBox="1"/>
            <p:nvPr/>
          </p:nvSpPr>
          <p:spPr bwMode="auto">
            <a:xfrm>
              <a:off x="2713597" y="4948546"/>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rgbClr val="868686"/>
                  </a:solidFill>
                  <a:latin typeface="仓耳玄三M W05" pitchFamily="18" charset="-122"/>
                  <a:ea typeface="仓耳玄三M W05" pitchFamily="18" charset="-122"/>
                </a:rPr>
                <a:t>反向传播算法</a:t>
              </a:r>
            </a:p>
          </p:txBody>
        </p:sp>
        <p:sp>
          <p:nvSpPr>
            <p:cNvPr id="14" name="Oval 6"/>
            <p:cNvSpPr/>
            <p:nvPr/>
          </p:nvSpPr>
          <p:spPr bwMode="auto">
            <a:xfrm>
              <a:off x="2022669" y="3881091"/>
              <a:ext cx="596879" cy="594970"/>
            </a:xfrm>
            <a:prstGeom prst="ellipse">
              <a:avLst/>
            </a:prstGeom>
            <a:solidFill>
              <a:srgbClr val="868686"/>
            </a:solidFill>
            <a:ln>
              <a:noFill/>
            </a:ln>
          </p:spPr>
          <p:txBody>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eaLnBrk="1" hangingPunct="1">
                <a:buFontTx/>
                <a:buNone/>
              </a:pPr>
              <a:endParaRPr lang="zh-CN" altLang="en-US" sz="2000" dirty="0">
                <a:solidFill>
                  <a:srgbClr val="868686"/>
                </a:solidFill>
                <a:latin typeface="仓耳玄三M W05" pitchFamily="18" charset="-122"/>
                <a:ea typeface="仓耳玄三M W05" pitchFamily="18" charset="-122"/>
              </a:endParaRPr>
            </a:p>
          </p:txBody>
        </p:sp>
        <p:sp>
          <p:nvSpPr>
            <p:cNvPr id="15" name="TextBox 14"/>
            <p:cNvSpPr txBox="1"/>
            <p:nvPr/>
          </p:nvSpPr>
          <p:spPr bwMode="auto">
            <a:xfrm>
              <a:off x="2049239" y="3916966"/>
              <a:ext cx="543739" cy="523220"/>
            </a:xfrm>
            <a:prstGeom prst="rect">
              <a:avLst/>
            </a:prstGeom>
            <a:noFill/>
            <a:ln>
              <a:noFill/>
            </a:ln>
          </p:spPr>
          <p:txBody>
            <a:bodyPr wrap="none">
              <a:spAutoFit/>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eaLnBrk="1" hangingPunct="1">
                <a:buFontTx/>
                <a:buNone/>
              </a:pPr>
              <a:r>
                <a:rPr lang="en-US" altLang="zh-CN" sz="2800" dirty="0">
                  <a:solidFill>
                    <a:schemeClr val="bg1"/>
                  </a:solidFill>
                  <a:latin typeface="仓耳玄三M W05" pitchFamily="18" charset="-122"/>
                  <a:ea typeface="仓耳玄三M W05" pitchFamily="18" charset="-122"/>
                </a:rPr>
                <a:t>01</a:t>
              </a:r>
              <a:endParaRPr lang="zh-CN" altLang="en-US" sz="2800" dirty="0">
                <a:solidFill>
                  <a:schemeClr val="bg1"/>
                </a:solidFill>
                <a:latin typeface="仓耳玄三M W05" pitchFamily="18" charset="-122"/>
                <a:ea typeface="仓耳玄三M W05" pitchFamily="18" charset="-122"/>
              </a:endParaRPr>
            </a:p>
          </p:txBody>
        </p:sp>
        <p:sp>
          <p:nvSpPr>
            <p:cNvPr id="16" name="文本框 48"/>
            <p:cNvSpPr txBox="1"/>
            <p:nvPr/>
          </p:nvSpPr>
          <p:spPr bwMode="auto">
            <a:xfrm>
              <a:off x="2713596" y="3933496"/>
              <a:ext cx="2435089"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rgbClr val="868686"/>
                  </a:solidFill>
                  <a:latin typeface="仓耳玄三M W05" pitchFamily="18" charset="-122"/>
                  <a:ea typeface="仓耳玄三M W05" pitchFamily="18" charset="-122"/>
                </a:rPr>
                <a:t>引言及历史沿革</a:t>
              </a:r>
            </a:p>
          </p:txBody>
        </p:sp>
        <p:sp>
          <p:nvSpPr>
            <p:cNvPr id="17" name="Oval 6"/>
            <p:cNvSpPr/>
            <p:nvPr/>
          </p:nvSpPr>
          <p:spPr bwMode="auto">
            <a:xfrm>
              <a:off x="6942460" y="4897538"/>
              <a:ext cx="596878" cy="594970"/>
            </a:xfrm>
            <a:prstGeom prst="ellipse">
              <a:avLst/>
            </a:prstGeom>
            <a:solidFill>
              <a:srgbClr val="868686"/>
            </a:solidFill>
            <a:ln>
              <a:noFill/>
            </a:ln>
          </p:spPr>
          <p:txBody>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1" hangingPunct="1">
                <a:buFontTx/>
                <a:buNone/>
              </a:pPr>
              <a:endParaRPr lang="zh-CN" altLang="en-US" sz="2000">
                <a:solidFill>
                  <a:srgbClr val="868686"/>
                </a:solidFill>
                <a:latin typeface="仓耳玄三M W05" pitchFamily="18" charset="-122"/>
                <a:ea typeface="仓耳玄三M W05" pitchFamily="18" charset="-122"/>
              </a:endParaRPr>
            </a:p>
          </p:txBody>
        </p:sp>
        <p:sp>
          <p:nvSpPr>
            <p:cNvPr id="18" name="TextBox 14"/>
            <p:cNvSpPr txBox="1"/>
            <p:nvPr/>
          </p:nvSpPr>
          <p:spPr bwMode="auto">
            <a:xfrm>
              <a:off x="6969030" y="4933413"/>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eaLnBrk="1" hangingPunct="1">
                <a:buFontTx/>
                <a:buNone/>
              </a:pPr>
              <a:r>
                <a:rPr lang="en-US" altLang="zh-CN" sz="2800" dirty="0">
                  <a:solidFill>
                    <a:schemeClr val="bg1"/>
                  </a:solidFill>
                  <a:latin typeface="仓耳玄三M W05" pitchFamily="18" charset="-122"/>
                  <a:ea typeface="仓耳玄三M W05" pitchFamily="18" charset="-122"/>
                </a:rPr>
                <a:t>04</a:t>
              </a:r>
              <a:endParaRPr lang="zh-CN" altLang="en-US" sz="2800" dirty="0">
                <a:solidFill>
                  <a:schemeClr val="bg1"/>
                </a:solidFill>
                <a:latin typeface="仓耳玄三M W05" pitchFamily="18" charset="-122"/>
                <a:ea typeface="仓耳玄三M W05" pitchFamily="18" charset="-122"/>
              </a:endParaRPr>
            </a:p>
          </p:txBody>
        </p:sp>
        <p:sp>
          <p:nvSpPr>
            <p:cNvPr id="19" name="文本框 48"/>
            <p:cNvSpPr txBox="1"/>
            <p:nvPr/>
          </p:nvSpPr>
          <p:spPr bwMode="auto">
            <a:xfrm>
              <a:off x="7627375" y="4949942"/>
              <a:ext cx="2100091"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rgbClr val="868686"/>
                  </a:solidFill>
                  <a:latin typeface="仓耳玄三M W05" pitchFamily="18" charset="-122"/>
                  <a:ea typeface="仓耳玄三M W05" pitchFamily="18" charset="-122"/>
                </a:rPr>
                <a:t>卷积计算</a:t>
              </a:r>
            </a:p>
          </p:txBody>
        </p:sp>
        <p:sp>
          <p:nvSpPr>
            <p:cNvPr id="20" name="Oval 6"/>
            <p:cNvSpPr/>
            <p:nvPr/>
          </p:nvSpPr>
          <p:spPr bwMode="auto">
            <a:xfrm>
              <a:off x="6945262" y="3828686"/>
              <a:ext cx="596878" cy="594970"/>
            </a:xfrm>
            <a:prstGeom prst="ellipse">
              <a:avLst/>
            </a:prstGeom>
            <a:solidFill>
              <a:srgbClr val="868686"/>
            </a:solidFill>
            <a:ln>
              <a:noFill/>
            </a:ln>
          </p:spPr>
          <p:txBody>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1" hangingPunct="1">
                <a:buFontTx/>
                <a:buNone/>
              </a:pPr>
              <a:endParaRPr lang="zh-CN" altLang="en-US" sz="2000">
                <a:solidFill>
                  <a:srgbClr val="868686"/>
                </a:solidFill>
                <a:latin typeface="仓耳玄三M W05" pitchFamily="18" charset="-122"/>
                <a:ea typeface="仓耳玄三M W05" pitchFamily="18" charset="-122"/>
              </a:endParaRPr>
            </a:p>
          </p:txBody>
        </p:sp>
        <p:sp>
          <p:nvSpPr>
            <p:cNvPr id="21" name="TextBox 14"/>
            <p:cNvSpPr txBox="1"/>
            <p:nvPr/>
          </p:nvSpPr>
          <p:spPr bwMode="auto">
            <a:xfrm>
              <a:off x="6971832" y="3864561"/>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charset="0"/>
                <a:defRPr kern="1200">
                  <a:solidFill>
                    <a:schemeClr val="tx1"/>
                  </a:solidFill>
                  <a:latin typeface="Arial" charset="0"/>
                  <a:ea typeface="宋体" charset="-122"/>
                  <a:cs typeface="+mn-cs"/>
                </a:defRPr>
              </a:lvl1pPr>
              <a:lvl2pPr marL="457200" algn="l" rtl="0" fontAlgn="base">
                <a:spcBef>
                  <a:spcPct val="0"/>
                </a:spcBef>
                <a:spcAft>
                  <a:spcPct val="0"/>
                </a:spcAft>
                <a:buFont typeface="Arial" charset="0"/>
                <a:defRPr kern="1200">
                  <a:solidFill>
                    <a:schemeClr val="tx1"/>
                  </a:solidFill>
                  <a:latin typeface="Arial" charset="0"/>
                  <a:ea typeface="宋体" charset="-122"/>
                  <a:cs typeface="+mn-cs"/>
                </a:defRPr>
              </a:lvl2pPr>
              <a:lvl3pPr marL="914400" algn="l" rtl="0" fontAlgn="base">
                <a:spcBef>
                  <a:spcPct val="0"/>
                </a:spcBef>
                <a:spcAft>
                  <a:spcPct val="0"/>
                </a:spcAft>
                <a:buFont typeface="Arial" charset="0"/>
                <a:defRPr kern="1200">
                  <a:solidFill>
                    <a:schemeClr val="tx1"/>
                  </a:solidFill>
                  <a:latin typeface="Arial" charset="0"/>
                  <a:ea typeface="宋体" charset="-122"/>
                  <a:cs typeface="+mn-cs"/>
                </a:defRPr>
              </a:lvl3pPr>
              <a:lvl4pPr marL="1371600" algn="l" rtl="0" fontAlgn="base">
                <a:spcBef>
                  <a:spcPct val="0"/>
                </a:spcBef>
                <a:spcAft>
                  <a:spcPct val="0"/>
                </a:spcAft>
                <a:buFont typeface="Arial" charset="0"/>
                <a:defRPr kern="1200">
                  <a:solidFill>
                    <a:schemeClr val="tx1"/>
                  </a:solidFill>
                  <a:latin typeface="Arial" charset="0"/>
                  <a:ea typeface="宋体" charset="-122"/>
                  <a:cs typeface="+mn-cs"/>
                </a:defRPr>
              </a:lvl4pPr>
              <a:lvl5pPr marL="1828800" algn="l" rtl="0" fontAlgn="base">
                <a:spcBef>
                  <a:spcPct val="0"/>
                </a:spcBef>
                <a:spcAft>
                  <a:spcPct val="0"/>
                </a:spcAft>
                <a:buFont typeface="Arial" charset="0"/>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eaLnBrk="1" hangingPunct="1">
                <a:buFontTx/>
                <a:buNone/>
              </a:pPr>
              <a:r>
                <a:rPr lang="en-US" altLang="zh-CN" sz="2800" dirty="0">
                  <a:solidFill>
                    <a:schemeClr val="bg1"/>
                  </a:solidFill>
                  <a:latin typeface="仓耳玄三M W05" pitchFamily="18" charset="-122"/>
                  <a:ea typeface="仓耳玄三M W05" pitchFamily="18" charset="-122"/>
                </a:rPr>
                <a:t>02</a:t>
              </a:r>
              <a:endParaRPr lang="zh-CN" altLang="en-US" sz="2800" dirty="0">
                <a:solidFill>
                  <a:schemeClr val="bg1"/>
                </a:solidFill>
                <a:latin typeface="仓耳玄三M W05" pitchFamily="18" charset="-122"/>
                <a:ea typeface="仓耳玄三M W05" pitchFamily="18" charset="-122"/>
              </a:endParaRPr>
            </a:p>
          </p:txBody>
        </p:sp>
        <p:sp>
          <p:nvSpPr>
            <p:cNvPr id="22" name="文本框 48"/>
            <p:cNvSpPr txBox="1"/>
            <p:nvPr/>
          </p:nvSpPr>
          <p:spPr bwMode="auto">
            <a:xfrm>
              <a:off x="7627375" y="3881091"/>
              <a:ext cx="2100091"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rgbClr val="868686"/>
                  </a:solidFill>
                  <a:latin typeface="仓耳玄三M W05" pitchFamily="18" charset="-122"/>
                  <a:ea typeface="仓耳玄三M W05" pitchFamily="18" charset="-122"/>
                </a:rPr>
                <a:t>前馈计算</a:t>
              </a:r>
            </a:p>
          </p:txBody>
        </p:sp>
        <p:grpSp>
          <p:nvGrpSpPr>
            <p:cNvPr id="23" name="组合 22"/>
            <p:cNvGrpSpPr/>
            <p:nvPr/>
          </p:nvGrpSpPr>
          <p:grpSpPr>
            <a:xfrm>
              <a:off x="4175805" y="1726889"/>
              <a:ext cx="3119231" cy="830997"/>
              <a:chOff x="2769821" y="2186753"/>
              <a:chExt cx="3660110" cy="830997"/>
            </a:xfrm>
          </p:grpSpPr>
          <p:sp>
            <p:nvSpPr>
              <p:cNvPr id="24" name="文本框 23"/>
              <p:cNvSpPr txBox="1"/>
              <p:nvPr/>
            </p:nvSpPr>
            <p:spPr bwMode="auto">
              <a:xfrm>
                <a:off x="4724936" y="2529398"/>
                <a:ext cx="1704995" cy="369332"/>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R="0" defTabSz="685800" eaLnBrk="1" fontAlgn="auto" hangingPunct="1">
                  <a:spcBef>
                    <a:spcPts val="0"/>
                  </a:spcBef>
                  <a:spcAft>
                    <a:spcPts val="0"/>
                  </a:spcAft>
                  <a:buClrTx/>
                  <a:buSzTx/>
                  <a:buFontTx/>
                  <a:buNone/>
                  <a:defRPr/>
                </a:pPr>
                <a:r>
                  <a:rPr kumimoji="0" lang="en-US" altLang="zh-CN" sz="1800" kern="1200" cap="none" spc="0" normalizeH="0" baseline="0" noProof="0" dirty="0">
                    <a:solidFill>
                      <a:srgbClr val="868686"/>
                    </a:solidFill>
                    <a:latin typeface="仓耳玄三M W05" pitchFamily="18" charset="-122"/>
                    <a:ea typeface="仓耳玄三M W05" pitchFamily="18" charset="-122"/>
                    <a:cs typeface="Mongolian Baiti" pitchFamily="2" charset="0"/>
                  </a:rPr>
                  <a:t>CONTENTS </a:t>
                </a:r>
                <a:endParaRPr kumimoji="0" lang="zh-CN" altLang="en-US" sz="1800" kern="1200" cap="none" spc="0" normalizeH="0" baseline="0" noProof="0" dirty="0">
                  <a:solidFill>
                    <a:srgbClr val="868686"/>
                  </a:solidFill>
                  <a:latin typeface="仓耳玄三M W05" pitchFamily="18" charset="-122"/>
                  <a:ea typeface="仓耳玄三M W05" pitchFamily="18" charset="-122"/>
                  <a:cs typeface="Mongolian Baiti" pitchFamily="2" charset="0"/>
                </a:endParaRPr>
              </a:p>
            </p:txBody>
          </p:sp>
          <p:sp>
            <p:nvSpPr>
              <p:cNvPr id="25" name="文本框 11"/>
              <p:cNvSpPr txBox="1"/>
              <p:nvPr/>
            </p:nvSpPr>
            <p:spPr bwMode="auto">
              <a:xfrm>
                <a:off x="2769821" y="2186753"/>
                <a:ext cx="2146558" cy="830997"/>
              </a:xfrm>
              <a:prstGeom prst="rect">
                <a:avLst/>
              </a:prstGeom>
              <a:noFill/>
            </p:spPr>
            <p:txBody>
              <a:bodyPr wrap="non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R="0" algn="ctr" defTabSz="685800" eaLnBrk="1" fontAlgn="auto" hangingPunct="1">
                  <a:spcBef>
                    <a:spcPts val="0"/>
                  </a:spcBef>
                  <a:spcAft>
                    <a:spcPts val="0"/>
                  </a:spcAft>
                  <a:buClrTx/>
                  <a:buSzTx/>
                  <a:buFontTx/>
                  <a:buNone/>
                  <a:defRPr/>
                </a:pPr>
                <a:r>
                  <a:rPr kumimoji="0" lang="zh-CN" altLang="en-US" sz="4800" kern="1200" cap="none" spc="600" normalizeH="0" baseline="0" noProof="0" dirty="0">
                    <a:solidFill>
                      <a:srgbClr val="868686"/>
                    </a:solidFill>
                    <a:latin typeface="仓耳玄三M W05" pitchFamily="18" charset="-122"/>
                    <a:ea typeface="仓耳玄三M W05" pitchFamily="18" charset="-122"/>
                  </a:rPr>
                  <a:t>目 录</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26" name="组合 25"/>
          <p:cNvGrpSpPr/>
          <p:nvPr/>
        </p:nvGrpSpPr>
        <p:grpSpPr>
          <a:xfrm>
            <a:off x="3994468" y="2380810"/>
            <a:ext cx="4203065" cy="2096380"/>
            <a:chOff x="3994468" y="2468023"/>
            <a:chExt cx="4203065" cy="2096380"/>
          </a:xfrm>
        </p:grpSpPr>
        <p:sp>
          <p:nvSpPr>
            <p:cNvPr id="27" name="文本框 26"/>
            <p:cNvSpPr txBox="1"/>
            <p:nvPr/>
          </p:nvSpPr>
          <p:spPr>
            <a:xfrm>
              <a:off x="3994468" y="2468023"/>
              <a:ext cx="4203065" cy="1015663"/>
            </a:xfrm>
            <a:prstGeom prst="rect">
              <a:avLst/>
            </a:prstGeom>
            <a:noFill/>
          </p:spPr>
          <p:txBody>
            <a:bodyPr wrap="square" rtlCol="0">
              <a:spAutoFit/>
            </a:bodyPr>
            <a:lstStyle/>
            <a:p>
              <a:pPr algn="ctr"/>
              <a:r>
                <a:rPr lang="en-US" altLang="zh-CN" sz="6000" dirty="0">
                  <a:solidFill>
                    <a:srgbClr val="868686"/>
                  </a:solidFill>
                  <a:latin typeface="仓耳玄三M W05" pitchFamily="18" charset="-122"/>
                  <a:ea typeface="仓耳玄三M W05" pitchFamily="18" charset="-122"/>
                  <a:cs typeface="Arial" charset="0"/>
                </a:rPr>
                <a:t>PART 01</a:t>
              </a:r>
            </a:p>
          </p:txBody>
        </p:sp>
        <p:sp>
          <p:nvSpPr>
            <p:cNvPr id="28" name="文本框 27"/>
            <p:cNvSpPr txBox="1"/>
            <p:nvPr/>
          </p:nvSpPr>
          <p:spPr>
            <a:xfrm>
              <a:off x="4351421" y="3552239"/>
              <a:ext cx="3489158" cy="584775"/>
            </a:xfrm>
            <a:prstGeom prst="rect">
              <a:avLst/>
            </a:prstGeom>
            <a:noFill/>
          </p:spPr>
          <p:txBody>
            <a:bodyPr wrap="square" rtlCol="0">
              <a:spAutoFit/>
            </a:bodyPr>
            <a:lstStyle/>
            <a:p>
              <a:pPr algn="ctr"/>
              <a:r>
                <a:rPr lang="zh-CN" altLang="en-US" sz="3200" dirty="0">
                  <a:solidFill>
                    <a:srgbClr val="868686"/>
                  </a:solidFill>
                  <a:latin typeface="仓耳玄三M W05" pitchFamily="18" charset="-122"/>
                  <a:ea typeface="仓耳玄三M W05" pitchFamily="18" charset="-122"/>
                </a:rPr>
                <a:t>引言及历史沿革</a:t>
              </a:r>
              <a:endParaRPr lang="en-US" altLang="zh-CN" sz="3200" dirty="0">
                <a:solidFill>
                  <a:srgbClr val="868686"/>
                </a:solidFill>
                <a:latin typeface="仓耳玄三M W05" pitchFamily="18" charset="-122"/>
                <a:ea typeface="仓耳玄三M W05" pitchFamily="18" charset="-122"/>
              </a:endParaRPr>
            </a:p>
          </p:txBody>
        </p:sp>
        <p:sp>
          <p:nvSpPr>
            <p:cNvPr id="29" name="矩形 28"/>
            <p:cNvSpPr/>
            <p:nvPr/>
          </p:nvSpPr>
          <p:spPr>
            <a:xfrm>
              <a:off x="4958225" y="4256626"/>
              <a:ext cx="2275559" cy="307777"/>
            </a:xfrm>
            <a:prstGeom prst="rect">
              <a:avLst/>
            </a:prstGeom>
          </p:spPr>
          <p:txBody>
            <a:bodyPr wrap="none">
              <a:spAutoFit/>
            </a:bodyPr>
            <a:lstStyle/>
            <a:p>
              <a:pPr algn="ctr"/>
              <a:r>
                <a:rPr lang="en-US" altLang="zh-CN" sz="1400" dirty="0">
                  <a:solidFill>
                    <a:srgbClr val="868686"/>
                  </a:solidFill>
                  <a:latin typeface="仓耳玄三M W05" pitchFamily="18" charset="-122"/>
                  <a:ea typeface="仓耳玄三M W05" pitchFamily="18" charset="-122"/>
                </a:rPr>
                <a:t>Introduction and history</a:t>
              </a:r>
              <a:endParaRPr lang="zh-CN" altLang="en-US" sz="1400" dirty="0">
                <a:solidFill>
                  <a:srgbClr val="868686"/>
                </a:solidFill>
                <a:latin typeface="仓耳玄三M W05" pitchFamily="18" charset="-122"/>
                <a:ea typeface="仓耳玄三M W05" pitchFamily="18"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引言</a:t>
            </a:r>
          </a:p>
        </p:txBody>
      </p:sp>
      <p:sp>
        <p:nvSpPr>
          <p:cNvPr id="19" name="Shape 2629"/>
          <p:cNvSpPr/>
          <p:nvPr/>
        </p:nvSpPr>
        <p:spPr>
          <a:xfrm>
            <a:off x="1471891" y="3314217"/>
            <a:ext cx="279405"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chemeClr val="bg1"/>
          </a:solidFill>
          <a:ln w="12700">
            <a:miter lim="400000"/>
          </a:ln>
        </p:spPr>
        <p:txBody>
          <a:bodyPr lIns="19045" tIns="19045" rIns="19045" bIns="19045" anchor="ctr"/>
          <a:lstStyle/>
          <a:p>
            <a:pPr defTabSz="2279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Gill Sans"/>
              <a:sym typeface="Gill Sans"/>
            </a:endParaRPr>
          </a:p>
        </p:txBody>
      </p:sp>
      <p:sp>
        <p:nvSpPr>
          <p:cNvPr id="20" name="Shape 2840"/>
          <p:cNvSpPr/>
          <p:nvPr/>
        </p:nvSpPr>
        <p:spPr>
          <a:xfrm>
            <a:off x="1467141" y="4719459"/>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solidFill>
            <a:schemeClr val="bg1"/>
          </a:solidFill>
          <a:ln w="12700">
            <a:miter lim="400000"/>
          </a:ln>
        </p:spPr>
        <p:txBody>
          <a:bodyPr lIns="19045" tIns="19045" rIns="19045" bIns="19045" anchor="ctr"/>
          <a:lstStyle/>
          <a:p>
            <a:pPr defTabSz="2279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latin typeface="Gill Sans"/>
              <a:sym typeface="Gill Sans"/>
            </a:endParaRPr>
          </a:p>
        </p:txBody>
      </p:sp>
      <p:sp>
        <p:nvSpPr>
          <p:cNvPr id="27" name="文本框 26">
            <a:extLst>
              <a:ext uri="{FF2B5EF4-FFF2-40B4-BE49-F238E27FC236}">
                <a16:creationId xmlns:a16="http://schemas.microsoft.com/office/drawing/2014/main" id="{9DC8C6D6-ED7E-815F-2FEC-BB86483EC071}"/>
              </a:ext>
            </a:extLst>
          </p:cNvPr>
          <p:cNvSpPr txBox="1"/>
          <p:nvPr/>
        </p:nvSpPr>
        <p:spPr>
          <a:xfrm>
            <a:off x="419553" y="1937206"/>
            <a:ext cx="5593724" cy="2862322"/>
          </a:xfrm>
          <a:prstGeom prst="rect">
            <a:avLst/>
          </a:prstGeom>
          <a:noFill/>
        </p:spPr>
        <p:txBody>
          <a:bodyPr wrap="square" rtlCol="0">
            <a:spAutoFit/>
          </a:bodyPr>
          <a:lstStyle/>
          <a:p>
            <a:r>
              <a:rPr lang="zh-CN" altLang="en-US" sz="2000" dirty="0"/>
              <a:t>近几年，随着各种</a:t>
            </a:r>
            <a:r>
              <a:rPr lang="en-US" altLang="zh-CN" sz="2000" dirty="0"/>
              <a:t>AI</a:t>
            </a:r>
            <a:r>
              <a:rPr lang="zh-CN" altLang="en-US" sz="2000" dirty="0"/>
              <a:t>产品的爆火，如</a:t>
            </a:r>
            <a:r>
              <a:rPr lang="en-US" altLang="zh-CN" sz="2000" dirty="0" err="1"/>
              <a:t>NovelAI</a:t>
            </a:r>
            <a:r>
              <a:rPr lang="zh-CN" altLang="en-US" sz="2000" dirty="0"/>
              <a:t>、</a:t>
            </a:r>
            <a:r>
              <a:rPr lang="en-US" altLang="zh-CN" sz="2000" dirty="0" err="1"/>
              <a:t>ChatGPT</a:t>
            </a:r>
            <a:r>
              <a:rPr lang="zh-CN" altLang="en-US" sz="2000" dirty="0"/>
              <a:t>等，人们对于</a:t>
            </a:r>
            <a:r>
              <a:rPr lang="zh-CN" altLang="en-US" sz="2000" b="1" dirty="0"/>
              <a:t>人工智能</a:t>
            </a:r>
            <a:r>
              <a:rPr lang="zh-CN" altLang="en-US" sz="2000" dirty="0"/>
              <a:t>的兴趣再次到达了高峰。而有这么一种算法，它在</a:t>
            </a:r>
            <a:r>
              <a:rPr lang="zh-CN" altLang="en-US" sz="2000" b="1" dirty="0"/>
              <a:t>图像识别、语音识别、自然语言处理、机器翻译、自动驾驶</a:t>
            </a:r>
            <a:r>
              <a:rPr lang="zh-CN" altLang="en-US" sz="2000" dirty="0"/>
              <a:t>等诸多</a:t>
            </a:r>
            <a:r>
              <a:rPr lang="en-US" altLang="zh-CN" sz="2000" dirty="0"/>
              <a:t>AI</a:t>
            </a:r>
            <a:r>
              <a:rPr lang="zh-CN" altLang="en-US" sz="2000" dirty="0"/>
              <a:t>分支领域都有着重要成就，近些年也越加知名，它就是</a:t>
            </a:r>
            <a:r>
              <a:rPr lang="zh-CN" altLang="en-US" sz="2000" b="1" dirty="0"/>
              <a:t>神经网络算法</a:t>
            </a:r>
            <a:r>
              <a:rPr lang="zh-CN" altLang="en-US" sz="2000" dirty="0"/>
              <a:t>。</a:t>
            </a:r>
            <a:endParaRPr lang="en-US" altLang="zh-CN" sz="2000" dirty="0"/>
          </a:p>
          <a:p>
            <a:endParaRPr lang="en-US" altLang="zh-CN" sz="2000" dirty="0"/>
          </a:p>
          <a:p>
            <a:r>
              <a:rPr lang="zh-CN" altLang="en-US" sz="2000" dirty="0"/>
              <a:t>不过神经网络这个话题依旧太过庞大，我们的眼光应当再</a:t>
            </a:r>
            <a:r>
              <a:rPr lang="zh-CN" altLang="en-US" sz="2000" b="1" dirty="0"/>
              <a:t>聚焦</a:t>
            </a:r>
            <a:r>
              <a:rPr lang="zh-CN" altLang="en-US" sz="2000" dirty="0"/>
              <a:t>一些。</a:t>
            </a:r>
          </a:p>
        </p:txBody>
      </p:sp>
      <p:pic>
        <p:nvPicPr>
          <p:cNvPr id="1032" name="Picture 8" descr="AI作画拿下一等奖？人类艺术家怒指其作弊！主办方：照常颁奖_Allen_作品_工具">
            <a:extLst>
              <a:ext uri="{FF2B5EF4-FFF2-40B4-BE49-F238E27FC236}">
                <a16:creationId xmlns:a16="http://schemas.microsoft.com/office/drawing/2014/main" id="{851ED6A5-FA16-F761-F60B-D70897448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9844" y="1145942"/>
            <a:ext cx="5186238" cy="3459221"/>
          </a:xfrm>
          <a:prstGeom prst="rect">
            <a:avLst/>
          </a:prstGeom>
          <a:noFill/>
          <a:extLst>
            <a:ext uri="{909E8E84-426E-40DD-AFC4-6F175D3DCCD1}">
              <a14:hiddenFill xmlns:a14="http://schemas.microsoft.com/office/drawing/2010/main">
                <a:solidFill>
                  <a:srgbClr val="FFFFFF"/>
                </a:solidFill>
              </a14:hiddenFill>
            </a:ext>
          </a:extLst>
        </p:spPr>
      </p:pic>
      <p:sp>
        <p:nvSpPr>
          <p:cNvPr id="33" name="文本框 32">
            <a:extLst>
              <a:ext uri="{FF2B5EF4-FFF2-40B4-BE49-F238E27FC236}">
                <a16:creationId xmlns:a16="http://schemas.microsoft.com/office/drawing/2014/main" id="{7B5377B3-DF80-E560-3558-2C4171A20A2B}"/>
              </a:ext>
            </a:extLst>
          </p:cNvPr>
          <p:cNvSpPr txBox="1"/>
          <p:nvPr/>
        </p:nvSpPr>
        <p:spPr>
          <a:xfrm>
            <a:off x="6450168" y="4799528"/>
            <a:ext cx="4915437" cy="738664"/>
          </a:xfrm>
          <a:prstGeom prst="rect">
            <a:avLst/>
          </a:prstGeom>
          <a:noFill/>
        </p:spPr>
        <p:txBody>
          <a:bodyPr wrap="square">
            <a:spAutoFit/>
          </a:bodyPr>
          <a:lstStyle/>
          <a:p>
            <a:r>
              <a:rPr lang="en-US" altLang="zh-CN" sz="1400" b="0" i="0" dirty="0">
                <a:solidFill>
                  <a:srgbClr val="191919"/>
                </a:solidFill>
                <a:effectLst/>
                <a:latin typeface="微软雅黑" panose="020B0503020204020204" pitchFamily="34" charset="-122"/>
                <a:ea typeface="微软雅黑" panose="020B0503020204020204" pitchFamily="34" charset="-122"/>
              </a:rPr>
              <a:t>2022</a:t>
            </a:r>
            <a:r>
              <a:rPr lang="zh-CN" altLang="en-US" sz="1400" b="0" i="0" dirty="0">
                <a:solidFill>
                  <a:srgbClr val="191919"/>
                </a:solidFill>
                <a:effectLst/>
                <a:latin typeface="微软雅黑" panose="020B0503020204020204" pitchFamily="34" charset="-122"/>
                <a:ea typeface="微软雅黑" panose="020B0503020204020204" pitchFamily="34" charset="-122"/>
              </a:rPr>
              <a:t>年</a:t>
            </a:r>
            <a:r>
              <a:rPr lang="en-US" altLang="zh-CN" sz="1400" b="0" i="0" dirty="0">
                <a:solidFill>
                  <a:srgbClr val="191919"/>
                </a:solidFill>
                <a:effectLst/>
                <a:latin typeface="微软雅黑" panose="020B0503020204020204" pitchFamily="34" charset="-122"/>
                <a:ea typeface="微软雅黑" panose="020B0503020204020204" pitchFamily="34" charset="-122"/>
              </a:rPr>
              <a:t>8</a:t>
            </a:r>
            <a:r>
              <a:rPr lang="zh-CN" altLang="en-US" sz="1400" b="0" i="0" dirty="0">
                <a:solidFill>
                  <a:srgbClr val="191919"/>
                </a:solidFill>
                <a:effectLst/>
                <a:latin typeface="微软雅黑" panose="020B0503020204020204" pitchFamily="34" charset="-122"/>
                <a:ea typeface="微软雅黑" panose="020B0503020204020204" pitchFamily="34" charset="-122"/>
              </a:rPr>
              <a:t>月，游戏设计师杰森</a:t>
            </a:r>
            <a:r>
              <a:rPr lang="en-US" altLang="zh-CN" sz="1400" b="0" i="0" dirty="0">
                <a:solidFill>
                  <a:srgbClr val="191919"/>
                </a:solidFill>
                <a:effectLst/>
                <a:latin typeface="微软雅黑" panose="020B0503020204020204" pitchFamily="34" charset="-122"/>
                <a:ea typeface="微软雅黑" panose="020B0503020204020204" pitchFamily="34" charset="-122"/>
              </a:rPr>
              <a:t>·</a:t>
            </a:r>
            <a:r>
              <a:rPr lang="zh-CN" altLang="en-US" sz="1400" b="0" i="0" dirty="0">
                <a:solidFill>
                  <a:srgbClr val="191919"/>
                </a:solidFill>
                <a:effectLst/>
                <a:latin typeface="微软雅黑" panose="020B0503020204020204" pitchFamily="34" charset="-122"/>
                <a:ea typeface="微软雅黑" panose="020B0503020204020204" pitchFamily="34" charset="-122"/>
              </a:rPr>
              <a:t>艾伦使用 </a:t>
            </a:r>
            <a:r>
              <a:rPr lang="en-US" altLang="zh-CN" sz="1400" b="0" i="0" dirty="0" err="1">
                <a:solidFill>
                  <a:srgbClr val="191919"/>
                </a:solidFill>
                <a:effectLst/>
                <a:latin typeface="微软雅黑" panose="020B0503020204020204" pitchFamily="34" charset="-122"/>
                <a:ea typeface="微软雅黑" panose="020B0503020204020204" pitchFamily="34" charset="-122"/>
              </a:rPr>
              <a:t>Midjourney</a:t>
            </a:r>
            <a:r>
              <a:rPr lang="en-US" altLang="zh-CN" sz="1400" b="0" i="0" dirty="0">
                <a:solidFill>
                  <a:srgbClr val="191919"/>
                </a:solidFill>
                <a:effectLst/>
                <a:latin typeface="微软雅黑" panose="020B0503020204020204" pitchFamily="34" charset="-122"/>
                <a:ea typeface="微软雅黑" panose="020B0503020204020204" pitchFamily="34" charset="-122"/>
              </a:rPr>
              <a:t> </a:t>
            </a:r>
            <a:r>
              <a:rPr lang="zh-CN" altLang="en-US" sz="1400" b="0" i="0" dirty="0">
                <a:solidFill>
                  <a:srgbClr val="191919"/>
                </a:solidFill>
                <a:effectLst/>
                <a:latin typeface="微软雅黑" panose="020B0503020204020204" pitchFamily="34" charset="-122"/>
                <a:ea typeface="微软雅黑" panose="020B0503020204020204" pitchFamily="34" charset="-122"/>
              </a:rPr>
              <a:t>平台创作了一幅名为</a:t>
            </a:r>
            <a:r>
              <a:rPr lang="en-US" altLang="zh-CN" sz="1400" b="0" i="0" dirty="0">
                <a:solidFill>
                  <a:srgbClr val="191919"/>
                </a:solidFill>
                <a:effectLst/>
                <a:latin typeface="微软雅黑" panose="020B0503020204020204" pitchFamily="34" charset="-122"/>
                <a:ea typeface="微软雅黑" panose="020B0503020204020204" pitchFamily="34" charset="-122"/>
              </a:rPr>
              <a:t>《</a:t>
            </a:r>
            <a:r>
              <a:rPr lang="zh-CN" altLang="en-US" sz="1400" b="0" i="0" dirty="0">
                <a:solidFill>
                  <a:srgbClr val="191919"/>
                </a:solidFill>
                <a:effectLst/>
                <a:latin typeface="微软雅黑" panose="020B0503020204020204" pitchFamily="34" charset="-122"/>
                <a:ea typeface="微软雅黑" panose="020B0503020204020204" pitchFamily="34" charset="-122"/>
              </a:rPr>
              <a:t>太空歌剧院</a:t>
            </a:r>
            <a:r>
              <a:rPr lang="en-US" altLang="zh-CN" sz="1400" b="0" i="0" dirty="0">
                <a:solidFill>
                  <a:srgbClr val="191919"/>
                </a:solidFill>
                <a:effectLst/>
                <a:latin typeface="微软雅黑" panose="020B0503020204020204" pitchFamily="34" charset="-122"/>
                <a:ea typeface="微软雅黑" panose="020B0503020204020204" pitchFamily="34" charset="-122"/>
              </a:rPr>
              <a:t>》</a:t>
            </a:r>
            <a:r>
              <a:rPr lang="zh-CN" altLang="en-US" sz="1400" b="0" i="0" dirty="0">
                <a:solidFill>
                  <a:srgbClr val="191919"/>
                </a:solidFill>
                <a:effectLst/>
                <a:latin typeface="微软雅黑" panose="020B0503020204020204" pitchFamily="34" charset="-122"/>
                <a:ea typeface="微软雅黑" panose="020B0503020204020204" pitchFamily="34" charset="-122"/>
              </a:rPr>
              <a:t>的画作，并获得了美国科罗拉多州博览会艺术类比赛一等奖。</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引言</a:t>
            </a:r>
          </a:p>
        </p:txBody>
      </p:sp>
      <p:sp>
        <p:nvSpPr>
          <p:cNvPr id="2" name="Rectangle 1">
            <a:extLst>
              <a:ext uri="{FF2B5EF4-FFF2-40B4-BE49-F238E27FC236}">
                <a16:creationId xmlns:a16="http://schemas.microsoft.com/office/drawing/2014/main" id="{157F48F3-8F01-5860-0CAF-AE50DA9AFBB8}"/>
              </a:ext>
            </a:extLst>
          </p:cNvPr>
          <p:cNvSpPr>
            <a:spLocks noChangeArrowheads="1"/>
          </p:cNvSpPr>
          <p:nvPr/>
        </p:nvSpPr>
        <p:spPr bwMode="auto">
          <a:xfrm>
            <a:off x="419553" y="1536174"/>
            <a:ext cx="620662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不如从离我们最近的一门学科入手。</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许多专业的大学生都在大一时学习了“</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线性代数</a:t>
            </a: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”这门课程，但是大家往往</a:t>
            </a:r>
            <a:r>
              <a:rPr kumimoji="0" lang="zh-CN" altLang="en-US"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不知所云</a:t>
            </a: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，不明白这些</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矩阵</a:t>
            </a: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算来算去有什么意义，而今天，我们小组就要深入探究矩阵运算在</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神经网络</a:t>
            </a: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算法中的大用处。</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首先，让我们简单过一遍神经网络的定义：神经网络（Neural Network）也被称为人工神经网络，是</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深度学习算法</a:t>
            </a: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的核心。它的灵感来源于人脑内部的神经元，模仿生物神经元之间相互传递信号的方式，从而达到学习经验的目的。</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1027" name="Picture 3">
            <a:extLst>
              <a:ext uri="{FF2B5EF4-FFF2-40B4-BE49-F238E27FC236}">
                <a16:creationId xmlns:a16="http://schemas.microsoft.com/office/drawing/2014/main" id="{0C6E70C0-B903-44AE-946A-EC8268180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4326" y="418451"/>
            <a:ext cx="4188157" cy="277551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MLer必知的8个神经网络架构 - 知乎">
            <a:extLst>
              <a:ext uri="{FF2B5EF4-FFF2-40B4-BE49-F238E27FC236}">
                <a16:creationId xmlns:a16="http://schemas.microsoft.com/office/drawing/2014/main" id="{6D59A146-2746-1E00-4B04-C32757F51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4326" y="3513294"/>
            <a:ext cx="4188157" cy="2834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历史沿革</a:t>
            </a:r>
          </a:p>
        </p:txBody>
      </p:sp>
      <p:pic>
        <p:nvPicPr>
          <p:cNvPr id="11" name="图片 10">
            <a:extLst>
              <a:ext uri="{FF2B5EF4-FFF2-40B4-BE49-F238E27FC236}">
                <a16:creationId xmlns:a16="http://schemas.microsoft.com/office/drawing/2014/main" id="{CE5F3DCA-D9ED-5E88-178F-D6C5BF77B5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0278"/>
            <a:ext cx="12192000" cy="38974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历史沿革</a:t>
            </a:r>
          </a:p>
        </p:txBody>
      </p:sp>
      <p:sp>
        <p:nvSpPr>
          <p:cNvPr id="3" name="Rectangle 1">
            <a:extLst>
              <a:ext uri="{FF2B5EF4-FFF2-40B4-BE49-F238E27FC236}">
                <a16:creationId xmlns:a16="http://schemas.microsoft.com/office/drawing/2014/main" id="{729C482D-A0DD-13D7-D322-5CE6013911FE}"/>
              </a:ext>
            </a:extLst>
          </p:cNvPr>
          <p:cNvSpPr>
            <a:spLocks noChangeArrowheads="1"/>
          </p:cNvSpPr>
          <p:nvPr/>
        </p:nvSpPr>
        <p:spPr bwMode="auto">
          <a:xfrm>
            <a:off x="419553" y="1544090"/>
            <a:ext cx="1120461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基础神经网络</a:t>
            </a:r>
            <a:r>
              <a:rPr kumimoji="0" lang="zh-CN" altLang="zh-CN" sz="2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：单层感知器，线性神经网络，BP神经网络，Hopfield神经网络等</a:t>
            </a:r>
            <a:endParaRPr kumimoji="0" lang="en-US" altLang="zh-CN" sz="2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进阶神经网络</a:t>
            </a:r>
            <a:r>
              <a:rPr kumimoji="0" lang="zh-CN" altLang="zh-CN" sz="2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：玻尔兹曼机，受限玻尔兹曼机，递归神经网络等</a:t>
            </a:r>
            <a:endParaRPr kumimoji="0" lang="en-US" altLang="zh-CN" sz="2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深度神经网络</a:t>
            </a:r>
            <a:r>
              <a:rPr kumimoji="0" lang="zh-CN" altLang="zh-CN" sz="2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：深度置信网络，卷积神经网络，深度残差网络，LSTM网络等</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4" name="文本框 3">
            <a:extLst>
              <a:ext uri="{FF2B5EF4-FFF2-40B4-BE49-F238E27FC236}">
                <a16:creationId xmlns:a16="http://schemas.microsoft.com/office/drawing/2014/main" id="{71338D09-8BD4-58D3-16C6-8D24BB330AC6}"/>
              </a:ext>
            </a:extLst>
          </p:cNvPr>
          <p:cNvSpPr txBox="1"/>
          <p:nvPr/>
        </p:nvSpPr>
        <p:spPr>
          <a:xfrm>
            <a:off x="419553" y="4018304"/>
            <a:ext cx="10971810" cy="1698029"/>
          </a:xfrm>
          <a:prstGeom prst="rect">
            <a:avLst/>
          </a:prstGeom>
          <a:noFill/>
        </p:spPr>
        <p:txBody>
          <a:bodyPr wrap="square" rtlCol="0">
            <a:spAutoFit/>
          </a:bodyPr>
          <a:lstStyle/>
          <a:p>
            <a:pPr>
              <a:lnSpc>
                <a:spcPct val="150000"/>
              </a:lnSpc>
            </a:pPr>
            <a:r>
              <a:rPr lang="zh-CN" altLang="en-US" sz="2400" dirty="0"/>
              <a:t>多年的发展实现了种类多样的神经网络。但无论是</a:t>
            </a:r>
            <a:r>
              <a:rPr lang="en-US" altLang="zh-CN" sz="2400" dirty="0"/>
              <a:t>BP</a:t>
            </a:r>
            <a:r>
              <a:rPr lang="zh-CN" altLang="en-US" sz="2400" dirty="0"/>
              <a:t>神经网络还是卷积神经网络，它们都使用了同一种数学工具，也就是我们今天的主题</a:t>
            </a:r>
            <a:r>
              <a:rPr lang="en-US" altLang="zh-CN" sz="2400" dirty="0"/>
              <a:t>——</a:t>
            </a:r>
            <a:r>
              <a:rPr lang="zh-CN" altLang="en-US" sz="2400" b="1" dirty="0"/>
              <a:t>矩阵运算</a:t>
            </a:r>
            <a:r>
              <a:rPr lang="zh-CN" altLang="en-US" sz="2400" dirty="0"/>
              <a:t>。</a:t>
            </a:r>
            <a:endParaRPr lang="en-US" altLang="zh-CN" sz="2400" dirty="0"/>
          </a:p>
          <a:p>
            <a:pPr>
              <a:lnSpc>
                <a:spcPct val="150000"/>
              </a:lnSpc>
            </a:pPr>
            <a:r>
              <a:rPr lang="zh-CN" altLang="en-US" sz="2400" dirty="0"/>
              <a:t>接下来，我们将以</a:t>
            </a:r>
            <a:r>
              <a:rPr lang="zh-CN" altLang="en-US" sz="2400" b="1" dirty="0"/>
              <a:t>前馈计算</a:t>
            </a:r>
            <a:r>
              <a:rPr lang="zh-CN" altLang="en-US" sz="2400" dirty="0"/>
              <a:t>、</a:t>
            </a:r>
            <a:r>
              <a:rPr lang="zh-CN" altLang="en-US" sz="2400" b="1" dirty="0"/>
              <a:t>反向传播算法</a:t>
            </a:r>
            <a:r>
              <a:rPr lang="zh-CN" altLang="en-US" sz="2400" dirty="0"/>
              <a:t>和</a:t>
            </a:r>
            <a:r>
              <a:rPr lang="zh-CN" altLang="en-US" sz="2400" b="1" dirty="0"/>
              <a:t>卷积计算</a:t>
            </a:r>
            <a:r>
              <a:rPr lang="zh-CN" altLang="en-US" sz="2400" dirty="0"/>
              <a:t>为例，走近矩阵运算。</a:t>
            </a:r>
          </a:p>
        </p:txBody>
      </p:sp>
    </p:spTree>
    <p:extLst>
      <p:ext uri="{BB962C8B-B14F-4D97-AF65-F5344CB8AC3E}">
        <p14:creationId xmlns:p14="http://schemas.microsoft.com/office/powerpoint/2010/main" val="2474190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26" name="组合 25"/>
          <p:cNvGrpSpPr/>
          <p:nvPr/>
        </p:nvGrpSpPr>
        <p:grpSpPr>
          <a:xfrm>
            <a:off x="3994468" y="2380810"/>
            <a:ext cx="4203065" cy="2096380"/>
            <a:chOff x="3994468" y="2468023"/>
            <a:chExt cx="4203065" cy="2096380"/>
          </a:xfrm>
        </p:grpSpPr>
        <p:sp>
          <p:nvSpPr>
            <p:cNvPr id="27" name="文本框 26"/>
            <p:cNvSpPr txBox="1"/>
            <p:nvPr/>
          </p:nvSpPr>
          <p:spPr>
            <a:xfrm>
              <a:off x="3994468" y="2468023"/>
              <a:ext cx="4203065" cy="1015663"/>
            </a:xfrm>
            <a:prstGeom prst="rect">
              <a:avLst/>
            </a:prstGeom>
            <a:noFill/>
          </p:spPr>
          <p:txBody>
            <a:bodyPr wrap="square" rtlCol="0">
              <a:spAutoFit/>
            </a:bodyPr>
            <a:lstStyle/>
            <a:p>
              <a:pPr algn="ctr"/>
              <a:r>
                <a:rPr lang="en-US" altLang="zh-CN" sz="6000" dirty="0">
                  <a:solidFill>
                    <a:srgbClr val="868686"/>
                  </a:solidFill>
                  <a:latin typeface="仓耳玄三M W05" pitchFamily="18" charset="-122"/>
                  <a:ea typeface="仓耳玄三M W05" pitchFamily="18" charset="-122"/>
                  <a:cs typeface="Arial" charset="0"/>
                </a:rPr>
                <a:t>PART 02</a:t>
              </a:r>
            </a:p>
          </p:txBody>
        </p:sp>
        <p:sp>
          <p:nvSpPr>
            <p:cNvPr id="28" name="文本框 27"/>
            <p:cNvSpPr txBox="1"/>
            <p:nvPr/>
          </p:nvSpPr>
          <p:spPr>
            <a:xfrm>
              <a:off x="4351421" y="3552239"/>
              <a:ext cx="3489158" cy="584775"/>
            </a:xfrm>
            <a:prstGeom prst="rect">
              <a:avLst/>
            </a:prstGeom>
            <a:noFill/>
          </p:spPr>
          <p:txBody>
            <a:bodyPr wrap="square" rtlCol="0">
              <a:spAutoFit/>
            </a:bodyPr>
            <a:lstStyle/>
            <a:p>
              <a:pPr algn="ctr"/>
              <a:r>
                <a:rPr lang="zh-CN" altLang="en-US" sz="3200" dirty="0">
                  <a:solidFill>
                    <a:srgbClr val="868686"/>
                  </a:solidFill>
                  <a:latin typeface="仓耳玄三M W05" pitchFamily="18" charset="-122"/>
                  <a:ea typeface="仓耳玄三M W05" pitchFamily="18" charset="-122"/>
                </a:rPr>
                <a:t>前馈计算</a:t>
              </a:r>
              <a:endParaRPr lang="en-US" altLang="zh-CN" sz="3200" dirty="0">
                <a:solidFill>
                  <a:srgbClr val="868686"/>
                </a:solidFill>
                <a:latin typeface="仓耳玄三M W05" pitchFamily="18" charset="-122"/>
                <a:ea typeface="仓耳玄三M W05" pitchFamily="18" charset="-122"/>
              </a:endParaRPr>
            </a:p>
          </p:txBody>
        </p:sp>
        <p:sp>
          <p:nvSpPr>
            <p:cNvPr id="29" name="矩形 28"/>
            <p:cNvSpPr/>
            <p:nvPr/>
          </p:nvSpPr>
          <p:spPr>
            <a:xfrm>
              <a:off x="4968711" y="4256626"/>
              <a:ext cx="2254593" cy="307777"/>
            </a:xfrm>
            <a:prstGeom prst="rect">
              <a:avLst/>
            </a:prstGeom>
          </p:spPr>
          <p:txBody>
            <a:bodyPr wrap="none">
              <a:spAutoFit/>
            </a:bodyPr>
            <a:lstStyle/>
            <a:p>
              <a:pPr algn="ctr"/>
              <a:r>
                <a:rPr lang="en-US" altLang="zh-CN" sz="1400" dirty="0">
                  <a:solidFill>
                    <a:srgbClr val="868686"/>
                  </a:solidFill>
                  <a:latin typeface="仓耳玄三M W05" pitchFamily="18" charset="-122"/>
                  <a:ea typeface="仓耳玄三M W05" pitchFamily="18" charset="-122"/>
                </a:rPr>
                <a:t>Feedforward calculation</a:t>
              </a:r>
              <a:endParaRPr lang="zh-CN" altLang="en-US" sz="1400" dirty="0">
                <a:solidFill>
                  <a:srgbClr val="868686"/>
                </a:solidFill>
                <a:latin typeface="仓耳玄三M W05" pitchFamily="18" charset="-122"/>
                <a:ea typeface="仓耳玄三M W05" pitchFamily="18" charset="-122"/>
              </a:endParaRPr>
            </a:p>
          </p:txBody>
        </p:sp>
      </p:grpSp>
    </p:spTree>
    <p:extLst>
      <p:ext uri="{BB962C8B-B14F-4D97-AF65-F5344CB8AC3E}">
        <p14:creationId xmlns:p14="http://schemas.microsoft.com/office/powerpoint/2010/main" val="344640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5" name="内容占位符 2">
            <a:extLst>
              <a:ext uri="{FF2B5EF4-FFF2-40B4-BE49-F238E27FC236}">
                <a16:creationId xmlns:a16="http://schemas.microsoft.com/office/drawing/2014/main" id="{A2B982DB-C22C-9CD6-EA21-F1BE18A9CB79}"/>
              </a:ext>
            </a:extLst>
          </p:cNvPr>
          <p:cNvSpPr txBox="1">
            <a:spLocks/>
          </p:cNvSpPr>
          <p:nvPr/>
        </p:nvSpPr>
        <p:spPr>
          <a:xfrm>
            <a:off x="419553" y="1141982"/>
            <a:ext cx="10515600" cy="212175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前馈神经网络</a:t>
            </a:r>
            <a:r>
              <a:rPr kumimoji="0" lang="zh-CN" altLang="en-US"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，是一种最简单的神经网络，各神经元分层排列，每个神经元只与前一层的神经元相连。接收前一层的输出，并输出给下一层，各层间没有反馈。是应用最广泛、发展最迅速的人工神经网络之一。研究从</a:t>
            </a:r>
            <a:r>
              <a:rPr kumimoji="0" lang="en-US" altLang="zh-CN"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20</a:t>
            </a:r>
            <a:r>
              <a:rPr kumimoji="0" lang="zh-CN" altLang="en-US"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世纪</a:t>
            </a:r>
            <a:r>
              <a:rPr kumimoji="0" lang="en-US" altLang="zh-CN"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60</a:t>
            </a:r>
            <a:r>
              <a:rPr kumimoji="0" lang="zh-CN" altLang="en-US"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年代开始，理论研究和实际应用达到了很高的水平。</a:t>
            </a:r>
          </a:p>
        </p:txBody>
      </p:sp>
      <p:sp>
        <p:nvSpPr>
          <p:cNvPr id="7" name="内容占位符 2">
            <a:extLst>
              <a:ext uri="{FF2B5EF4-FFF2-40B4-BE49-F238E27FC236}">
                <a16:creationId xmlns:a16="http://schemas.microsoft.com/office/drawing/2014/main" id="{ADAF482C-F944-DF6E-C2B2-E8E3FCE909E4}"/>
              </a:ext>
            </a:extLst>
          </p:cNvPr>
          <p:cNvSpPr txBox="1">
            <a:spLocks/>
          </p:cNvSpPr>
          <p:nvPr/>
        </p:nvSpPr>
        <p:spPr>
          <a:xfrm>
            <a:off x="419553" y="3474120"/>
            <a:ext cx="10515600" cy="259826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lang="zh-CN" altLang="en-US" sz="2400" b="1" dirty="0">
                <a:solidFill>
                  <a:sysClr val="windowText" lastClr="000000"/>
                </a:solidFill>
                <a:latin typeface="等线" panose="020F0502020204030204"/>
                <a:ea typeface="等线" panose="02010600030101010101" pitchFamily="2" charset="-122"/>
              </a:rPr>
              <a:t>前馈神经网络</a:t>
            </a:r>
            <a:r>
              <a:rPr lang="zh-CN" altLang="en-US" sz="2400" dirty="0">
                <a:solidFill>
                  <a:sysClr val="windowText" lastClr="000000"/>
                </a:solidFill>
                <a:latin typeface="等线" panose="020F0502020204030204"/>
                <a:ea typeface="等线" panose="02010600030101010101" pitchFamily="2" charset="-122"/>
              </a:rPr>
              <a:t>（</a:t>
            </a:r>
            <a:r>
              <a:rPr lang="en-US" altLang="zh-CN" sz="2400" dirty="0">
                <a:solidFill>
                  <a:sysClr val="windowText" lastClr="000000"/>
                </a:solidFill>
                <a:latin typeface="等线" panose="020F0502020204030204"/>
                <a:ea typeface="等线" panose="02010600030101010101" pitchFamily="2" charset="-122"/>
              </a:rPr>
              <a:t>feedforward neural network</a:t>
            </a:r>
            <a:r>
              <a:rPr lang="zh-CN" altLang="en-US" sz="2400" dirty="0">
                <a:solidFill>
                  <a:sysClr val="windowText" lastClr="000000"/>
                </a:solidFill>
                <a:latin typeface="等线" panose="020F0502020204030204"/>
                <a:ea typeface="等线" panose="02010600030101010101" pitchFamily="2" charset="-122"/>
              </a:rPr>
              <a:t>，</a:t>
            </a:r>
            <a:r>
              <a:rPr lang="en-US" altLang="zh-CN" sz="2400" dirty="0">
                <a:solidFill>
                  <a:sysClr val="windowText" lastClr="000000"/>
                </a:solidFill>
                <a:latin typeface="等线" panose="020F0502020204030204"/>
                <a:ea typeface="等线" panose="02010600030101010101" pitchFamily="2" charset="-122"/>
              </a:rPr>
              <a:t>FNN</a:t>
            </a:r>
            <a:r>
              <a:rPr lang="zh-CN" altLang="en-US" sz="2400" dirty="0">
                <a:solidFill>
                  <a:sysClr val="windowText" lastClr="000000"/>
                </a:solidFill>
                <a:latin typeface="等线" panose="020F0502020204030204"/>
                <a:ea typeface="等线" panose="02010600030101010101" pitchFamily="2" charset="-122"/>
              </a:rPr>
              <a:t>），简称前馈网络，是人工神经网络的一种。前馈神经网络采用一种单向多层结构。其中每一层包含若干个神经元。在此种神经网络中，各神经元可以接收前一层神经元的信号，并产生输出到下一层。第</a:t>
            </a:r>
            <a:r>
              <a:rPr lang="en-US" altLang="zh-CN" sz="2400" dirty="0">
                <a:solidFill>
                  <a:sysClr val="windowText" lastClr="000000"/>
                </a:solidFill>
                <a:latin typeface="等线" panose="020F0502020204030204"/>
                <a:ea typeface="等线" panose="02010600030101010101" pitchFamily="2" charset="-122"/>
              </a:rPr>
              <a:t>0</a:t>
            </a:r>
            <a:r>
              <a:rPr lang="zh-CN" altLang="en-US" sz="2400" dirty="0">
                <a:solidFill>
                  <a:sysClr val="windowText" lastClr="000000"/>
                </a:solidFill>
                <a:latin typeface="等线" panose="020F0502020204030204"/>
                <a:ea typeface="等线" panose="02010600030101010101" pitchFamily="2" charset="-122"/>
              </a:rPr>
              <a:t>层叫输入层，最后一层叫输出层，其他中间层叫做隐含层（或隐藏层、隐层）。隐层可以是一层。也可以是多层</a:t>
            </a:r>
          </a:p>
        </p:txBody>
      </p:sp>
    </p:spTree>
    <p:extLst>
      <p:ext uri="{BB962C8B-B14F-4D97-AF65-F5344CB8AC3E}">
        <p14:creationId xmlns:p14="http://schemas.microsoft.com/office/powerpoint/2010/main" val="3511824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标题 1">
            <a:extLst>
              <a:ext uri="{FF2B5EF4-FFF2-40B4-BE49-F238E27FC236}">
                <a16:creationId xmlns:a16="http://schemas.microsoft.com/office/drawing/2014/main" id="{9F2CC179-0F86-FC0B-4963-4EC9733C23CD}"/>
              </a:ext>
            </a:extLst>
          </p:cNvPr>
          <p:cNvSpPr txBox="1">
            <a:spLocks/>
          </p:cNvSpPr>
          <p:nvPr/>
        </p:nvSpPr>
        <p:spPr>
          <a:xfrm>
            <a:off x="419553" y="1196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a:ln>
                  <a:noFill/>
                </a:ln>
                <a:solidFill>
                  <a:sysClr val="windowText" lastClr="000000"/>
                </a:solidFill>
                <a:effectLst/>
                <a:uLnTx/>
                <a:uFillTx/>
                <a:latin typeface="等线 Light" panose="020F0302020204030204"/>
                <a:ea typeface="等线 Light" panose="02010600030101010101" pitchFamily="2" charset="-122"/>
                <a:cs typeface="+mj-cs"/>
              </a:rPr>
              <a:t>因此简单来说</a:t>
            </a:r>
            <a:endParaRPr kumimoji="0" lang="zh-CN" altLang="en-US" sz="4400" b="0" i="0" u="none" strike="noStrike" kern="1200" cap="none" spc="0" normalizeH="0" baseline="0" noProof="0" dirty="0">
              <a:ln>
                <a:noFill/>
              </a:ln>
              <a:solidFill>
                <a:sysClr val="windowText" lastClr="000000"/>
              </a:solidFill>
              <a:effectLst/>
              <a:uLnTx/>
              <a:uFillTx/>
              <a:latin typeface="等线 Light" panose="020F0302020204030204"/>
              <a:ea typeface="等线 Light" panose="02010600030101010101" pitchFamily="2" charset="-122"/>
              <a:cs typeface="+mj-cs"/>
            </a:endParaRPr>
          </a:p>
        </p:txBody>
      </p:sp>
      <p:sp>
        <p:nvSpPr>
          <p:cNvPr id="6" name="内容占位符 2">
            <a:extLst>
              <a:ext uri="{FF2B5EF4-FFF2-40B4-BE49-F238E27FC236}">
                <a16:creationId xmlns:a16="http://schemas.microsoft.com/office/drawing/2014/main" id="{948913B3-AD20-BCF6-893A-5C2EC52B32B9}"/>
              </a:ext>
            </a:extLst>
          </p:cNvPr>
          <p:cNvSpPr txBox="1">
            <a:spLocks/>
          </p:cNvSpPr>
          <p:nvPr/>
        </p:nvSpPr>
        <p:spPr>
          <a:xfrm>
            <a:off x="419553" y="2835028"/>
            <a:ext cx="10515600" cy="132556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前馈计算：给出输入计算输出</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根据计算得到的输出值和标签计算损失函数</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924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4" name="标题 1">
            <a:extLst>
              <a:ext uri="{FF2B5EF4-FFF2-40B4-BE49-F238E27FC236}">
                <a16:creationId xmlns:a16="http://schemas.microsoft.com/office/drawing/2014/main" id="{2AC94B8D-CB00-A0B0-F82D-4F2E730A48CE}"/>
              </a:ext>
            </a:extLst>
          </p:cNvPr>
          <p:cNvSpPr txBox="1">
            <a:spLocks/>
          </p:cNvSpPr>
          <p:nvPr/>
        </p:nvSpPr>
        <p:spPr>
          <a:xfrm>
            <a:off x="419553" y="10182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a:ln>
                  <a:noFill/>
                </a:ln>
                <a:solidFill>
                  <a:sysClr val="windowText" lastClr="000000"/>
                </a:solidFill>
                <a:effectLst/>
                <a:uLnTx/>
                <a:uFillTx/>
                <a:latin typeface="等线 Light" panose="020F0302020204030204"/>
                <a:ea typeface="等线 Light" panose="02010600030101010101" pitchFamily="2" charset="-122"/>
                <a:cs typeface="+mj-cs"/>
              </a:rPr>
              <a:t>例如：用神经网络实现与运算</a:t>
            </a:r>
            <a:endParaRPr kumimoji="0" lang="zh-CN" altLang="en-US" sz="4400" b="0" i="0" u="none" strike="noStrike" kern="1200" cap="none" spc="0" normalizeH="0" baseline="0" noProof="0" dirty="0">
              <a:ln>
                <a:noFill/>
              </a:ln>
              <a:solidFill>
                <a:sysClr val="windowText" lastClr="000000"/>
              </a:solidFill>
              <a:effectLst/>
              <a:uLnTx/>
              <a:uFillTx/>
              <a:latin typeface="等线 Light" panose="020F0302020204030204"/>
              <a:ea typeface="等线 Light" panose="02010600030101010101" pitchFamily="2" charset="-122"/>
              <a:cs typeface="+mj-cs"/>
            </a:endParaRPr>
          </a:p>
        </p:txBody>
      </p:sp>
      <p:pic>
        <p:nvPicPr>
          <p:cNvPr id="6" name="内容占位符 4">
            <a:extLst>
              <a:ext uri="{FF2B5EF4-FFF2-40B4-BE49-F238E27FC236}">
                <a16:creationId xmlns:a16="http://schemas.microsoft.com/office/drawing/2014/main" id="{372FB41F-96BB-1AAC-8978-4B3C7760B48C}"/>
              </a:ext>
            </a:extLst>
          </p:cNvPr>
          <p:cNvPicPr>
            <a:picLocks noChangeAspect="1"/>
          </p:cNvPicPr>
          <p:nvPr/>
        </p:nvPicPr>
        <p:blipFill>
          <a:blip r:embed="rId2"/>
          <a:stretch>
            <a:fillRect/>
          </a:stretch>
        </p:blipFill>
        <p:spPr>
          <a:xfrm>
            <a:off x="419553" y="2572172"/>
            <a:ext cx="5331854" cy="3097369"/>
          </a:xfrm>
          <a:prstGeom prst="rect">
            <a:avLst/>
          </a:prstGeom>
        </p:spPr>
      </p:pic>
      <p:sp>
        <p:nvSpPr>
          <p:cNvPr id="7" name="文本框 6">
            <a:extLst>
              <a:ext uri="{FF2B5EF4-FFF2-40B4-BE49-F238E27FC236}">
                <a16:creationId xmlns:a16="http://schemas.microsoft.com/office/drawing/2014/main" id="{DBB33B26-4504-8E8F-55D8-C91D4CA13155}"/>
              </a:ext>
            </a:extLst>
          </p:cNvPr>
          <p:cNvSpPr txBox="1"/>
          <p:nvPr/>
        </p:nvSpPr>
        <p:spPr>
          <a:xfrm>
            <a:off x="5784734" y="3246092"/>
            <a:ext cx="3303639" cy="646331"/>
          </a:xfrm>
          <a:prstGeom prst="rect">
            <a:avLst/>
          </a:prstGeom>
          <a:noFill/>
        </p:spPr>
        <p:txBody>
          <a:bodyPr wrap="square" rtlCol="0">
            <a:spAutoFit/>
          </a:bodyPr>
          <a:lstStyle/>
          <a:p>
            <a:r>
              <a:rPr lang="zh-CN" altLang="en-US" dirty="0"/>
              <a:t>显然</a:t>
            </a:r>
            <a:r>
              <a:rPr lang="en-US" altLang="zh-CN" dirty="0"/>
              <a:t>f</a:t>
            </a:r>
            <a:r>
              <a:rPr lang="zh-CN" altLang="en-US" dirty="0"/>
              <a:t>的运算为负数输出假，正数输出真</a:t>
            </a:r>
          </a:p>
        </p:txBody>
      </p:sp>
      <p:sp>
        <p:nvSpPr>
          <p:cNvPr id="10" name="文本框 9">
            <a:extLst>
              <a:ext uri="{FF2B5EF4-FFF2-40B4-BE49-F238E27FC236}">
                <a16:creationId xmlns:a16="http://schemas.microsoft.com/office/drawing/2014/main" id="{EE192C2C-D1EA-6E24-EBF5-07516DD2DD39}"/>
              </a:ext>
            </a:extLst>
          </p:cNvPr>
          <p:cNvSpPr txBox="1"/>
          <p:nvPr/>
        </p:nvSpPr>
        <p:spPr>
          <a:xfrm>
            <a:off x="5573230" y="4120764"/>
            <a:ext cx="2458065" cy="1477328"/>
          </a:xfrm>
          <a:prstGeom prst="rect">
            <a:avLst/>
          </a:prstGeom>
          <a:noFill/>
        </p:spPr>
        <p:txBody>
          <a:bodyPr wrap="square" rtlCol="0">
            <a:spAutoFit/>
          </a:bodyPr>
          <a:lstStyle/>
          <a:p>
            <a:r>
              <a:rPr lang="en-US" altLang="zh-CN" dirty="0"/>
              <a:t>G</a:t>
            </a:r>
            <a:r>
              <a:rPr lang="zh-CN" altLang="en-US" dirty="0"/>
              <a:t>的运算是值乘向量再累加，用向量形式表示如下图，产生了一个一维向量刚好对应一个输出</a:t>
            </a:r>
          </a:p>
        </p:txBody>
      </p:sp>
      <p:pic>
        <p:nvPicPr>
          <p:cNvPr id="11" name="图片 10">
            <a:extLst>
              <a:ext uri="{FF2B5EF4-FFF2-40B4-BE49-F238E27FC236}">
                <a16:creationId xmlns:a16="http://schemas.microsoft.com/office/drawing/2014/main" id="{BCBDC3F2-5E42-092A-44A4-DCE9EA8044D2}"/>
              </a:ext>
            </a:extLst>
          </p:cNvPr>
          <p:cNvPicPr>
            <a:picLocks noChangeAspect="1"/>
          </p:cNvPicPr>
          <p:nvPr/>
        </p:nvPicPr>
        <p:blipFill>
          <a:blip r:embed="rId3"/>
          <a:stretch>
            <a:fillRect/>
          </a:stretch>
        </p:blipFill>
        <p:spPr>
          <a:xfrm>
            <a:off x="8275304" y="4120764"/>
            <a:ext cx="2936926" cy="1894988"/>
          </a:xfrm>
          <a:prstGeom prst="rect">
            <a:avLst/>
          </a:prstGeom>
        </p:spPr>
      </p:pic>
    </p:spTree>
    <p:extLst>
      <p:ext uri="{BB962C8B-B14F-4D97-AF65-F5344CB8AC3E}">
        <p14:creationId xmlns:p14="http://schemas.microsoft.com/office/powerpoint/2010/main" val="4051549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标题 1">
            <a:extLst>
              <a:ext uri="{FF2B5EF4-FFF2-40B4-BE49-F238E27FC236}">
                <a16:creationId xmlns:a16="http://schemas.microsoft.com/office/drawing/2014/main" id="{0BCD2557-47F8-B228-0F61-316A7D5C8A92}"/>
              </a:ext>
            </a:extLst>
          </p:cNvPr>
          <p:cNvSpPr txBox="1">
            <a:spLocks/>
          </p:cNvSpPr>
          <p:nvPr/>
        </p:nvSpPr>
        <p:spPr>
          <a:xfrm>
            <a:off x="419553" y="110139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a:ln>
                  <a:noFill/>
                </a:ln>
                <a:solidFill>
                  <a:sysClr val="windowText" lastClr="000000"/>
                </a:solidFill>
                <a:effectLst/>
                <a:uLnTx/>
                <a:uFillTx/>
                <a:latin typeface="等线 Light" panose="020F0302020204030204"/>
                <a:ea typeface="等线 Light" panose="02010600030101010101" pitchFamily="2" charset="-122"/>
                <a:cs typeface="+mj-cs"/>
              </a:rPr>
              <a:t>真值表如下图</a:t>
            </a:r>
            <a:endParaRPr kumimoji="0" lang="zh-CN" altLang="en-US" sz="4400" b="0" i="0" u="none" strike="noStrike" kern="1200" cap="none" spc="0" normalizeH="0" baseline="0" noProof="0" dirty="0">
              <a:ln>
                <a:noFill/>
              </a:ln>
              <a:solidFill>
                <a:sysClr val="windowText" lastClr="000000"/>
              </a:solidFill>
              <a:effectLst/>
              <a:uLnTx/>
              <a:uFillTx/>
              <a:latin typeface="等线 Light" panose="020F0302020204030204"/>
              <a:ea typeface="等线 Light" panose="02010600030101010101" pitchFamily="2" charset="-122"/>
              <a:cs typeface="+mj-cs"/>
            </a:endParaRPr>
          </a:p>
        </p:txBody>
      </p:sp>
      <p:pic>
        <p:nvPicPr>
          <p:cNvPr id="5" name="内容占位符 4">
            <a:extLst>
              <a:ext uri="{FF2B5EF4-FFF2-40B4-BE49-F238E27FC236}">
                <a16:creationId xmlns:a16="http://schemas.microsoft.com/office/drawing/2014/main" id="{B8D8D490-5530-453D-E1D4-FC823EB163A5}"/>
              </a:ext>
            </a:extLst>
          </p:cNvPr>
          <p:cNvPicPr>
            <a:picLocks noChangeAspect="1"/>
          </p:cNvPicPr>
          <p:nvPr/>
        </p:nvPicPr>
        <p:blipFill>
          <a:blip r:embed="rId2"/>
          <a:stretch>
            <a:fillRect/>
          </a:stretch>
        </p:blipFill>
        <p:spPr>
          <a:xfrm>
            <a:off x="2813561" y="2426958"/>
            <a:ext cx="4954879" cy="2710063"/>
          </a:xfrm>
          <a:prstGeom prst="rect">
            <a:avLst/>
          </a:prstGeom>
        </p:spPr>
      </p:pic>
    </p:spTree>
    <p:extLst>
      <p:ext uri="{BB962C8B-B14F-4D97-AF65-F5344CB8AC3E}">
        <p14:creationId xmlns:p14="http://schemas.microsoft.com/office/powerpoint/2010/main" val="533934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标题 1">
            <a:extLst>
              <a:ext uri="{FF2B5EF4-FFF2-40B4-BE49-F238E27FC236}">
                <a16:creationId xmlns:a16="http://schemas.microsoft.com/office/drawing/2014/main" id="{9844E1D0-303A-44D4-FBE3-82F311C0190C}"/>
              </a:ext>
            </a:extLst>
          </p:cNvPr>
          <p:cNvSpPr txBox="1">
            <a:spLocks/>
          </p:cNvSpPr>
          <p:nvPr/>
        </p:nvSpPr>
        <p:spPr>
          <a:xfrm>
            <a:off x="419553" y="88011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等线 Light" panose="020F0302020204030204"/>
                <a:ea typeface="等线 Light" panose="02010600030101010101" pitchFamily="2" charset="-122"/>
                <a:cs typeface="+mj-cs"/>
              </a:rPr>
              <a:t>那如果输出多一点呢</a:t>
            </a:r>
          </a:p>
        </p:txBody>
      </p:sp>
      <p:pic>
        <p:nvPicPr>
          <p:cNvPr id="4" name="内容占位符 4">
            <a:extLst>
              <a:ext uri="{FF2B5EF4-FFF2-40B4-BE49-F238E27FC236}">
                <a16:creationId xmlns:a16="http://schemas.microsoft.com/office/drawing/2014/main" id="{A684BF00-7727-A2F3-CA90-BE2D92821C1A}"/>
              </a:ext>
            </a:extLst>
          </p:cNvPr>
          <p:cNvPicPr>
            <a:picLocks noChangeAspect="1"/>
          </p:cNvPicPr>
          <p:nvPr/>
        </p:nvPicPr>
        <p:blipFill>
          <a:blip r:embed="rId2"/>
          <a:stretch>
            <a:fillRect/>
          </a:stretch>
        </p:blipFill>
        <p:spPr>
          <a:xfrm>
            <a:off x="419553" y="2088211"/>
            <a:ext cx="4746079" cy="4351338"/>
          </a:xfrm>
          <a:prstGeom prst="rect">
            <a:avLst/>
          </a:prstGeom>
        </p:spPr>
      </p:pic>
      <p:sp>
        <p:nvSpPr>
          <p:cNvPr id="5" name="文本框 4">
            <a:extLst>
              <a:ext uri="{FF2B5EF4-FFF2-40B4-BE49-F238E27FC236}">
                <a16:creationId xmlns:a16="http://schemas.microsoft.com/office/drawing/2014/main" id="{08235D43-593B-01C9-DB28-0DE32E3A94C3}"/>
              </a:ext>
            </a:extLst>
          </p:cNvPr>
          <p:cNvSpPr txBox="1"/>
          <p:nvPr/>
        </p:nvSpPr>
        <p:spPr>
          <a:xfrm>
            <a:off x="5165632" y="2088211"/>
            <a:ext cx="3644303" cy="2031325"/>
          </a:xfrm>
          <a:prstGeom prst="rect">
            <a:avLst/>
          </a:prstGeom>
          <a:noFill/>
        </p:spPr>
        <p:txBody>
          <a:bodyPr wrap="square" rtlCol="0">
            <a:spAutoFit/>
          </a:bodyPr>
          <a:lstStyle/>
          <a:p>
            <a:r>
              <a:rPr lang="zh-CN" altLang="en-US" dirty="0"/>
              <a:t>如左图，</a:t>
            </a:r>
            <a:endParaRPr lang="en-US" altLang="zh-CN" dirty="0"/>
          </a:p>
          <a:p>
            <a:r>
              <a:rPr lang="zh-CN" altLang="en-US" dirty="0"/>
              <a:t>假如用</a:t>
            </a:r>
            <a:r>
              <a:rPr lang="en-US" altLang="zh-CN" dirty="0" err="1"/>
              <a:t>θab</a:t>
            </a:r>
            <a:r>
              <a:rPr lang="zh-CN" altLang="en-US" dirty="0"/>
              <a:t>来表示下标为</a:t>
            </a:r>
            <a:r>
              <a:rPr lang="en-US" altLang="zh-CN" dirty="0"/>
              <a:t>a</a:t>
            </a:r>
            <a:r>
              <a:rPr lang="zh-CN" altLang="en-US" dirty="0"/>
              <a:t>的输入对应下标为</a:t>
            </a:r>
            <a:r>
              <a:rPr lang="en-US" altLang="zh-CN" dirty="0"/>
              <a:t>b</a:t>
            </a:r>
            <a:r>
              <a:rPr lang="zh-CN" altLang="en-US" dirty="0"/>
              <a:t>的输出的权值</a:t>
            </a:r>
            <a:endParaRPr lang="en-US" altLang="zh-CN" dirty="0"/>
          </a:p>
          <a:p>
            <a:r>
              <a:rPr lang="zh-CN" altLang="en-US" dirty="0"/>
              <a:t>得到三个方程</a:t>
            </a:r>
            <a:endParaRPr lang="en-US" altLang="zh-CN" dirty="0"/>
          </a:p>
          <a:p>
            <a:r>
              <a:rPr lang="en-US" altLang="zh-CN" dirty="0"/>
              <a:t>Y1=x1*θ11+x2θ21+x3θ31+x4θ41……</a:t>
            </a:r>
          </a:p>
          <a:p>
            <a:r>
              <a:rPr lang="zh-CN" altLang="en-US" dirty="0"/>
              <a:t>那么刚好可以写成</a:t>
            </a:r>
          </a:p>
        </p:txBody>
      </p:sp>
      <p:pic>
        <p:nvPicPr>
          <p:cNvPr id="6" name="图片 5">
            <a:extLst>
              <a:ext uri="{FF2B5EF4-FFF2-40B4-BE49-F238E27FC236}">
                <a16:creationId xmlns:a16="http://schemas.microsoft.com/office/drawing/2014/main" id="{2B6804A1-D361-7B6A-8333-D52AF255F929}"/>
              </a:ext>
            </a:extLst>
          </p:cNvPr>
          <p:cNvPicPr>
            <a:picLocks noChangeAspect="1"/>
          </p:cNvPicPr>
          <p:nvPr/>
        </p:nvPicPr>
        <p:blipFill>
          <a:blip r:embed="rId3"/>
          <a:stretch>
            <a:fillRect/>
          </a:stretch>
        </p:blipFill>
        <p:spPr>
          <a:xfrm>
            <a:off x="5165632" y="4179551"/>
            <a:ext cx="5712543" cy="1959108"/>
          </a:xfrm>
          <a:prstGeom prst="rect">
            <a:avLst/>
          </a:prstGeom>
        </p:spPr>
      </p:pic>
    </p:spTree>
    <p:extLst>
      <p:ext uri="{BB962C8B-B14F-4D97-AF65-F5344CB8AC3E}">
        <p14:creationId xmlns:p14="http://schemas.microsoft.com/office/powerpoint/2010/main" val="2590202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标题 1">
            <a:extLst>
              <a:ext uri="{FF2B5EF4-FFF2-40B4-BE49-F238E27FC236}">
                <a16:creationId xmlns:a16="http://schemas.microsoft.com/office/drawing/2014/main" id="{DE5EB693-9146-2D73-419E-1E46C38DEA64}"/>
              </a:ext>
            </a:extLst>
          </p:cNvPr>
          <p:cNvSpPr txBox="1">
            <a:spLocks/>
          </p:cNvSpPr>
          <p:nvPr/>
        </p:nvSpPr>
        <p:spPr>
          <a:xfrm>
            <a:off x="419553" y="111131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等线 Light" panose="020F0302020204030204"/>
                <a:ea typeface="等线 Light" panose="02010600030101010101" pitchFamily="2" charset="-122"/>
                <a:cs typeface="+mj-cs"/>
              </a:rPr>
              <a:t>对于刚才的一步运算可以如下：</a:t>
            </a:r>
          </a:p>
        </p:txBody>
      </p:sp>
      <p:sp>
        <p:nvSpPr>
          <p:cNvPr id="6" name="内容占位符 2">
            <a:extLst>
              <a:ext uri="{FF2B5EF4-FFF2-40B4-BE49-F238E27FC236}">
                <a16:creationId xmlns:a16="http://schemas.microsoft.com/office/drawing/2014/main" id="{6A35FA7B-AD87-32BC-4E50-A003694DC0F8}"/>
              </a:ext>
            </a:extLst>
          </p:cNvPr>
          <p:cNvSpPr txBox="1">
            <a:spLocks/>
          </p:cNvSpPr>
          <p:nvPr/>
        </p:nvSpPr>
        <p:spPr>
          <a:xfrm>
            <a:off x="419553" y="2569463"/>
            <a:ext cx="10515600" cy="1539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y = f(</a:t>
            </a:r>
            <a:r>
              <a:rPr kumimoji="0" lang="en-US" altLang="zh-CN" sz="2800" b="0" i="0" u="none" strike="noStrike" kern="1200" cap="none" spc="0" normalizeH="0" baseline="0" noProof="0" dirty="0" err="1">
                <a:ln>
                  <a:noFill/>
                </a:ln>
                <a:solidFill>
                  <a:sysClr val="windowText" lastClr="000000"/>
                </a:solidFill>
                <a:effectLst/>
                <a:uLnTx/>
                <a:uFillTx/>
                <a:latin typeface="等线" panose="020F0502020204030204"/>
                <a:ea typeface="等线" panose="02010600030101010101" pitchFamily="2" charset="-122"/>
                <a:cs typeface="+mn-cs"/>
              </a:rPr>
              <a:t>Wx+b</a:t>
            </a:r>
            <a:r>
              <a:rPr kumimoji="0" lang="en-US" altLang="zh-CN"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其中，</a:t>
            </a:r>
            <a:r>
              <a:rPr kumimoji="0" lang="en-US" altLang="zh-CN"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f</a:t>
            </a:r>
            <a:r>
              <a:rPr kumimoji="0" lang="zh-CN" altLang="en-US"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为激活函数，</a:t>
            </a:r>
            <a:r>
              <a:rPr kumimoji="0" lang="en-US" altLang="zh-CN"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x</a:t>
            </a:r>
            <a:r>
              <a:rPr kumimoji="0" lang="zh-CN" altLang="en-US"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为权重向量，</a:t>
            </a:r>
            <a:r>
              <a:rPr kumimoji="0" lang="en-US" altLang="zh-CN"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b</a:t>
            </a:r>
            <a:r>
              <a:rPr kumimoji="0" lang="zh-CN" altLang="en-US" sz="2800" b="0" i="0" u="none" strike="noStrike" kern="1200" cap="none" spc="0" normalizeH="0" baseline="0" noProof="0" dirty="0">
                <a:ln>
                  <a:noFill/>
                </a:ln>
                <a:solidFill>
                  <a:srgbClr val="4D4D4D"/>
                </a:solidFill>
                <a:effectLst/>
                <a:uLnTx/>
                <a:uFillTx/>
                <a:latin typeface="-apple-system"/>
                <a:ea typeface="等线" panose="02010600030101010101" pitchFamily="2" charset="-122"/>
                <a:cs typeface="+mn-cs"/>
              </a:rPr>
              <a:t>为偏置项</a:t>
            </a:r>
            <a:endParaRPr kumimoji="0" lang="en-US" altLang="zh-CN"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27986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内容占位符 2">
            <a:extLst>
              <a:ext uri="{FF2B5EF4-FFF2-40B4-BE49-F238E27FC236}">
                <a16:creationId xmlns:a16="http://schemas.microsoft.com/office/drawing/2014/main" id="{75779B96-66AE-33A3-D3E6-133F39598F2C}"/>
              </a:ext>
            </a:extLst>
          </p:cNvPr>
          <p:cNvSpPr txBox="1">
            <a:spLocks/>
          </p:cNvSpPr>
          <p:nvPr/>
        </p:nvSpPr>
        <p:spPr>
          <a:xfrm>
            <a:off x="425520" y="1033644"/>
            <a:ext cx="11506284" cy="51868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60000"/>
              </a:lnSpc>
              <a:spcBef>
                <a:spcPts val="10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多层前馈神经网络也可以看成是一种特征转换方法，其输出𝜙</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𝒙</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作为分类器的输入进行分类．特别地，如果分类器𝑔</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为</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Logistic</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回归分类器或</a:t>
            </a:r>
            <a:r>
              <a:rPr kumimoji="0" lang="en-US" altLang="zh-CN" sz="2000" b="0" i="0" u="none" strike="noStrike" kern="1200" cap="none" spc="0" normalizeH="0" baseline="0" noProof="0" dirty="0" err="1">
                <a:ln>
                  <a:noFill/>
                </a:ln>
                <a:solidFill>
                  <a:sysClr val="windowText" lastClr="000000"/>
                </a:solidFill>
                <a:effectLst/>
                <a:uLnTx/>
                <a:uFillTx/>
                <a:latin typeface="等线" panose="020F0502020204030204"/>
                <a:ea typeface="等线" panose="02010600030101010101" pitchFamily="2" charset="-122"/>
                <a:cs typeface="+mn-cs"/>
              </a:rPr>
              <a:t>Softmax</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回归分类器，那么𝑔</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也可以看成是网络的最后一层，即神经网络直接输出不同类别的条件概率𝑝</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𝑦</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𝒙</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p>
          <a:p>
            <a:pPr marL="228600" marR="0" lvl="0" indent="-228600" algn="l" defTabSz="914400" rtl="0" eaLnBrk="1" fontAlgn="auto" latinLnBrk="0" hangingPunct="1">
              <a:lnSpc>
                <a:spcPct val="160000"/>
              </a:lnSpc>
              <a:spcBef>
                <a:spcPts val="1000"/>
              </a:spcBef>
              <a:spcAft>
                <a:spcPts val="0"/>
              </a:spcAft>
              <a:buClrTx/>
              <a:buSzTx/>
              <a:buFont typeface="Arial" panose="020B0604020202020204" pitchFamily="34" charset="0"/>
              <a:buChar char="•"/>
              <a:tabLst/>
              <a:defRPr/>
            </a:pPr>
            <a:endPar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endParaRPr>
          </a:p>
          <a:p>
            <a:pPr marL="228600" marR="0" lvl="0" indent="-228600" algn="l" defTabSz="914400" rtl="0" eaLnBrk="1" fontAlgn="auto" latinLnBrk="0" hangingPunct="1">
              <a:lnSpc>
                <a:spcPct val="160000"/>
              </a:lnSpc>
              <a:spcBef>
                <a:spcPts val="10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对于二分类问题𝑦∈</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{0,1}</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，并采用</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Logistic</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回归，那么 </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Logistic </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回归分类器可以看成神经网络的最后一层．也就是说，网络的最后一层只用一个神经元，并且其激活函数为</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Logistic</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函数．网络的输出可以直接作为类别𝑦</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=1</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的条件概率，</a:t>
            </a:r>
          </a:p>
          <a:p>
            <a:pPr marL="228600" marR="0" lvl="0" indent="-228600" algn="l" defTabSz="914400" rtl="0" eaLnBrk="1" fontAlgn="auto" latinLnBrk="0" hangingPunct="1">
              <a:lnSpc>
                <a:spcPct val="160000"/>
              </a:lnSpc>
              <a:spcBef>
                <a:spcPts val="10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对于多分类问题𝑦∈</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{1,⋯,</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𝐶</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，如果使用</a:t>
            </a:r>
            <a:r>
              <a:rPr kumimoji="0" lang="en-US" altLang="zh-CN" sz="2000" b="0" i="0" u="none" strike="noStrike" kern="1200" cap="none" spc="0" normalizeH="0" baseline="0" noProof="0" dirty="0" err="1">
                <a:ln>
                  <a:noFill/>
                </a:ln>
                <a:solidFill>
                  <a:sysClr val="windowText" lastClr="000000"/>
                </a:solidFill>
                <a:effectLst/>
                <a:uLnTx/>
                <a:uFillTx/>
                <a:latin typeface="等线" panose="020F0502020204030204"/>
                <a:ea typeface="等线" panose="02010600030101010101" pitchFamily="2" charset="-122"/>
                <a:cs typeface="+mn-cs"/>
              </a:rPr>
              <a:t>Softmax</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回归分类器，相当于网络最后一层设置𝐶个神经元，其激活函数为</a:t>
            </a:r>
            <a:r>
              <a:rPr kumimoji="0" lang="en-US" altLang="zh-CN" sz="2000" b="0" i="0" u="none" strike="noStrike" kern="1200" cap="none" spc="0" normalizeH="0" baseline="0" noProof="0" dirty="0" err="1">
                <a:ln>
                  <a:noFill/>
                </a:ln>
                <a:solidFill>
                  <a:sysClr val="windowText" lastClr="000000"/>
                </a:solidFill>
                <a:effectLst/>
                <a:uLnTx/>
                <a:uFillTx/>
                <a:latin typeface="等线" panose="020F0502020204030204"/>
                <a:ea typeface="等线" panose="02010600030101010101" pitchFamily="2" charset="-122"/>
                <a:cs typeface="+mn-cs"/>
              </a:rPr>
              <a:t>Softmax</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函数．网络最后一层（第𝐿层）的输出可以作为每个类的条件概率</a:t>
            </a:r>
          </a:p>
        </p:txBody>
      </p:sp>
    </p:spTree>
    <p:extLst>
      <p:ext uri="{BB962C8B-B14F-4D97-AF65-F5344CB8AC3E}">
        <p14:creationId xmlns:p14="http://schemas.microsoft.com/office/powerpoint/2010/main" val="3069524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标题 1">
            <a:extLst>
              <a:ext uri="{FF2B5EF4-FFF2-40B4-BE49-F238E27FC236}">
                <a16:creationId xmlns:a16="http://schemas.microsoft.com/office/drawing/2014/main" id="{280402F3-1670-37FE-26C2-5B875F41E327}"/>
              </a:ext>
            </a:extLst>
          </p:cNvPr>
          <p:cNvSpPr txBox="1">
            <a:spLocks/>
          </p:cNvSpPr>
          <p:nvPr/>
        </p:nvSpPr>
        <p:spPr>
          <a:xfrm>
            <a:off x="368120" y="789927"/>
            <a:ext cx="10882745" cy="192474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200" b="1" dirty="0">
                <a:solidFill>
                  <a:srgbClr val="4F4F4F"/>
                </a:solidFill>
                <a:latin typeface="PingFang SC"/>
              </a:rPr>
              <a:t>向前传播算法：</a:t>
            </a:r>
            <a:r>
              <a:rPr lang="en-US" altLang="zh-CN" sz="3200" b="1" dirty="0">
                <a:solidFill>
                  <a:srgbClr val="4F4F4F"/>
                </a:solidFill>
                <a:latin typeface="PingFang SC"/>
              </a:rPr>
              <a:t>TensorFlow</a:t>
            </a:r>
            <a:r>
              <a:rPr lang="zh-CN" altLang="en-US" sz="3200" b="1" dirty="0">
                <a:solidFill>
                  <a:srgbClr val="4F4F4F"/>
                </a:solidFill>
                <a:latin typeface="PingFang SC"/>
              </a:rPr>
              <a:t>矩阵乘法实现</a:t>
            </a:r>
            <a:br>
              <a:rPr lang="zh-CN" altLang="en-US" sz="3200" b="1" dirty="0">
                <a:solidFill>
                  <a:srgbClr val="4F4F4F"/>
                </a:solidFill>
                <a:latin typeface="PingFang SC"/>
              </a:rPr>
            </a:br>
            <a:r>
              <a:rPr lang="zh-CN" altLang="en-US" sz="3200" dirty="0">
                <a:solidFill>
                  <a:srgbClr val="4D4D4D"/>
                </a:solidFill>
                <a:latin typeface="-apple-system"/>
              </a:rPr>
              <a:t>计算向前传播的结果需要</a:t>
            </a:r>
            <a:r>
              <a:rPr lang="en-US" altLang="zh-CN" sz="3200" dirty="0">
                <a:solidFill>
                  <a:srgbClr val="4D4D4D"/>
                </a:solidFill>
                <a:latin typeface="-apple-system"/>
              </a:rPr>
              <a:t>3</a:t>
            </a:r>
            <a:r>
              <a:rPr lang="zh-CN" altLang="en-US" sz="3200" dirty="0">
                <a:solidFill>
                  <a:srgbClr val="4D4D4D"/>
                </a:solidFill>
                <a:latin typeface="-apple-system"/>
              </a:rPr>
              <a:t>部分信息：神经网络的输入</a:t>
            </a:r>
            <a:r>
              <a:rPr lang="en-US" altLang="zh-CN" sz="3200" dirty="0">
                <a:solidFill>
                  <a:srgbClr val="4D4D4D"/>
                </a:solidFill>
                <a:latin typeface="-apple-system"/>
              </a:rPr>
              <a:t>+</a:t>
            </a:r>
            <a:r>
              <a:rPr lang="zh-CN" altLang="en-US" sz="3200" dirty="0">
                <a:solidFill>
                  <a:srgbClr val="4D4D4D"/>
                </a:solidFill>
                <a:latin typeface="-apple-system"/>
              </a:rPr>
              <a:t>神经网络的连接结构</a:t>
            </a:r>
            <a:r>
              <a:rPr lang="en-US" altLang="zh-CN" sz="3200" dirty="0">
                <a:solidFill>
                  <a:srgbClr val="4D4D4D"/>
                </a:solidFill>
                <a:latin typeface="-apple-system"/>
              </a:rPr>
              <a:t>+</a:t>
            </a:r>
            <a:r>
              <a:rPr lang="zh-CN" altLang="en-US" sz="3200" dirty="0">
                <a:solidFill>
                  <a:srgbClr val="4D4D4D"/>
                </a:solidFill>
                <a:latin typeface="-apple-system"/>
              </a:rPr>
              <a:t>每个神经元中的参数。</a:t>
            </a:r>
          </a:p>
        </p:txBody>
      </p:sp>
      <p:pic>
        <p:nvPicPr>
          <p:cNvPr id="4" name="内容占位符 4">
            <a:extLst>
              <a:ext uri="{FF2B5EF4-FFF2-40B4-BE49-F238E27FC236}">
                <a16:creationId xmlns:a16="http://schemas.microsoft.com/office/drawing/2014/main" id="{76C49525-730B-5D17-3BE3-52C9BEEE739D}"/>
              </a:ext>
            </a:extLst>
          </p:cNvPr>
          <p:cNvPicPr>
            <a:picLocks noChangeAspect="1"/>
          </p:cNvPicPr>
          <p:nvPr/>
        </p:nvPicPr>
        <p:blipFill>
          <a:blip r:embed="rId2"/>
          <a:stretch>
            <a:fillRect/>
          </a:stretch>
        </p:blipFill>
        <p:spPr>
          <a:xfrm>
            <a:off x="2164596" y="2620048"/>
            <a:ext cx="6219383" cy="3806344"/>
          </a:xfrm>
          <a:prstGeom prst="rect">
            <a:avLst/>
          </a:prstGeom>
        </p:spPr>
      </p:pic>
    </p:spTree>
    <p:extLst>
      <p:ext uri="{BB962C8B-B14F-4D97-AF65-F5344CB8AC3E}">
        <p14:creationId xmlns:p14="http://schemas.microsoft.com/office/powerpoint/2010/main" val="4006049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4" name="标题 1">
            <a:extLst>
              <a:ext uri="{FF2B5EF4-FFF2-40B4-BE49-F238E27FC236}">
                <a16:creationId xmlns:a16="http://schemas.microsoft.com/office/drawing/2014/main" id="{A9C27554-CC1D-322D-1E5F-4F19A89D7D2A}"/>
              </a:ext>
            </a:extLst>
          </p:cNvPr>
          <p:cNvSpPr txBox="1">
            <a:spLocks/>
          </p:cNvSpPr>
          <p:nvPr/>
        </p:nvSpPr>
        <p:spPr>
          <a:xfrm>
            <a:off x="415615" y="1111174"/>
            <a:ext cx="11360769" cy="29127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70000"/>
              </a:lnSpc>
              <a:spcBef>
                <a:spcPct val="0"/>
              </a:spcBef>
              <a:spcAft>
                <a:spcPts val="0"/>
              </a:spcAft>
              <a:buClrTx/>
              <a:buSzTx/>
              <a:buFontTx/>
              <a:buNone/>
              <a:tabLst/>
              <a:defRPr/>
            </a:pPr>
            <a:r>
              <a:rPr kumimoji="0" lang="zh-CN" altLang="en-US" sz="2800" b="0" i="0" u="none" strike="noStrike" kern="1200" cap="none" spc="0" normalizeH="0" baseline="0" noProof="0" dirty="0">
                <a:ln>
                  <a:noFill/>
                </a:ln>
                <a:solidFill>
                  <a:srgbClr val="4D4D4D"/>
                </a:solidFill>
                <a:effectLst/>
                <a:uLnTx/>
                <a:uFillTx/>
                <a:latin typeface="-apple-system"/>
                <a:ea typeface="等线 Light" panose="02010600030101010101" pitchFamily="2" charset="-122"/>
                <a:cs typeface="+mj-cs"/>
              </a:rPr>
              <a:t>如果网络中每个神经元的输出为所有输入的加权和，那最后的结果将是整个神经称为一个线性模型。将每个神经元的输出通过一个非线性函数，那么整个神经网络的模型也就不再是线性的了。这个非线性的函数我们通常称之为“激活函数”。</a:t>
            </a:r>
            <a:endParaRPr kumimoji="0" lang="zh-CN" altLang="en-US" sz="2800" b="0" i="0" u="none" strike="noStrike" kern="1200" cap="none" spc="0" normalizeH="0" baseline="0" noProof="0" dirty="0">
              <a:ln>
                <a:noFill/>
              </a:ln>
              <a:solidFill>
                <a:sysClr val="windowText" lastClr="000000"/>
              </a:solidFill>
              <a:effectLst/>
              <a:uLnTx/>
              <a:uFillTx/>
              <a:latin typeface="等线 Light" panose="020F0302020204030204"/>
              <a:ea typeface="等线 Light" panose="02010600030101010101" pitchFamily="2" charset="-122"/>
              <a:cs typeface="+mj-cs"/>
            </a:endParaRPr>
          </a:p>
        </p:txBody>
      </p:sp>
      <p:pic>
        <p:nvPicPr>
          <p:cNvPr id="5" name="内容占位符 4">
            <a:extLst>
              <a:ext uri="{FF2B5EF4-FFF2-40B4-BE49-F238E27FC236}">
                <a16:creationId xmlns:a16="http://schemas.microsoft.com/office/drawing/2014/main" id="{514F8DA0-955B-CE91-66D1-B360EB0CBE19}"/>
              </a:ext>
            </a:extLst>
          </p:cNvPr>
          <p:cNvPicPr>
            <a:picLocks noChangeAspect="1"/>
          </p:cNvPicPr>
          <p:nvPr/>
        </p:nvPicPr>
        <p:blipFill>
          <a:blip r:embed="rId2"/>
          <a:stretch>
            <a:fillRect/>
          </a:stretch>
        </p:blipFill>
        <p:spPr>
          <a:xfrm>
            <a:off x="415615" y="4299950"/>
            <a:ext cx="6618277" cy="1280131"/>
          </a:xfrm>
          <a:prstGeom prst="rect">
            <a:avLst/>
          </a:prstGeom>
        </p:spPr>
      </p:pic>
    </p:spTree>
    <p:extLst>
      <p:ext uri="{BB962C8B-B14F-4D97-AF65-F5344CB8AC3E}">
        <p14:creationId xmlns:p14="http://schemas.microsoft.com/office/powerpoint/2010/main" val="2390781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pic>
        <p:nvPicPr>
          <p:cNvPr id="2" name="内容占位符 3">
            <a:extLst>
              <a:ext uri="{FF2B5EF4-FFF2-40B4-BE49-F238E27FC236}">
                <a16:creationId xmlns:a16="http://schemas.microsoft.com/office/drawing/2014/main" id="{FBA767EF-1AAA-A80F-A184-8A911AE11808}"/>
              </a:ext>
            </a:extLst>
          </p:cNvPr>
          <p:cNvPicPr>
            <a:picLocks noChangeAspect="1"/>
          </p:cNvPicPr>
          <p:nvPr/>
        </p:nvPicPr>
        <p:blipFill>
          <a:blip r:embed="rId2"/>
          <a:stretch>
            <a:fillRect/>
          </a:stretch>
        </p:blipFill>
        <p:spPr>
          <a:xfrm>
            <a:off x="153238" y="1998586"/>
            <a:ext cx="5845250" cy="3004501"/>
          </a:xfrm>
          <a:prstGeom prst="rect">
            <a:avLst/>
          </a:prstGeom>
        </p:spPr>
      </p:pic>
      <p:pic>
        <p:nvPicPr>
          <p:cNvPr id="3" name="图片 2">
            <a:extLst>
              <a:ext uri="{FF2B5EF4-FFF2-40B4-BE49-F238E27FC236}">
                <a16:creationId xmlns:a16="http://schemas.microsoft.com/office/drawing/2014/main" id="{BEB96A84-AE75-EEA2-7EB9-E0E8642E7405}"/>
              </a:ext>
            </a:extLst>
          </p:cNvPr>
          <p:cNvPicPr>
            <a:picLocks noChangeAspect="1"/>
          </p:cNvPicPr>
          <p:nvPr/>
        </p:nvPicPr>
        <p:blipFill>
          <a:blip r:embed="rId3"/>
          <a:stretch>
            <a:fillRect/>
          </a:stretch>
        </p:blipFill>
        <p:spPr>
          <a:xfrm>
            <a:off x="6193514" y="1854912"/>
            <a:ext cx="5898980" cy="3148175"/>
          </a:xfrm>
          <a:prstGeom prst="rect">
            <a:avLst/>
          </a:prstGeom>
        </p:spPr>
      </p:pic>
    </p:spTree>
    <p:extLst>
      <p:ext uri="{BB962C8B-B14F-4D97-AF65-F5344CB8AC3E}">
        <p14:creationId xmlns:p14="http://schemas.microsoft.com/office/powerpoint/2010/main" val="3721681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前馈计算</a:t>
            </a:r>
          </a:p>
        </p:txBody>
      </p:sp>
      <p:sp>
        <p:nvSpPr>
          <p:cNvPr id="3" name="内容占位符 2">
            <a:extLst>
              <a:ext uri="{FF2B5EF4-FFF2-40B4-BE49-F238E27FC236}">
                <a16:creationId xmlns:a16="http://schemas.microsoft.com/office/drawing/2014/main" id="{D30A6002-55BC-46D9-2026-A656CCCEC736}"/>
              </a:ext>
            </a:extLst>
          </p:cNvPr>
          <p:cNvSpPr txBox="1">
            <a:spLocks/>
          </p:cNvSpPr>
          <p:nvPr/>
        </p:nvSpPr>
        <p:spPr>
          <a:xfrm>
            <a:off x="419553" y="1038235"/>
            <a:ext cx="11188629" cy="5356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常见前馈神经网络</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000" b="1"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感知器网络</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感知器（又叫感知机）是最简单的前馈网络，它主要用于模式分类，也可用在基于模式分类的学习控制和多模态控制中。感知器网络可分为单层感知器网络和多层感知器网络。</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BP</a:t>
            </a:r>
            <a:r>
              <a:rPr kumimoji="0" lang="zh-CN" altLang="en-US" sz="2000" b="1"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网络</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BP</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网络是指连接权调整采用了反向传播（</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Back Propagation</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）学习算法的前馈网络。与感知器不同之处在于，</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BP</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网络的神经元变换函数采用了</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S</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形函数（</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Sigmoid</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函数），因此输出量是</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0~1</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之间的连续量，可实现从输入到输出的任意的非线性映射。</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1"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网络</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网络是指隐含层神经元由</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神经元组成的前馈网络。</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神经元是指神经元的变换函数为</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Radial Basis Function</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，径向基函数）的神经元。典型的</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网络由三层组成：一个输入层，一个或多个由</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神经元组成的</a:t>
            </a:r>
            <a:r>
              <a:rPr kumimoji="0" lang="en-US" altLang="zh-CN"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RBF</a:t>
            </a:r>
            <a:r>
              <a:rPr kumimoji="0" lang="zh-CN" altLang="en-US" sz="20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rPr>
              <a:t>层（隐含层），一个由线性神经元组成的输出层。</a:t>
            </a:r>
          </a:p>
        </p:txBody>
      </p:sp>
    </p:spTree>
    <p:extLst>
      <p:ext uri="{BB962C8B-B14F-4D97-AF65-F5344CB8AC3E}">
        <p14:creationId xmlns:p14="http://schemas.microsoft.com/office/powerpoint/2010/main" val="2170335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26" name="组合 25"/>
          <p:cNvGrpSpPr/>
          <p:nvPr/>
        </p:nvGrpSpPr>
        <p:grpSpPr>
          <a:xfrm>
            <a:off x="3994468" y="2380810"/>
            <a:ext cx="4203065" cy="2096380"/>
            <a:chOff x="3994468" y="2468023"/>
            <a:chExt cx="4203065" cy="2096380"/>
          </a:xfrm>
        </p:grpSpPr>
        <p:sp>
          <p:nvSpPr>
            <p:cNvPr id="27" name="文本框 26"/>
            <p:cNvSpPr txBox="1"/>
            <p:nvPr/>
          </p:nvSpPr>
          <p:spPr>
            <a:xfrm>
              <a:off x="3994468" y="2468023"/>
              <a:ext cx="4203065" cy="1015663"/>
            </a:xfrm>
            <a:prstGeom prst="rect">
              <a:avLst/>
            </a:prstGeom>
            <a:noFill/>
          </p:spPr>
          <p:txBody>
            <a:bodyPr wrap="square" rtlCol="0">
              <a:spAutoFit/>
            </a:bodyPr>
            <a:lstStyle/>
            <a:p>
              <a:pPr algn="ctr"/>
              <a:r>
                <a:rPr lang="en-US" altLang="zh-CN" sz="6000" dirty="0">
                  <a:solidFill>
                    <a:srgbClr val="868686"/>
                  </a:solidFill>
                  <a:latin typeface="仓耳玄三M W05" pitchFamily="18" charset="-122"/>
                  <a:ea typeface="仓耳玄三M W05" pitchFamily="18" charset="-122"/>
                  <a:cs typeface="Arial" charset="0"/>
                </a:rPr>
                <a:t>PART 03</a:t>
              </a:r>
            </a:p>
          </p:txBody>
        </p:sp>
        <p:sp>
          <p:nvSpPr>
            <p:cNvPr id="28" name="文本框 27"/>
            <p:cNvSpPr txBox="1"/>
            <p:nvPr/>
          </p:nvSpPr>
          <p:spPr>
            <a:xfrm>
              <a:off x="4351421" y="3552239"/>
              <a:ext cx="3489158" cy="584775"/>
            </a:xfrm>
            <a:prstGeom prst="rect">
              <a:avLst/>
            </a:prstGeom>
            <a:noFill/>
          </p:spPr>
          <p:txBody>
            <a:bodyPr wrap="square" rtlCol="0">
              <a:spAutoFit/>
            </a:bodyPr>
            <a:lstStyle/>
            <a:p>
              <a:pPr algn="ctr"/>
              <a:r>
                <a:rPr lang="zh-CN" altLang="en-US" sz="3200" dirty="0">
                  <a:solidFill>
                    <a:srgbClr val="868686"/>
                  </a:solidFill>
                  <a:latin typeface="仓耳玄三M W05" pitchFamily="18" charset="-122"/>
                  <a:ea typeface="仓耳玄三M W05" pitchFamily="18" charset="-122"/>
                </a:rPr>
                <a:t>反向传播算法</a:t>
              </a:r>
              <a:endParaRPr lang="en-US" altLang="zh-CN" sz="3200" dirty="0">
                <a:solidFill>
                  <a:srgbClr val="868686"/>
                </a:solidFill>
                <a:latin typeface="仓耳玄三M W05" pitchFamily="18" charset="-122"/>
                <a:ea typeface="仓耳玄三M W05" pitchFamily="18" charset="-122"/>
              </a:endParaRPr>
            </a:p>
          </p:txBody>
        </p:sp>
        <p:sp>
          <p:nvSpPr>
            <p:cNvPr id="29" name="矩形 28"/>
            <p:cNvSpPr/>
            <p:nvPr/>
          </p:nvSpPr>
          <p:spPr>
            <a:xfrm>
              <a:off x="4826424" y="4256626"/>
              <a:ext cx="2539158" cy="307777"/>
            </a:xfrm>
            <a:prstGeom prst="rect">
              <a:avLst/>
            </a:prstGeom>
          </p:spPr>
          <p:txBody>
            <a:bodyPr wrap="none">
              <a:spAutoFit/>
            </a:bodyPr>
            <a:lstStyle/>
            <a:p>
              <a:pPr algn="ctr"/>
              <a:r>
                <a:rPr lang="en-US" altLang="zh-CN" sz="1400" dirty="0">
                  <a:solidFill>
                    <a:srgbClr val="868686"/>
                  </a:solidFill>
                  <a:latin typeface="仓耳玄三M W05" pitchFamily="18" charset="-122"/>
                  <a:ea typeface="仓耳玄三M W05" pitchFamily="18" charset="-122"/>
                </a:rPr>
                <a:t>Backpropagation algorithm</a:t>
              </a:r>
              <a:endParaRPr lang="zh-CN" altLang="en-US" sz="1400" dirty="0">
                <a:solidFill>
                  <a:srgbClr val="868686"/>
                </a:solidFill>
                <a:latin typeface="仓耳玄三M W05" pitchFamily="18" charset="-122"/>
                <a:ea typeface="仓耳玄三M W05" pitchFamily="18" charset="-122"/>
              </a:endParaRPr>
            </a:p>
          </p:txBody>
        </p:sp>
      </p:grpSp>
    </p:spTree>
    <p:extLst>
      <p:ext uri="{BB962C8B-B14F-4D97-AF65-F5344CB8AC3E}">
        <p14:creationId xmlns:p14="http://schemas.microsoft.com/office/powerpoint/2010/main" val="370343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B849BC4-BF84-8954-EA08-B85004A8D037}"/>
              </a:ext>
            </a:extLst>
          </p:cNvPr>
          <p:cNvSpPr>
            <a:spLocks noGrp="1"/>
          </p:cNvSpPr>
          <p:nvPr>
            <p:ph idx="1"/>
          </p:nvPr>
        </p:nvSpPr>
        <p:spPr>
          <a:xfrm>
            <a:off x="419553" y="1933019"/>
            <a:ext cx="10515600" cy="2991962"/>
          </a:xfrm>
        </p:spPr>
        <p:txBody>
          <a:bodyPr>
            <a:normAutofit/>
          </a:bodyPr>
          <a:lstStyle/>
          <a:p>
            <a:pPr algn="l">
              <a:spcAft>
                <a:spcPts val="1500"/>
              </a:spcAft>
            </a:pPr>
            <a:r>
              <a:rPr lang="zh-CN" altLang="zh-CN"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反向传播算法（</a:t>
            </a:r>
            <a:r>
              <a:rPr lang="en-US" altLang="zh-CN" kern="0" dirty="0">
                <a:solidFill>
                  <a:srgbClr val="374151"/>
                </a:solidFill>
                <a:effectLst/>
                <a:latin typeface="Segoe UI" panose="020B0502040204020203" pitchFamily="34" charset="0"/>
                <a:ea typeface="宋体" panose="02010600030101010101" pitchFamily="2" charset="-122"/>
                <a:cs typeface="Times New Roman" panose="02020603050405020304" pitchFamily="18" charset="0"/>
              </a:rPr>
              <a:t>Backpropagation</a:t>
            </a:r>
            <a:r>
              <a:rPr lang="zh-CN" altLang="zh-CN"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）是一种用于训练神经网络的常见算法。它通过计算损失函数对网络参数的梯度，并将梯度反向传播到网络的每一层，从而更新参数以最小化损失函数。</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zh-CN"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在反向传播算法中，矩阵运算被广泛应用，因为它能够高效地处理神经网络中的大量数据和参数。</a:t>
            </a:r>
            <a:endParaRPr lang="zh-CN" altLang="en-US" dirty="0"/>
          </a:p>
        </p:txBody>
      </p:sp>
      <p:sp>
        <p:nvSpPr>
          <p:cNvPr id="4" name="等腰三角形 3">
            <a:extLst>
              <a:ext uri="{FF2B5EF4-FFF2-40B4-BE49-F238E27FC236}">
                <a16:creationId xmlns:a16="http://schemas.microsoft.com/office/drawing/2014/main" id="{6A1347FF-B35D-1D13-7301-C9387DAE977C}"/>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40A67476-7039-FFB4-B077-F27635067B53}"/>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224520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96206-5F4A-ABAE-623D-F9C5FEFC9DC8}"/>
              </a:ext>
            </a:extLst>
          </p:cNvPr>
          <p:cNvSpPr>
            <a:spLocks noGrp="1"/>
          </p:cNvSpPr>
          <p:nvPr>
            <p:ph type="title"/>
          </p:nvPr>
        </p:nvSpPr>
        <p:spPr>
          <a:xfrm>
            <a:off x="419553" y="776288"/>
            <a:ext cx="10515600" cy="1325563"/>
          </a:xfrm>
        </p:spPr>
        <p:txBody>
          <a:bodyPr>
            <a:normAutofit/>
          </a:bodyPr>
          <a:lstStyle/>
          <a:p>
            <a:r>
              <a:rPr lang="zh-CN" altLang="zh-CN" sz="4000" kern="0" dirty="0">
                <a:solidFill>
                  <a:srgbClr val="FF0000"/>
                </a:solidFill>
                <a:effectLst/>
                <a:latin typeface="Segoe UI" panose="020B0502040204020203" pitchFamily="34" charset="0"/>
                <a:ea typeface="宋体" panose="02010600030101010101" pitchFamily="2" charset="-122"/>
                <a:cs typeface="Segoe UI" panose="020B0502040204020203" pitchFamily="34" charset="0"/>
              </a:rPr>
              <a:t>反向传播算法的矩阵表示</a:t>
            </a:r>
            <a:r>
              <a:rPr lang="zh-CN" altLang="en-US" sz="4000" kern="0" dirty="0">
                <a:solidFill>
                  <a:srgbClr val="FF0000"/>
                </a:solidFill>
                <a:effectLst/>
                <a:latin typeface="Segoe UI" panose="020B0502040204020203" pitchFamily="34" charset="0"/>
                <a:ea typeface="宋体" panose="02010600030101010101" pitchFamily="2" charset="-122"/>
                <a:cs typeface="Segoe UI" panose="020B0502040204020203" pitchFamily="34" charset="0"/>
              </a:rPr>
              <a:t>：</a:t>
            </a:r>
            <a:endParaRPr lang="zh-CN" altLang="en-US" sz="4000" dirty="0">
              <a:solidFill>
                <a:srgbClr val="FF0000"/>
              </a:solidFill>
            </a:endParaRPr>
          </a:p>
        </p:txBody>
      </p:sp>
      <p:sp>
        <p:nvSpPr>
          <p:cNvPr id="3" name="内容占位符 2">
            <a:extLst>
              <a:ext uri="{FF2B5EF4-FFF2-40B4-BE49-F238E27FC236}">
                <a16:creationId xmlns:a16="http://schemas.microsoft.com/office/drawing/2014/main" id="{54EDBE3D-42CF-42F8-0355-E82DFFD93F84}"/>
              </a:ext>
            </a:extLst>
          </p:cNvPr>
          <p:cNvSpPr>
            <a:spLocks noGrp="1"/>
          </p:cNvSpPr>
          <p:nvPr>
            <p:ph idx="1"/>
          </p:nvPr>
        </p:nvSpPr>
        <p:spPr>
          <a:xfrm>
            <a:off x="419553" y="2088211"/>
            <a:ext cx="10515600" cy="4351338"/>
          </a:xfrm>
        </p:spPr>
        <p:txBody>
          <a:bodyPr>
            <a:normAutofit/>
          </a:bodyPr>
          <a:lstStyle/>
          <a:p>
            <a:pPr marL="342900" lvl="0" indent="-342900" algn="l">
              <a:buFont typeface="+mj-lt"/>
              <a:buAutoNum type="arabicPeriod"/>
              <a:tabLst>
                <a:tab pos="457200" algn="l"/>
              </a:tabLst>
            </a:pPr>
            <a:r>
              <a:rPr lang="zh-CN" altLang="zh-CN"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初始化网络参数（权重和偏置）。</a:t>
            </a:r>
            <a:endParaRPr lang="zh-CN" altLang="zh-CN" sz="3200" kern="100" dirty="0">
              <a:solidFill>
                <a:srgbClr val="374151"/>
              </a:solidFill>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buFont typeface="+mj-lt"/>
              <a:buAutoNum type="arabicPeriod"/>
              <a:tabLst>
                <a:tab pos="457200" algn="l"/>
              </a:tabLst>
            </a:pPr>
            <a:r>
              <a:rPr lang="zh-CN" altLang="zh-CN"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前向传播</a:t>
            </a:r>
            <a:endParaRPr lang="en-US" altLang="zh-CN"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endParaRPr>
          </a:p>
          <a:p>
            <a:pPr marL="342900" lvl="0" indent="-342900" algn="l">
              <a:buFont typeface="+mj-lt"/>
              <a:buAutoNum type="arabicPeriod"/>
              <a:tabLst>
                <a:tab pos="457200" algn="l"/>
              </a:tabLst>
            </a:pPr>
            <a:r>
              <a:rPr lang="zh-CN" altLang="en-US"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计算损失函数</a:t>
            </a:r>
            <a:endParaRPr lang="en-US" altLang="zh-CN"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endParaRPr>
          </a:p>
          <a:p>
            <a:pPr marL="342900" lvl="0" indent="-342900" algn="l">
              <a:buFont typeface="+mj-lt"/>
              <a:buAutoNum type="arabicPeriod"/>
              <a:tabLst>
                <a:tab pos="457200" algn="l"/>
              </a:tabLst>
            </a:pPr>
            <a:r>
              <a:rPr lang="zh-CN" altLang="en-US" sz="3200" kern="0" dirty="0">
                <a:solidFill>
                  <a:srgbClr val="374151"/>
                </a:solidFill>
                <a:latin typeface="Segoe UI" panose="020B0502040204020203" pitchFamily="34" charset="0"/>
                <a:ea typeface="宋体" panose="02010600030101010101" pitchFamily="2" charset="-122"/>
                <a:cs typeface="Segoe UI" panose="020B0502040204020203" pitchFamily="34" charset="0"/>
              </a:rPr>
              <a:t>反向传播</a:t>
            </a:r>
            <a:endParaRPr lang="en-US" altLang="zh-CN" sz="3200" kern="0" dirty="0">
              <a:solidFill>
                <a:srgbClr val="374151"/>
              </a:solidFill>
              <a:latin typeface="Segoe UI" panose="020B0502040204020203" pitchFamily="34" charset="0"/>
              <a:ea typeface="宋体" panose="02010600030101010101" pitchFamily="2" charset="-122"/>
              <a:cs typeface="Segoe UI" panose="020B0502040204020203" pitchFamily="34" charset="0"/>
            </a:endParaRPr>
          </a:p>
          <a:p>
            <a:pPr marL="342900" lvl="0" indent="-342900" algn="l">
              <a:buFont typeface="+mj-lt"/>
              <a:buAutoNum type="arabicPeriod"/>
              <a:tabLst>
                <a:tab pos="457200" algn="l"/>
              </a:tabLst>
            </a:pPr>
            <a:r>
              <a:rPr lang="zh-CN" altLang="en-US"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更新参数</a:t>
            </a:r>
            <a:endParaRPr lang="en-US" altLang="zh-CN" sz="32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endParaRPr>
          </a:p>
          <a:p>
            <a:pPr marL="342900" lvl="0" indent="-342900" algn="l">
              <a:buFont typeface="+mj-lt"/>
              <a:buAutoNum type="arabicPeriod"/>
              <a:tabLst>
                <a:tab pos="457200" algn="l"/>
              </a:tabLst>
            </a:pPr>
            <a:r>
              <a:rPr lang="zh-CN" altLang="en-US" sz="3200" kern="0" dirty="0">
                <a:solidFill>
                  <a:srgbClr val="374151"/>
                </a:solidFill>
                <a:latin typeface="Segoe UI" panose="020B0502040204020203" pitchFamily="34" charset="0"/>
                <a:ea typeface="宋体" panose="02010600030101010101" pitchFamily="2" charset="-122"/>
                <a:cs typeface="Segoe UI" panose="020B0502040204020203" pitchFamily="34" charset="0"/>
              </a:rPr>
              <a:t>重复</a:t>
            </a:r>
            <a:r>
              <a:rPr lang="en-US" altLang="zh-CN" sz="3200" kern="0" dirty="0">
                <a:solidFill>
                  <a:srgbClr val="374151"/>
                </a:solidFill>
                <a:latin typeface="Segoe UI" panose="020B0502040204020203" pitchFamily="34" charset="0"/>
                <a:ea typeface="宋体" panose="02010600030101010101" pitchFamily="2" charset="-122"/>
                <a:cs typeface="Segoe UI" panose="020B0502040204020203" pitchFamily="34" charset="0"/>
              </a:rPr>
              <a:t>2-5</a:t>
            </a:r>
            <a:r>
              <a:rPr lang="zh-CN" altLang="en-US" sz="3200" kern="0" dirty="0">
                <a:solidFill>
                  <a:srgbClr val="374151"/>
                </a:solidFill>
                <a:latin typeface="Segoe UI" panose="020B0502040204020203" pitchFamily="34" charset="0"/>
                <a:ea typeface="宋体" panose="02010600030101010101" pitchFamily="2" charset="-122"/>
                <a:cs typeface="Segoe UI" panose="020B0502040204020203" pitchFamily="34" charset="0"/>
              </a:rPr>
              <a:t>步骤，直到达到停止条件</a:t>
            </a:r>
            <a:endParaRPr lang="zh-CN" altLang="zh-CN" sz="3200" kern="100" dirty="0">
              <a:solidFill>
                <a:srgbClr val="374151"/>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等腰三角形 3">
            <a:extLst>
              <a:ext uri="{FF2B5EF4-FFF2-40B4-BE49-F238E27FC236}">
                <a16:creationId xmlns:a16="http://schemas.microsoft.com/office/drawing/2014/main" id="{DBD52920-90FE-B99C-194F-9BF84E7D2AB1}"/>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7555E528-1BAC-4805-3366-2DD84A2B4AD4}"/>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1991344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665992-4C4A-34E3-A2EC-4DDF689396CF}"/>
              </a:ext>
            </a:extLst>
          </p:cNvPr>
          <p:cNvSpPr>
            <a:spLocks noGrp="1"/>
          </p:cNvSpPr>
          <p:nvPr>
            <p:ph type="title"/>
          </p:nvPr>
        </p:nvSpPr>
        <p:spPr>
          <a:xfrm>
            <a:off x="419553" y="930116"/>
            <a:ext cx="10515600" cy="1530492"/>
          </a:xfrm>
        </p:spPr>
        <p:txBody>
          <a:bodyPr>
            <a:normAutofit/>
          </a:bodyPr>
          <a:lstStyle/>
          <a:p>
            <a:r>
              <a:rPr lang="zh-CN" altLang="en-US" sz="3600" dirty="0">
                <a:solidFill>
                  <a:srgbClr val="FF0000"/>
                </a:solidFill>
              </a:rPr>
              <a:t>一、初始化网络参数（权重和偏置）</a:t>
            </a:r>
            <a:br>
              <a:rPr lang="en-US" altLang="zh-CN" sz="3600" dirty="0"/>
            </a:br>
            <a:r>
              <a:rPr lang="en-US" altLang="zh-CN" sz="3600" dirty="0"/>
              <a:t>   </a:t>
            </a:r>
            <a:r>
              <a:rPr lang="zh-CN" altLang="en-US" sz="3600" b="1" i="1" dirty="0"/>
              <a:t>一般步骤：</a:t>
            </a:r>
          </a:p>
        </p:txBody>
      </p:sp>
      <p:sp>
        <p:nvSpPr>
          <p:cNvPr id="3" name="内容占位符 2">
            <a:extLst>
              <a:ext uri="{FF2B5EF4-FFF2-40B4-BE49-F238E27FC236}">
                <a16:creationId xmlns:a16="http://schemas.microsoft.com/office/drawing/2014/main" id="{10C52028-86C5-C85A-A8FD-E2D26ED0F193}"/>
              </a:ext>
            </a:extLst>
          </p:cNvPr>
          <p:cNvSpPr>
            <a:spLocks noGrp="1"/>
          </p:cNvSpPr>
          <p:nvPr>
            <p:ph idx="1"/>
          </p:nvPr>
        </p:nvSpPr>
        <p:spPr>
          <a:xfrm>
            <a:off x="419553" y="2550795"/>
            <a:ext cx="10515600" cy="3785610"/>
          </a:xfrm>
        </p:spPr>
        <p:txBody>
          <a:bodyPr/>
          <a:lstStyle/>
          <a:p>
            <a:pPr algn="l">
              <a:buFont typeface="+mj-lt"/>
              <a:buAutoNum type="arabicPeriod"/>
            </a:pPr>
            <a:r>
              <a:rPr lang="zh-CN" altLang="en-US" b="0" i="0" dirty="0">
                <a:solidFill>
                  <a:srgbClr val="374151"/>
                </a:solidFill>
                <a:effectLst/>
                <a:latin typeface="Söhne"/>
              </a:rPr>
              <a:t>确定网络的结构：神经网络的层数、每层的神经元数量以及每层之间的连接方式（全连接、卷积等）</a:t>
            </a:r>
          </a:p>
          <a:p>
            <a:pPr algn="l">
              <a:buFont typeface="+mj-lt"/>
              <a:buAutoNum type="arabicPeriod"/>
            </a:pPr>
            <a:r>
              <a:rPr lang="zh-CN" altLang="en-US" b="0" i="0" dirty="0">
                <a:solidFill>
                  <a:srgbClr val="374151"/>
                </a:solidFill>
                <a:effectLst/>
                <a:latin typeface="Söhne"/>
              </a:rPr>
              <a:t>初始化权重：为每个连接设置初始权重。常见的初始化方法包括随机初始化、</a:t>
            </a:r>
            <a:r>
              <a:rPr lang="en-US" altLang="zh-CN" b="0" i="0" dirty="0">
                <a:solidFill>
                  <a:srgbClr val="374151"/>
                </a:solidFill>
                <a:effectLst/>
                <a:latin typeface="Söhne"/>
              </a:rPr>
              <a:t>Xavier</a:t>
            </a:r>
            <a:r>
              <a:rPr lang="zh-CN" altLang="en-US" b="0" i="0" dirty="0">
                <a:solidFill>
                  <a:srgbClr val="374151"/>
                </a:solidFill>
                <a:effectLst/>
                <a:latin typeface="Söhne"/>
              </a:rPr>
              <a:t>初始化和</a:t>
            </a:r>
            <a:r>
              <a:rPr lang="en-US" altLang="zh-CN" b="0" i="0" dirty="0">
                <a:solidFill>
                  <a:srgbClr val="374151"/>
                </a:solidFill>
                <a:effectLst/>
                <a:latin typeface="Söhne"/>
              </a:rPr>
              <a:t>He</a:t>
            </a:r>
            <a:r>
              <a:rPr lang="zh-CN" altLang="en-US" b="0" i="0" dirty="0">
                <a:solidFill>
                  <a:srgbClr val="374151"/>
                </a:solidFill>
                <a:effectLst/>
                <a:latin typeface="Söhne"/>
              </a:rPr>
              <a:t>初始化等。</a:t>
            </a:r>
            <a:endParaRPr lang="en-US" altLang="zh-CN" b="0" i="0" dirty="0">
              <a:solidFill>
                <a:srgbClr val="374151"/>
              </a:solidFill>
              <a:effectLst/>
              <a:latin typeface="Söhne"/>
            </a:endParaRPr>
          </a:p>
          <a:p>
            <a:pPr algn="l">
              <a:buFont typeface="+mj-lt"/>
              <a:buAutoNum type="arabicPeriod"/>
            </a:pPr>
            <a:r>
              <a:rPr lang="zh-CN" altLang="en-US" b="0" i="0" dirty="0">
                <a:solidFill>
                  <a:srgbClr val="374151"/>
                </a:solidFill>
                <a:effectLst/>
                <a:latin typeface="Söhne"/>
              </a:rPr>
              <a:t>初始化偏置：为每个神经元设置初始偏置值。偏置通常初始化为零或一个较小的常数。</a:t>
            </a:r>
          </a:p>
          <a:p>
            <a:endParaRPr lang="zh-CN" altLang="en-US" dirty="0"/>
          </a:p>
        </p:txBody>
      </p:sp>
      <p:sp>
        <p:nvSpPr>
          <p:cNvPr id="4" name="等腰三角形 3">
            <a:extLst>
              <a:ext uri="{FF2B5EF4-FFF2-40B4-BE49-F238E27FC236}">
                <a16:creationId xmlns:a16="http://schemas.microsoft.com/office/drawing/2014/main" id="{E0A16097-FFB1-E3A4-5257-997904A848F2}"/>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81FA798A-147A-4370-4893-573400248057}"/>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1158399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7B811F-8F74-A758-9EAA-C197CBFD7A4C}"/>
              </a:ext>
            </a:extLst>
          </p:cNvPr>
          <p:cNvSpPr>
            <a:spLocks noGrp="1"/>
          </p:cNvSpPr>
          <p:nvPr>
            <p:ph type="title"/>
          </p:nvPr>
        </p:nvSpPr>
        <p:spPr>
          <a:xfrm>
            <a:off x="419553" y="558271"/>
            <a:ext cx="10515600" cy="1325563"/>
          </a:xfrm>
        </p:spPr>
        <p:txBody>
          <a:bodyPr>
            <a:normAutofit/>
          </a:bodyPr>
          <a:lstStyle/>
          <a:p>
            <a:r>
              <a:rPr lang="en-US" altLang="zh-CN" sz="3600" b="1" dirty="0"/>
              <a:t>Xavier</a:t>
            </a:r>
            <a:r>
              <a:rPr lang="zh-CN" altLang="en-US" sz="3600" b="1" dirty="0"/>
              <a:t>初始化</a:t>
            </a:r>
          </a:p>
        </p:txBody>
      </p:sp>
      <p:sp>
        <p:nvSpPr>
          <p:cNvPr id="3" name="内容占位符 2">
            <a:extLst>
              <a:ext uri="{FF2B5EF4-FFF2-40B4-BE49-F238E27FC236}">
                <a16:creationId xmlns:a16="http://schemas.microsoft.com/office/drawing/2014/main" id="{B14F9498-4357-AEDB-7DB5-7F68650CFF45}"/>
              </a:ext>
            </a:extLst>
          </p:cNvPr>
          <p:cNvSpPr>
            <a:spLocks noGrp="1"/>
          </p:cNvSpPr>
          <p:nvPr>
            <p:ph idx="1"/>
          </p:nvPr>
        </p:nvSpPr>
        <p:spPr>
          <a:xfrm>
            <a:off x="419553" y="1460613"/>
            <a:ext cx="10515600" cy="4839116"/>
          </a:xfrm>
        </p:spPr>
        <p:txBody>
          <a:bodyPr/>
          <a:lstStyle/>
          <a:p>
            <a:pPr marL="0" indent="0">
              <a:buNone/>
            </a:pPr>
            <a:r>
              <a:rPr lang="zh-CN" altLang="en-US" dirty="0"/>
              <a:t>假设层的输入有三个元素</a:t>
            </a:r>
            <a:r>
              <a:rPr lang="en-US" altLang="zh-CN" dirty="0"/>
              <a:t>x1,x2,x3</a:t>
            </a:r>
            <a:r>
              <a:rPr lang="zh-CN" altLang="en-US" dirty="0"/>
              <a:t>，输入为</a:t>
            </a:r>
            <a:r>
              <a:rPr lang="en-US" altLang="zh-CN" dirty="0"/>
              <a:t>y</a:t>
            </a:r>
            <a:r>
              <a:rPr lang="zh-CN" altLang="en-US" dirty="0"/>
              <a:t>，权重分别是</a:t>
            </a:r>
            <a:r>
              <a:rPr lang="en-US" altLang="zh-CN" dirty="0"/>
              <a:t>w1,w2,w3</a:t>
            </a:r>
            <a:r>
              <a:rPr lang="zh-CN" altLang="en-US" dirty="0"/>
              <a:t>，</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则</a:t>
            </a:r>
            <a:r>
              <a:rPr lang="en-US" altLang="zh-CN" dirty="0"/>
              <a:t>y</a:t>
            </a:r>
            <a:r>
              <a:rPr lang="zh-CN" altLang="en-US" dirty="0"/>
              <a:t>值为：</a:t>
            </a:r>
            <a:r>
              <a:rPr lang="en-US" altLang="zh-CN" dirty="0"/>
              <a:t>y=w1x1+w2x2+w3x3</a:t>
            </a:r>
            <a:r>
              <a:rPr lang="zh-CN" altLang="en-US" dirty="0"/>
              <a:t>，在计算参数</a:t>
            </a:r>
            <a:r>
              <a:rPr lang="en-US" altLang="zh-CN" dirty="0"/>
              <a:t>w</a:t>
            </a:r>
            <a:r>
              <a:rPr lang="zh-CN" altLang="en-US" dirty="0"/>
              <a:t>的初值时考虑到输入该层元素的个数</a:t>
            </a:r>
            <a:r>
              <a:rPr lang="en-US" altLang="zh-CN" dirty="0"/>
              <a:t>n</a:t>
            </a:r>
            <a:r>
              <a:rPr lang="zh-CN" altLang="en-US" dirty="0"/>
              <a:t>：于是出现了</a:t>
            </a:r>
            <a:r>
              <a:rPr lang="en-US" altLang="zh-CN" dirty="0"/>
              <a:t>Xavier</a:t>
            </a:r>
            <a:r>
              <a:rPr lang="zh-CN" altLang="en-US" dirty="0"/>
              <a:t>方法。</a:t>
            </a:r>
            <a:endParaRPr lang="en-US" altLang="zh-CN" dirty="0"/>
          </a:p>
        </p:txBody>
      </p:sp>
      <p:sp>
        <p:nvSpPr>
          <p:cNvPr id="4" name="AutoShape 2" descr="初始化网络参数_初始化_02">
            <a:extLst>
              <a:ext uri="{FF2B5EF4-FFF2-40B4-BE49-F238E27FC236}">
                <a16:creationId xmlns:a16="http://schemas.microsoft.com/office/drawing/2014/main" id="{35335D90-C02E-E0C3-E05B-D3EBCAA14616}"/>
              </a:ext>
            </a:extLst>
          </p:cNvPr>
          <p:cNvSpPr>
            <a:spLocks noChangeAspect="1" noChangeArrowheads="1"/>
          </p:cNvSpPr>
          <p:nvPr/>
        </p:nvSpPr>
        <p:spPr bwMode="auto">
          <a:xfrm>
            <a:off x="5943600" y="320909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图片 5">
            <a:extLst>
              <a:ext uri="{FF2B5EF4-FFF2-40B4-BE49-F238E27FC236}">
                <a16:creationId xmlns:a16="http://schemas.microsoft.com/office/drawing/2014/main" id="{F7882722-E0CD-DD58-70CB-B7FE0B9844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9933" y="2176675"/>
            <a:ext cx="2794840" cy="1570727"/>
          </a:xfrm>
          <a:prstGeom prst="rect">
            <a:avLst/>
          </a:prstGeom>
        </p:spPr>
      </p:pic>
      <p:pic>
        <p:nvPicPr>
          <p:cNvPr id="8" name="图片 7">
            <a:extLst>
              <a:ext uri="{FF2B5EF4-FFF2-40B4-BE49-F238E27FC236}">
                <a16:creationId xmlns:a16="http://schemas.microsoft.com/office/drawing/2014/main" id="{D503FF64-6A36-BC7B-59E2-843CC46EF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5374" y="5157883"/>
            <a:ext cx="3516451" cy="980370"/>
          </a:xfrm>
          <a:prstGeom prst="rect">
            <a:avLst/>
          </a:prstGeom>
        </p:spPr>
      </p:pic>
      <p:sp>
        <p:nvSpPr>
          <p:cNvPr id="5" name="等腰三角形 4">
            <a:extLst>
              <a:ext uri="{FF2B5EF4-FFF2-40B4-BE49-F238E27FC236}">
                <a16:creationId xmlns:a16="http://schemas.microsoft.com/office/drawing/2014/main" id="{44F5AB13-6B40-257F-6A0D-EF5D42F8DF15}"/>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7" name="文本框 48">
            <a:extLst>
              <a:ext uri="{FF2B5EF4-FFF2-40B4-BE49-F238E27FC236}">
                <a16:creationId xmlns:a16="http://schemas.microsoft.com/office/drawing/2014/main" id="{DA90787C-4BE8-2097-C40E-176CF644E7A4}"/>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3243033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B82AB-A7DF-FAAB-30E8-A6071BCC8F97}"/>
              </a:ext>
            </a:extLst>
          </p:cNvPr>
          <p:cNvSpPr>
            <a:spLocks noGrp="1"/>
          </p:cNvSpPr>
          <p:nvPr>
            <p:ph type="title"/>
          </p:nvPr>
        </p:nvSpPr>
        <p:spPr>
          <a:xfrm>
            <a:off x="419553" y="577527"/>
            <a:ext cx="10515600" cy="1070913"/>
          </a:xfrm>
        </p:spPr>
        <p:txBody>
          <a:bodyPr>
            <a:normAutofit/>
          </a:bodyPr>
          <a:lstStyle/>
          <a:p>
            <a:r>
              <a:rPr lang="zh-CN" altLang="en-US" sz="3600" dirty="0">
                <a:solidFill>
                  <a:srgbClr val="FF0000"/>
                </a:solidFill>
              </a:rPr>
              <a:t>二、前向传播</a:t>
            </a:r>
          </a:p>
        </p:txBody>
      </p:sp>
      <p:sp>
        <p:nvSpPr>
          <p:cNvPr id="3" name="内容占位符 2">
            <a:extLst>
              <a:ext uri="{FF2B5EF4-FFF2-40B4-BE49-F238E27FC236}">
                <a16:creationId xmlns:a16="http://schemas.microsoft.com/office/drawing/2014/main" id="{A1E4A39F-8A49-BEA3-0E1B-395824E59E27}"/>
              </a:ext>
            </a:extLst>
          </p:cNvPr>
          <p:cNvSpPr>
            <a:spLocks noGrp="1"/>
          </p:cNvSpPr>
          <p:nvPr>
            <p:ph idx="1"/>
          </p:nvPr>
        </p:nvSpPr>
        <p:spPr>
          <a:xfrm>
            <a:off x="419553" y="1526227"/>
            <a:ext cx="10515600" cy="5099774"/>
          </a:xfrm>
        </p:spPr>
        <p:txBody>
          <a:bodyPr>
            <a:normAutofit lnSpcReduction="10000"/>
          </a:bodyPr>
          <a:lstStyle/>
          <a:p>
            <a:r>
              <a:rPr lang="zh-CN" altLang="en-US" b="0" i="0" dirty="0">
                <a:solidFill>
                  <a:srgbClr val="374151"/>
                </a:solidFill>
                <a:effectLst/>
                <a:latin typeface="Söhne"/>
              </a:rPr>
              <a:t>前向传播是将输入数据通过网络，逐层计算并传递至输出层的过程</a:t>
            </a:r>
            <a:endParaRPr lang="en-US" altLang="zh-CN" b="0" i="0" dirty="0">
              <a:solidFill>
                <a:srgbClr val="374151"/>
              </a:solidFill>
              <a:effectLst/>
              <a:latin typeface="Söhne"/>
            </a:endParaRPr>
          </a:p>
          <a:p>
            <a:r>
              <a:rPr lang="zh-CN" altLang="en-US" dirty="0">
                <a:solidFill>
                  <a:srgbClr val="374151"/>
                </a:solidFill>
                <a:latin typeface="Söhne"/>
              </a:rPr>
              <a:t>一般步骤：</a:t>
            </a:r>
            <a:endParaRPr lang="en-US" altLang="zh-CN" dirty="0">
              <a:solidFill>
                <a:srgbClr val="374151"/>
              </a:solidFill>
              <a:latin typeface="Söhne"/>
            </a:endParaRPr>
          </a:p>
          <a:p>
            <a:pPr algn="l">
              <a:buFont typeface="+mj-lt"/>
              <a:buAutoNum type="arabicPeriod"/>
            </a:pPr>
            <a:r>
              <a:rPr lang="zh-CN" altLang="en-US" b="0" i="0" dirty="0">
                <a:solidFill>
                  <a:srgbClr val="374151"/>
                </a:solidFill>
                <a:effectLst/>
                <a:latin typeface="Söhne"/>
              </a:rPr>
              <a:t>计算加权和：</a:t>
            </a:r>
          </a:p>
          <a:p>
            <a:pPr marL="742950" lvl="1" indent="-285750" algn="l">
              <a:buFont typeface="+mj-lt"/>
              <a:buAutoNum type="arabicPeriod"/>
            </a:pPr>
            <a:r>
              <a:rPr lang="zh-CN" altLang="en-US" b="0" i="0" dirty="0">
                <a:solidFill>
                  <a:srgbClr val="374151"/>
                </a:solidFill>
                <a:effectLst/>
                <a:latin typeface="Söhne"/>
              </a:rPr>
              <a:t>对于一个隐藏层，假设前一层的输出为</a:t>
            </a:r>
            <a:r>
              <a:rPr lang="en-US" altLang="zh-CN" b="0" i="0" dirty="0">
                <a:solidFill>
                  <a:srgbClr val="374151"/>
                </a:solidFill>
                <a:effectLst/>
                <a:latin typeface="Söhne"/>
              </a:rPr>
              <a:t>a</a:t>
            </a:r>
            <a:r>
              <a:rPr lang="zh-CN" altLang="en-US" b="0" i="0" dirty="0">
                <a:solidFill>
                  <a:srgbClr val="374151"/>
                </a:solidFill>
                <a:effectLst/>
                <a:latin typeface="Söhne"/>
              </a:rPr>
              <a:t>，权重矩阵为</a:t>
            </a:r>
            <a:r>
              <a:rPr lang="en-US" altLang="zh-CN" b="0" i="0" dirty="0">
                <a:solidFill>
                  <a:srgbClr val="374151"/>
                </a:solidFill>
                <a:effectLst/>
                <a:latin typeface="Söhne"/>
              </a:rPr>
              <a:t>W</a:t>
            </a:r>
            <a:r>
              <a:rPr lang="zh-CN" altLang="en-US" b="0" i="0" dirty="0">
                <a:solidFill>
                  <a:srgbClr val="374151"/>
                </a:solidFill>
                <a:effectLst/>
                <a:latin typeface="Söhne"/>
              </a:rPr>
              <a:t>，偏置向量为</a:t>
            </a:r>
            <a:r>
              <a:rPr lang="en-US" altLang="zh-CN" b="0" i="0" dirty="0">
                <a:solidFill>
                  <a:srgbClr val="374151"/>
                </a:solidFill>
                <a:effectLst/>
                <a:latin typeface="Söhne"/>
              </a:rPr>
              <a:t>b</a:t>
            </a:r>
            <a:r>
              <a:rPr lang="zh-CN" altLang="en-US" b="0" i="0" dirty="0">
                <a:solidFill>
                  <a:srgbClr val="374151"/>
                </a:solidFill>
                <a:effectLst/>
                <a:latin typeface="Söhne"/>
              </a:rPr>
              <a:t>，则加权和可以通过矩阵乘法和广播加法来计算：</a:t>
            </a:r>
            <a:r>
              <a:rPr lang="en-US" altLang="zh-CN" b="0" i="0" dirty="0">
                <a:solidFill>
                  <a:srgbClr val="374151"/>
                </a:solidFill>
                <a:effectLst/>
                <a:latin typeface="Söhne"/>
              </a:rPr>
              <a:t>z = W * a + b</a:t>
            </a:r>
            <a:r>
              <a:rPr lang="zh-CN" altLang="en-US" b="0" i="0" dirty="0">
                <a:solidFill>
                  <a:srgbClr val="374151"/>
                </a:solidFill>
                <a:effectLst/>
                <a:latin typeface="Söhne"/>
              </a:rPr>
              <a:t>。</a:t>
            </a:r>
          </a:p>
          <a:p>
            <a:pPr marL="742950" lvl="1" indent="-285750" algn="l">
              <a:buFont typeface="+mj-lt"/>
              <a:buAutoNum type="arabicPeriod"/>
            </a:pPr>
            <a:r>
              <a:rPr lang="zh-CN" altLang="en-US" b="0" i="0" dirty="0">
                <a:solidFill>
                  <a:srgbClr val="374151"/>
                </a:solidFill>
                <a:effectLst/>
                <a:latin typeface="Söhne"/>
              </a:rPr>
              <a:t>对于多个样本，可以将输入数据和权重矩阵扩展为矩阵，进行批量计算：</a:t>
            </a:r>
            <a:r>
              <a:rPr lang="en-US" altLang="zh-CN" b="0" i="0" dirty="0">
                <a:solidFill>
                  <a:srgbClr val="374151"/>
                </a:solidFill>
                <a:effectLst/>
                <a:latin typeface="Söhne"/>
              </a:rPr>
              <a:t>Z = W * A + b</a:t>
            </a:r>
            <a:r>
              <a:rPr lang="zh-CN" altLang="en-US" b="0" i="0" dirty="0">
                <a:solidFill>
                  <a:srgbClr val="374151"/>
                </a:solidFill>
                <a:effectLst/>
                <a:latin typeface="Söhne"/>
              </a:rPr>
              <a:t>，其中</a:t>
            </a:r>
            <a:r>
              <a:rPr lang="en-US" altLang="zh-CN" b="0" i="0" dirty="0">
                <a:solidFill>
                  <a:srgbClr val="374151"/>
                </a:solidFill>
                <a:effectLst/>
                <a:latin typeface="Söhne"/>
              </a:rPr>
              <a:t>Z</a:t>
            </a:r>
            <a:r>
              <a:rPr lang="zh-CN" altLang="en-US" b="0" i="0" dirty="0">
                <a:solidFill>
                  <a:srgbClr val="374151"/>
                </a:solidFill>
                <a:effectLst/>
                <a:latin typeface="Söhne"/>
              </a:rPr>
              <a:t>和</a:t>
            </a:r>
            <a:r>
              <a:rPr lang="en-US" altLang="zh-CN" b="0" i="0" dirty="0">
                <a:solidFill>
                  <a:srgbClr val="374151"/>
                </a:solidFill>
                <a:effectLst/>
                <a:latin typeface="Söhne"/>
              </a:rPr>
              <a:t>A</a:t>
            </a:r>
            <a:r>
              <a:rPr lang="zh-CN" altLang="en-US" b="0" i="0" dirty="0">
                <a:solidFill>
                  <a:srgbClr val="374151"/>
                </a:solidFill>
                <a:effectLst/>
                <a:latin typeface="Söhne"/>
              </a:rPr>
              <a:t>分别为加权和和前一层的输出矩阵。</a:t>
            </a:r>
          </a:p>
          <a:p>
            <a:pPr algn="l">
              <a:buFont typeface="+mj-lt"/>
              <a:buAutoNum type="arabicPeriod"/>
            </a:pPr>
            <a:r>
              <a:rPr lang="zh-CN" altLang="en-US" b="0" i="0" dirty="0">
                <a:solidFill>
                  <a:srgbClr val="374151"/>
                </a:solidFill>
                <a:effectLst/>
                <a:latin typeface="Söhne"/>
              </a:rPr>
              <a:t>应用激活函数：</a:t>
            </a:r>
          </a:p>
          <a:p>
            <a:pPr marL="742950" lvl="1" indent="-285750" algn="l">
              <a:buFont typeface="+mj-lt"/>
              <a:buAutoNum type="arabicPeriod"/>
            </a:pPr>
            <a:r>
              <a:rPr lang="zh-CN" altLang="en-US" b="0" i="0" dirty="0">
                <a:solidFill>
                  <a:srgbClr val="374151"/>
                </a:solidFill>
                <a:effectLst/>
                <a:latin typeface="Söhne"/>
              </a:rPr>
              <a:t>对于每个神经元，将加权和</a:t>
            </a:r>
            <a:r>
              <a:rPr lang="en-US" altLang="zh-CN" b="0" i="0" dirty="0">
                <a:solidFill>
                  <a:srgbClr val="374151"/>
                </a:solidFill>
                <a:effectLst/>
                <a:latin typeface="Söhne"/>
              </a:rPr>
              <a:t>z</a:t>
            </a:r>
            <a:r>
              <a:rPr lang="zh-CN" altLang="en-US" b="0" i="0" dirty="0">
                <a:solidFill>
                  <a:srgbClr val="374151"/>
                </a:solidFill>
                <a:effectLst/>
                <a:latin typeface="Söhne"/>
              </a:rPr>
              <a:t>通过激活函数</a:t>
            </a:r>
            <a:r>
              <a:rPr lang="en-US" altLang="zh-CN" b="0" i="0" dirty="0">
                <a:solidFill>
                  <a:srgbClr val="374151"/>
                </a:solidFill>
                <a:effectLst/>
                <a:latin typeface="Söhne"/>
              </a:rPr>
              <a:t>f</a:t>
            </a:r>
            <a:r>
              <a:rPr lang="zh-CN" altLang="en-US" b="0" i="0" dirty="0">
                <a:solidFill>
                  <a:srgbClr val="374151"/>
                </a:solidFill>
                <a:effectLst/>
                <a:latin typeface="Söhne"/>
              </a:rPr>
              <a:t>进行非线性变换，得到当前层的输出</a:t>
            </a:r>
            <a:r>
              <a:rPr lang="en-US" altLang="zh-CN" b="0" i="0" dirty="0">
                <a:solidFill>
                  <a:srgbClr val="374151"/>
                </a:solidFill>
                <a:effectLst/>
                <a:latin typeface="Söhne"/>
              </a:rPr>
              <a:t>a = f(z)</a:t>
            </a:r>
            <a:r>
              <a:rPr lang="zh-CN" altLang="en-US" b="0" i="0" dirty="0">
                <a:solidFill>
                  <a:srgbClr val="374151"/>
                </a:solidFill>
                <a:effectLst/>
                <a:latin typeface="Söhne"/>
              </a:rPr>
              <a:t>。</a:t>
            </a:r>
          </a:p>
          <a:p>
            <a:pPr marL="742950" lvl="1" indent="-285750" algn="l">
              <a:buFont typeface="+mj-lt"/>
              <a:buAutoNum type="arabicPeriod"/>
            </a:pPr>
            <a:r>
              <a:rPr lang="zh-CN" altLang="en-US" b="0" i="0" dirty="0">
                <a:solidFill>
                  <a:srgbClr val="374151"/>
                </a:solidFill>
                <a:effectLst/>
                <a:latin typeface="Söhne"/>
              </a:rPr>
              <a:t>对于多个样本，可以对加权和矩阵</a:t>
            </a:r>
            <a:r>
              <a:rPr lang="en-US" altLang="zh-CN" b="0" i="0" dirty="0">
                <a:solidFill>
                  <a:srgbClr val="374151"/>
                </a:solidFill>
                <a:effectLst/>
                <a:latin typeface="Söhne"/>
              </a:rPr>
              <a:t>Z</a:t>
            </a:r>
            <a:r>
              <a:rPr lang="zh-CN" altLang="en-US" b="0" i="0" dirty="0">
                <a:solidFill>
                  <a:srgbClr val="374151"/>
                </a:solidFill>
                <a:effectLst/>
                <a:latin typeface="Söhne"/>
              </a:rPr>
              <a:t>中的每个元素应用激活函数，得到输出矩阵</a:t>
            </a:r>
            <a:r>
              <a:rPr lang="en-US" altLang="zh-CN" b="0" i="0" dirty="0">
                <a:solidFill>
                  <a:srgbClr val="374151"/>
                </a:solidFill>
                <a:effectLst/>
                <a:latin typeface="Söhne"/>
              </a:rPr>
              <a:t>A = f(Z)</a:t>
            </a:r>
            <a:r>
              <a:rPr lang="zh-CN" altLang="en-US" b="0" i="0" dirty="0">
                <a:solidFill>
                  <a:srgbClr val="374151"/>
                </a:solidFill>
                <a:effectLst/>
                <a:latin typeface="Söhne"/>
              </a:rPr>
              <a:t>。</a:t>
            </a:r>
          </a:p>
          <a:p>
            <a:pPr algn="l">
              <a:buFont typeface="+mj-lt"/>
              <a:buAutoNum type="arabicPeriod"/>
            </a:pPr>
            <a:endParaRPr lang="zh-CN" altLang="en-US" b="0" i="0" dirty="0">
              <a:solidFill>
                <a:srgbClr val="374151"/>
              </a:solidFill>
              <a:effectLst/>
              <a:latin typeface="Söhne"/>
            </a:endParaRPr>
          </a:p>
        </p:txBody>
      </p:sp>
      <p:sp>
        <p:nvSpPr>
          <p:cNvPr id="4" name="等腰三角形 3">
            <a:extLst>
              <a:ext uri="{FF2B5EF4-FFF2-40B4-BE49-F238E27FC236}">
                <a16:creationId xmlns:a16="http://schemas.microsoft.com/office/drawing/2014/main" id="{93BBFE95-D383-8A47-239B-F7C8D77B83E3}"/>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77006B33-FB08-EE79-8480-8989D1B17F58}"/>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3947697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A4522EED-1BEF-5607-A808-A4F95D5BB143}"/>
              </a:ext>
            </a:extLst>
          </p:cNvPr>
          <p:cNvSpPr>
            <a:spLocks noGrp="1"/>
          </p:cNvSpPr>
          <p:nvPr>
            <p:ph idx="1"/>
          </p:nvPr>
        </p:nvSpPr>
        <p:spPr>
          <a:xfrm>
            <a:off x="419553" y="1269347"/>
            <a:ext cx="10515600" cy="4062636"/>
          </a:xfrm>
        </p:spPr>
        <p:txBody>
          <a:bodyPr/>
          <a:lstStyle/>
          <a:p>
            <a:pPr algn="l"/>
            <a:r>
              <a:rPr lang="zh-CN" altLang="en-US" b="0" i="0" dirty="0">
                <a:solidFill>
                  <a:srgbClr val="374151"/>
                </a:solidFill>
                <a:effectLst/>
                <a:latin typeface="Söhne"/>
              </a:rPr>
              <a:t>使用矩阵运算可以同时处理多个样本，从而利用矩阵的并行性提高计算效率。此外，现代深度学习框架通常会使用高度优化的矩阵运算库，如</a:t>
            </a:r>
            <a:r>
              <a:rPr lang="en-US" altLang="zh-CN" b="0" i="0" dirty="0">
                <a:solidFill>
                  <a:srgbClr val="374151"/>
                </a:solidFill>
                <a:effectLst/>
                <a:latin typeface="Söhne"/>
              </a:rPr>
              <a:t>BLAS</a:t>
            </a:r>
            <a:r>
              <a:rPr lang="zh-CN" altLang="en-US" b="0" i="0" dirty="0">
                <a:solidFill>
                  <a:srgbClr val="374151"/>
                </a:solidFill>
                <a:effectLst/>
                <a:latin typeface="Söhne"/>
              </a:rPr>
              <a:t>（</a:t>
            </a:r>
            <a:r>
              <a:rPr lang="en-US" altLang="zh-CN" b="0" i="0" dirty="0">
                <a:solidFill>
                  <a:srgbClr val="374151"/>
                </a:solidFill>
                <a:effectLst/>
                <a:latin typeface="Söhne"/>
              </a:rPr>
              <a:t>Basic Linear Algebra Subprograms</a:t>
            </a:r>
            <a:r>
              <a:rPr lang="zh-CN" altLang="en-US" b="0" i="0" dirty="0">
                <a:solidFill>
                  <a:srgbClr val="374151"/>
                </a:solidFill>
                <a:effectLst/>
                <a:latin typeface="Söhne"/>
              </a:rPr>
              <a:t>）和</a:t>
            </a:r>
            <a:r>
              <a:rPr lang="en-US" altLang="zh-CN" b="0" i="0" dirty="0" err="1">
                <a:solidFill>
                  <a:srgbClr val="374151"/>
                </a:solidFill>
                <a:effectLst/>
                <a:latin typeface="Söhne"/>
              </a:rPr>
              <a:t>cuBLAS</a:t>
            </a:r>
            <a:r>
              <a:rPr lang="zh-CN" altLang="en-US" b="0" i="0" dirty="0">
                <a:solidFill>
                  <a:srgbClr val="374151"/>
                </a:solidFill>
                <a:effectLst/>
                <a:latin typeface="Söhne"/>
              </a:rPr>
              <a:t>（</a:t>
            </a:r>
            <a:r>
              <a:rPr lang="en-US" altLang="zh-CN" b="0" i="0" dirty="0">
                <a:solidFill>
                  <a:srgbClr val="374151"/>
                </a:solidFill>
                <a:effectLst/>
                <a:latin typeface="Söhne"/>
              </a:rPr>
              <a:t>CUDA Basic Linear Algebra Subprograms</a:t>
            </a:r>
            <a:r>
              <a:rPr lang="zh-CN" altLang="en-US" b="0" i="0" dirty="0">
                <a:solidFill>
                  <a:srgbClr val="374151"/>
                </a:solidFill>
                <a:effectLst/>
                <a:latin typeface="Söhne"/>
              </a:rPr>
              <a:t>），以加速矩阵运算过程。</a:t>
            </a:r>
          </a:p>
          <a:p>
            <a:pPr algn="l"/>
            <a:endParaRPr lang="en-US" altLang="zh-CN" b="0" i="0" dirty="0">
              <a:solidFill>
                <a:srgbClr val="374151"/>
              </a:solidFill>
              <a:effectLst/>
              <a:latin typeface="Söhne"/>
            </a:endParaRPr>
          </a:p>
          <a:p>
            <a:pPr algn="l"/>
            <a:r>
              <a:rPr lang="zh-CN" altLang="en-US" b="0" i="0" dirty="0">
                <a:solidFill>
                  <a:srgbClr val="374151"/>
                </a:solidFill>
                <a:effectLst/>
                <a:latin typeface="Söhne"/>
              </a:rPr>
              <a:t>需要注意的是，在某些特殊的神经网络层中，如卷积层和循环神经网络层，前向传播的矩阵运算会有一些特殊的操作，如卷积运算和循环计算。这些操作会涉及到更复杂的矩阵运算和张量运算，但基本思想仍然是利用矩阵运算来高效地处理数据。</a:t>
            </a:r>
          </a:p>
          <a:p>
            <a:endParaRPr lang="zh-CN" altLang="en-US" dirty="0"/>
          </a:p>
        </p:txBody>
      </p:sp>
      <p:sp>
        <p:nvSpPr>
          <p:cNvPr id="2" name="等腰三角形 1">
            <a:extLst>
              <a:ext uri="{FF2B5EF4-FFF2-40B4-BE49-F238E27FC236}">
                <a16:creationId xmlns:a16="http://schemas.microsoft.com/office/drawing/2014/main" id="{0A2C066A-6173-2BDD-3DE5-E112C3C7054A}"/>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3" name="文本框 48">
            <a:extLst>
              <a:ext uri="{FF2B5EF4-FFF2-40B4-BE49-F238E27FC236}">
                <a16:creationId xmlns:a16="http://schemas.microsoft.com/office/drawing/2014/main" id="{B0D1BD5A-BB83-7985-5EAF-CD344E019476}"/>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1351540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1DBAE-68B9-894F-8254-1E9A074EB634}"/>
              </a:ext>
            </a:extLst>
          </p:cNvPr>
          <p:cNvSpPr>
            <a:spLocks noGrp="1"/>
          </p:cNvSpPr>
          <p:nvPr>
            <p:ph type="title"/>
          </p:nvPr>
        </p:nvSpPr>
        <p:spPr>
          <a:xfrm>
            <a:off x="419553" y="477817"/>
            <a:ext cx="10515600" cy="1325563"/>
          </a:xfrm>
        </p:spPr>
        <p:txBody>
          <a:bodyPr>
            <a:normAutofit/>
          </a:bodyPr>
          <a:lstStyle/>
          <a:p>
            <a:r>
              <a:rPr lang="zh-CN" altLang="en-US" sz="3600" dirty="0">
                <a:solidFill>
                  <a:srgbClr val="FF0000"/>
                </a:solidFill>
              </a:rPr>
              <a:t>三、计算损失函数</a:t>
            </a:r>
          </a:p>
        </p:txBody>
      </p:sp>
      <p:sp>
        <p:nvSpPr>
          <p:cNvPr id="3" name="内容占位符 2">
            <a:extLst>
              <a:ext uri="{FF2B5EF4-FFF2-40B4-BE49-F238E27FC236}">
                <a16:creationId xmlns:a16="http://schemas.microsoft.com/office/drawing/2014/main" id="{A634FF29-70EC-8562-4ED3-7A8BA852EA8B}"/>
              </a:ext>
            </a:extLst>
          </p:cNvPr>
          <p:cNvSpPr>
            <a:spLocks noGrp="1"/>
          </p:cNvSpPr>
          <p:nvPr>
            <p:ph idx="1"/>
          </p:nvPr>
        </p:nvSpPr>
        <p:spPr>
          <a:xfrm>
            <a:off x="419553" y="1491270"/>
            <a:ext cx="10515600" cy="5001605"/>
          </a:xfrm>
        </p:spPr>
        <p:txBody>
          <a:bodyPr>
            <a:normAutofit/>
          </a:bodyPr>
          <a:lstStyle/>
          <a:p>
            <a:r>
              <a:rPr lang="zh-CN" altLang="en-US" sz="2400" b="0" i="0" dirty="0">
                <a:solidFill>
                  <a:srgbClr val="374151"/>
                </a:solidFill>
                <a:effectLst/>
                <a:latin typeface="Söhne"/>
              </a:rPr>
              <a:t>计算损失函数通常是在前向传播的最后一步完成的，将网络的输出结果与目标值进行比较，并计算出一个标量值表示网络的误差。</a:t>
            </a:r>
            <a:endParaRPr lang="en-US" altLang="zh-CN" sz="2400" b="0" i="0" dirty="0">
              <a:solidFill>
                <a:srgbClr val="374151"/>
              </a:solidFill>
              <a:effectLst/>
              <a:latin typeface="Söhne"/>
            </a:endParaRPr>
          </a:p>
          <a:p>
            <a:r>
              <a:rPr lang="zh-CN" altLang="en-US" sz="2400" b="0" i="0" dirty="0">
                <a:solidFill>
                  <a:srgbClr val="374151"/>
                </a:solidFill>
                <a:effectLst/>
                <a:latin typeface="Söhne"/>
              </a:rPr>
              <a:t>一般步骤：</a:t>
            </a:r>
            <a:endParaRPr lang="en-US" altLang="zh-CN" sz="2400" b="0" i="0" dirty="0">
              <a:solidFill>
                <a:srgbClr val="374151"/>
              </a:solidFill>
              <a:effectLst/>
              <a:latin typeface="Söhne"/>
            </a:endParaRPr>
          </a:p>
          <a:p>
            <a:pPr algn="l">
              <a:buFont typeface="+mj-lt"/>
              <a:buAutoNum type="arabicPeriod"/>
            </a:pPr>
            <a:r>
              <a:rPr lang="zh-CN" altLang="en-US" sz="1900" b="0" i="0" dirty="0">
                <a:solidFill>
                  <a:srgbClr val="374151"/>
                </a:solidFill>
                <a:effectLst/>
                <a:latin typeface="Söhne"/>
              </a:rPr>
              <a:t>假设网络的输出结果为</a:t>
            </a:r>
            <a:r>
              <a:rPr lang="en-US" altLang="zh-CN" sz="1900" b="0" i="0" dirty="0" err="1">
                <a:solidFill>
                  <a:srgbClr val="374151"/>
                </a:solidFill>
                <a:effectLst/>
                <a:latin typeface="Söhne"/>
              </a:rPr>
              <a:t>Y_pred</a:t>
            </a:r>
            <a:r>
              <a:rPr lang="zh-CN" altLang="en-US" sz="1900" b="0" i="0" dirty="0">
                <a:solidFill>
                  <a:srgbClr val="374151"/>
                </a:solidFill>
                <a:effectLst/>
                <a:latin typeface="Söhne"/>
              </a:rPr>
              <a:t>，目标值为</a:t>
            </a:r>
            <a:r>
              <a:rPr lang="en-US" altLang="zh-CN" sz="1900" b="0" i="0" dirty="0" err="1">
                <a:solidFill>
                  <a:srgbClr val="374151"/>
                </a:solidFill>
                <a:effectLst/>
                <a:latin typeface="Söhne"/>
              </a:rPr>
              <a:t>Y_true</a:t>
            </a:r>
            <a:r>
              <a:rPr lang="zh-CN" altLang="en-US" sz="1900" b="0" i="0" dirty="0">
                <a:solidFill>
                  <a:srgbClr val="374151"/>
                </a:solidFill>
                <a:effectLst/>
                <a:latin typeface="Söhne"/>
              </a:rPr>
              <a:t>。</a:t>
            </a:r>
          </a:p>
          <a:p>
            <a:pPr algn="l">
              <a:buFont typeface="+mj-lt"/>
              <a:buAutoNum type="arabicPeriod"/>
            </a:pPr>
            <a:r>
              <a:rPr lang="zh-CN" altLang="en-US" sz="1900" b="0" i="0" dirty="0">
                <a:solidFill>
                  <a:srgbClr val="374151"/>
                </a:solidFill>
                <a:effectLst/>
                <a:latin typeface="Söhne"/>
              </a:rPr>
              <a:t>根据具体的任务，选择适当的损失函数，如均方误差（</a:t>
            </a:r>
            <a:r>
              <a:rPr lang="en-US" altLang="zh-CN" sz="1900" b="0" i="0" dirty="0">
                <a:solidFill>
                  <a:srgbClr val="374151"/>
                </a:solidFill>
                <a:effectLst/>
                <a:latin typeface="Söhne"/>
              </a:rPr>
              <a:t>Mean Squared Error</a:t>
            </a:r>
            <a:r>
              <a:rPr lang="zh-CN" altLang="en-US" sz="1900" b="0" i="0" dirty="0">
                <a:solidFill>
                  <a:srgbClr val="374151"/>
                </a:solidFill>
                <a:effectLst/>
                <a:latin typeface="Söhne"/>
              </a:rPr>
              <a:t>，</a:t>
            </a:r>
            <a:r>
              <a:rPr lang="en-US" altLang="zh-CN" sz="1900" b="0" i="0" dirty="0">
                <a:solidFill>
                  <a:srgbClr val="374151"/>
                </a:solidFill>
                <a:effectLst/>
                <a:latin typeface="Söhne"/>
              </a:rPr>
              <a:t>MSE</a:t>
            </a:r>
            <a:r>
              <a:rPr lang="zh-CN" altLang="en-US" sz="1900" b="0" i="0" dirty="0">
                <a:solidFill>
                  <a:srgbClr val="374151"/>
                </a:solidFill>
                <a:effectLst/>
                <a:latin typeface="Söhne"/>
              </a:rPr>
              <a:t>）或交叉熵损失（</a:t>
            </a:r>
            <a:r>
              <a:rPr lang="en-US" altLang="zh-CN" sz="1900" b="0" i="0" dirty="0">
                <a:solidFill>
                  <a:srgbClr val="374151"/>
                </a:solidFill>
                <a:effectLst/>
                <a:latin typeface="Söhne"/>
              </a:rPr>
              <a:t>Cross Entropy Loss</a:t>
            </a:r>
            <a:r>
              <a:rPr lang="zh-CN" altLang="en-US" sz="1900" b="0" i="0" dirty="0">
                <a:solidFill>
                  <a:srgbClr val="374151"/>
                </a:solidFill>
                <a:effectLst/>
                <a:latin typeface="Söhne"/>
              </a:rPr>
              <a:t>）等。</a:t>
            </a:r>
          </a:p>
          <a:p>
            <a:pPr algn="l">
              <a:buFont typeface="+mj-lt"/>
              <a:buAutoNum type="arabicPeriod"/>
            </a:pPr>
            <a:r>
              <a:rPr lang="zh-CN" altLang="en-US" sz="1900" b="0" i="0" dirty="0">
                <a:solidFill>
                  <a:srgbClr val="374151"/>
                </a:solidFill>
                <a:effectLst/>
                <a:latin typeface="Söhne"/>
              </a:rPr>
              <a:t>对于均方误差损失（</a:t>
            </a:r>
            <a:r>
              <a:rPr lang="en-US" altLang="zh-CN" sz="1900" b="0" i="0" dirty="0">
                <a:solidFill>
                  <a:srgbClr val="374151"/>
                </a:solidFill>
                <a:effectLst/>
                <a:latin typeface="Söhne"/>
              </a:rPr>
              <a:t>MSE</a:t>
            </a:r>
            <a:r>
              <a:rPr lang="zh-CN" altLang="en-US" sz="1900" b="0" i="0" dirty="0">
                <a:solidFill>
                  <a:srgbClr val="374151"/>
                </a:solidFill>
                <a:effectLst/>
                <a:latin typeface="Söhne"/>
              </a:rPr>
              <a:t>）：</a:t>
            </a:r>
          </a:p>
          <a:p>
            <a:pPr marL="742950" lvl="1" indent="-285750" algn="l">
              <a:buFont typeface="+mj-lt"/>
              <a:buAutoNum type="arabicPeriod"/>
            </a:pPr>
            <a:r>
              <a:rPr lang="zh-CN" altLang="en-US" sz="1900" b="0" i="0" dirty="0">
                <a:solidFill>
                  <a:srgbClr val="374151"/>
                </a:solidFill>
                <a:effectLst/>
                <a:latin typeface="Söhne"/>
              </a:rPr>
              <a:t>计算误差（差值）：</a:t>
            </a:r>
            <a:r>
              <a:rPr lang="en-US" altLang="zh-CN" sz="1900" b="0" i="0" dirty="0">
                <a:solidFill>
                  <a:srgbClr val="374151"/>
                </a:solidFill>
                <a:effectLst/>
                <a:latin typeface="Söhne"/>
              </a:rPr>
              <a:t>E = </a:t>
            </a:r>
            <a:r>
              <a:rPr lang="en-US" altLang="zh-CN" sz="1900" b="0" i="0" dirty="0" err="1">
                <a:solidFill>
                  <a:srgbClr val="374151"/>
                </a:solidFill>
                <a:effectLst/>
                <a:latin typeface="Söhne"/>
              </a:rPr>
              <a:t>Y_pred</a:t>
            </a:r>
            <a:r>
              <a:rPr lang="en-US" altLang="zh-CN" sz="1900" b="0" i="0" dirty="0">
                <a:solidFill>
                  <a:srgbClr val="374151"/>
                </a:solidFill>
                <a:effectLst/>
                <a:latin typeface="Söhne"/>
              </a:rPr>
              <a:t> - </a:t>
            </a:r>
            <a:r>
              <a:rPr lang="en-US" altLang="zh-CN" sz="1900" b="0" i="0" dirty="0" err="1">
                <a:solidFill>
                  <a:srgbClr val="374151"/>
                </a:solidFill>
                <a:effectLst/>
                <a:latin typeface="Söhne"/>
              </a:rPr>
              <a:t>Y_true</a:t>
            </a:r>
            <a:r>
              <a:rPr lang="zh-CN" altLang="en-US" sz="1900" b="0" i="0" dirty="0">
                <a:solidFill>
                  <a:srgbClr val="374151"/>
                </a:solidFill>
                <a:effectLst/>
                <a:latin typeface="Söhne"/>
              </a:rPr>
              <a:t>。</a:t>
            </a:r>
          </a:p>
          <a:p>
            <a:pPr marL="742950" lvl="1" indent="-285750" algn="l">
              <a:buFont typeface="+mj-lt"/>
              <a:buAutoNum type="arabicPeriod"/>
            </a:pPr>
            <a:r>
              <a:rPr lang="zh-CN" altLang="en-US" sz="1900" b="0" i="0" dirty="0">
                <a:solidFill>
                  <a:srgbClr val="374151"/>
                </a:solidFill>
                <a:effectLst/>
                <a:latin typeface="Söhne"/>
              </a:rPr>
              <a:t>计算损失函数：</a:t>
            </a:r>
            <a:r>
              <a:rPr lang="en-US" altLang="zh-CN" sz="1900" b="0" i="0" dirty="0">
                <a:solidFill>
                  <a:srgbClr val="374151"/>
                </a:solidFill>
                <a:effectLst/>
                <a:latin typeface="Söhne"/>
              </a:rPr>
              <a:t>L = (1/N) * sum(E^2)</a:t>
            </a:r>
            <a:r>
              <a:rPr lang="zh-CN" altLang="en-US" sz="1900" b="0" i="0" dirty="0">
                <a:solidFill>
                  <a:srgbClr val="374151"/>
                </a:solidFill>
                <a:effectLst/>
                <a:latin typeface="Söhne"/>
              </a:rPr>
              <a:t>，其中</a:t>
            </a:r>
            <a:r>
              <a:rPr lang="en-US" altLang="zh-CN" sz="1900" b="0" i="0" dirty="0">
                <a:solidFill>
                  <a:srgbClr val="374151"/>
                </a:solidFill>
                <a:effectLst/>
                <a:latin typeface="Söhne"/>
              </a:rPr>
              <a:t>N</a:t>
            </a:r>
            <a:r>
              <a:rPr lang="zh-CN" altLang="en-US" sz="1900" b="0" i="0" dirty="0">
                <a:solidFill>
                  <a:srgbClr val="374151"/>
                </a:solidFill>
                <a:effectLst/>
                <a:latin typeface="Söhne"/>
              </a:rPr>
              <a:t>为样本的数量。</a:t>
            </a:r>
          </a:p>
          <a:p>
            <a:pPr algn="l">
              <a:buFont typeface="+mj-lt"/>
              <a:buAutoNum type="arabicPeriod"/>
            </a:pPr>
            <a:r>
              <a:rPr lang="zh-CN" altLang="en-US" sz="1900" b="0" i="0" dirty="0">
                <a:solidFill>
                  <a:srgbClr val="374151"/>
                </a:solidFill>
                <a:effectLst/>
                <a:latin typeface="Söhne"/>
              </a:rPr>
              <a:t>对于交叉熵损失（</a:t>
            </a:r>
            <a:r>
              <a:rPr lang="en-US" altLang="zh-CN" sz="1900" b="0" i="0" dirty="0">
                <a:solidFill>
                  <a:srgbClr val="374151"/>
                </a:solidFill>
                <a:effectLst/>
                <a:latin typeface="Söhne"/>
              </a:rPr>
              <a:t>Cross Entropy Loss</a:t>
            </a:r>
            <a:r>
              <a:rPr lang="zh-CN" altLang="en-US" sz="1900" b="0" i="0" dirty="0">
                <a:solidFill>
                  <a:srgbClr val="374151"/>
                </a:solidFill>
                <a:effectLst/>
                <a:latin typeface="Söhne"/>
              </a:rPr>
              <a:t>）：</a:t>
            </a:r>
          </a:p>
          <a:p>
            <a:pPr marL="742950" lvl="1" indent="-285750" algn="l">
              <a:buFont typeface="+mj-lt"/>
              <a:buAutoNum type="arabicPeriod"/>
            </a:pPr>
            <a:r>
              <a:rPr lang="zh-CN" altLang="en-US" sz="1900" b="0" i="0" dirty="0">
                <a:solidFill>
                  <a:srgbClr val="374151"/>
                </a:solidFill>
                <a:effectLst/>
                <a:latin typeface="Söhne"/>
              </a:rPr>
              <a:t>计算交叉熵损失：</a:t>
            </a:r>
            <a:r>
              <a:rPr lang="en-US" altLang="zh-CN" sz="1900" b="0" i="0" dirty="0">
                <a:solidFill>
                  <a:srgbClr val="374151"/>
                </a:solidFill>
                <a:effectLst/>
                <a:latin typeface="Söhne"/>
              </a:rPr>
              <a:t>L = -(1/N) * sum(</a:t>
            </a:r>
            <a:r>
              <a:rPr lang="en-US" altLang="zh-CN" sz="1900" b="0" i="0" dirty="0" err="1">
                <a:solidFill>
                  <a:srgbClr val="374151"/>
                </a:solidFill>
                <a:effectLst/>
                <a:latin typeface="Söhne"/>
              </a:rPr>
              <a:t>Y_true</a:t>
            </a:r>
            <a:r>
              <a:rPr lang="en-US" altLang="zh-CN" sz="1900" b="0" i="0" dirty="0">
                <a:solidFill>
                  <a:srgbClr val="374151"/>
                </a:solidFill>
                <a:effectLst/>
                <a:latin typeface="Söhne"/>
              </a:rPr>
              <a:t> * log(</a:t>
            </a:r>
            <a:r>
              <a:rPr lang="en-US" altLang="zh-CN" sz="1900" b="0" i="0" dirty="0" err="1">
                <a:solidFill>
                  <a:srgbClr val="374151"/>
                </a:solidFill>
                <a:effectLst/>
                <a:latin typeface="Söhne"/>
              </a:rPr>
              <a:t>Y_pred</a:t>
            </a:r>
            <a:r>
              <a:rPr lang="en-US" altLang="zh-CN" sz="1900" b="0" i="0" dirty="0">
                <a:solidFill>
                  <a:srgbClr val="374151"/>
                </a:solidFill>
                <a:effectLst/>
                <a:latin typeface="Söhne"/>
              </a:rPr>
              <a:t>))</a:t>
            </a:r>
            <a:r>
              <a:rPr lang="zh-CN" altLang="en-US" sz="1900" b="0" i="0" dirty="0">
                <a:solidFill>
                  <a:srgbClr val="374151"/>
                </a:solidFill>
                <a:effectLst/>
                <a:latin typeface="Söhne"/>
              </a:rPr>
              <a:t>，其中</a:t>
            </a:r>
            <a:r>
              <a:rPr lang="en-US" altLang="zh-CN" sz="1900" b="0" i="0" dirty="0">
                <a:solidFill>
                  <a:srgbClr val="374151"/>
                </a:solidFill>
                <a:effectLst/>
                <a:latin typeface="Söhne"/>
              </a:rPr>
              <a:t>N</a:t>
            </a:r>
            <a:r>
              <a:rPr lang="zh-CN" altLang="en-US" sz="1900" b="0" i="0" dirty="0">
                <a:solidFill>
                  <a:srgbClr val="374151"/>
                </a:solidFill>
                <a:effectLst/>
                <a:latin typeface="Söhne"/>
              </a:rPr>
              <a:t>为样本的数量，</a:t>
            </a:r>
            <a:r>
              <a:rPr lang="en-US" altLang="zh-CN" sz="1900" b="0" i="0" dirty="0">
                <a:solidFill>
                  <a:srgbClr val="374151"/>
                </a:solidFill>
                <a:effectLst/>
                <a:latin typeface="Söhne"/>
              </a:rPr>
              <a:t>log</a:t>
            </a:r>
            <a:r>
              <a:rPr lang="zh-CN" altLang="en-US" sz="1900" b="0" i="0" dirty="0">
                <a:solidFill>
                  <a:srgbClr val="374151"/>
                </a:solidFill>
                <a:effectLst/>
                <a:latin typeface="Söhne"/>
              </a:rPr>
              <a:t>表示自然对数，*表示元素逐元素相乘。</a:t>
            </a:r>
          </a:p>
          <a:p>
            <a:pPr marL="742950" lvl="1" indent="-285750" algn="l">
              <a:buFont typeface="+mj-lt"/>
              <a:buAutoNum type="arabicPeriod"/>
            </a:pPr>
            <a:r>
              <a:rPr lang="zh-CN" altLang="en-US" sz="1900" b="0" i="0" dirty="0">
                <a:solidFill>
                  <a:srgbClr val="374151"/>
                </a:solidFill>
                <a:effectLst/>
                <a:latin typeface="Söhne"/>
              </a:rPr>
              <a:t>注意：在实际应用中，可以根据具体的任务和输出激活函数的选择来使用适当的交叉熵损失函数，如二分类交叉熵、多分类交叉熵等。</a:t>
            </a:r>
          </a:p>
          <a:p>
            <a:endParaRPr lang="en-US" altLang="zh-CN" sz="2400" b="0" i="0" dirty="0">
              <a:solidFill>
                <a:srgbClr val="374151"/>
              </a:solidFill>
              <a:effectLst/>
              <a:latin typeface="Söhne"/>
            </a:endParaRPr>
          </a:p>
          <a:p>
            <a:endParaRPr lang="zh-CN" altLang="en-US" dirty="0"/>
          </a:p>
        </p:txBody>
      </p:sp>
      <p:sp>
        <p:nvSpPr>
          <p:cNvPr id="4" name="等腰三角形 3">
            <a:extLst>
              <a:ext uri="{FF2B5EF4-FFF2-40B4-BE49-F238E27FC236}">
                <a16:creationId xmlns:a16="http://schemas.microsoft.com/office/drawing/2014/main" id="{845FD092-2E27-F124-69D4-241234E0B958}"/>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1C336F92-443A-61D1-9395-A01D8B198D9D}"/>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4001030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3C2839-40EF-7BC6-229F-41DA32F8EBE0}"/>
              </a:ext>
            </a:extLst>
          </p:cNvPr>
          <p:cNvSpPr>
            <a:spLocks noGrp="1"/>
          </p:cNvSpPr>
          <p:nvPr>
            <p:ph type="title"/>
          </p:nvPr>
        </p:nvSpPr>
        <p:spPr>
          <a:xfrm>
            <a:off x="419553" y="526748"/>
            <a:ext cx="10515600" cy="1325563"/>
          </a:xfrm>
        </p:spPr>
        <p:txBody>
          <a:bodyPr>
            <a:normAutofit/>
          </a:bodyPr>
          <a:lstStyle/>
          <a:p>
            <a:r>
              <a:rPr lang="zh-CN" altLang="en-US" sz="3600" dirty="0">
                <a:solidFill>
                  <a:srgbClr val="FF0000"/>
                </a:solidFill>
              </a:rPr>
              <a:t>四、反向传播</a:t>
            </a:r>
          </a:p>
        </p:txBody>
      </p:sp>
      <p:sp>
        <p:nvSpPr>
          <p:cNvPr id="3" name="内容占位符 2">
            <a:extLst>
              <a:ext uri="{FF2B5EF4-FFF2-40B4-BE49-F238E27FC236}">
                <a16:creationId xmlns:a16="http://schemas.microsoft.com/office/drawing/2014/main" id="{5B56CEE3-F27A-9890-0084-5180E3747071}"/>
              </a:ext>
            </a:extLst>
          </p:cNvPr>
          <p:cNvSpPr>
            <a:spLocks noGrp="1"/>
          </p:cNvSpPr>
          <p:nvPr>
            <p:ph idx="1"/>
          </p:nvPr>
        </p:nvSpPr>
        <p:spPr>
          <a:xfrm>
            <a:off x="419553" y="1594296"/>
            <a:ext cx="10515600" cy="4845253"/>
          </a:xfrm>
        </p:spPr>
        <p:txBody>
          <a:bodyPr>
            <a:normAutofit/>
          </a:bodyPr>
          <a:lstStyle/>
          <a:p>
            <a:pPr marL="0" indent="0">
              <a:buNone/>
            </a:pPr>
            <a:r>
              <a:rPr lang="zh-CN" altLang="en-US" b="0" i="0" dirty="0">
                <a:solidFill>
                  <a:srgbClr val="374151"/>
                </a:solidFill>
                <a:effectLst/>
                <a:latin typeface="Söhne"/>
              </a:rPr>
              <a:t>反向传播算法使用矩阵运算来计算损失函数对网络参数（权重和偏置）的梯度。</a:t>
            </a:r>
            <a:endParaRPr lang="en-US" altLang="zh-CN" b="0" i="0" dirty="0">
              <a:solidFill>
                <a:srgbClr val="374151"/>
              </a:solidFill>
              <a:effectLst/>
              <a:latin typeface="Söhne"/>
            </a:endParaRPr>
          </a:p>
          <a:p>
            <a:pPr marL="0" indent="0">
              <a:buNone/>
            </a:pPr>
            <a:endParaRPr lang="en-US" altLang="zh-CN" b="0" i="0" dirty="0">
              <a:solidFill>
                <a:srgbClr val="374151"/>
              </a:solidFill>
              <a:effectLst/>
              <a:latin typeface="Söhne"/>
            </a:endParaRPr>
          </a:p>
          <a:p>
            <a:pPr algn="l">
              <a:buFont typeface="+mj-lt"/>
              <a:buAutoNum type="arabicPeriod"/>
            </a:pPr>
            <a:r>
              <a:rPr lang="zh-CN" altLang="en-US" sz="2400" b="0" i="0" dirty="0">
                <a:solidFill>
                  <a:srgbClr val="374151"/>
                </a:solidFill>
                <a:effectLst/>
                <a:latin typeface="Söhne"/>
              </a:rPr>
              <a:t>计算输出层的梯度</a:t>
            </a:r>
            <a:endParaRPr lang="en-US" altLang="zh-CN" sz="2400" b="0" i="0" dirty="0">
              <a:solidFill>
                <a:srgbClr val="374151"/>
              </a:solidFill>
              <a:effectLst/>
              <a:latin typeface="Söhne"/>
            </a:endParaRPr>
          </a:p>
          <a:p>
            <a:pPr algn="l">
              <a:buFont typeface="+mj-lt"/>
              <a:buAutoNum type="arabicPeriod"/>
            </a:pPr>
            <a:endParaRPr lang="zh-CN" altLang="en-US" sz="2400" b="0" i="0" dirty="0">
              <a:solidFill>
                <a:srgbClr val="374151"/>
              </a:solidFill>
              <a:effectLst/>
              <a:latin typeface="Söhne"/>
            </a:endParaRPr>
          </a:p>
          <a:p>
            <a:pPr algn="l">
              <a:buFont typeface="+mj-lt"/>
              <a:buAutoNum type="arabicPeriod"/>
            </a:pPr>
            <a:r>
              <a:rPr lang="zh-CN" altLang="en-US" sz="2400" b="0" i="0" dirty="0">
                <a:solidFill>
                  <a:srgbClr val="374151"/>
                </a:solidFill>
                <a:effectLst/>
                <a:latin typeface="Söhne"/>
              </a:rPr>
              <a:t>对于每一层，计算梯度：</a:t>
            </a:r>
          </a:p>
          <a:p>
            <a:pPr marL="742950" lvl="1" indent="-285750" algn="l">
              <a:buFont typeface="+mj-lt"/>
              <a:buAutoNum type="arabicPeriod"/>
            </a:pPr>
            <a:r>
              <a:rPr lang="zh-CN" altLang="en-US" b="0" i="0" dirty="0">
                <a:solidFill>
                  <a:srgbClr val="374151"/>
                </a:solidFill>
                <a:effectLst/>
                <a:latin typeface="Söhne"/>
              </a:rPr>
              <a:t>从输出层开始，根据后一层的梯度和当前层的激活函数，计算当前层的梯度。</a:t>
            </a:r>
          </a:p>
          <a:p>
            <a:pPr marL="742950" lvl="1" indent="-285750" algn="l">
              <a:buFont typeface="+mj-lt"/>
              <a:buAutoNum type="arabicPeriod"/>
            </a:pPr>
            <a:r>
              <a:rPr lang="zh-CN" altLang="en-US" b="0" i="0" dirty="0">
                <a:solidFill>
                  <a:srgbClr val="374151"/>
                </a:solidFill>
                <a:effectLst/>
                <a:latin typeface="Söhne"/>
              </a:rPr>
              <a:t>计算当前层的权重梯度：将当前层的梯度与前一层的输出矩阵进行转置相乘，得到权重的梯度矩阵。</a:t>
            </a:r>
          </a:p>
          <a:p>
            <a:pPr marL="742950" lvl="1" indent="-285750" algn="l">
              <a:buFont typeface="+mj-lt"/>
              <a:buAutoNum type="arabicPeriod"/>
            </a:pPr>
            <a:r>
              <a:rPr lang="zh-CN" altLang="en-US" b="0" i="0" dirty="0">
                <a:solidFill>
                  <a:srgbClr val="374151"/>
                </a:solidFill>
                <a:effectLst/>
                <a:latin typeface="Söhne"/>
              </a:rPr>
              <a:t>计算当前层的偏置梯度：当前层的梯度即为偏置的梯度。</a:t>
            </a:r>
          </a:p>
          <a:p>
            <a:pPr marL="0" indent="0">
              <a:buNone/>
            </a:pPr>
            <a:endParaRPr lang="zh-CN" altLang="en-US" dirty="0"/>
          </a:p>
        </p:txBody>
      </p:sp>
      <p:sp>
        <p:nvSpPr>
          <p:cNvPr id="4" name="等腰三角形 3">
            <a:extLst>
              <a:ext uri="{FF2B5EF4-FFF2-40B4-BE49-F238E27FC236}">
                <a16:creationId xmlns:a16="http://schemas.microsoft.com/office/drawing/2014/main" id="{CF6E043E-629F-B207-647E-D92E02247031}"/>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8BCB2AD3-3B16-212D-49C5-ED76B1212022}"/>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3813884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94FFA-05D8-C480-AA50-7C485E859D4D}"/>
              </a:ext>
            </a:extLst>
          </p:cNvPr>
          <p:cNvSpPr>
            <a:spLocks noGrp="1"/>
          </p:cNvSpPr>
          <p:nvPr>
            <p:ph type="title"/>
          </p:nvPr>
        </p:nvSpPr>
        <p:spPr>
          <a:xfrm>
            <a:off x="419553" y="459406"/>
            <a:ext cx="10515600" cy="1325563"/>
          </a:xfrm>
        </p:spPr>
        <p:txBody>
          <a:bodyPr>
            <a:normAutofit/>
          </a:bodyPr>
          <a:lstStyle/>
          <a:p>
            <a:r>
              <a:rPr lang="zh-CN" altLang="en-US" sz="3600" dirty="0">
                <a:solidFill>
                  <a:srgbClr val="FF0000"/>
                </a:solidFill>
              </a:rPr>
              <a:t>五、更新参数</a:t>
            </a:r>
          </a:p>
        </p:txBody>
      </p:sp>
      <p:sp>
        <p:nvSpPr>
          <p:cNvPr id="3" name="内容占位符 2">
            <a:extLst>
              <a:ext uri="{FF2B5EF4-FFF2-40B4-BE49-F238E27FC236}">
                <a16:creationId xmlns:a16="http://schemas.microsoft.com/office/drawing/2014/main" id="{BB84E04C-A099-9A81-D739-BA8703ECC916}"/>
              </a:ext>
            </a:extLst>
          </p:cNvPr>
          <p:cNvSpPr>
            <a:spLocks noGrp="1"/>
          </p:cNvSpPr>
          <p:nvPr>
            <p:ph idx="1"/>
          </p:nvPr>
        </p:nvSpPr>
        <p:spPr>
          <a:xfrm>
            <a:off x="419553" y="1676079"/>
            <a:ext cx="10515600" cy="4722515"/>
          </a:xfrm>
        </p:spPr>
        <p:txBody>
          <a:bodyPr>
            <a:normAutofit fontScale="92500" lnSpcReduction="10000"/>
          </a:bodyPr>
          <a:lstStyle/>
          <a:p>
            <a:r>
              <a:rPr lang="zh-CN" altLang="en-US" b="0" i="0" dirty="0">
                <a:solidFill>
                  <a:srgbClr val="374151"/>
                </a:solidFill>
                <a:effectLst/>
                <a:latin typeface="Söhne"/>
              </a:rPr>
              <a:t>对于权重和偏置的更新，可以使用矩阵运算来高效地更新参数。</a:t>
            </a:r>
            <a:endParaRPr lang="en-US" altLang="zh-CN" b="0" i="0" dirty="0">
              <a:solidFill>
                <a:srgbClr val="374151"/>
              </a:solidFill>
              <a:effectLst/>
              <a:latin typeface="Söhne"/>
            </a:endParaRPr>
          </a:p>
          <a:p>
            <a:pPr marL="0" indent="0">
              <a:buNone/>
            </a:pPr>
            <a:r>
              <a:rPr lang="zh-CN" altLang="en-US" b="0" i="0" dirty="0">
                <a:solidFill>
                  <a:srgbClr val="374151"/>
                </a:solidFill>
                <a:effectLst/>
                <a:latin typeface="Söhne"/>
              </a:rPr>
              <a:t>  一般步骤：</a:t>
            </a:r>
            <a:endParaRPr lang="en-US" altLang="zh-CN" b="0" i="0" dirty="0">
              <a:solidFill>
                <a:srgbClr val="374151"/>
              </a:solidFill>
              <a:effectLst/>
              <a:latin typeface="Söhne"/>
            </a:endParaRPr>
          </a:p>
          <a:p>
            <a:pPr algn="l">
              <a:buFont typeface="+mj-lt"/>
              <a:buAutoNum type="arabicPeriod"/>
            </a:pPr>
            <a:r>
              <a:rPr lang="zh-CN" altLang="en-US" sz="2600" b="0" i="0" dirty="0">
                <a:solidFill>
                  <a:srgbClr val="374151"/>
                </a:solidFill>
                <a:effectLst/>
                <a:latin typeface="Söhne"/>
              </a:rPr>
              <a:t>初始化学习率（</a:t>
            </a:r>
            <a:r>
              <a:rPr lang="en-US" altLang="zh-CN" sz="2600" b="0" i="0" dirty="0">
                <a:solidFill>
                  <a:srgbClr val="374151"/>
                </a:solidFill>
                <a:effectLst/>
                <a:latin typeface="Söhne"/>
              </a:rPr>
              <a:t>learning rate</a:t>
            </a:r>
            <a:r>
              <a:rPr lang="zh-CN" altLang="en-US" sz="2600" b="0" i="0" dirty="0">
                <a:solidFill>
                  <a:srgbClr val="374151"/>
                </a:solidFill>
                <a:effectLst/>
                <a:latin typeface="Söhne"/>
              </a:rPr>
              <a:t>）：选择合适的学习率来控制每次参数更新的步长。</a:t>
            </a:r>
          </a:p>
          <a:p>
            <a:pPr algn="l">
              <a:buFont typeface="+mj-lt"/>
              <a:buAutoNum type="arabicPeriod"/>
            </a:pPr>
            <a:r>
              <a:rPr lang="zh-CN" altLang="en-US" sz="2600" b="0" i="0" dirty="0">
                <a:solidFill>
                  <a:srgbClr val="374151"/>
                </a:solidFill>
                <a:effectLst/>
                <a:latin typeface="Söhne"/>
              </a:rPr>
              <a:t>对于每个参数，执行以下步骤：</a:t>
            </a:r>
          </a:p>
          <a:p>
            <a:pPr algn="l">
              <a:buFont typeface="+mj-lt"/>
              <a:buAutoNum type="arabicPeriod"/>
            </a:pPr>
            <a:r>
              <a:rPr lang="en-US" altLang="zh-CN" sz="2600" b="0" i="0" dirty="0">
                <a:solidFill>
                  <a:srgbClr val="374151"/>
                </a:solidFill>
                <a:effectLst/>
                <a:latin typeface="Söhne"/>
              </a:rPr>
              <a:t>a. </a:t>
            </a:r>
            <a:r>
              <a:rPr lang="zh-CN" altLang="en-US" sz="2600" b="0" i="0" dirty="0">
                <a:solidFill>
                  <a:srgbClr val="374151"/>
                </a:solidFill>
                <a:effectLst/>
                <a:latin typeface="Söhne"/>
              </a:rPr>
              <a:t>计算参数的梯度：根据反向传播算法得到的梯度，得到参数的梯度矩阵。</a:t>
            </a:r>
          </a:p>
          <a:p>
            <a:pPr algn="l">
              <a:buFont typeface="+mj-lt"/>
              <a:buAutoNum type="arabicPeriod"/>
            </a:pPr>
            <a:r>
              <a:rPr lang="en-US" altLang="zh-CN" sz="2600" b="0" i="0" dirty="0">
                <a:solidFill>
                  <a:srgbClr val="374151"/>
                </a:solidFill>
                <a:effectLst/>
                <a:latin typeface="Söhne"/>
              </a:rPr>
              <a:t>b. </a:t>
            </a:r>
            <a:r>
              <a:rPr lang="zh-CN" altLang="en-US" sz="2600" b="0" i="0" dirty="0">
                <a:solidFill>
                  <a:srgbClr val="374151"/>
                </a:solidFill>
                <a:effectLst/>
                <a:latin typeface="Söhne"/>
              </a:rPr>
              <a:t>根据学习率和梯度，更新参数：</a:t>
            </a:r>
          </a:p>
          <a:p>
            <a:pPr marL="742950" lvl="1" indent="-285750" algn="l">
              <a:buFont typeface="+mj-lt"/>
              <a:buAutoNum type="arabicPeriod"/>
            </a:pPr>
            <a:r>
              <a:rPr lang="zh-CN" altLang="en-US" sz="2600" b="0" i="0" dirty="0">
                <a:solidFill>
                  <a:srgbClr val="374151"/>
                </a:solidFill>
                <a:effectLst/>
                <a:latin typeface="Söhne"/>
              </a:rPr>
              <a:t>权重更新：将参数的梯度乘以学习率，得到参数的更新量。</a:t>
            </a:r>
          </a:p>
          <a:p>
            <a:pPr marL="742950" lvl="1" indent="-285750" algn="l">
              <a:buFont typeface="+mj-lt"/>
              <a:buAutoNum type="arabicPeriod"/>
            </a:pPr>
            <a:r>
              <a:rPr lang="zh-CN" altLang="en-US" sz="2600" b="0" i="0" dirty="0">
                <a:solidFill>
                  <a:srgbClr val="374151"/>
                </a:solidFill>
                <a:effectLst/>
                <a:latin typeface="Söhne"/>
              </a:rPr>
              <a:t>偏置更新：将参数的梯度乘以学习率，得到参数的更新量。</a:t>
            </a:r>
          </a:p>
          <a:p>
            <a:pPr algn="l">
              <a:buFont typeface="+mj-lt"/>
              <a:buAutoNum type="arabicPeriod"/>
            </a:pPr>
            <a:r>
              <a:rPr lang="en-US" altLang="zh-CN" sz="2600" b="0" i="0" dirty="0">
                <a:solidFill>
                  <a:srgbClr val="374151"/>
                </a:solidFill>
                <a:effectLst/>
                <a:latin typeface="Söhne"/>
              </a:rPr>
              <a:t>c. </a:t>
            </a:r>
            <a:r>
              <a:rPr lang="zh-CN" altLang="en-US" sz="2600" b="0" i="0" dirty="0">
                <a:solidFill>
                  <a:srgbClr val="374151"/>
                </a:solidFill>
                <a:effectLst/>
                <a:latin typeface="Söhne"/>
              </a:rPr>
              <a:t>更新参数：根据参数的更新量，使用矩阵运算更新参数值。</a:t>
            </a:r>
          </a:p>
          <a:p>
            <a:pPr marL="742950" lvl="1" indent="-285750" algn="l">
              <a:buFont typeface="+mj-lt"/>
              <a:buAutoNum type="arabicPeriod"/>
            </a:pPr>
            <a:r>
              <a:rPr lang="zh-CN" altLang="en-US" sz="2600" b="0" i="0" dirty="0">
                <a:solidFill>
                  <a:srgbClr val="374151"/>
                </a:solidFill>
                <a:effectLst/>
                <a:latin typeface="Söhne"/>
              </a:rPr>
              <a:t>权重更新：参数 </a:t>
            </a:r>
            <a:r>
              <a:rPr lang="en-US" altLang="zh-CN" sz="2600" b="0" i="0" dirty="0">
                <a:solidFill>
                  <a:srgbClr val="374151"/>
                </a:solidFill>
                <a:effectLst/>
                <a:latin typeface="Söhne"/>
              </a:rPr>
              <a:t>= </a:t>
            </a:r>
            <a:r>
              <a:rPr lang="zh-CN" altLang="en-US" sz="2600" b="0" i="0" dirty="0">
                <a:solidFill>
                  <a:srgbClr val="374151"/>
                </a:solidFill>
                <a:effectLst/>
                <a:latin typeface="Söhne"/>
              </a:rPr>
              <a:t>参数 </a:t>
            </a:r>
            <a:r>
              <a:rPr lang="en-US" altLang="zh-CN" sz="2600" b="0" i="0" dirty="0">
                <a:solidFill>
                  <a:srgbClr val="374151"/>
                </a:solidFill>
                <a:effectLst/>
                <a:latin typeface="Söhne"/>
              </a:rPr>
              <a:t>- </a:t>
            </a:r>
            <a:r>
              <a:rPr lang="zh-CN" altLang="en-US" sz="2600" b="0" i="0" dirty="0">
                <a:solidFill>
                  <a:srgbClr val="374151"/>
                </a:solidFill>
                <a:effectLst/>
                <a:latin typeface="Söhne"/>
              </a:rPr>
              <a:t>更新量。</a:t>
            </a:r>
          </a:p>
          <a:p>
            <a:pPr marL="742950" lvl="1" indent="-285750" algn="l">
              <a:buFont typeface="+mj-lt"/>
              <a:buAutoNum type="arabicPeriod"/>
            </a:pPr>
            <a:r>
              <a:rPr lang="zh-CN" altLang="en-US" sz="2600" b="0" i="0" dirty="0">
                <a:solidFill>
                  <a:srgbClr val="374151"/>
                </a:solidFill>
                <a:effectLst/>
                <a:latin typeface="Söhne"/>
              </a:rPr>
              <a:t>偏置更新：参数 </a:t>
            </a:r>
            <a:r>
              <a:rPr lang="en-US" altLang="zh-CN" sz="2600" b="0" i="0" dirty="0">
                <a:solidFill>
                  <a:srgbClr val="374151"/>
                </a:solidFill>
                <a:effectLst/>
                <a:latin typeface="Söhne"/>
              </a:rPr>
              <a:t>= </a:t>
            </a:r>
            <a:r>
              <a:rPr lang="zh-CN" altLang="en-US" sz="2600" b="0" i="0" dirty="0">
                <a:solidFill>
                  <a:srgbClr val="374151"/>
                </a:solidFill>
                <a:effectLst/>
                <a:latin typeface="Söhne"/>
              </a:rPr>
              <a:t>参数 </a:t>
            </a:r>
            <a:r>
              <a:rPr lang="en-US" altLang="zh-CN" sz="2600" b="0" i="0" dirty="0">
                <a:solidFill>
                  <a:srgbClr val="374151"/>
                </a:solidFill>
                <a:effectLst/>
                <a:latin typeface="Söhne"/>
              </a:rPr>
              <a:t>- </a:t>
            </a:r>
            <a:r>
              <a:rPr lang="zh-CN" altLang="en-US" sz="2600" b="0" i="0" dirty="0">
                <a:solidFill>
                  <a:srgbClr val="374151"/>
                </a:solidFill>
                <a:effectLst/>
                <a:latin typeface="Söhne"/>
              </a:rPr>
              <a:t>更新量。</a:t>
            </a:r>
          </a:p>
          <a:p>
            <a:pPr marL="0" indent="0">
              <a:buNone/>
            </a:pPr>
            <a:endParaRPr lang="zh-CN" altLang="en-US" dirty="0"/>
          </a:p>
        </p:txBody>
      </p:sp>
      <p:sp>
        <p:nvSpPr>
          <p:cNvPr id="4" name="等腰三角形 3">
            <a:extLst>
              <a:ext uri="{FF2B5EF4-FFF2-40B4-BE49-F238E27FC236}">
                <a16:creationId xmlns:a16="http://schemas.microsoft.com/office/drawing/2014/main" id="{7980121E-C7DD-AD0F-308C-4F3D038F97F4}"/>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1DE3D855-778A-4E05-F3E9-EFC02DAC9754}"/>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120457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140DD53-1CE2-49D9-0068-893AE5EC3B36}"/>
              </a:ext>
            </a:extLst>
          </p:cNvPr>
          <p:cNvSpPr>
            <a:spLocks noGrp="1"/>
          </p:cNvSpPr>
          <p:nvPr>
            <p:ph idx="1"/>
          </p:nvPr>
        </p:nvSpPr>
        <p:spPr>
          <a:xfrm>
            <a:off x="419553" y="1980170"/>
            <a:ext cx="10515600" cy="3074786"/>
          </a:xfrm>
        </p:spPr>
        <p:txBody>
          <a:bodyPr/>
          <a:lstStyle/>
          <a:p>
            <a:pPr marL="0" indent="0">
              <a:buNone/>
            </a:pPr>
            <a:r>
              <a:rPr lang="zh-CN" altLang="en-US" b="0" i="0" dirty="0">
                <a:solidFill>
                  <a:srgbClr val="374151"/>
                </a:solidFill>
                <a:effectLst/>
                <a:latin typeface="Söhne"/>
              </a:rPr>
              <a:t>反向传播算法的矩阵运算广泛应用于深度学习中的模型训练过程。通过使用矩阵运算，可以高效地计算梯度并更新网络参数，加速训练过程。</a:t>
            </a:r>
            <a:endParaRPr lang="en-US" altLang="zh-CN" b="0" i="0" dirty="0">
              <a:solidFill>
                <a:srgbClr val="374151"/>
              </a:solidFill>
              <a:effectLst/>
              <a:latin typeface="Söhne"/>
            </a:endParaRPr>
          </a:p>
          <a:p>
            <a:pPr marL="0" indent="0">
              <a:buNone/>
            </a:pPr>
            <a:r>
              <a:rPr lang="zh-CN" altLang="en-US" b="0" i="0" dirty="0">
                <a:solidFill>
                  <a:srgbClr val="374151"/>
                </a:solidFill>
                <a:effectLst/>
                <a:latin typeface="Söhne"/>
              </a:rPr>
              <a:t>通过这些矩阵运算的应用，可以高效地计算梯度、更新参数，并在深度学习模型的训练过程中提高计算效率。同时，这也使得深度学习框架可以利用底层的高度优化的矩阵运算库来加速计算过程。</a:t>
            </a:r>
            <a:endParaRPr lang="en-US" altLang="zh-CN" b="0" i="0" dirty="0">
              <a:solidFill>
                <a:srgbClr val="374151"/>
              </a:solidFill>
              <a:effectLst/>
              <a:latin typeface="Söhne"/>
            </a:endParaRPr>
          </a:p>
        </p:txBody>
      </p:sp>
      <p:sp>
        <p:nvSpPr>
          <p:cNvPr id="4" name="等腰三角形 3">
            <a:extLst>
              <a:ext uri="{FF2B5EF4-FFF2-40B4-BE49-F238E27FC236}">
                <a16:creationId xmlns:a16="http://schemas.microsoft.com/office/drawing/2014/main" id="{4F328FD8-F719-4907-B106-EA11A0C5AC01}"/>
              </a:ext>
            </a:extLst>
          </p:cNvPr>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5" name="文本框 48">
            <a:extLst>
              <a:ext uri="{FF2B5EF4-FFF2-40B4-BE49-F238E27FC236}">
                <a16:creationId xmlns:a16="http://schemas.microsoft.com/office/drawing/2014/main" id="{0D8D3D9C-C95F-7D70-8BAC-229221D8A381}"/>
              </a:ext>
            </a:extLst>
          </p:cNvPr>
          <p:cNvSpPr txBox="1"/>
          <p:nvPr/>
        </p:nvSpPr>
        <p:spPr bwMode="auto">
          <a:xfrm>
            <a:off x="706713" y="328262"/>
            <a:ext cx="2106848"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反向传播算法</a:t>
            </a:r>
          </a:p>
        </p:txBody>
      </p:sp>
    </p:spTree>
    <p:extLst>
      <p:ext uri="{BB962C8B-B14F-4D97-AF65-F5344CB8AC3E}">
        <p14:creationId xmlns:p14="http://schemas.microsoft.com/office/powerpoint/2010/main" val="33510539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26" name="组合 25"/>
          <p:cNvGrpSpPr/>
          <p:nvPr/>
        </p:nvGrpSpPr>
        <p:grpSpPr>
          <a:xfrm>
            <a:off x="3994468" y="2380810"/>
            <a:ext cx="4203065" cy="2096380"/>
            <a:chOff x="3994468" y="2468023"/>
            <a:chExt cx="4203065" cy="2096380"/>
          </a:xfrm>
        </p:grpSpPr>
        <p:sp>
          <p:nvSpPr>
            <p:cNvPr id="27" name="文本框 26"/>
            <p:cNvSpPr txBox="1"/>
            <p:nvPr/>
          </p:nvSpPr>
          <p:spPr>
            <a:xfrm>
              <a:off x="3994468" y="2468023"/>
              <a:ext cx="4203065" cy="1015663"/>
            </a:xfrm>
            <a:prstGeom prst="rect">
              <a:avLst/>
            </a:prstGeom>
            <a:noFill/>
          </p:spPr>
          <p:txBody>
            <a:bodyPr wrap="square" rtlCol="0">
              <a:spAutoFit/>
            </a:bodyPr>
            <a:lstStyle/>
            <a:p>
              <a:pPr algn="ctr"/>
              <a:r>
                <a:rPr lang="en-US" altLang="zh-CN" sz="6000" dirty="0">
                  <a:solidFill>
                    <a:srgbClr val="868686"/>
                  </a:solidFill>
                  <a:latin typeface="仓耳玄三M W05" pitchFamily="18" charset="-122"/>
                  <a:ea typeface="仓耳玄三M W05" pitchFamily="18" charset="-122"/>
                  <a:cs typeface="Arial" charset="0"/>
                </a:rPr>
                <a:t>PART 04</a:t>
              </a:r>
            </a:p>
          </p:txBody>
        </p:sp>
        <p:sp>
          <p:nvSpPr>
            <p:cNvPr id="28" name="文本框 27"/>
            <p:cNvSpPr txBox="1"/>
            <p:nvPr/>
          </p:nvSpPr>
          <p:spPr>
            <a:xfrm>
              <a:off x="4351421" y="3552239"/>
              <a:ext cx="3489158" cy="584775"/>
            </a:xfrm>
            <a:prstGeom prst="rect">
              <a:avLst/>
            </a:prstGeom>
            <a:noFill/>
          </p:spPr>
          <p:txBody>
            <a:bodyPr wrap="square" rtlCol="0">
              <a:spAutoFit/>
            </a:bodyPr>
            <a:lstStyle/>
            <a:p>
              <a:pPr algn="ctr"/>
              <a:r>
                <a:rPr lang="zh-CN" altLang="en-US" sz="3200" dirty="0">
                  <a:solidFill>
                    <a:srgbClr val="868686"/>
                  </a:solidFill>
                  <a:latin typeface="仓耳玄三M W05" pitchFamily="18" charset="-122"/>
                  <a:ea typeface="仓耳玄三M W05" pitchFamily="18" charset="-122"/>
                </a:rPr>
                <a:t>卷积计算</a:t>
              </a:r>
              <a:endParaRPr lang="en-US" altLang="zh-CN" sz="3200" dirty="0">
                <a:solidFill>
                  <a:srgbClr val="868686"/>
                </a:solidFill>
                <a:latin typeface="仓耳玄三M W05" pitchFamily="18" charset="-122"/>
                <a:ea typeface="仓耳玄三M W05" pitchFamily="18" charset="-122"/>
              </a:endParaRPr>
            </a:p>
          </p:txBody>
        </p:sp>
        <p:sp>
          <p:nvSpPr>
            <p:cNvPr id="29" name="矩形 28"/>
            <p:cNvSpPr/>
            <p:nvPr/>
          </p:nvSpPr>
          <p:spPr>
            <a:xfrm>
              <a:off x="4989553" y="4256626"/>
              <a:ext cx="2212914" cy="307777"/>
            </a:xfrm>
            <a:prstGeom prst="rect">
              <a:avLst/>
            </a:prstGeom>
          </p:spPr>
          <p:txBody>
            <a:bodyPr wrap="none">
              <a:spAutoFit/>
            </a:bodyPr>
            <a:lstStyle/>
            <a:p>
              <a:pPr algn="ctr"/>
              <a:r>
                <a:rPr lang="en-US" altLang="zh-CN" sz="1400" dirty="0">
                  <a:solidFill>
                    <a:srgbClr val="868686"/>
                  </a:solidFill>
                  <a:latin typeface="仓耳玄三M W05" pitchFamily="18" charset="-122"/>
                  <a:ea typeface="仓耳玄三M W05" pitchFamily="18" charset="-122"/>
                </a:rPr>
                <a:t>Convolution calculation</a:t>
              </a:r>
              <a:endParaRPr lang="zh-CN" altLang="en-US" sz="1400" dirty="0">
                <a:solidFill>
                  <a:srgbClr val="868686"/>
                </a:solidFill>
                <a:latin typeface="仓耳玄三M W05" pitchFamily="18" charset="-122"/>
                <a:ea typeface="仓耳玄三M W05" pitchFamily="18" charset="-122"/>
              </a:endParaRPr>
            </a:p>
          </p:txBody>
        </p:sp>
      </p:grpSp>
    </p:spTree>
    <p:extLst>
      <p:ext uri="{BB962C8B-B14F-4D97-AF65-F5344CB8AC3E}">
        <p14:creationId xmlns:p14="http://schemas.microsoft.com/office/powerpoint/2010/main" val="1210348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简介</a:t>
            </a:r>
          </a:p>
        </p:txBody>
      </p:sp>
      <p:sp>
        <p:nvSpPr>
          <p:cNvPr id="2" name="文本框 1">
            <a:extLst>
              <a:ext uri="{FF2B5EF4-FFF2-40B4-BE49-F238E27FC236}">
                <a16:creationId xmlns:a16="http://schemas.microsoft.com/office/drawing/2014/main" id="{3F2016EC-DC25-D6DD-5E60-66D636683EF2}"/>
              </a:ext>
            </a:extLst>
          </p:cNvPr>
          <p:cNvSpPr txBox="1"/>
          <p:nvPr/>
        </p:nvSpPr>
        <p:spPr>
          <a:xfrm>
            <a:off x="419553" y="1122045"/>
            <a:ext cx="11440795" cy="2306955"/>
          </a:xfrm>
          <a:prstGeom prst="rect">
            <a:avLst/>
          </a:prstGeom>
          <a:noFill/>
        </p:spPr>
        <p:txBody>
          <a:bodyPr wrap="square" rtlCol="0">
            <a:spAutoFit/>
          </a:bodyPr>
          <a:lstStyle/>
          <a:p>
            <a:r>
              <a:rPr lang="zh-CN" altLang="en-US" b="1" dirty="0"/>
              <a:t>人工智能在处理信息时，所面对的数据往往十分庞大，由于计算机运算能力有限，如果这个时候不去优化对信息的处理方式，则会大大降低计算机的效率和对信息提取的准确性，并且大量的参数也会导致过拟合，同时也会阻碍用大量数据训练人工智能的进程。</a:t>
            </a:r>
          </a:p>
          <a:p>
            <a:endParaRPr lang="zh-CN" altLang="en-US" b="1" dirty="0"/>
          </a:p>
          <a:p>
            <a:r>
              <a:rPr lang="zh-CN" altLang="en-US" b="1" dirty="0"/>
              <a:t>而卷积则提供了一个很好的解决办法，例如，在卷积神经网络中对于图像的处理，往往就采用这种算法来减小运算量。</a:t>
            </a:r>
          </a:p>
          <a:p>
            <a:endParaRPr lang="zh-CN" altLang="en-US" b="1" dirty="0"/>
          </a:p>
          <a:p>
            <a:r>
              <a:rPr lang="zh-CN" altLang="en-US" b="1" dirty="0"/>
              <a:t>接下来，我们就以图像处理为例，讲解卷积运算在计算机处理信息中的应用</a:t>
            </a:r>
          </a:p>
        </p:txBody>
      </p:sp>
      <p:pic>
        <p:nvPicPr>
          <p:cNvPr id="3" name="图片 2">
            <a:extLst>
              <a:ext uri="{FF2B5EF4-FFF2-40B4-BE49-F238E27FC236}">
                <a16:creationId xmlns:a16="http://schemas.microsoft.com/office/drawing/2014/main" id="{FBFFB498-0C69-C0E2-F743-9FD2D6851B02}"/>
              </a:ext>
            </a:extLst>
          </p:cNvPr>
          <p:cNvPicPr>
            <a:picLocks noChangeAspect="1"/>
          </p:cNvPicPr>
          <p:nvPr>
            <p:custDataLst>
              <p:tags r:id="rId1"/>
            </p:custDataLst>
          </p:nvPr>
        </p:nvPicPr>
        <p:blipFill>
          <a:blip r:embed="rId3"/>
          <a:stretch>
            <a:fillRect/>
          </a:stretch>
        </p:blipFill>
        <p:spPr>
          <a:xfrm>
            <a:off x="419553" y="3560759"/>
            <a:ext cx="10683240" cy="2769235"/>
          </a:xfrm>
          <a:prstGeom prst="rect">
            <a:avLst/>
          </a:prstGeom>
        </p:spPr>
      </p:pic>
    </p:spTree>
    <p:extLst>
      <p:ext uri="{BB962C8B-B14F-4D97-AF65-F5344CB8AC3E}">
        <p14:creationId xmlns:p14="http://schemas.microsoft.com/office/powerpoint/2010/main" val="1544311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原理</a:t>
            </a:r>
          </a:p>
        </p:txBody>
      </p:sp>
      <p:sp>
        <p:nvSpPr>
          <p:cNvPr id="2" name="文本框 1">
            <a:extLst>
              <a:ext uri="{FF2B5EF4-FFF2-40B4-BE49-F238E27FC236}">
                <a16:creationId xmlns:a16="http://schemas.microsoft.com/office/drawing/2014/main" id="{F85C4FE1-3A2E-58A2-D689-4DFFD9637C41}"/>
              </a:ext>
            </a:extLst>
          </p:cNvPr>
          <p:cNvSpPr txBox="1"/>
          <p:nvPr/>
        </p:nvSpPr>
        <p:spPr>
          <a:xfrm>
            <a:off x="419553" y="976696"/>
            <a:ext cx="9727565" cy="2030095"/>
          </a:xfrm>
          <a:prstGeom prst="rect">
            <a:avLst/>
          </a:prstGeom>
          <a:noFill/>
        </p:spPr>
        <p:txBody>
          <a:bodyPr wrap="square" rtlCol="0">
            <a:spAutoFit/>
          </a:bodyPr>
          <a:lstStyle/>
          <a:p>
            <a:r>
              <a:rPr lang="en-US" altLang="zh-CN" b="1" dirty="0"/>
              <a:t>Tip:</a:t>
            </a:r>
            <a:r>
              <a:rPr lang="zh-CN" altLang="en-US" b="1" dirty="0"/>
              <a:t>神经网络中使用的卷积运算实际上和纯数学上的卷积运算并不是完全相同的概念</a:t>
            </a:r>
          </a:p>
          <a:p>
            <a:endParaRPr lang="zh-CN" altLang="en-US" b="1" dirty="0"/>
          </a:p>
          <a:p>
            <a:r>
              <a:rPr lang="en-US" altLang="zh-CN" b="1" dirty="0"/>
              <a:t>a.</a:t>
            </a:r>
            <a:r>
              <a:rPr lang="zh-CN" altLang="en-US" b="1" dirty="0"/>
              <a:t>卷积神经网络中</a:t>
            </a:r>
            <a:r>
              <a:rPr lang="en-US" altLang="zh-CN" b="1" dirty="0" err="1"/>
              <a:t>卷积运算的原理是将卷积核应用到输入数据的每一个位置上，每次取一个小的矩阵区域，对它们进行点乘运算，再将结果汇总</a:t>
            </a:r>
            <a:r>
              <a:rPr lang="en-US" altLang="zh-CN" b="1" dirty="0"/>
              <a:t>。</a:t>
            </a:r>
          </a:p>
          <a:p>
            <a:r>
              <a:rPr lang="zh-CN" altLang="en-US" b="1" dirty="0"/>
              <a:t>具体过程如下图示：</a:t>
            </a:r>
            <a:endParaRPr lang="en-US" altLang="zh-CN" b="1" dirty="0"/>
          </a:p>
          <a:p>
            <a:endParaRPr lang="en-US" altLang="zh-CN" b="1" dirty="0"/>
          </a:p>
          <a:p>
            <a:endParaRPr lang="en-US" altLang="zh-CN" b="1" dirty="0"/>
          </a:p>
        </p:txBody>
      </p:sp>
      <p:pic>
        <p:nvPicPr>
          <p:cNvPr id="3" name="图片 2">
            <a:extLst>
              <a:ext uri="{FF2B5EF4-FFF2-40B4-BE49-F238E27FC236}">
                <a16:creationId xmlns:a16="http://schemas.microsoft.com/office/drawing/2014/main" id="{9FB519C4-AC47-1C62-3F11-4E931C39A8C3}"/>
              </a:ext>
            </a:extLst>
          </p:cNvPr>
          <p:cNvPicPr/>
          <p:nvPr>
            <p:custDataLst>
              <p:tags r:id="rId1"/>
            </p:custDataLst>
          </p:nvPr>
        </p:nvPicPr>
        <p:blipFill>
          <a:blip r:embed="rId3"/>
          <a:srcRect r="2894" b="7092"/>
          <a:stretch>
            <a:fillRect/>
          </a:stretch>
        </p:blipFill>
        <p:spPr>
          <a:xfrm>
            <a:off x="1783087" y="2549088"/>
            <a:ext cx="7420289" cy="2604243"/>
          </a:xfrm>
          <a:prstGeom prst="rect">
            <a:avLst/>
          </a:prstGeom>
          <a:noFill/>
          <a:ln w="9525">
            <a:noFill/>
          </a:ln>
        </p:spPr>
      </p:pic>
      <p:sp>
        <p:nvSpPr>
          <p:cNvPr id="4" name="文本框 3">
            <a:extLst>
              <a:ext uri="{FF2B5EF4-FFF2-40B4-BE49-F238E27FC236}">
                <a16:creationId xmlns:a16="http://schemas.microsoft.com/office/drawing/2014/main" id="{4AC95DFF-1D54-B926-6F29-BD33C2A7BB3B}"/>
              </a:ext>
            </a:extLst>
          </p:cNvPr>
          <p:cNvSpPr txBox="1"/>
          <p:nvPr/>
        </p:nvSpPr>
        <p:spPr>
          <a:xfrm>
            <a:off x="419553" y="5420294"/>
            <a:ext cx="9727565" cy="922020"/>
          </a:xfrm>
          <a:prstGeom prst="rect">
            <a:avLst/>
          </a:prstGeom>
          <a:noFill/>
        </p:spPr>
        <p:txBody>
          <a:bodyPr wrap="square" rtlCol="0">
            <a:spAutoFit/>
          </a:bodyPr>
          <a:lstStyle/>
          <a:p>
            <a:r>
              <a:rPr lang="en-US" altLang="zh-CN" b="1" dirty="0" err="1"/>
              <a:t>b.将卷积核移动到输入矩阵的每一个位置上，每次取</a:t>
            </a:r>
            <a:r>
              <a:rPr lang="zh-CN" altLang="en-US" b="1" dirty="0"/>
              <a:t>核函数相同大小的</a:t>
            </a:r>
            <a:r>
              <a:rPr lang="en-US" altLang="zh-CN" b="1" dirty="0" err="1"/>
              <a:t>区域；对于每个矩阵区域，将其与卷积核进行点乘运算，得到一个标量；将这些标量按照其在输入矩阵中的位置，填充到输出矩阵中</a:t>
            </a:r>
            <a:r>
              <a:rPr lang="en-US" altLang="zh-CN" b="1" dirty="0"/>
              <a:t>。</a:t>
            </a:r>
          </a:p>
        </p:txBody>
      </p:sp>
    </p:spTree>
    <p:extLst>
      <p:ext uri="{BB962C8B-B14F-4D97-AF65-F5344CB8AC3E}">
        <p14:creationId xmlns:p14="http://schemas.microsoft.com/office/powerpoint/2010/main" val="67724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原理</a:t>
            </a:r>
          </a:p>
        </p:txBody>
      </p:sp>
      <p:sp>
        <p:nvSpPr>
          <p:cNvPr id="2" name="文本框 1">
            <a:extLst>
              <a:ext uri="{FF2B5EF4-FFF2-40B4-BE49-F238E27FC236}">
                <a16:creationId xmlns:a16="http://schemas.microsoft.com/office/drawing/2014/main" id="{093F2A2A-7218-12FC-0A4A-554C92FD8F88}"/>
              </a:ext>
            </a:extLst>
          </p:cNvPr>
          <p:cNvSpPr txBox="1"/>
          <p:nvPr/>
        </p:nvSpPr>
        <p:spPr>
          <a:xfrm>
            <a:off x="419553" y="1012322"/>
            <a:ext cx="11400790" cy="2306955"/>
          </a:xfrm>
          <a:prstGeom prst="rect">
            <a:avLst/>
          </a:prstGeom>
          <a:noFill/>
        </p:spPr>
        <p:txBody>
          <a:bodyPr wrap="square" rtlCol="0">
            <a:spAutoFit/>
          </a:bodyPr>
          <a:lstStyle/>
          <a:p>
            <a:r>
              <a:rPr lang="zh-CN" altLang="en-US" b="1" dirty="0"/>
              <a:t>我们很容易明白：对于一张图片，每张图像的特征都是它的非常显然的特点，如果我们能够抓住这些特征，就没有必要扫描整张图像来学习它。</a:t>
            </a:r>
          </a:p>
          <a:p>
            <a:endParaRPr lang="zh-CN" altLang="en-US" b="1" dirty="0"/>
          </a:p>
          <a:p>
            <a:r>
              <a:rPr lang="zh-CN" altLang="en-US" b="1" dirty="0"/>
              <a:t>而一张图片上，物体变化最大的往往是它的边缘，那么只要能够找到这些边缘以及变化大的地方，就能够突出物体的特征。</a:t>
            </a:r>
          </a:p>
          <a:p>
            <a:endParaRPr lang="zh-CN" altLang="en-US" b="1" dirty="0"/>
          </a:p>
          <a:p>
            <a:r>
              <a:rPr lang="zh-CN" altLang="en-US" b="1" dirty="0"/>
              <a:t>幸运的是，在数学上，正好给我们提供了这样的办法</a:t>
            </a:r>
            <a:r>
              <a:rPr lang="en-US" altLang="zh-CN" b="1" dirty="0"/>
              <a:t>——</a:t>
            </a:r>
            <a:r>
              <a:rPr lang="zh-CN" altLang="en-US" b="1" dirty="0"/>
              <a:t>卷积运算，通过这种算法，我们很容易就可以提取出图像的边缘和特征，并完成对图片的一些操作。</a:t>
            </a:r>
          </a:p>
        </p:txBody>
      </p:sp>
      <p:pic>
        <p:nvPicPr>
          <p:cNvPr id="3" name="图片 2">
            <a:extLst>
              <a:ext uri="{FF2B5EF4-FFF2-40B4-BE49-F238E27FC236}">
                <a16:creationId xmlns:a16="http://schemas.microsoft.com/office/drawing/2014/main" id="{8E2C6F3E-8277-8750-4435-9C3012D67B96}"/>
              </a:ext>
            </a:extLst>
          </p:cNvPr>
          <p:cNvPicPr>
            <a:picLocks noChangeAspect="1"/>
          </p:cNvPicPr>
          <p:nvPr/>
        </p:nvPicPr>
        <p:blipFill>
          <a:blip r:embed="rId2"/>
          <a:stretch>
            <a:fillRect/>
          </a:stretch>
        </p:blipFill>
        <p:spPr>
          <a:xfrm>
            <a:off x="3870737" y="3328480"/>
            <a:ext cx="4450525" cy="3178509"/>
          </a:xfrm>
          <a:prstGeom prst="rect">
            <a:avLst/>
          </a:prstGeom>
        </p:spPr>
      </p:pic>
    </p:spTree>
    <p:extLst>
      <p:ext uri="{BB962C8B-B14F-4D97-AF65-F5344CB8AC3E}">
        <p14:creationId xmlns:p14="http://schemas.microsoft.com/office/powerpoint/2010/main" val="2720024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原理</a:t>
            </a:r>
          </a:p>
        </p:txBody>
      </p:sp>
      <p:sp>
        <p:nvSpPr>
          <p:cNvPr id="2" name="文本框 1">
            <a:extLst>
              <a:ext uri="{FF2B5EF4-FFF2-40B4-BE49-F238E27FC236}">
                <a16:creationId xmlns:a16="http://schemas.microsoft.com/office/drawing/2014/main" id="{123921E3-F522-294F-152C-0908F6F40C60}"/>
              </a:ext>
            </a:extLst>
          </p:cNvPr>
          <p:cNvSpPr txBox="1"/>
          <p:nvPr>
            <p:custDataLst>
              <p:tags r:id="rId1"/>
            </p:custDataLst>
          </p:nvPr>
        </p:nvSpPr>
        <p:spPr>
          <a:xfrm>
            <a:off x="419554" y="880116"/>
            <a:ext cx="4271200" cy="5354320"/>
          </a:xfrm>
          <a:prstGeom prst="rect">
            <a:avLst/>
          </a:prstGeom>
          <a:noFill/>
        </p:spPr>
        <p:txBody>
          <a:bodyPr wrap="square" rtlCol="0">
            <a:spAutoFit/>
          </a:bodyPr>
          <a:lstStyle/>
          <a:p>
            <a:r>
              <a:rPr lang="zh-CN" altLang="en-US" b="1" dirty="0"/>
              <a:t>当得到一张图片的输入信息后，我们会</a:t>
            </a:r>
          </a:p>
          <a:p>
            <a:r>
              <a:rPr lang="zh-CN" altLang="en-US" b="1" dirty="0"/>
              <a:t>利用一个小矩阵作为单位响应，叠加到</a:t>
            </a:r>
          </a:p>
          <a:p>
            <a:r>
              <a:rPr lang="zh-CN" altLang="en-US" b="1" dirty="0"/>
              <a:t>输入信号的每个位置，从而得到输出信</a:t>
            </a:r>
          </a:p>
          <a:p>
            <a:r>
              <a:rPr lang="zh-CN" altLang="en-US" b="1" dirty="0"/>
              <a:t>号，这个小矩阵一般被称作</a:t>
            </a:r>
            <a:r>
              <a:rPr lang="en-US" altLang="zh-CN" b="1" dirty="0"/>
              <a:t>“</a:t>
            </a:r>
            <a:r>
              <a:rPr lang="zh-CN" altLang="en-US" b="1" dirty="0"/>
              <a:t>卷积核</a:t>
            </a:r>
            <a:r>
              <a:rPr lang="en-US" altLang="zh-CN" b="1" dirty="0"/>
              <a:t>”</a:t>
            </a:r>
            <a:r>
              <a:rPr lang="zh-CN" altLang="en-US" b="1" dirty="0"/>
              <a:t>。</a:t>
            </a:r>
          </a:p>
          <a:p>
            <a:endParaRPr lang="zh-CN" altLang="en-US" b="1" dirty="0"/>
          </a:p>
          <a:p>
            <a:r>
              <a:rPr lang="zh-CN" altLang="en-US" b="1" dirty="0"/>
              <a:t>比如我们要判断一张图片里面</a:t>
            </a:r>
          </a:p>
          <a:p>
            <a:r>
              <a:rPr lang="zh-CN" altLang="en-US" b="1" dirty="0"/>
              <a:t>有没有某物体，只通过一个特征</a:t>
            </a:r>
          </a:p>
          <a:p>
            <a:r>
              <a:rPr lang="zh-CN" altLang="en-US" b="1" dirty="0"/>
              <a:t>显然不行，我们需要的是多个高</a:t>
            </a:r>
          </a:p>
          <a:p>
            <a:r>
              <a:rPr lang="zh-CN" altLang="en-US" b="1" dirty="0"/>
              <a:t>级特征的组合。</a:t>
            </a:r>
          </a:p>
          <a:p>
            <a:endParaRPr lang="zh-CN" altLang="en-US" b="1" dirty="0"/>
          </a:p>
          <a:p>
            <a:r>
              <a:rPr lang="zh-CN" altLang="en-US" b="1" dirty="0"/>
              <a:t>但一种卷积核只能表示一种类型的</a:t>
            </a:r>
          </a:p>
          <a:p>
            <a:r>
              <a:rPr lang="zh-CN" altLang="en-US" b="1" dirty="0"/>
              <a:t>特征，所以我们需要设计多个卷积</a:t>
            </a:r>
          </a:p>
          <a:p>
            <a:r>
              <a:rPr lang="zh-CN" altLang="en-US" b="1" dirty="0"/>
              <a:t>核来得到不同方面的特征。</a:t>
            </a:r>
          </a:p>
          <a:p>
            <a:endParaRPr lang="zh-CN" altLang="en-US" b="1" dirty="0"/>
          </a:p>
          <a:p>
            <a:r>
              <a:rPr lang="zh-CN" altLang="en-US" b="1" dirty="0"/>
              <a:t>而卷积核作为一种超参数，是人</a:t>
            </a:r>
          </a:p>
          <a:p>
            <a:r>
              <a:rPr lang="zh-CN" altLang="en-US" b="1" dirty="0"/>
              <a:t>们通过长期实验得到的。</a:t>
            </a:r>
          </a:p>
          <a:p>
            <a:endParaRPr lang="zh-CN" altLang="en-US" b="1" dirty="0"/>
          </a:p>
          <a:p>
            <a:r>
              <a:rPr lang="zh-CN" altLang="en-US" b="1" dirty="0"/>
              <a:t>常见的卷积核有同一化核、边缘检测</a:t>
            </a:r>
          </a:p>
          <a:p>
            <a:r>
              <a:rPr lang="zh-CN" altLang="en-US" b="1" dirty="0"/>
              <a:t>核、图像锐化核心等。</a:t>
            </a:r>
          </a:p>
        </p:txBody>
      </p:sp>
      <p:pic>
        <p:nvPicPr>
          <p:cNvPr id="3" name="图片 2">
            <a:extLst>
              <a:ext uri="{FF2B5EF4-FFF2-40B4-BE49-F238E27FC236}">
                <a16:creationId xmlns:a16="http://schemas.microsoft.com/office/drawing/2014/main" id="{1A51352B-3B33-DB44-C068-42F02FB790F4}"/>
              </a:ext>
            </a:extLst>
          </p:cNvPr>
          <p:cNvPicPr/>
          <p:nvPr>
            <p:custDataLst>
              <p:tags r:id="rId2"/>
            </p:custDataLst>
          </p:nvPr>
        </p:nvPicPr>
        <p:blipFill>
          <a:blip r:embed="rId4"/>
          <a:stretch>
            <a:fillRect/>
          </a:stretch>
        </p:blipFill>
        <p:spPr>
          <a:xfrm>
            <a:off x="4690754" y="1090642"/>
            <a:ext cx="7267699" cy="4933267"/>
          </a:xfrm>
          <a:prstGeom prst="rect">
            <a:avLst/>
          </a:prstGeom>
          <a:noFill/>
          <a:ln w="9525">
            <a:noFill/>
          </a:ln>
        </p:spPr>
      </p:pic>
    </p:spTree>
    <p:extLst>
      <p:ext uri="{BB962C8B-B14F-4D97-AF65-F5344CB8AC3E}">
        <p14:creationId xmlns:p14="http://schemas.microsoft.com/office/powerpoint/2010/main" val="176988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应用</a:t>
            </a:r>
          </a:p>
        </p:txBody>
      </p:sp>
      <p:sp>
        <p:nvSpPr>
          <p:cNvPr id="2" name="文本框 1">
            <a:extLst>
              <a:ext uri="{FF2B5EF4-FFF2-40B4-BE49-F238E27FC236}">
                <a16:creationId xmlns:a16="http://schemas.microsoft.com/office/drawing/2014/main" id="{632ED183-5978-3A7B-0AA7-8EEBA08608C3}"/>
              </a:ext>
            </a:extLst>
          </p:cNvPr>
          <p:cNvSpPr txBox="1"/>
          <p:nvPr>
            <p:custDataLst>
              <p:tags r:id="rId1"/>
            </p:custDataLst>
          </p:nvPr>
        </p:nvSpPr>
        <p:spPr>
          <a:xfrm>
            <a:off x="419553" y="898558"/>
            <a:ext cx="5307734" cy="5631180"/>
          </a:xfrm>
          <a:prstGeom prst="rect">
            <a:avLst/>
          </a:prstGeom>
          <a:noFill/>
        </p:spPr>
        <p:txBody>
          <a:bodyPr wrap="square" rtlCol="0" anchor="t">
            <a:spAutoFit/>
          </a:bodyPr>
          <a:lstStyle/>
          <a:p>
            <a:r>
              <a:rPr lang="zh-CN" altLang="en-US" b="1" dirty="0"/>
              <a:t>我们在图像处理中遇到的数字图像通常分为两种：</a:t>
            </a:r>
          </a:p>
          <a:p>
            <a:endParaRPr lang="zh-CN" altLang="en-US" b="1" dirty="0"/>
          </a:p>
          <a:p>
            <a:r>
              <a:rPr lang="zh-CN" altLang="en-US" b="1" dirty="0"/>
              <a:t>&lt;1.&gt; </a:t>
            </a:r>
            <a:r>
              <a:rPr lang="zh-CN" altLang="en-US" b="1" dirty="0">
                <a:solidFill>
                  <a:schemeClr val="accent1"/>
                </a:solidFill>
                <a:effectLst>
                  <a:outerShdw blurRad="38100" dist="25400" dir="5400000" algn="ctr" rotWithShape="0">
                    <a:srgbClr val="6E747A">
                      <a:alpha val="43000"/>
                    </a:srgbClr>
                  </a:outerShdw>
                </a:effectLst>
              </a:rPr>
              <a:t>单色（灰度）图像：</a:t>
            </a:r>
            <a:r>
              <a:rPr lang="zh-CN" altLang="en-US" b="1" dirty="0"/>
              <a:t>每个像素的亮度</a:t>
            </a:r>
          </a:p>
          <a:p>
            <a:r>
              <a:rPr lang="zh-CN" altLang="en-US" b="1" dirty="0"/>
              <a:t>用一个数值来表示，取值范围0</a:t>
            </a:r>
            <a:r>
              <a:rPr lang="en-US" altLang="zh-CN" b="1" dirty="0"/>
              <a:t>~</a:t>
            </a:r>
            <a:r>
              <a:rPr lang="zh-CN" altLang="en-US" b="1" dirty="0"/>
              <a:t>255，</a:t>
            </a:r>
          </a:p>
          <a:p>
            <a:r>
              <a:rPr lang="zh-CN" altLang="en-US" b="1" dirty="0"/>
              <a:t>比如：0用来表示黑、255用来表示白，</a:t>
            </a:r>
          </a:p>
          <a:p>
            <a:r>
              <a:rPr lang="zh-CN" altLang="en-US" b="1" dirty="0"/>
              <a:t>其他值表示处于黑白之间，即灰度。</a:t>
            </a:r>
          </a:p>
          <a:p>
            <a:endParaRPr lang="zh-CN" altLang="en-US" b="1" dirty="0"/>
          </a:p>
          <a:p>
            <a:r>
              <a:rPr lang="zh-CN" altLang="en-US" b="1" dirty="0"/>
              <a:t>&lt;2.&gt;</a:t>
            </a:r>
            <a:r>
              <a:rPr lang="zh-CN" altLang="en-US" b="1" dirty="0">
                <a:solidFill>
                  <a:schemeClr val="accent1"/>
                </a:solidFill>
                <a:effectLst>
                  <a:outerShdw blurRad="38100" dist="25400" dir="5400000" algn="ctr" rotWithShape="0">
                    <a:srgbClr val="6E747A">
                      <a:alpha val="43000"/>
                    </a:srgbClr>
                  </a:outerShdw>
                </a:effectLst>
              </a:rPr>
              <a:t>彩色图像：</a:t>
            </a:r>
            <a:r>
              <a:rPr lang="zh-CN" altLang="en-US" b="1" dirty="0"/>
              <a:t>使用红、绿、蓝三组数据。</a:t>
            </a:r>
          </a:p>
          <a:p>
            <a:r>
              <a:rPr lang="zh-CN" altLang="en-US" b="1" dirty="0"/>
              <a:t>每一组的每个数值也是在0</a:t>
            </a:r>
            <a:r>
              <a:rPr lang="en-US" altLang="zh-CN" b="1" dirty="0"/>
              <a:t>~</a:t>
            </a:r>
            <a:r>
              <a:rPr lang="zh-CN" altLang="en-US" b="1" dirty="0"/>
              <a:t>255之间，</a:t>
            </a:r>
          </a:p>
          <a:p>
            <a:r>
              <a:rPr lang="zh-CN" altLang="en-US" b="1" dirty="0"/>
              <a:t>0表示相应的基色在该像素中取最小值，即无，</a:t>
            </a:r>
          </a:p>
          <a:p>
            <a:r>
              <a:rPr lang="zh-CN" altLang="en-US" b="1" dirty="0"/>
              <a:t>而255表示相应的基色在该像素中取最大值。</a:t>
            </a:r>
          </a:p>
          <a:p>
            <a:endParaRPr lang="zh-CN" altLang="en-US" b="1" dirty="0"/>
          </a:p>
          <a:p>
            <a:r>
              <a:rPr lang="zh-CN" altLang="en-US" b="1" dirty="0"/>
              <a:t>在卷积中，</a:t>
            </a:r>
            <a:r>
              <a:rPr lang="zh-CN" altLang="en-US" b="1" dirty="0">
                <a:solidFill>
                  <a:schemeClr val="accent1"/>
                </a:solidFill>
                <a:effectLst>
                  <a:outerShdw blurRad="38100" dist="25400" dir="5400000" algn="ctr" rotWithShape="0">
                    <a:srgbClr val="6E747A">
                      <a:alpha val="43000"/>
                    </a:srgbClr>
                  </a:outerShdw>
                </a:effectLst>
              </a:rPr>
              <a:t>卷积核</a:t>
            </a:r>
            <a:r>
              <a:rPr lang="zh-CN" altLang="en-US" b="1" dirty="0"/>
              <a:t>是进行图像处理的</a:t>
            </a:r>
          </a:p>
          <a:p>
            <a:r>
              <a:rPr lang="zh-CN" altLang="en-US" b="1" dirty="0"/>
              <a:t>极其重要的一个工具，</a:t>
            </a:r>
          </a:p>
          <a:p>
            <a:r>
              <a:rPr lang="zh-CN" altLang="en-US" b="1" dirty="0"/>
              <a:t>其本质上是一个非常小的矩阵，</a:t>
            </a:r>
          </a:p>
          <a:p>
            <a:r>
              <a:rPr lang="zh-CN" altLang="en-US" b="1" dirty="0"/>
              <a:t>最常用的是 3×3 矩阵。</a:t>
            </a:r>
          </a:p>
          <a:p>
            <a:r>
              <a:rPr lang="zh-CN" altLang="en-US" b="1" dirty="0"/>
              <a:t>主要是利用核与图像之间进</a:t>
            </a:r>
          </a:p>
          <a:p>
            <a:r>
              <a:rPr lang="zh-CN" altLang="en-US" b="1" dirty="0"/>
              <a:t>行卷积运算来实现图像处理，从而实现在</a:t>
            </a:r>
          </a:p>
          <a:p>
            <a:r>
              <a:rPr lang="zh-CN" altLang="en-US" b="1" dirty="0"/>
              <a:t>矩阵层面上对图像做出</a:t>
            </a:r>
          </a:p>
          <a:p>
            <a:r>
              <a:rPr lang="zh-CN" altLang="en-US" b="1" dirty="0">
                <a:solidFill>
                  <a:schemeClr val="accent1"/>
                </a:solidFill>
                <a:effectLst>
                  <a:outerShdw blurRad="38100" dist="25400" dir="5400000" algn="ctr" rotWithShape="0">
                    <a:srgbClr val="6E747A">
                      <a:alpha val="43000"/>
                    </a:srgbClr>
                  </a:outerShdw>
                </a:effectLst>
              </a:rPr>
              <a:t>模糊、锐化、凹凸、边缘检测</a:t>
            </a:r>
            <a:r>
              <a:rPr lang="zh-CN" altLang="en-US" b="1" dirty="0"/>
              <a:t>等效果。</a:t>
            </a:r>
          </a:p>
        </p:txBody>
      </p:sp>
      <p:pic>
        <p:nvPicPr>
          <p:cNvPr id="3" name="图片 2">
            <a:extLst>
              <a:ext uri="{FF2B5EF4-FFF2-40B4-BE49-F238E27FC236}">
                <a16:creationId xmlns:a16="http://schemas.microsoft.com/office/drawing/2014/main" id="{007D5817-E381-1962-B256-CC6EBC788217}"/>
              </a:ext>
            </a:extLst>
          </p:cNvPr>
          <p:cNvPicPr/>
          <p:nvPr>
            <p:custDataLst>
              <p:tags r:id="rId2"/>
            </p:custDataLst>
          </p:nvPr>
        </p:nvPicPr>
        <p:blipFill>
          <a:blip r:embed="rId4"/>
          <a:srcRect b="6935"/>
          <a:stretch>
            <a:fillRect/>
          </a:stretch>
        </p:blipFill>
        <p:spPr>
          <a:xfrm>
            <a:off x="6096000" y="653683"/>
            <a:ext cx="5126858" cy="5827956"/>
          </a:xfrm>
          <a:prstGeom prst="rect">
            <a:avLst/>
          </a:prstGeom>
          <a:noFill/>
          <a:ln w="9525">
            <a:noFill/>
          </a:ln>
        </p:spPr>
      </p:pic>
    </p:spTree>
    <p:extLst>
      <p:ext uri="{BB962C8B-B14F-4D97-AF65-F5344CB8AC3E}">
        <p14:creationId xmlns:p14="http://schemas.microsoft.com/office/powerpoint/2010/main" val="112061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应用</a:t>
            </a:r>
          </a:p>
        </p:txBody>
      </p:sp>
      <p:sp>
        <p:nvSpPr>
          <p:cNvPr id="2" name="文本框 1">
            <a:extLst>
              <a:ext uri="{FF2B5EF4-FFF2-40B4-BE49-F238E27FC236}">
                <a16:creationId xmlns:a16="http://schemas.microsoft.com/office/drawing/2014/main" id="{5D66ADB0-6EE6-E7B3-D24B-6C2BC1AD066C}"/>
              </a:ext>
            </a:extLst>
          </p:cNvPr>
          <p:cNvSpPr txBox="1"/>
          <p:nvPr/>
        </p:nvSpPr>
        <p:spPr>
          <a:xfrm>
            <a:off x="419553" y="1176999"/>
            <a:ext cx="11337925" cy="923330"/>
          </a:xfrm>
          <a:prstGeom prst="rect">
            <a:avLst/>
          </a:prstGeom>
          <a:noFill/>
        </p:spPr>
        <p:txBody>
          <a:bodyPr wrap="square" rtlCol="0">
            <a:spAutoFit/>
          </a:bodyPr>
          <a:lstStyle/>
          <a:p>
            <a:r>
              <a:rPr lang="zh-CN" altLang="en-US" b="1" dirty="0">
                <a:sym typeface="+mn-ea"/>
              </a:rPr>
              <a:t>这三张图片分别展示了利用卷积核进行平移、虚化、锐化。通过使用不同的卷积核，将其与原图片对应的数据矩阵按规则进行卷积运算，从而得到一个新的矩阵，这个新矩阵上的数据，就是原矩阵进行变换后的数据，将其对应成图片后，就会得到修改后的图片。</a:t>
            </a:r>
          </a:p>
        </p:txBody>
      </p:sp>
      <p:pic>
        <p:nvPicPr>
          <p:cNvPr id="3" name="图片 2">
            <a:extLst>
              <a:ext uri="{FF2B5EF4-FFF2-40B4-BE49-F238E27FC236}">
                <a16:creationId xmlns:a16="http://schemas.microsoft.com/office/drawing/2014/main" id="{9E3440D0-8F0F-D66B-F21F-6C2455B0E069}"/>
              </a:ext>
            </a:extLst>
          </p:cNvPr>
          <p:cNvPicPr/>
          <p:nvPr/>
        </p:nvPicPr>
        <p:blipFill>
          <a:blip r:embed="rId2"/>
          <a:srcRect b="8749"/>
          <a:stretch>
            <a:fillRect/>
          </a:stretch>
        </p:blipFill>
        <p:spPr>
          <a:xfrm>
            <a:off x="419553" y="2229246"/>
            <a:ext cx="4485005" cy="2146935"/>
          </a:xfrm>
          <a:prstGeom prst="rect">
            <a:avLst/>
          </a:prstGeom>
          <a:noFill/>
          <a:ln w="9525">
            <a:noFill/>
          </a:ln>
        </p:spPr>
      </p:pic>
      <p:pic>
        <p:nvPicPr>
          <p:cNvPr id="4" name="图片 3">
            <a:extLst>
              <a:ext uri="{FF2B5EF4-FFF2-40B4-BE49-F238E27FC236}">
                <a16:creationId xmlns:a16="http://schemas.microsoft.com/office/drawing/2014/main" id="{8EDE58CB-FB2D-9F15-4DCE-BBB23C6186D7}"/>
              </a:ext>
            </a:extLst>
          </p:cNvPr>
          <p:cNvPicPr/>
          <p:nvPr/>
        </p:nvPicPr>
        <p:blipFill>
          <a:blip r:embed="rId3"/>
          <a:srcRect b="7700"/>
          <a:stretch>
            <a:fillRect/>
          </a:stretch>
        </p:blipFill>
        <p:spPr>
          <a:xfrm>
            <a:off x="6850925" y="2229246"/>
            <a:ext cx="4485640" cy="2145665"/>
          </a:xfrm>
          <a:prstGeom prst="rect">
            <a:avLst/>
          </a:prstGeom>
          <a:noFill/>
          <a:ln w="9525">
            <a:noFill/>
          </a:ln>
        </p:spPr>
      </p:pic>
      <p:pic>
        <p:nvPicPr>
          <p:cNvPr id="5" name="图片 4">
            <a:extLst>
              <a:ext uri="{FF2B5EF4-FFF2-40B4-BE49-F238E27FC236}">
                <a16:creationId xmlns:a16="http://schemas.microsoft.com/office/drawing/2014/main" id="{93245882-B295-2276-05ED-9CB4EB6AB765}"/>
              </a:ext>
            </a:extLst>
          </p:cNvPr>
          <p:cNvPicPr/>
          <p:nvPr/>
        </p:nvPicPr>
        <p:blipFill>
          <a:blip r:embed="rId4"/>
          <a:srcRect b="5861"/>
          <a:stretch>
            <a:fillRect/>
          </a:stretch>
        </p:blipFill>
        <p:spPr>
          <a:xfrm>
            <a:off x="3846647" y="4671351"/>
            <a:ext cx="4483735" cy="2019300"/>
          </a:xfrm>
          <a:prstGeom prst="rect">
            <a:avLst/>
          </a:prstGeom>
          <a:noFill/>
          <a:ln w="9525">
            <a:noFill/>
          </a:ln>
        </p:spPr>
      </p:pic>
      <p:sp>
        <p:nvSpPr>
          <p:cNvPr id="6" name="文本框 5">
            <a:extLst>
              <a:ext uri="{FF2B5EF4-FFF2-40B4-BE49-F238E27FC236}">
                <a16:creationId xmlns:a16="http://schemas.microsoft.com/office/drawing/2014/main" id="{DC156CCC-D9DB-4352-B432-421CAAA12B09}"/>
              </a:ext>
            </a:extLst>
          </p:cNvPr>
          <p:cNvSpPr txBox="1"/>
          <p:nvPr/>
        </p:nvSpPr>
        <p:spPr>
          <a:xfrm>
            <a:off x="1906270" y="4321175"/>
            <a:ext cx="702310" cy="368300"/>
          </a:xfrm>
          <a:prstGeom prst="rect">
            <a:avLst/>
          </a:prstGeom>
          <a:noFill/>
        </p:spPr>
        <p:txBody>
          <a:bodyPr wrap="square" rtlCol="0">
            <a:spAutoFit/>
            <a:scene3d>
              <a:camera prst="orthographicFront"/>
              <a:lightRig rig="threePt" dir="t"/>
            </a:scene3d>
          </a:bodyPr>
          <a:lstStyle/>
          <a:p>
            <a:r>
              <a:rPr lang="zh-CN" altLang="en-US" b="1" dirty="0">
                <a:solidFill>
                  <a:schemeClr val="accent1"/>
                </a:solidFill>
                <a:effectLst>
                  <a:outerShdw blurRad="38100" dist="25400" dir="5400000" algn="ctr" rotWithShape="0">
                    <a:srgbClr val="6E747A">
                      <a:alpha val="43000"/>
                    </a:srgbClr>
                  </a:outerShdw>
                </a:effectLst>
              </a:rPr>
              <a:t>平移</a:t>
            </a:r>
          </a:p>
        </p:txBody>
      </p:sp>
      <p:sp>
        <p:nvSpPr>
          <p:cNvPr id="7" name="文本框 6">
            <a:extLst>
              <a:ext uri="{FF2B5EF4-FFF2-40B4-BE49-F238E27FC236}">
                <a16:creationId xmlns:a16="http://schemas.microsoft.com/office/drawing/2014/main" id="{098FA693-070C-7EC0-2DFB-1F68624B2B3F}"/>
              </a:ext>
            </a:extLst>
          </p:cNvPr>
          <p:cNvSpPr txBox="1"/>
          <p:nvPr/>
        </p:nvSpPr>
        <p:spPr>
          <a:xfrm>
            <a:off x="5720080" y="4067810"/>
            <a:ext cx="1288415" cy="368300"/>
          </a:xfrm>
          <a:prstGeom prst="rect">
            <a:avLst/>
          </a:prstGeom>
          <a:noFill/>
        </p:spPr>
        <p:txBody>
          <a:bodyPr wrap="square" rtlCol="0">
            <a:spAutoFit/>
          </a:bodyPr>
          <a:lstStyle/>
          <a:p>
            <a:r>
              <a:rPr lang="zh-CN" altLang="en-US" b="1" dirty="0">
                <a:solidFill>
                  <a:schemeClr val="accent1"/>
                </a:solidFill>
                <a:effectLst>
                  <a:outerShdw blurRad="38100" dist="25400" dir="5400000" algn="ctr" rotWithShape="0">
                    <a:srgbClr val="6E747A">
                      <a:alpha val="43000"/>
                    </a:srgbClr>
                  </a:outerShdw>
                </a:effectLst>
              </a:rPr>
              <a:t>锐化</a:t>
            </a:r>
          </a:p>
        </p:txBody>
      </p:sp>
      <p:sp>
        <p:nvSpPr>
          <p:cNvPr id="10" name="文本框 9">
            <a:extLst>
              <a:ext uri="{FF2B5EF4-FFF2-40B4-BE49-F238E27FC236}">
                <a16:creationId xmlns:a16="http://schemas.microsoft.com/office/drawing/2014/main" id="{371AE562-16AC-37EB-107F-B1864B95080C}"/>
              </a:ext>
            </a:extLst>
          </p:cNvPr>
          <p:cNvSpPr txBox="1"/>
          <p:nvPr/>
        </p:nvSpPr>
        <p:spPr>
          <a:xfrm>
            <a:off x="9145904" y="4319678"/>
            <a:ext cx="1196975" cy="368300"/>
          </a:xfrm>
          <a:prstGeom prst="rect">
            <a:avLst/>
          </a:prstGeom>
          <a:noFill/>
        </p:spPr>
        <p:txBody>
          <a:bodyPr wrap="square" rtlCol="0">
            <a:spAutoFit/>
          </a:bodyPr>
          <a:lstStyle/>
          <a:p>
            <a:r>
              <a:rPr lang="zh-CN" altLang="en-US" b="1" dirty="0">
                <a:solidFill>
                  <a:schemeClr val="accent1"/>
                </a:solidFill>
                <a:effectLst>
                  <a:outerShdw blurRad="38100" dist="25400" dir="5400000" algn="ctr" rotWithShape="0">
                    <a:srgbClr val="6E747A">
                      <a:alpha val="43000"/>
                    </a:srgbClr>
                  </a:outerShdw>
                </a:effectLst>
              </a:rPr>
              <a:t>虚化</a:t>
            </a:r>
          </a:p>
        </p:txBody>
      </p:sp>
    </p:spTree>
    <p:extLst>
      <p:ext uri="{BB962C8B-B14F-4D97-AF65-F5344CB8AC3E}">
        <p14:creationId xmlns:p14="http://schemas.microsoft.com/office/powerpoint/2010/main" val="3794859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应用</a:t>
            </a:r>
          </a:p>
        </p:txBody>
      </p:sp>
      <p:sp>
        <p:nvSpPr>
          <p:cNvPr id="2" name="文本框 1">
            <a:extLst>
              <a:ext uri="{FF2B5EF4-FFF2-40B4-BE49-F238E27FC236}">
                <a16:creationId xmlns:a16="http://schemas.microsoft.com/office/drawing/2014/main" id="{E3F77703-F84D-D514-6783-E80FA4D47509}"/>
              </a:ext>
            </a:extLst>
          </p:cNvPr>
          <p:cNvSpPr txBox="1"/>
          <p:nvPr>
            <p:custDataLst>
              <p:tags r:id="rId1"/>
            </p:custDataLst>
          </p:nvPr>
        </p:nvSpPr>
        <p:spPr>
          <a:xfrm>
            <a:off x="320040" y="880116"/>
            <a:ext cx="11551920" cy="923330"/>
          </a:xfrm>
          <a:prstGeom prst="rect">
            <a:avLst/>
          </a:prstGeom>
          <a:noFill/>
        </p:spPr>
        <p:txBody>
          <a:bodyPr wrap="square" rtlCol="0">
            <a:spAutoFit/>
          </a:bodyPr>
          <a:lstStyle/>
          <a:p>
            <a:r>
              <a:rPr lang="zh-CN" altLang="en-US" b="1" dirty="0"/>
              <a:t>除此之外，卷积核还常常用来进行</a:t>
            </a:r>
            <a:r>
              <a:rPr lang="zh-CN" altLang="en-US" b="1" dirty="0">
                <a:solidFill>
                  <a:schemeClr val="accent1"/>
                </a:solidFill>
                <a:effectLst>
                  <a:outerShdw blurRad="38100" dist="25400" dir="5400000" algn="ctr" rotWithShape="0">
                    <a:srgbClr val="6E747A">
                      <a:alpha val="43000"/>
                    </a:srgbClr>
                  </a:outerShdw>
                </a:effectLst>
              </a:rPr>
              <a:t>边缘检测</a:t>
            </a:r>
            <a:r>
              <a:rPr lang="zh-CN" altLang="en-US" b="1" dirty="0"/>
              <a:t>，以使图片矩阵中变化剧烈的位置更加明显，从而突出图片的特征。</a:t>
            </a:r>
          </a:p>
          <a:p>
            <a:endParaRPr lang="zh-CN" altLang="en-US" b="1" dirty="0"/>
          </a:p>
          <a:p>
            <a:r>
              <a:rPr lang="zh-CN" altLang="en-US" b="1" dirty="0"/>
              <a:t>如下列矩阵所示：</a:t>
            </a:r>
          </a:p>
        </p:txBody>
      </p:sp>
      <p:pic>
        <p:nvPicPr>
          <p:cNvPr id="3" name="图片 2">
            <a:extLst>
              <a:ext uri="{FF2B5EF4-FFF2-40B4-BE49-F238E27FC236}">
                <a16:creationId xmlns:a16="http://schemas.microsoft.com/office/drawing/2014/main" id="{C2C5A9E9-0360-C8AB-6C5F-66AFAF6C30FC}"/>
              </a:ext>
            </a:extLst>
          </p:cNvPr>
          <p:cNvPicPr/>
          <p:nvPr>
            <p:custDataLst>
              <p:tags r:id="rId2"/>
            </p:custDataLst>
          </p:nvPr>
        </p:nvPicPr>
        <p:blipFill>
          <a:blip r:embed="rId8"/>
          <a:stretch>
            <a:fillRect/>
          </a:stretch>
        </p:blipFill>
        <p:spPr>
          <a:xfrm>
            <a:off x="2421255" y="1443990"/>
            <a:ext cx="1892935" cy="903605"/>
          </a:xfrm>
          <a:prstGeom prst="rect">
            <a:avLst/>
          </a:prstGeom>
          <a:noFill/>
          <a:ln w="9525">
            <a:noFill/>
          </a:ln>
        </p:spPr>
      </p:pic>
      <p:pic>
        <p:nvPicPr>
          <p:cNvPr id="4" name="图片 3">
            <a:extLst>
              <a:ext uri="{FF2B5EF4-FFF2-40B4-BE49-F238E27FC236}">
                <a16:creationId xmlns:a16="http://schemas.microsoft.com/office/drawing/2014/main" id="{755AADF1-0BF3-2F76-DEE7-98D805C27EE5}"/>
              </a:ext>
            </a:extLst>
          </p:cNvPr>
          <p:cNvPicPr/>
          <p:nvPr>
            <p:custDataLst>
              <p:tags r:id="rId3"/>
            </p:custDataLst>
          </p:nvPr>
        </p:nvPicPr>
        <p:blipFill>
          <a:blip r:embed="rId9"/>
          <a:stretch>
            <a:fillRect/>
          </a:stretch>
        </p:blipFill>
        <p:spPr>
          <a:xfrm>
            <a:off x="5016500" y="1443990"/>
            <a:ext cx="1801495" cy="965200"/>
          </a:xfrm>
          <a:prstGeom prst="rect">
            <a:avLst/>
          </a:prstGeom>
          <a:noFill/>
          <a:ln w="9525">
            <a:noFill/>
          </a:ln>
        </p:spPr>
      </p:pic>
      <p:pic>
        <p:nvPicPr>
          <p:cNvPr id="5" name="图片 4">
            <a:extLst>
              <a:ext uri="{FF2B5EF4-FFF2-40B4-BE49-F238E27FC236}">
                <a16:creationId xmlns:a16="http://schemas.microsoft.com/office/drawing/2014/main" id="{019BD473-03F0-C2F1-460E-A0368FDFCEFB}"/>
              </a:ext>
            </a:extLst>
          </p:cNvPr>
          <p:cNvPicPr/>
          <p:nvPr>
            <p:custDataLst>
              <p:tags r:id="rId4"/>
            </p:custDataLst>
          </p:nvPr>
        </p:nvPicPr>
        <p:blipFill>
          <a:blip r:embed="rId10"/>
          <a:stretch>
            <a:fillRect/>
          </a:stretch>
        </p:blipFill>
        <p:spPr>
          <a:xfrm>
            <a:off x="7520305" y="1481837"/>
            <a:ext cx="2393950" cy="823595"/>
          </a:xfrm>
          <a:prstGeom prst="rect">
            <a:avLst/>
          </a:prstGeom>
          <a:noFill/>
          <a:ln w="9525">
            <a:noFill/>
          </a:ln>
        </p:spPr>
      </p:pic>
      <p:sp>
        <p:nvSpPr>
          <p:cNvPr id="6" name="文本框 5">
            <a:extLst>
              <a:ext uri="{FF2B5EF4-FFF2-40B4-BE49-F238E27FC236}">
                <a16:creationId xmlns:a16="http://schemas.microsoft.com/office/drawing/2014/main" id="{63E6616C-CDC8-2C8E-F53B-26C59ED49CBD}"/>
              </a:ext>
            </a:extLst>
          </p:cNvPr>
          <p:cNvSpPr txBox="1"/>
          <p:nvPr>
            <p:custDataLst>
              <p:tags r:id="rId5"/>
            </p:custDataLst>
          </p:nvPr>
        </p:nvSpPr>
        <p:spPr>
          <a:xfrm>
            <a:off x="320040" y="2387768"/>
            <a:ext cx="11638280" cy="2584450"/>
          </a:xfrm>
          <a:prstGeom prst="rect">
            <a:avLst/>
          </a:prstGeom>
          <a:noFill/>
        </p:spPr>
        <p:txBody>
          <a:bodyPr wrap="square" rtlCol="0">
            <a:spAutoFit/>
          </a:bodyPr>
          <a:lstStyle/>
          <a:p>
            <a:r>
              <a:rPr lang="zh-CN" altLang="en-US" b="1" dirty="0"/>
              <a:t>三种边缘检测核的效果是越来越明显，主要原因就是加强了卷积核中[2, 2]位置处与周围元素的区别，图片中变化剧烈位置的在加权后，数值大的更大，数值小的更小，形成了边缘检测效果。</a:t>
            </a:r>
          </a:p>
          <a:p>
            <a:endParaRPr lang="zh-CN" altLang="en-US" dirty="0"/>
          </a:p>
          <a:p>
            <a:r>
              <a:rPr lang="en-US" altLang="zh-CN" b="1" dirty="0"/>
              <a:t>a.</a:t>
            </a:r>
            <a:r>
              <a:rPr lang="zh-CN" altLang="en-US" b="1" dirty="0"/>
              <a:t>第一个核中的权重左上往右下是 1、0、1，而右上往左下是-1、0、-1，在进行卷积运算时，对角方向的边缘更容易识别出来；</a:t>
            </a:r>
          </a:p>
          <a:p>
            <a:r>
              <a:rPr lang="en-US" altLang="zh-CN" b="1" dirty="0"/>
              <a:t>b.</a:t>
            </a:r>
            <a:r>
              <a:rPr lang="zh-CN" altLang="en-US" b="1" dirty="0"/>
              <a:t>第二个核中，权重从左往右是 1、-4、1,从上往下也是 1、-4、1，所以水平和垂直方向的边缘更容易识别出来；</a:t>
            </a:r>
          </a:p>
          <a:p>
            <a:r>
              <a:rPr lang="en-US" altLang="zh-CN" b="1" dirty="0"/>
              <a:t>c.</a:t>
            </a:r>
            <a:r>
              <a:rPr lang="zh-CN" altLang="en-US" b="1" dirty="0"/>
              <a:t>第三个核中权重水平垂直和对角都是-1、8、-1，所以水平和倾斜的边缘都容易识别。</a:t>
            </a:r>
          </a:p>
          <a:p>
            <a:r>
              <a:rPr lang="en-US" altLang="zh-CN" b="1" dirty="0"/>
              <a:t>                                                 					</a:t>
            </a:r>
          </a:p>
          <a:p>
            <a:r>
              <a:rPr lang="zh-CN" altLang="en-US" b="1" dirty="0"/>
              <a:t>我们根据上面对不同方向数值剧烈变化的描述，我们很容易联想到的就是</a:t>
            </a:r>
            <a:r>
              <a:rPr lang="en-US" altLang="zh-CN" b="1" dirty="0"/>
              <a:t>——</a:t>
            </a:r>
            <a:r>
              <a:rPr lang="zh-CN" altLang="en-US" b="1" dirty="0">
                <a:solidFill>
                  <a:schemeClr val="accent1"/>
                </a:solidFill>
                <a:effectLst>
                  <a:outerShdw blurRad="38100" dist="25400" dir="5400000" algn="ctr" rotWithShape="0">
                    <a:srgbClr val="6E747A">
                      <a:alpha val="43000"/>
                    </a:srgbClr>
                  </a:outerShdw>
                </a:effectLst>
              </a:rPr>
              <a:t>梯度</a:t>
            </a:r>
            <a:r>
              <a:rPr lang="zh-CN" altLang="en-US" b="1" dirty="0"/>
              <a:t>。</a:t>
            </a:r>
          </a:p>
        </p:txBody>
      </p:sp>
      <p:sp>
        <p:nvSpPr>
          <p:cNvPr id="7" name="文本框 6">
            <a:extLst>
              <a:ext uri="{FF2B5EF4-FFF2-40B4-BE49-F238E27FC236}">
                <a16:creationId xmlns:a16="http://schemas.microsoft.com/office/drawing/2014/main" id="{7FD11200-D4CB-7F7C-AB3C-956C80BDB74B}"/>
              </a:ext>
            </a:extLst>
          </p:cNvPr>
          <p:cNvSpPr txBox="1"/>
          <p:nvPr/>
        </p:nvSpPr>
        <p:spPr>
          <a:xfrm>
            <a:off x="419553" y="5054554"/>
            <a:ext cx="4793615" cy="1476375"/>
          </a:xfrm>
          <a:prstGeom prst="rect">
            <a:avLst/>
          </a:prstGeom>
          <a:noFill/>
        </p:spPr>
        <p:txBody>
          <a:bodyPr wrap="square" rtlCol="0">
            <a:spAutoFit/>
          </a:bodyPr>
          <a:lstStyle/>
          <a:p>
            <a:r>
              <a:rPr lang="zh-CN" altLang="en-US" b="1" i="1" dirty="0"/>
              <a:t>以最简单的平面直角坐标系为例，我们可以利用卷积，通过求偏导去表示不同方向的梯度，分别得到</a:t>
            </a:r>
            <a:r>
              <a:rPr lang="en-US" altLang="zh-CN" b="1" i="1" dirty="0"/>
              <a:t>x</a:t>
            </a:r>
            <a:r>
              <a:rPr lang="zh-CN" altLang="en-US" b="1" i="1" dirty="0"/>
              <a:t>、</a:t>
            </a:r>
            <a:r>
              <a:rPr lang="en-US" altLang="zh-CN" b="1" i="1" dirty="0"/>
              <a:t>y</a:t>
            </a:r>
            <a:r>
              <a:rPr lang="zh-CN" altLang="en-US" b="1" i="1" dirty="0"/>
              <a:t>方向的边缘卷积核，然后我们就可以检测出两个方向的边缘，综合后便可以表示出某一点的边缘“强度”。</a:t>
            </a:r>
            <a:r>
              <a:rPr lang="en-US" altLang="zh-CN" b="1" i="1" dirty="0"/>
              <a:t> </a:t>
            </a:r>
            <a:r>
              <a:rPr lang="zh-CN" altLang="en-US" b="1" i="1" dirty="0"/>
              <a:t>如右图所示：</a:t>
            </a:r>
          </a:p>
        </p:txBody>
      </p:sp>
      <p:pic>
        <p:nvPicPr>
          <p:cNvPr id="10" name="图片 9">
            <a:extLst>
              <a:ext uri="{FF2B5EF4-FFF2-40B4-BE49-F238E27FC236}">
                <a16:creationId xmlns:a16="http://schemas.microsoft.com/office/drawing/2014/main" id="{AD9CB6B6-9385-5951-2CFA-6C00FD59C385}"/>
              </a:ext>
            </a:extLst>
          </p:cNvPr>
          <p:cNvPicPr/>
          <p:nvPr>
            <p:custDataLst>
              <p:tags r:id="rId6"/>
            </p:custDataLst>
          </p:nvPr>
        </p:nvPicPr>
        <p:blipFill>
          <a:blip r:embed="rId11"/>
          <a:stretch>
            <a:fillRect/>
          </a:stretch>
        </p:blipFill>
        <p:spPr>
          <a:xfrm>
            <a:off x="5740717" y="4972218"/>
            <a:ext cx="5953125" cy="1781175"/>
          </a:xfrm>
          <a:prstGeom prst="rect">
            <a:avLst/>
          </a:prstGeom>
          <a:noFill/>
          <a:ln w="9525">
            <a:noFill/>
          </a:ln>
        </p:spPr>
      </p:pic>
    </p:spTree>
    <p:extLst>
      <p:ext uri="{BB962C8B-B14F-4D97-AF65-F5344CB8AC3E}">
        <p14:creationId xmlns:p14="http://schemas.microsoft.com/office/powerpoint/2010/main" val="345495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应用</a:t>
            </a:r>
          </a:p>
        </p:txBody>
      </p:sp>
      <p:grpSp>
        <p:nvGrpSpPr>
          <p:cNvPr id="12" name="PA_组合 13">
            <a:extLst>
              <a:ext uri="{FF2B5EF4-FFF2-40B4-BE49-F238E27FC236}">
                <a16:creationId xmlns:a16="http://schemas.microsoft.com/office/drawing/2014/main" id="{9E84C6B3-C88B-4933-218C-26F3C55B2032}"/>
              </a:ext>
            </a:extLst>
          </p:cNvPr>
          <p:cNvGrpSpPr/>
          <p:nvPr>
            <p:custDataLst>
              <p:tags r:id="rId1"/>
            </p:custDataLst>
          </p:nvPr>
        </p:nvGrpSpPr>
        <p:grpSpPr>
          <a:xfrm>
            <a:off x="6294024" y="4438205"/>
            <a:ext cx="623577" cy="577848"/>
            <a:chOff x="5653892" y="5987571"/>
            <a:chExt cx="886185" cy="821198"/>
          </a:xfrm>
          <a:solidFill>
            <a:srgbClr val="868686"/>
          </a:solidFill>
        </p:grpSpPr>
        <p:sp>
          <p:nvSpPr>
            <p:cNvPr id="13" name="Freeform 9">
              <a:extLst>
                <a:ext uri="{FF2B5EF4-FFF2-40B4-BE49-F238E27FC236}">
                  <a16:creationId xmlns:a16="http://schemas.microsoft.com/office/drawing/2014/main" id="{8C1DF2E6-CA8F-7F10-FC8B-2C136DD98BB6}"/>
                </a:ext>
              </a:extLst>
            </p:cNvPr>
            <p:cNvSpPr>
              <a:spLocks noEditPoints="1"/>
            </p:cNvSpPr>
            <p:nvPr/>
          </p:nvSpPr>
          <p:spPr bwMode="auto">
            <a:xfrm>
              <a:off x="5809467" y="6310536"/>
              <a:ext cx="573066" cy="498233"/>
            </a:xfrm>
            <a:custGeom>
              <a:avLst/>
              <a:gdLst>
                <a:gd name="T0" fmla="*/ 6 w 59"/>
                <a:gd name="T1" fmla="*/ 51 h 51"/>
                <a:gd name="T2" fmla="*/ 0 w 59"/>
                <a:gd name="T3" fmla="*/ 44 h 51"/>
                <a:gd name="T4" fmla="*/ 0 w 59"/>
                <a:gd name="T5" fmla="*/ 44 h 51"/>
                <a:gd name="T6" fmla="*/ 0 w 59"/>
                <a:gd name="T7" fmla="*/ 6 h 51"/>
                <a:gd name="T8" fmla="*/ 6 w 59"/>
                <a:gd name="T9" fmla="*/ 0 h 51"/>
                <a:gd name="T10" fmla="*/ 6 w 59"/>
                <a:gd name="T11" fmla="*/ 0 h 51"/>
                <a:gd name="T12" fmla="*/ 53 w 59"/>
                <a:gd name="T13" fmla="*/ 0 h 51"/>
                <a:gd name="T14" fmla="*/ 59 w 59"/>
                <a:gd name="T15" fmla="*/ 6 h 51"/>
                <a:gd name="T16" fmla="*/ 59 w 59"/>
                <a:gd name="T17" fmla="*/ 6 h 51"/>
                <a:gd name="T18" fmla="*/ 59 w 59"/>
                <a:gd name="T19" fmla="*/ 44 h 51"/>
                <a:gd name="T20" fmla="*/ 53 w 59"/>
                <a:gd name="T21" fmla="*/ 51 h 51"/>
                <a:gd name="T22" fmla="*/ 53 w 59"/>
                <a:gd name="T23" fmla="*/ 51 h 51"/>
                <a:gd name="T24" fmla="*/ 6 w 59"/>
                <a:gd name="T25" fmla="*/ 51 h 51"/>
                <a:gd name="T26" fmla="*/ 5 w 59"/>
                <a:gd name="T27" fmla="*/ 6 h 51"/>
                <a:gd name="T28" fmla="*/ 5 w 59"/>
                <a:gd name="T29" fmla="*/ 44 h 51"/>
                <a:gd name="T30" fmla="*/ 6 w 59"/>
                <a:gd name="T31" fmla="*/ 45 h 51"/>
                <a:gd name="T32" fmla="*/ 6 w 59"/>
                <a:gd name="T33" fmla="*/ 45 h 51"/>
                <a:gd name="T34" fmla="*/ 53 w 59"/>
                <a:gd name="T35" fmla="*/ 45 h 51"/>
                <a:gd name="T36" fmla="*/ 54 w 59"/>
                <a:gd name="T37" fmla="*/ 44 h 51"/>
                <a:gd name="T38" fmla="*/ 54 w 59"/>
                <a:gd name="T39" fmla="*/ 44 h 51"/>
                <a:gd name="T40" fmla="*/ 54 w 59"/>
                <a:gd name="T41" fmla="*/ 6 h 51"/>
                <a:gd name="T42" fmla="*/ 53 w 59"/>
                <a:gd name="T43" fmla="*/ 6 h 51"/>
                <a:gd name="T44" fmla="*/ 53 w 59"/>
                <a:gd name="T45" fmla="*/ 6 h 51"/>
                <a:gd name="T46" fmla="*/ 6 w 59"/>
                <a:gd name="T47" fmla="*/ 6 h 51"/>
                <a:gd name="T48" fmla="*/ 5 w 59"/>
                <a:gd name="T49" fmla="*/ 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51">
                  <a:moveTo>
                    <a:pt x="6" y="51"/>
                  </a:moveTo>
                  <a:cubicBezTo>
                    <a:pt x="3" y="51"/>
                    <a:pt x="0" y="48"/>
                    <a:pt x="0" y="44"/>
                  </a:cubicBezTo>
                  <a:cubicBezTo>
                    <a:pt x="0" y="44"/>
                    <a:pt x="0" y="44"/>
                    <a:pt x="0" y="44"/>
                  </a:cubicBezTo>
                  <a:cubicBezTo>
                    <a:pt x="0" y="6"/>
                    <a:pt x="0" y="6"/>
                    <a:pt x="0" y="6"/>
                  </a:cubicBezTo>
                  <a:cubicBezTo>
                    <a:pt x="0" y="3"/>
                    <a:pt x="3" y="0"/>
                    <a:pt x="6" y="0"/>
                  </a:cubicBezTo>
                  <a:cubicBezTo>
                    <a:pt x="6" y="0"/>
                    <a:pt x="6" y="0"/>
                    <a:pt x="6" y="0"/>
                  </a:cubicBezTo>
                  <a:cubicBezTo>
                    <a:pt x="53" y="0"/>
                    <a:pt x="53" y="0"/>
                    <a:pt x="53" y="0"/>
                  </a:cubicBezTo>
                  <a:cubicBezTo>
                    <a:pt x="56" y="0"/>
                    <a:pt x="59" y="3"/>
                    <a:pt x="59" y="6"/>
                  </a:cubicBezTo>
                  <a:cubicBezTo>
                    <a:pt x="59" y="6"/>
                    <a:pt x="59" y="6"/>
                    <a:pt x="59" y="6"/>
                  </a:cubicBezTo>
                  <a:cubicBezTo>
                    <a:pt x="59" y="44"/>
                    <a:pt x="59" y="44"/>
                    <a:pt x="59" y="44"/>
                  </a:cubicBezTo>
                  <a:cubicBezTo>
                    <a:pt x="59" y="48"/>
                    <a:pt x="56" y="51"/>
                    <a:pt x="53" y="51"/>
                  </a:cubicBezTo>
                  <a:cubicBezTo>
                    <a:pt x="53" y="51"/>
                    <a:pt x="53" y="51"/>
                    <a:pt x="53" y="51"/>
                  </a:cubicBezTo>
                  <a:cubicBezTo>
                    <a:pt x="6" y="51"/>
                    <a:pt x="6" y="51"/>
                    <a:pt x="6" y="51"/>
                  </a:cubicBezTo>
                  <a:close/>
                  <a:moveTo>
                    <a:pt x="5" y="6"/>
                  </a:moveTo>
                  <a:cubicBezTo>
                    <a:pt x="5" y="44"/>
                    <a:pt x="5" y="44"/>
                    <a:pt x="5" y="44"/>
                  </a:cubicBezTo>
                  <a:cubicBezTo>
                    <a:pt x="5" y="45"/>
                    <a:pt x="6" y="45"/>
                    <a:pt x="6" y="45"/>
                  </a:cubicBezTo>
                  <a:cubicBezTo>
                    <a:pt x="6" y="45"/>
                    <a:pt x="6" y="45"/>
                    <a:pt x="6" y="45"/>
                  </a:cubicBezTo>
                  <a:cubicBezTo>
                    <a:pt x="53" y="45"/>
                    <a:pt x="53" y="45"/>
                    <a:pt x="53" y="45"/>
                  </a:cubicBezTo>
                  <a:cubicBezTo>
                    <a:pt x="53" y="45"/>
                    <a:pt x="54" y="45"/>
                    <a:pt x="54" y="44"/>
                  </a:cubicBezTo>
                  <a:cubicBezTo>
                    <a:pt x="54" y="44"/>
                    <a:pt x="54" y="44"/>
                    <a:pt x="54" y="44"/>
                  </a:cubicBezTo>
                  <a:cubicBezTo>
                    <a:pt x="54" y="6"/>
                    <a:pt x="54" y="6"/>
                    <a:pt x="54" y="6"/>
                  </a:cubicBezTo>
                  <a:cubicBezTo>
                    <a:pt x="54" y="6"/>
                    <a:pt x="53" y="6"/>
                    <a:pt x="53" y="6"/>
                  </a:cubicBezTo>
                  <a:cubicBezTo>
                    <a:pt x="53" y="6"/>
                    <a:pt x="53" y="6"/>
                    <a:pt x="53" y="6"/>
                  </a:cubicBezTo>
                  <a:cubicBezTo>
                    <a:pt x="6" y="6"/>
                    <a:pt x="6" y="6"/>
                    <a:pt x="6" y="6"/>
                  </a:cubicBezTo>
                  <a:cubicBezTo>
                    <a:pt x="6" y="6"/>
                    <a:pt x="5" y="6"/>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Freeform 10">
              <a:extLst>
                <a:ext uri="{FF2B5EF4-FFF2-40B4-BE49-F238E27FC236}">
                  <a16:creationId xmlns:a16="http://schemas.microsoft.com/office/drawing/2014/main" id="{481F3788-82D0-C8BA-F45F-E978B971619F}"/>
                </a:ext>
              </a:extLst>
            </p:cNvPr>
            <p:cNvSpPr>
              <a:spLocks noEditPoints="1"/>
            </p:cNvSpPr>
            <p:nvPr/>
          </p:nvSpPr>
          <p:spPr bwMode="auto">
            <a:xfrm>
              <a:off x="5653892" y="5987571"/>
              <a:ext cx="886185" cy="372197"/>
            </a:xfrm>
            <a:custGeom>
              <a:avLst/>
              <a:gdLst>
                <a:gd name="T0" fmla="*/ 3 w 91"/>
                <a:gd name="T1" fmla="*/ 38 h 38"/>
                <a:gd name="T2" fmla="*/ 3 w 91"/>
                <a:gd name="T3" fmla="*/ 36 h 38"/>
                <a:gd name="T4" fmla="*/ 5 w 91"/>
                <a:gd name="T5" fmla="*/ 38 h 38"/>
                <a:gd name="T6" fmla="*/ 3 w 91"/>
                <a:gd name="T7" fmla="*/ 36 h 38"/>
                <a:gd name="T8" fmla="*/ 3 w 91"/>
                <a:gd name="T9" fmla="*/ 38 h 38"/>
                <a:gd name="T10" fmla="*/ 1 w 91"/>
                <a:gd name="T11" fmla="*/ 37 h 38"/>
                <a:gd name="T12" fmla="*/ 1 w 91"/>
                <a:gd name="T13" fmla="*/ 37 h 38"/>
                <a:gd name="T14" fmla="*/ 2 w 91"/>
                <a:gd name="T15" fmla="*/ 34 h 38"/>
                <a:gd name="T16" fmla="*/ 2 w 91"/>
                <a:gd name="T17" fmla="*/ 34 h 38"/>
                <a:gd name="T18" fmla="*/ 44 w 91"/>
                <a:gd name="T19" fmla="*/ 1 h 38"/>
                <a:gd name="T20" fmla="*/ 47 w 91"/>
                <a:gd name="T21" fmla="*/ 1 h 38"/>
                <a:gd name="T22" fmla="*/ 47 w 91"/>
                <a:gd name="T23" fmla="*/ 1 h 38"/>
                <a:gd name="T24" fmla="*/ 89 w 91"/>
                <a:gd name="T25" fmla="*/ 34 h 38"/>
                <a:gd name="T26" fmla="*/ 90 w 91"/>
                <a:gd name="T27" fmla="*/ 37 h 38"/>
                <a:gd name="T28" fmla="*/ 90 w 91"/>
                <a:gd name="T29" fmla="*/ 37 h 38"/>
                <a:gd name="T30" fmla="*/ 88 w 91"/>
                <a:gd name="T31" fmla="*/ 38 h 38"/>
                <a:gd name="T32" fmla="*/ 88 w 91"/>
                <a:gd name="T33" fmla="*/ 38 h 38"/>
                <a:gd name="T34" fmla="*/ 3 w 91"/>
                <a:gd name="T35" fmla="*/ 38 h 38"/>
                <a:gd name="T36" fmla="*/ 80 w 91"/>
                <a:gd name="T37" fmla="*/ 33 h 38"/>
                <a:gd name="T38" fmla="*/ 46 w 91"/>
                <a:gd name="T39" fmla="*/ 7 h 38"/>
                <a:gd name="T40" fmla="*/ 11 w 91"/>
                <a:gd name="T41" fmla="*/ 33 h 38"/>
                <a:gd name="T42" fmla="*/ 80 w 91"/>
                <a:gd name="T43" fmla="*/ 3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38">
                  <a:moveTo>
                    <a:pt x="3" y="38"/>
                  </a:moveTo>
                  <a:cubicBezTo>
                    <a:pt x="3" y="36"/>
                    <a:pt x="3" y="36"/>
                    <a:pt x="3" y="36"/>
                  </a:cubicBezTo>
                  <a:cubicBezTo>
                    <a:pt x="5" y="38"/>
                    <a:pt x="5" y="38"/>
                    <a:pt x="5" y="38"/>
                  </a:cubicBezTo>
                  <a:cubicBezTo>
                    <a:pt x="3" y="36"/>
                    <a:pt x="3" y="36"/>
                    <a:pt x="3" y="36"/>
                  </a:cubicBezTo>
                  <a:cubicBezTo>
                    <a:pt x="3" y="38"/>
                    <a:pt x="3" y="38"/>
                    <a:pt x="3" y="38"/>
                  </a:cubicBezTo>
                  <a:cubicBezTo>
                    <a:pt x="2" y="38"/>
                    <a:pt x="1" y="38"/>
                    <a:pt x="1" y="37"/>
                  </a:cubicBezTo>
                  <a:cubicBezTo>
                    <a:pt x="1" y="37"/>
                    <a:pt x="1" y="37"/>
                    <a:pt x="1" y="37"/>
                  </a:cubicBezTo>
                  <a:cubicBezTo>
                    <a:pt x="0" y="35"/>
                    <a:pt x="1" y="34"/>
                    <a:pt x="2" y="34"/>
                  </a:cubicBezTo>
                  <a:cubicBezTo>
                    <a:pt x="2" y="34"/>
                    <a:pt x="2" y="34"/>
                    <a:pt x="2" y="34"/>
                  </a:cubicBezTo>
                  <a:cubicBezTo>
                    <a:pt x="44" y="1"/>
                    <a:pt x="44" y="1"/>
                    <a:pt x="44" y="1"/>
                  </a:cubicBezTo>
                  <a:cubicBezTo>
                    <a:pt x="45" y="0"/>
                    <a:pt x="46" y="0"/>
                    <a:pt x="47" y="1"/>
                  </a:cubicBezTo>
                  <a:cubicBezTo>
                    <a:pt x="47" y="1"/>
                    <a:pt x="47" y="1"/>
                    <a:pt x="47" y="1"/>
                  </a:cubicBezTo>
                  <a:cubicBezTo>
                    <a:pt x="89" y="34"/>
                    <a:pt x="89" y="34"/>
                    <a:pt x="89" y="34"/>
                  </a:cubicBezTo>
                  <a:cubicBezTo>
                    <a:pt x="90" y="34"/>
                    <a:pt x="91" y="35"/>
                    <a:pt x="90" y="37"/>
                  </a:cubicBezTo>
                  <a:cubicBezTo>
                    <a:pt x="90" y="37"/>
                    <a:pt x="90" y="37"/>
                    <a:pt x="90" y="37"/>
                  </a:cubicBezTo>
                  <a:cubicBezTo>
                    <a:pt x="90" y="38"/>
                    <a:pt x="89" y="38"/>
                    <a:pt x="88" y="38"/>
                  </a:cubicBezTo>
                  <a:cubicBezTo>
                    <a:pt x="88" y="38"/>
                    <a:pt x="88" y="38"/>
                    <a:pt x="88" y="38"/>
                  </a:cubicBezTo>
                  <a:cubicBezTo>
                    <a:pt x="3" y="38"/>
                    <a:pt x="3" y="38"/>
                    <a:pt x="3" y="38"/>
                  </a:cubicBezTo>
                  <a:close/>
                  <a:moveTo>
                    <a:pt x="80" y="33"/>
                  </a:moveTo>
                  <a:cubicBezTo>
                    <a:pt x="46" y="7"/>
                    <a:pt x="46" y="7"/>
                    <a:pt x="46" y="7"/>
                  </a:cubicBezTo>
                  <a:cubicBezTo>
                    <a:pt x="11" y="33"/>
                    <a:pt x="11" y="33"/>
                    <a:pt x="11" y="33"/>
                  </a:cubicBezTo>
                  <a:cubicBezTo>
                    <a:pt x="80" y="33"/>
                    <a:pt x="80" y="33"/>
                    <a:pt x="8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5" name="Freeform 11">
              <a:extLst>
                <a:ext uri="{FF2B5EF4-FFF2-40B4-BE49-F238E27FC236}">
                  <a16:creationId xmlns:a16="http://schemas.microsoft.com/office/drawing/2014/main" id="{B51C6BDE-5CC8-44C6-7E3C-60D759A67068}"/>
                </a:ext>
              </a:extLst>
            </p:cNvPr>
            <p:cNvSpPr>
              <a:spLocks noEditPoints="1"/>
            </p:cNvSpPr>
            <p:nvPr/>
          </p:nvSpPr>
          <p:spPr bwMode="auto">
            <a:xfrm>
              <a:off x="5994581" y="6515343"/>
              <a:ext cx="202838" cy="283579"/>
            </a:xfrm>
            <a:custGeom>
              <a:avLst/>
              <a:gdLst>
                <a:gd name="T0" fmla="*/ 5 w 21"/>
                <a:gd name="T1" fmla="*/ 29 h 29"/>
                <a:gd name="T2" fmla="*/ 0 w 21"/>
                <a:gd name="T3" fmla="*/ 24 h 29"/>
                <a:gd name="T4" fmla="*/ 0 w 21"/>
                <a:gd name="T5" fmla="*/ 24 h 29"/>
                <a:gd name="T6" fmla="*/ 0 w 21"/>
                <a:gd name="T7" fmla="*/ 6 h 29"/>
                <a:gd name="T8" fmla="*/ 5 w 21"/>
                <a:gd name="T9" fmla="*/ 0 h 29"/>
                <a:gd name="T10" fmla="*/ 5 w 21"/>
                <a:gd name="T11" fmla="*/ 0 h 29"/>
                <a:gd name="T12" fmla="*/ 16 w 21"/>
                <a:gd name="T13" fmla="*/ 0 h 29"/>
                <a:gd name="T14" fmla="*/ 21 w 21"/>
                <a:gd name="T15" fmla="*/ 6 h 29"/>
                <a:gd name="T16" fmla="*/ 21 w 21"/>
                <a:gd name="T17" fmla="*/ 6 h 29"/>
                <a:gd name="T18" fmla="*/ 21 w 21"/>
                <a:gd name="T19" fmla="*/ 24 h 29"/>
                <a:gd name="T20" fmla="*/ 16 w 21"/>
                <a:gd name="T21" fmla="*/ 29 h 29"/>
                <a:gd name="T22" fmla="*/ 16 w 21"/>
                <a:gd name="T23" fmla="*/ 29 h 29"/>
                <a:gd name="T24" fmla="*/ 5 w 21"/>
                <a:gd name="T25" fmla="*/ 29 h 29"/>
                <a:gd name="T26" fmla="*/ 4 w 21"/>
                <a:gd name="T27" fmla="*/ 24 h 29"/>
                <a:gd name="T28" fmla="*/ 5 w 21"/>
                <a:gd name="T29" fmla="*/ 26 h 29"/>
                <a:gd name="T30" fmla="*/ 5 w 21"/>
                <a:gd name="T31" fmla="*/ 26 h 29"/>
                <a:gd name="T32" fmla="*/ 16 w 21"/>
                <a:gd name="T33" fmla="*/ 26 h 29"/>
                <a:gd name="T34" fmla="*/ 18 w 21"/>
                <a:gd name="T35" fmla="*/ 24 h 29"/>
                <a:gd name="T36" fmla="*/ 18 w 21"/>
                <a:gd name="T37" fmla="*/ 24 h 29"/>
                <a:gd name="T38" fmla="*/ 18 w 21"/>
                <a:gd name="T39" fmla="*/ 6 h 29"/>
                <a:gd name="T40" fmla="*/ 16 w 21"/>
                <a:gd name="T41" fmla="*/ 4 h 29"/>
                <a:gd name="T42" fmla="*/ 16 w 21"/>
                <a:gd name="T43" fmla="*/ 4 h 29"/>
                <a:gd name="T44" fmla="*/ 5 w 21"/>
                <a:gd name="T45" fmla="*/ 4 h 29"/>
                <a:gd name="T46" fmla="*/ 4 w 21"/>
                <a:gd name="T47" fmla="*/ 6 h 29"/>
                <a:gd name="T48" fmla="*/ 4 w 21"/>
                <a:gd name="T49" fmla="*/ 6 h 29"/>
                <a:gd name="T50" fmla="*/ 4 w 21"/>
                <a:gd name="T51"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 h="29">
                  <a:moveTo>
                    <a:pt x="5" y="29"/>
                  </a:moveTo>
                  <a:cubicBezTo>
                    <a:pt x="2" y="29"/>
                    <a:pt x="0" y="27"/>
                    <a:pt x="0" y="24"/>
                  </a:cubicBezTo>
                  <a:cubicBezTo>
                    <a:pt x="0" y="24"/>
                    <a:pt x="0" y="24"/>
                    <a:pt x="0" y="24"/>
                  </a:cubicBezTo>
                  <a:cubicBezTo>
                    <a:pt x="0" y="6"/>
                    <a:pt x="0" y="6"/>
                    <a:pt x="0" y="6"/>
                  </a:cubicBezTo>
                  <a:cubicBezTo>
                    <a:pt x="0" y="3"/>
                    <a:pt x="2" y="0"/>
                    <a:pt x="5" y="0"/>
                  </a:cubicBezTo>
                  <a:cubicBezTo>
                    <a:pt x="5" y="0"/>
                    <a:pt x="5" y="0"/>
                    <a:pt x="5" y="0"/>
                  </a:cubicBezTo>
                  <a:cubicBezTo>
                    <a:pt x="16" y="0"/>
                    <a:pt x="16" y="0"/>
                    <a:pt x="16" y="0"/>
                  </a:cubicBezTo>
                  <a:cubicBezTo>
                    <a:pt x="19" y="0"/>
                    <a:pt x="21" y="3"/>
                    <a:pt x="21" y="6"/>
                  </a:cubicBezTo>
                  <a:cubicBezTo>
                    <a:pt x="21" y="6"/>
                    <a:pt x="21" y="6"/>
                    <a:pt x="21" y="6"/>
                  </a:cubicBezTo>
                  <a:cubicBezTo>
                    <a:pt x="21" y="24"/>
                    <a:pt x="21" y="24"/>
                    <a:pt x="21" y="24"/>
                  </a:cubicBezTo>
                  <a:cubicBezTo>
                    <a:pt x="21" y="27"/>
                    <a:pt x="19" y="29"/>
                    <a:pt x="16" y="29"/>
                  </a:cubicBezTo>
                  <a:cubicBezTo>
                    <a:pt x="16" y="29"/>
                    <a:pt x="16" y="29"/>
                    <a:pt x="16" y="29"/>
                  </a:cubicBezTo>
                  <a:cubicBezTo>
                    <a:pt x="5" y="29"/>
                    <a:pt x="5" y="29"/>
                    <a:pt x="5" y="29"/>
                  </a:cubicBezTo>
                  <a:close/>
                  <a:moveTo>
                    <a:pt x="4" y="24"/>
                  </a:moveTo>
                  <a:cubicBezTo>
                    <a:pt x="4" y="25"/>
                    <a:pt x="4" y="26"/>
                    <a:pt x="5" y="26"/>
                  </a:cubicBezTo>
                  <a:cubicBezTo>
                    <a:pt x="5" y="26"/>
                    <a:pt x="5" y="26"/>
                    <a:pt x="5" y="26"/>
                  </a:cubicBezTo>
                  <a:cubicBezTo>
                    <a:pt x="16" y="26"/>
                    <a:pt x="16" y="26"/>
                    <a:pt x="16" y="26"/>
                  </a:cubicBezTo>
                  <a:cubicBezTo>
                    <a:pt x="17" y="26"/>
                    <a:pt x="18" y="25"/>
                    <a:pt x="18" y="24"/>
                  </a:cubicBezTo>
                  <a:cubicBezTo>
                    <a:pt x="18" y="24"/>
                    <a:pt x="18" y="24"/>
                    <a:pt x="18" y="24"/>
                  </a:cubicBezTo>
                  <a:cubicBezTo>
                    <a:pt x="18" y="6"/>
                    <a:pt x="18" y="6"/>
                    <a:pt x="18" y="6"/>
                  </a:cubicBezTo>
                  <a:cubicBezTo>
                    <a:pt x="18" y="5"/>
                    <a:pt x="17" y="4"/>
                    <a:pt x="16" y="4"/>
                  </a:cubicBezTo>
                  <a:cubicBezTo>
                    <a:pt x="16" y="4"/>
                    <a:pt x="16" y="4"/>
                    <a:pt x="16" y="4"/>
                  </a:cubicBezTo>
                  <a:cubicBezTo>
                    <a:pt x="5" y="4"/>
                    <a:pt x="5" y="4"/>
                    <a:pt x="5" y="4"/>
                  </a:cubicBezTo>
                  <a:cubicBezTo>
                    <a:pt x="4" y="4"/>
                    <a:pt x="4" y="5"/>
                    <a:pt x="4" y="6"/>
                  </a:cubicBezTo>
                  <a:cubicBezTo>
                    <a:pt x="4" y="6"/>
                    <a:pt x="4" y="6"/>
                    <a:pt x="4" y="6"/>
                  </a:cubicBezTo>
                  <a:cubicBezTo>
                    <a:pt x="4" y="24"/>
                    <a:pt x="4" y="24"/>
                    <a:pt x="4"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6" name="Freeform 12">
              <a:extLst>
                <a:ext uri="{FF2B5EF4-FFF2-40B4-BE49-F238E27FC236}">
                  <a16:creationId xmlns:a16="http://schemas.microsoft.com/office/drawing/2014/main" id="{D1D0D51D-8330-181B-64D0-F5D65A48645E}"/>
                </a:ext>
              </a:extLst>
            </p:cNvPr>
            <p:cNvSpPr>
              <a:spLocks noEditPoints="1"/>
            </p:cNvSpPr>
            <p:nvPr/>
          </p:nvSpPr>
          <p:spPr bwMode="auto">
            <a:xfrm>
              <a:off x="5886270" y="6416878"/>
              <a:ext cx="135882" cy="98465"/>
            </a:xfrm>
            <a:custGeom>
              <a:avLst/>
              <a:gdLst>
                <a:gd name="T0" fmla="*/ 14 w 14"/>
                <a:gd name="T1" fmla="*/ 8 h 10"/>
                <a:gd name="T2" fmla="*/ 11 w 14"/>
                <a:gd name="T3" fmla="*/ 10 h 10"/>
                <a:gd name="T4" fmla="*/ 11 w 14"/>
                <a:gd name="T5" fmla="*/ 10 h 10"/>
                <a:gd name="T6" fmla="*/ 3 w 14"/>
                <a:gd name="T7" fmla="*/ 10 h 10"/>
                <a:gd name="T8" fmla="*/ 0 w 14"/>
                <a:gd name="T9" fmla="*/ 8 h 10"/>
                <a:gd name="T10" fmla="*/ 0 w 14"/>
                <a:gd name="T11" fmla="*/ 8 h 10"/>
                <a:gd name="T12" fmla="*/ 0 w 14"/>
                <a:gd name="T13" fmla="*/ 3 h 10"/>
                <a:gd name="T14" fmla="*/ 3 w 14"/>
                <a:gd name="T15" fmla="*/ 0 h 10"/>
                <a:gd name="T16" fmla="*/ 3 w 14"/>
                <a:gd name="T17" fmla="*/ 0 h 10"/>
                <a:gd name="T18" fmla="*/ 11 w 14"/>
                <a:gd name="T19" fmla="*/ 0 h 10"/>
                <a:gd name="T20" fmla="*/ 14 w 14"/>
                <a:gd name="T21" fmla="*/ 3 h 10"/>
                <a:gd name="T22" fmla="*/ 14 w 14"/>
                <a:gd name="T23" fmla="*/ 3 h 10"/>
                <a:gd name="T24" fmla="*/ 14 w 14"/>
                <a:gd name="T25" fmla="*/ 8 h 10"/>
                <a:gd name="T26" fmla="*/ 11 w 14"/>
                <a:gd name="T27" fmla="*/ 9 h 10"/>
                <a:gd name="T28" fmla="*/ 12 w 14"/>
                <a:gd name="T29" fmla="*/ 8 h 10"/>
                <a:gd name="T30" fmla="*/ 12 w 14"/>
                <a:gd name="T31" fmla="*/ 8 h 10"/>
                <a:gd name="T32" fmla="*/ 12 w 14"/>
                <a:gd name="T33" fmla="*/ 3 h 10"/>
                <a:gd name="T34" fmla="*/ 11 w 14"/>
                <a:gd name="T35" fmla="*/ 2 h 10"/>
                <a:gd name="T36" fmla="*/ 11 w 14"/>
                <a:gd name="T37" fmla="*/ 2 h 10"/>
                <a:gd name="T38" fmla="*/ 3 w 14"/>
                <a:gd name="T39" fmla="*/ 2 h 10"/>
                <a:gd name="T40" fmla="*/ 2 w 14"/>
                <a:gd name="T41" fmla="*/ 3 h 10"/>
                <a:gd name="T42" fmla="*/ 2 w 14"/>
                <a:gd name="T43" fmla="*/ 3 h 10"/>
                <a:gd name="T44" fmla="*/ 2 w 14"/>
                <a:gd name="T45" fmla="*/ 8 h 10"/>
                <a:gd name="T46" fmla="*/ 3 w 14"/>
                <a:gd name="T47" fmla="*/ 9 h 10"/>
                <a:gd name="T48" fmla="*/ 3 w 14"/>
                <a:gd name="T49" fmla="*/ 9 h 10"/>
                <a:gd name="T50" fmla="*/ 11 w 14"/>
                <a:gd name="T5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10">
                  <a:moveTo>
                    <a:pt x="14" y="8"/>
                  </a:moveTo>
                  <a:cubicBezTo>
                    <a:pt x="14" y="9"/>
                    <a:pt x="13" y="10"/>
                    <a:pt x="11" y="10"/>
                  </a:cubicBezTo>
                  <a:cubicBezTo>
                    <a:pt x="11" y="10"/>
                    <a:pt x="11" y="10"/>
                    <a:pt x="11" y="10"/>
                  </a:cubicBezTo>
                  <a:cubicBezTo>
                    <a:pt x="3" y="10"/>
                    <a:pt x="3" y="10"/>
                    <a:pt x="3" y="10"/>
                  </a:cubicBezTo>
                  <a:cubicBezTo>
                    <a:pt x="1" y="10"/>
                    <a:pt x="0" y="9"/>
                    <a:pt x="0" y="8"/>
                  </a:cubicBezTo>
                  <a:cubicBezTo>
                    <a:pt x="0" y="8"/>
                    <a:pt x="0" y="8"/>
                    <a:pt x="0" y="8"/>
                  </a:cubicBezTo>
                  <a:cubicBezTo>
                    <a:pt x="0" y="3"/>
                    <a:pt x="0" y="3"/>
                    <a:pt x="0" y="3"/>
                  </a:cubicBezTo>
                  <a:cubicBezTo>
                    <a:pt x="0" y="1"/>
                    <a:pt x="1" y="0"/>
                    <a:pt x="3" y="0"/>
                  </a:cubicBezTo>
                  <a:cubicBezTo>
                    <a:pt x="3" y="0"/>
                    <a:pt x="3" y="0"/>
                    <a:pt x="3" y="0"/>
                  </a:cubicBezTo>
                  <a:cubicBezTo>
                    <a:pt x="11" y="0"/>
                    <a:pt x="11" y="0"/>
                    <a:pt x="11" y="0"/>
                  </a:cubicBezTo>
                  <a:cubicBezTo>
                    <a:pt x="13" y="0"/>
                    <a:pt x="14" y="1"/>
                    <a:pt x="14" y="3"/>
                  </a:cubicBezTo>
                  <a:cubicBezTo>
                    <a:pt x="14" y="3"/>
                    <a:pt x="14" y="3"/>
                    <a:pt x="14" y="3"/>
                  </a:cubicBezTo>
                  <a:cubicBezTo>
                    <a:pt x="14" y="8"/>
                    <a:pt x="14" y="8"/>
                    <a:pt x="14" y="8"/>
                  </a:cubicBezTo>
                  <a:close/>
                  <a:moveTo>
                    <a:pt x="11" y="9"/>
                  </a:moveTo>
                  <a:cubicBezTo>
                    <a:pt x="12" y="9"/>
                    <a:pt x="12" y="8"/>
                    <a:pt x="12" y="8"/>
                  </a:cubicBezTo>
                  <a:cubicBezTo>
                    <a:pt x="12" y="8"/>
                    <a:pt x="12" y="8"/>
                    <a:pt x="12" y="8"/>
                  </a:cubicBezTo>
                  <a:cubicBezTo>
                    <a:pt x="12" y="3"/>
                    <a:pt x="12" y="3"/>
                    <a:pt x="12" y="3"/>
                  </a:cubicBezTo>
                  <a:cubicBezTo>
                    <a:pt x="12" y="2"/>
                    <a:pt x="12" y="2"/>
                    <a:pt x="11" y="2"/>
                  </a:cubicBezTo>
                  <a:cubicBezTo>
                    <a:pt x="11" y="2"/>
                    <a:pt x="11" y="2"/>
                    <a:pt x="11" y="2"/>
                  </a:cubicBezTo>
                  <a:cubicBezTo>
                    <a:pt x="3" y="2"/>
                    <a:pt x="3" y="2"/>
                    <a:pt x="3" y="2"/>
                  </a:cubicBezTo>
                  <a:cubicBezTo>
                    <a:pt x="2" y="2"/>
                    <a:pt x="2" y="2"/>
                    <a:pt x="2" y="3"/>
                  </a:cubicBezTo>
                  <a:cubicBezTo>
                    <a:pt x="2" y="3"/>
                    <a:pt x="2" y="3"/>
                    <a:pt x="2" y="3"/>
                  </a:cubicBezTo>
                  <a:cubicBezTo>
                    <a:pt x="2" y="8"/>
                    <a:pt x="2" y="8"/>
                    <a:pt x="2" y="8"/>
                  </a:cubicBezTo>
                  <a:cubicBezTo>
                    <a:pt x="2" y="8"/>
                    <a:pt x="2" y="9"/>
                    <a:pt x="3" y="9"/>
                  </a:cubicBezTo>
                  <a:cubicBezTo>
                    <a:pt x="3" y="9"/>
                    <a:pt x="3" y="9"/>
                    <a:pt x="3" y="9"/>
                  </a:cubicBezTo>
                  <a:cubicBezTo>
                    <a:pt x="11" y="9"/>
                    <a:pt x="11" y="9"/>
                    <a:pt x="1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7" name="Freeform 13">
              <a:extLst>
                <a:ext uri="{FF2B5EF4-FFF2-40B4-BE49-F238E27FC236}">
                  <a16:creationId xmlns:a16="http://schemas.microsoft.com/office/drawing/2014/main" id="{4248ADA9-BDB1-E0A2-E918-927F9F561F60}"/>
                </a:ext>
              </a:extLst>
            </p:cNvPr>
            <p:cNvSpPr>
              <a:spLocks noEditPoints="1"/>
            </p:cNvSpPr>
            <p:nvPr/>
          </p:nvSpPr>
          <p:spPr bwMode="auto">
            <a:xfrm>
              <a:off x="6169849" y="6416878"/>
              <a:ext cx="135882" cy="98465"/>
            </a:xfrm>
            <a:custGeom>
              <a:avLst/>
              <a:gdLst>
                <a:gd name="T0" fmla="*/ 14 w 14"/>
                <a:gd name="T1" fmla="*/ 8 h 10"/>
                <a:gd name="T2" fmla="*/ 11 w 14"/>
                <a:gd name="T3" fmla="*/ 10 h 10"/>
                <a:gd name="T4" fmla="*/ 11 w 14"/>
                <a:gd name="T5" fmla="*/ 10 h 10"/>
                <a:gd name="T6" fmla="*/ 3 w 14"/>
                <a:gd name="T7" fmla="*/ 10 h 10"/>
                <a:gd name="T8" fmla="*/ 0 w 14"/>
                <a:gd name="T9" fmla="*/ 8 h 10"/>
                <a:gd name="T10" fmla="*/ 0 w 14"/>
                <a:gd name="T11" fmla="*/ 8 h 10"/>
                <a:gd name="T12" fmla="*/ 0 w 14"/>
                <a:gd name="T13" fmla="*/ 3 h 10"/>
                <a:gd name="T14" fmla="*/ 3 w 14"/>
                <a:gd name="T15" fmla="*/ 0 h 10"/>
                <a:gd name="T16" fmla="*/ 3 w 14"/>
                <a:gd name="T17" fmla="*/ 0 h 10"/>
                <a:gd name="T18" fmla="*/ 11 w 14"/>
                <a:gd name="T19" fmla="*/ 0 h 10"/>
                <a:gd name="T20" fmla="*/ 14 w 14"/>
                <a:gd name="T21" fmla="*/ 3 h 10"/>
                <a:gd name="T22" fmla="*/ 14 w 14"/>
                <a:gd name="T23" fmla="*/ 3 h 10"/>
                <a:gd name="T24" fmla="*/ 14 w 14"/>
                <a:gd name="T25" fmla="*/ 8 h 10"/>
                <a:gd name="T26" fmla="*/ 11 w 14"/>
                <a:gd name="T27" fmla="*/ 9 h 10"/>
                <a:gd name="T28" fmla="*/ 12 w 14"/>
                <a:gd name="T29" fmla="*/ 8 h 10"/>
                <a:gd name="T30" fmla="*/ 12 w 14"/>
                <a:gd name="T31" fmla="*/ 8 h 10"/>
                <a:gd name="T32" fmla="*/ 12 w 14"/>
                <a:gd name="T33" fmla="*/ 3 h 10"/>
                <a:gd name="T34" fmla="*/ 11 w 14"/>
                <a:gd name="T35" fmla="*/ 2 h 10"/>
                <a:gd name="T36" fmla="*/ 11 w 14"/>
                <a:gd name="T37" fmla="*/ 2 h 10"/>
                <a:gd name="T38" fmla="*/ 3 w 14"/>
                <a:gd name="T39" fmla="*/ 2 h 10"/>
                <a:gd name="T40" fmla="*/ 2 w 14"/>
                <a:gd name="T41" fmla="*/ 3 h 10"/>
                <a:gd name="T42" fmla="*/ 2 w 14"/>
                <a:gd name="T43" fmla="*/ 3 h 10"/>
                <a:gd name="T44" fmla="*/ 2 w 14"/>
                <a:gd name="T45" fmla="*/ 8 h 10"/>
                <a:gd name="T46" fmla="*/ 3 w 14"/>
                <a:gd name="T47" fmla="*/ 9 h 10"/>
                <a:gd name="T48" fmla="*/ 3 w 14"/>
                <a:gd name="T49" fmla="*/ 9 h 10"/>
                <a:gd name="T50" fmla="*/ 11 w 14"/>
                <a:gd name="T5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10">
                  <a:moveTo>
                    <a:pt x="14" y="8"/>
                  </a:moveTo>
                  <a:cubicBezTo>
                    <a:pt x="14" y="9"/>
                    <a:pt x="13" y="10"/>
                    <a:pt x="11" y="10"/>
                  </a:cubicBezTo>
                  <a:cubicBezTo>
                    <a:pt x="11" y="10"/>
                    <a:pt x="11" y="10"/>
                    <a:pt x="11" y="10"/>
                  </a:cubicBezTo>
                  <a:cubicBezTo>
                    <a:pt x="3" y="10"/>
                    <a:pt x="3" y="10"/>
                    <a:pt x="3" y="10"/>
                  </a:cubicBezTo>
                  <a:cubicBezTo>
                    <a:pt x="2" y="10"/>
                    <a:pt x="0" y="9"/>
                    <a:pt x="0" y="8"/>
                  </a:cubicBezTo>
                  <a:cubicBezTo>
                    <a:pt x="0" y="8"/>
                    <a:pt x="0" y="8"/>
                    <a:pt x="0" y="8"/>
                  </a:cubicBezTo>
                  <a:cubicBezTo>
                    <a:pt x="0" y="3"/>
                    <a:pt x="0" y="3"/>
                    <a:pt x="0" y="3"/>
                  </a:cubicBezTo>
                  <a:cubicBezTo>
                    <a:pt x="0" y="1"/>
                    <a:pt x="2" y="0"/>
                    <a:pt x="3" y="0"/>
                  </a:cubicBezTo>
                  <a:cubicBezTo>
                    <a:pt x="3" y="0"/>
                    <a:pt x="3" y="0"/>
                    <a:pt x="3" y="0"/>
                  </a:cubicBezTo>
                  <a:cubicBezTo>
                    <a:pt x="11" y="0"/>
                    <a:pt x="11" y="0"/>
                    <a:pt x="11" y="0"/>
                  </a:cubicBezTo>
                  <a:cubicBezTo>
                    <a:pt x="13" y="0"/>
                    <a:pt x="14" y="1"/>
                    <a:pt x="14" y="3"/>
                  </a:cubicBezTo>
                  <a:cubicBezTo>
                    <a:pt x="14" y="3"/>
                    <a:pt x="14" y="3"/>
                    <a:pt x="14" y="3"/>
                  </a:cubicBezTo>
                  <a:cubicBezTo>
                    <a:pt x="14" y="8"/>
                    <a:pt x="14" y="8"/>
                    <a:pt x="14" y="8"/>
                  </a:cubicBezTo>
                  <a:close/>
                  <a:moveTo>
                    <a:pt x="11" y="9"/>
                  </a:moveTo>
                  <a:cubicBezTo>
                    <a:pt x="12" y="9"/>
                    <a:pt x="12" y="8"/>
                    <a:pt x="12" y="8"/>
                  </a:cubicBezTo>
                  <a:cubicBezTo>
                    <a:pt x="12" y="8"/>
                    <a:pt x="12" y="8"/>
                    <a:pt x="12" y="8"/>
                  </a:cubicBezTo>
                  <a:cubicBezTo>
                    <a:pt x="12" y="3"/>
                    <a:pt x="12" y="3"/>
                    <a:pt x="12" y="3"/>
                  </a:cubicBezTo>
                  <a:cubicBezTo>
                    <a:pt x="12" y="2"/>
                    <a:pt x="12" y="2"/>
                    <a:pt x="11" y="2"/>
                  </a:cubicBezTo>
                  <a:cubicBezTo>
                    <a:pt x="11" y="2"/>
                    <a:pt x="11" y="2"/>
                    <a:pt x="11" y="2"/>
                  </a:cubicBezTo>
                  <a:cubicBezTo>
                    <a:pt x="3" y="2"/>
                    <a:pt x="3" y="2"/>
                    <a:pt x="3" y="2"/>
                  </a:cubicBezTo>
                  <a:cubicBezTo>
                    <a:pt x="2" y="2"/>
                    <a:pt x="2" y="2"/>
                    <a:pt x="2" y="3"/>
                  </a:cubicBezTo>
                  <a:cubicBezTo>
                    <a:pt x="2" y="3"/>
                    <a:pt x="2" y="3"/>
                    <a:pt x="2" y="3"/>
                  </a:cubicBezTo>
                  <a:cubicBezTo>
                    <a:pt x="2" y="8"/>
                    <a:pt x="2" y="8"/>
                    <a:pt x="2" y="8"/>
                  </a:cubicBezTo>
                  <a:cubicBezTo>
                    <a:pt x="2" y="8"/>
                    <a:pt x="2" y="9"/>
                    <a:pt x="3" y="9"/>
                  </a:cubicBezTo>
                  <a:cubicBezTo>
                    <a:pt x="3" y="9"/>
                    <a:pt x="3" y="9"/>
                    <a:pt x="3" y="9"/>
                  </a:cubicBezTo>
                  <a:cubicBezTo>
                    <a:pt x="11" y="9"/>
                    <a:pt x="11" y="9"/>
                    <a:pt x="1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18" name="PA_任意多边形 7">
            <a:extLst>
              <a:ext uri="{FF2B5EF4-FFF2-40B4-BE49-F238E27FC236}">
                <a16:creationId xmlns:a16="http://schemas.microsoft.com/office/drawing/2014/main" id="{ABD53A80-415A-676A-E859-1EC57D78C801}"/>
              </a:ext>
            </a:extLst>
          </p:cNvPr>
          <p:cNvSpPr/>
          <p:nvPr>
            <p:custDataLst>
              <p:tags r:id="rId2"/>
            </p:custDataLst>
          </p:nvPr>
        </p:nvSpPr>
        <p:spPr bwMode="auto">
          <a:xfrm rot="16200000">
            <a:off x="4279967" y="4086951"/>
            <a:ext cx="2551605" cy="1280357"/>
          </a:xfrm>
          <a:custGeom>
            <a:avLst/>
            <a:gdLst>
              <a:gd name="T0" fmla="*/ 623 w 623"/>
              <a:gd name="T1" fmla="*/ 311 h 311"/>
              <a:gd name="T2" fmla="*/ 579 w 623"/>
              <a:gd name="T3" fmla="*/ 311 h 311"/>
              <a:gd name="T4" fmla="*/ 312 w 623"/>
              <a:gd name="T5" fmla="*/ 44 h 311"/>
              <a:gd name="T6" fmla="*/ 44 w 623"/>
              <a:gd name="T7" fmla="*/ 311 h 311"/>
              <a:gd name="T8" fmla="*/ 0 w 623"/>
              <a:gd name="T9" fmla="*/ 311 h 311"/>
              <a:gd name="T10" fmla="*/ 312 w 623"/>
              <a:gd name="T11" fmla="*/ 0 h 311"/>
              <a:gd name="T12" fmla="*/ 623 w 623"/>
              <a:gd name="T13" fmla="*/ 311 h 311"/>
            </a:gdLst>
            <a:ahLst/>
            <a:cxnLst>
              <a:cxn ang="0">
                <a:pos x="T0" y="T1"/>
              </a:cxn>
              <a:cxn ang="0">
                <a:pos x="T2" y="T3"/>
              </a:cxn>
              <a:cxn ang="0">
                <a:pos x="T4" y="T5"/>
              </a:cxn>
              <a:cxn ang="0">
                <a:pos x="T6" y="T7"/>
              </a:cxn>
              <a:cxn ang="0">
                <a:pos x="T8" y="T9"/>
              </a:cxn>
              <a:cxn ang="0">
                <a:pos x="T10" y="T11"/>
              </a:cxn>
              <a:cxn ang="0">
                <a:pos x="T12" y="T13"/>
              </a:cxn>
            </a:cxnLst>
            <a:rect l="0" t="0" r="r" b="b"/>
            <a:pathLst>
              <a:path w="623" h="311">
                <a:moveTo>
                  <a:pt x="623" y="311"/>
                </a:moveTo>
                <a:cubicBezTo>
                  <a:pt x="579" y="311"/>
                  <a:pt x="579" y="311"/>
                  <a:pt x="579" y="311"/>
                </a:cubicBezTo>
                <a:cubicBezTo>
                  <a:pt x="579" y="164"/>
                  <a:pt x="459" y="44"/>
                  <a:pt x="312" y="44"/>
                </a:cubicBezTo>
                <a:cubicBezTo>
                  <a:pt x="164" y="44"/>
                  <a:pt x="44" y="164"/>
                  <a:pt x="44" y="311"/>
                </a:cubicBezTo>
                <a:cubicBezTo>
                  <a:pt x="0" y="311"/>
                  <a:pt x="0" y="311"/>
                  <a:pt x="0" y="311"/>
                </a:cubicBezTo>
                <a:cubicBezTo>
                  <a:pt x="0" y="140"/>
                  <a:pt x="140" y="0"/>
                  <a:pt x="312" y="0"/>
                </a:cubicBezTo>
                <a:cubicBezTo>
                  <a:pt x="483" y="0"/>
                  <a:pt x="623" y="140"/>
                  <a:pt x="623" y="311"/>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19" name="PA_任意多边形 5">
            <a:extLst>
              <a:ext uri="{FF2B5EF4-FFF2-40B4-BE49-F238E27FC236}">
                <a16:creationId xmlns:a16="http://schemas.microsoft.com/office/drawing/2014/main" id="{E320A84B-9ADB-53E4-3236-A8EF1A37FCDB}"/>
              </a:ext>
            </a:extLst>
          </p:cNvPr>
          <p:cNvSpPr/>
          <p:nvPr>
            <p:custDataLst>
              <p:tags r:id="rId3"/>
            </p:custDataLst>
          </p:nvPr>
        </p:nvSpPr>
        <p:spPr bwMode="auto">
          <a:xfrm rot="16200000">
            <a:off x="4967351" y="4315527"/>
            <a:ext cx="1633988" cy="823204"/>
          </a:xfrm>
          <a:custGeom>
            <a:avLst/>
            <a:gdLst>
              <a:gd name="T0" fmla="*/ 399 w 399"/>
              <a:gd name="T1" fmla="*/ 200 h 200"/>
              <a:gd name="T2" fmla="*/ 355 w 399"/>
              <a:gd name="T3" fmla="*/ 200 h 200"/>
              <a:gd name="T4" fmla="*/ 200 w 399"/>
              <a:gd name="T5" fmla="*/ 44 h 200"/>
              <a:gd name="T6" fmla="*/ 44 w 399"/>
              <a:gd name="T7" fmla="*/ 200 h 200"/>
              <a:gd name="T8" fmla="*/ 0 w 399"/>
              <a:gd name="T9" fmla="*/ 200 h 200"/>
              <a:gd name="T10" fmla="*/ 200 w 399"/>
              <a:gd name="T11" fmla="*/ 0 h 200"/>
              <a:gd name="T12" fmla="*/ 399 w 399"/>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399" h="200">
                <a:moveTo>
                  <a:pt x="399" y="200"/>
                </a:moveTo>
                <a:cubicBezTo>
                  <a:pt x="355" y="200"/>
                  <a:pt x="355" y="200"/>
                  <a:pt x="355" y="200"/>
                </a:cubicBezTo>
                <a:cubicBezTo>
                  <a:pt x="355" y="114"/>
                  <a:pt x="285" y="44"/>
                  <a:pt x="200" y="44"/>
                </a:cubicBezTo>
                <a:cubicBezTo>
                  <a:pt x="114" y="44"/>
                  <a:pt x="44" y="114"/>
                  <a:pt x="44" y="200"/>
                </a:cubicBezTo>
                <a:cubicBezTo>
                  <a:pt x="0" y="200"/>
                  <a:pt x="0" y="200"/>
                  <a:pt x="0" y="200"/>
                </a:cubicBezTo>
                <a:cubicBezTo>
                  <a:pt x="0" y="90"/>
                  <a:pt x="89" y="0"/>
                  <a:pt x="200" y="0"/>
                </a:cubicBezTo>
                <a:cubicBezTo>
                  <a:pt x="310" y="0"/>
                  <a:pt x="399" y="90"/>
                  <a:pt x="399" y="200"/>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0" name="PA_任意多边形 6">
            <a:extLst>
              <a:ext uri="{FF2B5EF4-FFF2-40B4-BE49-F238E27FC236}">
                <a16:creationId xmlns:a16="http://schemas.microsoft.com/office/drawing/2014/main" id="{F226F0FA-49CF-08AB-5FEA-63FF29771F7D}"/>
              </a:ext>
            </a:extLst>
          </p:cNvPr>
          <p:cNvSpPr/>
          <p:nvPr>
            <p:custDataLst>
              <p:tags r:id="rId4"/>
            </p:custDataLst>
          </p:nvPr>
        </p:nvSpPr>
        <p:spPr bwMode="auto">
          <a:xfrm rot="16200000">
            <a:off x="4634839" y="4204139"/>
            <a:ext cx="2076233" cy="1045984"/>
          </a:xfrm>
          <a:custGeom>
            <a:avLst/>
            <a:gdLst>
              <a:gd name="T0" fmla="*/ 507 w 507"/>
              <a:gd name="T1" fmla="*/ 254 h 254"/>
              <a:gd name="T2" fmla="*/ 464 w 507"/>
              <a:gd name="T3" fmla="*/ 254 h 254"/>
              <a:gd name="T4" fmla="*/ 254 w 507"/>
              <a:gd name="T5" fmla="*/ 44 h 254"/>
              <a:gd name="T6" fmla="*/ 43 w 507"/>
              <a:gd name="T7" fmla="*/ 254 h 254"/>
              <a:gd name="T8" fmla="*/ 0 w 507"/>
              <a:gd name="T9" fmla="*/ 254 h 254"/>
              <a:gd name="T10" fmla="*/ 254 w 507"/>
              <a:gd name="T11" fmla="*/ 0 h 254"/>
              <a:gd name="T12" fmla="*/ 507 w 507"/>
              <a:gd name="T13" fmla="*/ 254 h 254"/>
            </a:gdLst>
            <a:ahLst/>
            <a:cxnLst>
              <a:cxn ang="0">
                <a:pos x="T0" y="T1"/>
              </a:cxn>
              <a:cxn ang="0">
                <a:pos x="T2" y="T3"/>
              </a:cxn>
              <a:cxn ang="0">
                <a:pos x="T4" y="T5"/>
              </a:cxn>
              <a:cxn ang="0">
                <a:pos x="T6" y="T7"/>
              </a:cxn>
              <a:cxn ang="0">
                <a:pos x="T8" y="T9"/>
              </a:cxn>
              <a:cxn ang="0">
                <a:pos x="T10" y="T11"/>
              </a:cxn>
              <a:cxn ang="0">
                <a:pos x="T12" y="T13"/>
              </a:cxn>
            </a:cxnLst>
            <a:rect l="0" t="0" r="r" b="b"/>
            <a:pathLst>
              <a:path w="507" h="254">
                <a:moveTo>
                  <a:pt x="507" y="254"/>
                </a:moveTo>
                <a:cubicBezTo>
                  <a:pt x="464" y="254"/>
                  <a:pt x="464" y="254"/>
                  <a:pt x="464" y="254"/>
                </a:cubicBezTo>
                <a:cubicBezTo>
                  <a:pt x="464" y="138"/>
                  <a:pt x="369" y="44"/>
                  <a:pt x="254" y="44"/>
                </a:cubicBezTo>
                <a:cubicBezTo>
                  <a:pt x="138" y="44"/>
                  <a:pt x="43" y="138"/>
                  <a:pt x="43" y="254"/>
                </a:cubicBezTo>
                <a:cubicBezTo>
                  <a:pt x="0" y="254"/>
                  <a:pt x="0" y="254"/>
                  <a:pt x="0" y="254"/>
                </a:cubicBezTo>
                <a:cubicBezTo>
                  <a:pt x="0" y="114"/>
                  <a:pt x="114" y="0"/>
                  <a:pt x="254" y="0"/>
                </a:cubicBezTo>
                <a:cubicBezTo>
                  <a:pt x="394" y="0"/>
                  <a:pt x="507" y="114"/>
                  <a:pt x="507" y="254"/>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1" name="PA_任意多边形 8">
            <a:extLst>
              <a:ext uri="{FF2B5EF4-FFF2-40B4-BE49-F238E27FC236}">
                <a16:creationId xmlns:a16="http://schemas.microsoft.com/office/drawing/2014/main" id="{3749E2DA-D137-14EF-D82D-6C39E5C71E8C}"/>
              </a:ext>
            </a:extLst>
          </p:cNvPr>
          <p:cNvSpPr/>
          <p:nvPr>
            <p:custDataLst>
              <p:tags r:id="rId5"/>
            </p:custDataLst>
          </p:nvPr>
        </p:nvSpPr>
        <p:spPr bwMode="auto">
          <a:xfrm rot="16200000">
            <a:off x="5307731" y="4430645"/>
            <a:ext cx="1183461" cy="592973"/>
          </a:xfrm>
          <a:custGeom>
            <a:avLst/>
            <a:gdLst>
              <a:gd name="T0" fmla="*/ 289 w 289"/>
              <a:gd name="T1" fmla="*/ 144 h 144"/>
              <a:gd name="T2" fmla="*/ 245 w 289"/>
              <a:gd name="T3" fmla="*/ 144 h 144"/>
              <a:gd name="T4" fmla="*/ 145 w 289"/>
              <a:gd name="T5" fmla="*/ 43 h 144"/>
              <a:gd name="T6" fmla="*/ 44 w 289"/>
              <a:gd name="T7" fmla="*/ 144 h 144"/>
              <a:gd name="T8" fmla="*/ 0 w 289"/>
              <a:gd name="T9" fmla="*/ 144 h 144"/>
              <a:gd name="T10" fmla="*/ 145 w 289"/>
              <a:gd name="T11" fmla="*/ 0 h 144"/>
              <a:gd name="T12" fmla="*/ 289 w 289"/>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289" h="144">
                <a:moveTo>
                  <a:pt x="289" y="144"/>
                </a:moveTo>
                <a:cubicBezTo>
                  <a:pt x="245" y="144"/>
                  <a:pt x="245" y="144"/>
                  <a:pt x="245" y="144"/>
                </a:cubicBezTo>
                <a:cubicBezTo>
                  <a:pt x="245" y="89"/>
                  <a:pt x="200" y="43"/>
                  <a:pt x="145" y="43"/>
                </a:cubicBezTo>
                <a:cubicBezTo>
                  <a:pt x="89" y="43"/>
                  <a:pt x="44" y="89"/>
                  <a:pt x="44" y="144"/>
                </a:cubicBezTo>
                <a:cubicBezTo>
                  <a:pt x="0" y="144"/>
                  <a:pt x="0" y="144"/>
                  <a:pt x="0" y="144"/>
                </a:cubicBezTo>
                <a:cubicBezTo>
                  <a:pt x="0" y="64"/>
                  <a:pt x="65" y="0"/>
                  <a:pt x="145" y="0"/>
                </a:cubicBezTo>
                <a:cubicBezTo>
                  <a:pt x="224" y="0"/>
                  <a:pt x="289" y="64"/>
                  <a:pt x="289" y="144"/>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2" name="PA_任意多边形 5">
            <a:extLst>
              <a:ext uri="{FF2B5EF4-FFF2-40B4-BE49-F238E27FC236}">
                <a16:creationId xmlns:a16="http://schemas.microsoft.com/office/drawing/2014/main" id="{3C1072D6-AAAB-B471-1BC6-12C621688F5E}"/>
              </a:ext>
            </a:extLst>
          </p:cNvPr>
          <p:cNvSpPr/>
          <p:nvPr>
            <p:custDataLst>
              <p:tags r:id="rId6"/>
            </p:custDataLst>
          </p:nvPr>
        </p:nvSpPr>
        <p:spPr bwMode="auto">
          <a:xfrm rot="5400000" flipH="1">
            <a:off x="5990643" y="2600479"/>
            <a:ext cx="1633988" cy="823205"/>
          </a:xfrm>
          <a:custGeom>
            <a:avLst/>
            <a:gdLst>
              <a:gd name="T0" fmla="*/ 399 w 399"/>
              <a:gd name="T1" fmla="*/ 200 h 200"/>
              <a:gd name="T2" fmla="*/ 355 w 399"/>
              <a:gd name="T3" fmla="*/ 200 h 200"/>
              <a:gd name="T4" fmla="*/ 200 w 399"/>
              <a:gd name="T5" fmla="*/ 44 h 200"/>
              <a:gd name="T6" fmla="*/ 44 w 399"/>
              <a:gd name="T7" fmla="*/ 200 h 200"/>
              <a:gd name="T8" fmla="*/ 0 w 399"/>
              <a:gd name="T9" fmla="*/ 200 h 200"/>
              <a:gd name="T10" fmla="*/ 200 w 399"/>
              <a:gd name="T11" fmla="*/ 0 h 200"/>
              <a:gd name="T12" fmla="*/ 399 w 399"/>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399" h="200">
                <a:moveTo>
                  <a:pt x="399" y="200"/>
                </a:moveTo>
                <a:cubicBezTo>
                  <a:pt x="355" y="200"/>
                  <a:pt x="355" y="200"/>
                  <a:pt x="355" y="200"/>
                </a:cubicBezTo>
                <a:cubicBezTo>
                  <a:pt x="355" y="114"/>
                  <a:pt x="285" y="44"/>
                  <a:pt x="200" y="44"/>
                </a:cubicBezTo>
                <a:cubicBezTo>
                  <a:pt x="114" y="44"/>
                  <a:pt x="44" y="114"/>
                  <a:pt x="44" y="200"/>
                </a:cubicBezTo>
                <a:cubicBezTo>
                  <a:pt x="0" y="200"/>
                  <a:pt x="0" y="200"/>
                  <a:pt x="0" y="200"/>
                </a:cubicBezTo>
                <a:cubicBezTo>
                  <a:pt x="0" y="90"/>
                  <a:pt x="89" y="0"/>
                  <a:pt x="200" y="0"/>
                </a:cubicBezTo>
                <a:cubicBezTo>
                  <a:pt x="310" y="0"/>
                  <a:pt x="399" y="90"/>
                  <a:pt x="399" y="200"/>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3" name="PA_任意多边形 6">
            <a:extLst>
              <a:ext uri="{FF2B5EF4-FFF2-40B4-BE49-F238E27FC236}">
                <a16:creationId xmlns:a16="http://schemas.microsoft.com/office/drawing/2014/main" id="{ED76072B-B830-5AF3-8FC1-03F02E76C651}"/>
              </a:ext>
            </a:extLst>
          </p:cNvPr>
          <p:cNvSpPr/>
          <p:nvPr>
            <p:custDataLst>
              <p:tags r:id="rId7"/>
            </p:custDataLst>
          </p:nvPr>
        </p:nvSpPr>
        <p:spPr bwMode="auto">
          <a:xfrm rot="5400000" flipH="1">
            <a:off x="5880910" y="2489090"/>
            <a:ext cx="2076233" cy="1045984"/>
          </a:xfrm>
          <a:custGeom>
            <a:avLst/>
            <a:gdLst>
              <a:gd name="T0" fmla="*/ 507 w 507"/>
              <a:gd name="T1" fmla="*/ 254 h 254"/>
              <a:gd name="T2" fmla="*/ 464 w 507"/>
              <a:gd name="T3" fmla="*/ 254 h 254"/>
              <a:gd name="T4" fmla="*/ 254 w 507"/>
              <a:gd name="T5" fmla="*/ 44 h 254"/>
              <a:gd name="T6" fmla="*/ 43 w 507"/>
              <a:gd name="T7" fmla="*/ 254 h 254"/>
              <a:gd name="T8" fmla="*/ 0 w 507"/>
              <a:gd name="T9" fmla="*/ 254 h 254"/>
              <a:gd name="T10" fmla="*/ 254 w 507"/>
              <a:gd name="T11" fmla="*/ 0 h 254"/>
              <a:gd name="T12" fmla="*/ 507 w 507"/>
              <a:gd name="T13" fmla="*/ 254 h 254"/>
            </a:gdLst>
            <a:ahLst/>
            <a:cxnLst>
              <a:cxn ang="0">
                <a:pos x="T0" y="T1"/>
              </a:cxn>
              <a:cxn ang="0">
                <a:pos x="T2" y="T3"/>
              </a:cxn>
              <a:cxn ang="0">
                <a:pos x="T4" y="T5"/>
              </a:cxn>
              <a:cxn ang="0">
                <a:pos x="T6" y="T7"/>
              </a:cxn>
              <a:cxn ang="0">
                <a:pos x="T8" y="T9"/>
              </a:cxn>
              <a:cxn ang="0">
                <a:pos x="T10" y="T11"/>
              </a:cxn>
              <a:cxn ang="0">
                <a:pos x="T12" y="T13"/>
              </a:cxn>
            </a:cxnLst>
            <a:rect l="0" t="0" r="r" b="b"/>
            <a:pathLst>
              <a:path w="507" h="254">
                <a:moveTo>
                  <a:pt x="507" y="254"/>
                </a:moveTo>
                <a:cubicBezTo>
                  <a:pt x="464" y="254"/>
                  <a:pt x="464" y="254"/>
                  <a:pt x="464" y="254"/>
                </a:cubicBezTo>
                <a:cubicBezTo>
                  <a:pt x="464" y="138"/>
                  <a:pt x="369" y="44"/>
                  <a:pt x="254" y="44"/>
                </a:cubicBezTo>
                <a:cubicBezTo>
                  <a:pt x="138" y="44"/>
                  <a:pt x="43" y="138"/>
                  <a:pt x="43" y="254"/>
                </a:cubicBezTo>
                <a:cubicBezTo>
                  <a:pt x="0" y="254"/>
                  <a:pt x="0" y="254"/>
                  <a:pt x="0" y="254"/>
                </a:cubicBezTo>
                <a:cubicBezTo>
                  <a:pt x="0" y="114"/>
                  <a:pt x="114" y="0"/>
                  <a:pt x="254" y="0"/>
                </a:cubicBezTo>
                <a:cubicBezTo>
                  <a:pt x="394" y="0"/>
                  <a:pt x="507" y="114"/>
                  <a:pt x="507" y="254"/>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4" name="PA_任意多边形 7">
            <a:extLst>
              <a:ext uri="{FF2B5EF4-FFF2-40B4-BE49-F238E27FC236}">
                <a16:creationId xmlns:a16="http://schemas.microsoft.com/office/drawing/2014/main" id="{A102D0C5-19D0-F957-BA67-441D546BBE9C}"/>
              </a:ext>
            </a:extLst>
          </p:cNvPr>
          <p:cNvSpPr/>
          <p:nvPr>
            <p:custDataLst>
              <p:tags r:id="rId8"/>
            </p:custDataLst>
          </p:nvPr>
        </p:nvSpPr>
        <p:spPr bwMode="auto">
          <a:xfrm rot="5400000" flipH="1">
            <a:off x="5760411" y="2371903"/>
            <a:ext cx="2551605" cy="1280357"/>
          </a:xfrm>
          <a:custGeom>
            <a:avLst/>
            <a:gdLst>
              <a:gd name="T0" fmla="*/ 623 w 623"/>
              <a:gd name="T1" fmla="*/ 311 h 311"/>
              <a:gd name="T2" fmla="*/ 579 w 623"/>
              <a:gd name="T3" fmla="*/ 311 h 311"/>
              <a:gd name="T4" fmla="*/ 312 w 623"/>
              <a:gd name="T5" fmla="*/ 44 h 311"/>
              <a:gd name="T6" fmla="*/ 44 w 623"/>
              <a:gd name="T7" fmla="*/ 311 h 311"/>
              <a:gd name="T8" fmla="*/ 0 w 623"/>
              <a:gd name="T9" fmla="*/ 311 h 311"/>
              <a:gd name="T10" fmla="*/ 312 w 623"/>
              <a:gd name="T11" fmla="*/ 0 h 311"/>
              <a:gd name="T12" fmla="*/ 623 w 623"/>
              <a:gd name="T13" fmla="*/ 311 h 311"/>
            </a:gdLst>
            <a:ahLst/>
            <a:cxnLst>
              <a:cxn ang="0">
                <a:pos x="T0" y="T1"/>
              </a:cxn>
              <a:cxn ang="0">
                <a:pos x="T2" y="T3"/>
              </a:cxn>
              <a:cxn ang="0">
                <a:pos x="T4" y="T5"/>
              </a:cxn>
              <a:cxn ang="0">
                <a:pos x="T6" y="T7"/>
              </a:cxn>
              <a:cxn ang="0">
                <a:pos x="T8" y="T9"/>
              </a:cxn>
              <a:cxn ang="0">
                <a:pos x="T10" y="T11"/>
              </a:cxn>
              <a:cxn ang="0">
                <a:pos x="T12" y="T13"/>
              </a:cxn>
            </a:cxnLst>
            <a:rect l="0" t="0" r="r" b="b"/>
            <a:pathLst>
              <a:path w="623" h="311">
                <a:moveTo>
                  <a:pt x="623" y="311"/>
                </a:moveTo>
                <a:cubicBezTo>
                  <a:pt x="579" y="311"/>
                  <a:pt x="579" y="311"/>
                  <a:pt x="579" y="311"/>
                </a:cubicBezTo>
                <a:cubicBezTo>
                  <a:pt x="579" y="164"/>
                  <a:pt x="459" y="44"/>
                  <a:pt x="312" y="44"/>
                </a:cubicBezTo>
                <a:cubicBezTo>
                  <a:pt x="164" y="44"/>
                  <a:pt x="44" y="164"/>
                  <a:pt x="44" y="311"/>
                </a:cubicBezTo>
                <a:cubicBezTo>
                  <a:pt x="0" y="311"/>
                  <a:pt x="0" y="311"/>
                  <a:pt x="0" y="311"/>
                </a:cubicBezTo>
                <a:cubicBezTo>
                  <a:pt x="0" y="140"/>
                  <a:pt x="140" y="0"/>
                  <a:pt x="312" y="0"/>
                </a:cubicBezTo>
                <a:cubicBezTo>
                  <a:pt x="483" y="0"/>
                  <a:pt x="623" y="140"/>
                  <a:pt x="623" y="311"/>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5" name="PA_任意多边形 8">
            <a:extLst>
              <a:ext uri="{FF2B5EF4-FFF2-40B4-BE49-F238E27FC236}">
                <a16:creationId xmlns:a16="http://schemas.microsoft.com/office/drawing/2014/main" id="{4775D5E5-B402-1500-5A26-73172BEE3174}"/>
              </a:ext>
            </a:extLst>
          </p:cNvPr>
          <p:cNvSpPr/>
          <p:nvPr>
            <p:custDataLst>
              <p:tags r:id="rId9"/>
            </p:custDataLst>
          </p:nvPr>
        </p:nvSpPr>
        <p:spPr bwMode="auto">
          <a:xfrm rot="5400000" flipH="1">
            <a:off x="6100790" y="2715596"/>
            <a:ext cx="1183461" cy="592973"/>
          </a:xfrm>
          <a:custGeom>
            <a:avLst/>
            <a:gdLst>
              <a:gd name="T0" fmla="*/ 289 w 289"/>
              <a:gd name="T1" fmla="*/ 144 h 144"/>
              <a:gd name="T2" fmla="*/ 245 w 289"/>
              <a:gd name="T3" fmla="*/ 144 h 144"/>
              <a:gd name="T4" fmla="*/ 145 w 289"/>
              <a:gd name="T5" fmla="*/ 43 h 144"/>
              <a:gd name="T6" fmla="*/ 44 w 289"/>
              <a:gd name="T7" fmla="*/ 144 h 144"/>
              <a:gd name="T8" fmla="*/ 0 w 289"/>
              <a:gd name="T9" fmla="*/ 144 h 144"/>
              <a:gd name="T10" fmla="*/ 145 w 289"/>
              <a:gd name="T11" fmla="*/ 0 h 144"/>
              <a:gd name="T12" fmla="*/ 289 w 289"/>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289" h="144">
                <a:moveTo>
                  <a:pt x="289" y="144"/>
                </a:moveTo>
                <a:cubicBezTo>
                  <a:pt x="245" y="144"/>
                  <a:pt x="245" y="144"/>
                  <a:pt x="245" y="144"/>
                </a:cubicBezTo>
                <a:cubicBezTo>
                  <a:pt x="245" y="89"/>
                  <a:pt x="200" y="43"/>
                  <a:pt x="145" y="43"/>
                </a:cubicBezTo>
                <a:cubicBezTo>
                  <a:pt x="89" y="43"/>
                  <a:pt x="44" y="89"/>
                  <a:pt x="44" y="144"/>
                </a:cubicBezTo>
                <a:cubicBezTo>
                  <a:pt x="0" y="144"/>
                  <a:pt x="0" y="144"/>
                  <a:pt x="0" y="144"/>
                </a:cubicBezTo>
                <a:cubicBezTo>
                  <a:pt x="0" y="64"/>
                  <a:pt x="65" y="0"/>
                  <a:pt x="145" y="0"/>
                </a:cubicBezTo>
                <a:cubicBezTo>
                  <a:pt x="224" y="0"/>
                  <a:pt x="289" y="64"/>
                  <a:pt x="289" y="144"/>
                </a:cubicBezTo>
                <a:close/>
              </a:path>
            </a:pathLst>
          </a:custGeom>
          <a:solidFill>
            <a:srgbClr val="868686"/>
          </a:solidFill>
          <a:ln>
            <a:noFill/>
          </a:ln>
        </p:spPr>
        <p:txBody>
          <a:bodyPr vert="horz" wrap="square" lIns="91440" tIns="45720" rIns="91440" bIns="45720" numCol="1" anchor="t" anchorCtr="0" compatLnSpc="1"/>
          <a:lstStyle/>
          <a:p>
            <a:endParaRPr lang="zh-CN" altLang="en-US">
              <a:cs typeface="+mn-ea"/>
              <a:sym typeface="+mn-lt"/>
            </a:endParaRPr>
          </a:p>
        </p:txBody>
      </p:sp>
      <p:grpSp>
        <p:nvGrpSpPr>
          <p:cNvPr id="26" name="PA_组合 27">
            <a:extLst>
              <a:ext uri="{FF2B5EF4-FFF2-40B4-BE49-F238E27FC236}">
                <a16:creationId xmlns:a16="http://schemas.microsoft.com/office/drawing/2014/main" id="{C902D0A3-FFDD-0E0A-75DE-81227B2E13F8}"/>
              </a:ext>
            </a:extLst>
          </p:cNvPr>
          <p:cNvGrpSpPr/>
          <p:nvPr>
            <p:custDataLst>
              <p:tags r:id="rId10"/>
            </p:custDataLst>
          </p:nvPr>
        </p:nvGrpSpPr>
        <p:grpSpPr>
          <a:xfrm>
            <a:off x="5670447" y="2723157"/>
            <a:ext cx="623577" cy="577848"/>
            <a:chOff x="5653892" y="5987571"/>
            <a:chExt cx="886185" cy="821198"/>
          </a:xfrm>
          <a:solidFill>
            <a:srgbClr val="868686"/>
          </a:solidFill>
        </p:grpSpPr>
        <p:sp>
          <p:nvSpPr>
            <p:cNvPr id="27" name="Freeform 9">
              <a:extLst>
                <a:ext uri="{FF2B5EF4-FFF2-40B4-BE49-F238E27FC236}">
                  <a16:creationId xmlns:a16="http://schemas.microsoft.com/office/drawing/2014/main" id="{CC35E8EA-10C5-511B-A454-797780951DA2}"/>
                </a:ext>
              </a:extLst>
            </p:cNvPr>
            <p:cNvSpPr>
              <a:spLocks noEditPoints="1"/>
            </p:cNvSpPr>
            <p:nvPr/>
          </p:nvSpPr>
          <p:spPr bwMode="auto">
            <a:xfrm>
              <a:off x="5809467" y="6310536"/>
              <a:ext cx="573066" cy="498233"/>
            </a:xfrm>
            <a:custGeom>
              <a:avLst/>
              <a:gdLst>
                <a:gd name="T0" fmla="*/ 6 w 59"/>
                <a:gd name="T1" fmla="*/ 51 h 51"/>
                <a:gd name="T2" fmla="*/ 0 w 59"/>
                <a:gd name="T3" fmla="*/ 44 h 51"/>
                <a:gd name="T4" fmla="*/ 0 w 59"/>
                <a:gd name="T5" fmla="*/ 44 h 51"/>
                <a:gd name="T6" fmla="*/ 0 w 59"/>
                <a:gd name="T7" fmla="*/ 6 h 51"/>
                <a:gd name="T8" fmla="*/ 6 w 59"/>
                <a:gd name="T9" fmla="*/ 0 h 51"/>
                <a:gd name="T10" fmla="*/ 6 w 59"/>
                <a:gd name="T11" fmla="*/ 0 h 51"/>
                <a:gd name="T12" fmla="*/ 53 w 59"/>
                <a:gd name="T13" fmla="*/ 0 h 51"/>
                <a:gd name="T14" fmla="*/ 59 w 59"/>
                <a:gd name="T15" fmla="*/ 6 h 51"/>
                <a:gd name="T16" fmla="*/ 59 w 59"/>
                <a:gd name="T17" fmla="*/ 6 h 51"/>
                <a:gd name="T18" fmla="*/ 59 w 59"/>
                <a:gd name="T19" fmla="*/ 44 h 51"/>
                <a:gd name="T20" fmla="*/ 53 w 59"/>
                <a:gd name="T21" fmla="*/ 51 h 51"/>
                <a:gd name="T22" fmla="*/ 53 w 59"/>
                <a:gd name="T23" fmla="*/ 51 h 51"/>
                <a:gd name="T24" fmla="*/ 6 w 59"/>
                <a:gd name="T25" fmla="*/ 51 h 51"/>
                <a:gd name="T26" fmla="*/ 5 w 59"/>
                <a:gd name="T27" fmla="*/ 6 h 51"/>
                <a:gd name="T28" fmla="*/ 5 w 59"/>
                <a:gd name="T29" fmla="*/ 44 h 51"/>
                <a:gd name="T30" fmla="*/ 6 w 59"/>
                <a:gd name="T31" fmla="*/ 45 h 51"/>
                <a:gd name="T32" fmla="*/ 6 w 59"/>
                <a:gd name="T33" fmla="*/ 45 h 51"/>
                <a:gd name="T34" fmla="*/ 53 w 59"/>
                <a:gd name="T35" fmla="*/ 45 h 51"/>
                <a:gd name="T36" fmla="*/ 54 w 59"/>
                <a:gd name="T37" fmla="*/ 44 h 51"/>
                <a:gd name="T38" fmla="*/ 54 w 59"/>
                <a:gd name="T39" fmla="*/ 44 h 51"/>
                <a:gd name="T40" fmla="*/ 54 w 59"/>
                <a:gd name="T41" fmla="*/ 6 h 51"/>
                <a:gd name="T42" fmla="*/ 53 w 59"/>
                <a:gd name="T43" fmla="*/ 6 h 51"/>
                <a:gd name="T44" fmla="*/ 53 w 59"/>
                <a:gd name="T45" fmla="*/ 6 h 51"/>
                <a:gd name="T46" fmla="*/ 6 w 59"/>
                <a:gd name="T47" fmla="*/ 6 h 51"/>
                <a:gd name="T48" fmla="*/ 5 w 59"/>
                <a:gd name="T49" fmla="*/ 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51">
                  <a:moveTo>
                    <a:pt x="6" y="51"/>
                  </a:moveTo>
                  <a:cubicBezTo>
                    <a:pt x="3" y="51"/>
                    <a:pt x="0" y="48"/>
                    <a:pt x="0" y="44"/>
                  </a:cubicBezTo>
                  <a:cubicBezTo>
                    <a:pt x="0" y="44"/>
                    <a:pt x="0" y="44"/>
                    <a:pt x="0" y="44"/>
                  </a:cubicBezTo>
                  <a:cubicBezTo>
                    <a:pt x="0" y="6"/>
                    <a:pt x="0" y="6"/>
                    <a:pt x="0" y="6"/>
                  </a:cubicBezTo>
                  <a:cubicBezTo>
                    <a:pt x="0" y="3"/>
                    <a:pt x="3" y="0"/>
                    <a:pt x="6" y="0"/>
                  </a:cubicBezTo>
                  <a:cubicBezTo>
                    <a:pt x="6" y="0"/>
                    <a:pt x="6" y="0"/>
                    <a:pt x="6" y="0"/>
                  </a:cubicBezTo>
                  <a:cubicBezTo>
                    <a:pt x="53" y="0"/>
                    <a:pt x="53" y="0"/>
                    <a:pt x="53" y="0"/>
                  </a:cubicBezTo>
                  <a:cubicBezTo>
                    <a:pt x="56" y="0"/>
                    <a:pt x="59" y="3"/>
                    <a:pt x="59" y="6"/>
                  </a:cubicBezTo>
                  <a:cubicBezTo>
                    <a:pt x="59" y="6"/>
                    <a:pt x="59" y="6"/>
                    <a:pt x="59" y="6"/>
                  </a:cubicBezTo>
                  <a:cubicBezTo>
                    <a:pt x="59" y="44"/>
                    <a:pt x="59" y="44"/>
                    <a:pt x="59" y="44"/>
                  </a:cubicBezTo>
                  <a:cubicBezTo>
                    <a:pt x="59" y="48"/>
                    <a:pt x="56" y="51"/>
                    <a:pt x="53" y="51"/>
                  </a:cubicBezTo>
                  <a:cubicBezTo>
                    <a:pt x="53" y="51"/>
                    <a:pt x="53" y="51"/>
                    <a:pt x="53" y="51"/>
                  </a:cubicBezTo>
                  <a:cubicBezTo>
                    <a:pt x="6" y="51"/>
                    <a:pt x="6" y="51"/>
                    <a:pt x="6" y="51"/>
                  </a:cubicBezTo>
                  <a:close/>
                  <a:moveTo>
                    <a:pt x="5" y="6"/>
                  </a:moveTo>
                  <a:cubicBezTo>
                    <a:pt x="5" y="44"/>
                    <a:pt x="5" y="44"/>
                    <a:pt x="5" y="44"/>
                  </a:cubicBezTo>
                  <a:cubicBezTo>
                    <a:pt x="5" y="45"/>
                    <a:pt x="6" y="45"/>
                    <a:pt x="6" y="45"/>
                  </a:cubicBezTo>
                  <a:cubicBezTo>
                    <a:pt x="6" y="45"/>
                    <a:pt x="6" y="45"/>
                    <a:pt x="6" y="45"/>
                  </a:cubicBezTo>
                  <a:cubicBezTo>
                    <a:pt x="53" y="45"/>
                    <a:pt x="53" y="45"/>
                    <a:pt x="53" y="45"/>
                  </a:cubicBezTo>
                  <a:cubicBezTo>
                    <a:pt x="53" y="45"/>
                    <a:pt x="54" y="45"/>
                    <a:pt x="54" y="44"/>
                  </a:cubicBezTo>
                  <a:cubicBezTo>
                    <a:pt x="54" y="44"/>
                    <a:pt x="54" y="44"/>
                    <a:pt x="54" y="44"/>
                  </a:cubicBezTo>
                  <a:cubicBezTo>
                    <a:pt x="54" y="6"/>
                    <a:pt x="54" y="6"/>
                    <a:pt x="54" y="6"/>
                  </a:cubicBezTo>
                  <a:cubicBezTo>
                    <a:pt x="54" y="6"/>
                    <a:pt x="53" y="6"/>
                    <a:pt x="53" y="6"/>
                  </a:cubicBezTo>
                  <a:cubicBezTo>
                    <a:pt x="53" y="6"/>
                    <a:pt x="53" y="6"/>
                    <a:pt x="53" y="6"/>
                  </a:cubicBezTo>
                  <a:cubicBezTo>
                    <a:pt x="6" y="6"/>
                    <a:pt x="6" y="6"/>
                    <a:pt x="6" y="6"/>
                  </a:cubicBezTo>
                  <a:cubicBezTo>
                    <a:pt x="6" y="6"/>
                    <a:pt x="5" y="6"/>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8" name="Freeform 10">
              <a:extLst>
                <a:ext uri="{FF2B5EF4-FFF2-40B4-BE49-F238E27FC236}">
                  <a16:creationId xmlns:a16="http://schemas.microsoft.com/office/drawing/2014/main" id="{97FBE6C9-2582-A280-8E81-72B4985ED530}"/>
                </a:ext>
              </a:extLst>
            </p:cNvPr>
            <p:cNvSpPr>
              <a:spLocks noEditPoints="1"/>
            </p:cNvSpPr>
            <p:nvPr/>
          </p:nvSpPr>
          <p:spPr bwMode="auto">
            <a:xfrm>
              <a:off x="5653892" y="5987571"/>
              <a:ext cx="886185" cy="372197"/>
            </a:xfrm>
            <a:custGeom>
              <a:avLst/>
              <a:gdLst>
                <a:gd name="T0" fmla="*/ 3 w 91"/>
                <a:gd name="T1" fmla="*/ 38 h 38"/>
                <a:gd name="T2" fmla="*/ 3 w 91"/>
                <a:gd name="T3" fmla="*/ 36 h 38"/>
                <a:gd name="T4" fmla="*/ 5 w 91"/>
                <a:gd name="T5" fmla="*/ 38 h 38"/>
                <a:gd name="T6" fmla="*/ 3 w 91"/>
                <a:gd name="T7" fmla="*/ 36 h 38"/>
                <a:gd name="T8" fmla="*/ 3 w 91"/>
                <a:gd name="T9" fmla="*/ 38 h 38"/>
                <a:gd name="T10" fmla="*/ 1 w 91"/>
                <a:gd name="T11" fmla="*/ 37 h 38"/>
                <a:gd name="T12" fmla="*/ 1 w 91"/>
                <a:gd name="T13" fmla="*/ 37 h 38"/>
                <a:gd name="T14" fmla="*/ 2 w 91"/>
                <a:gd name="T15" fmla="*/ 34 h 38"/>
                <a:gd name="T16" fmla="*/ 2 w 91"/>
                <a:gd name="T17" fmla="*/ 34 h 38"/>
                <a:gd name="T18" fmla="*/ 44 w 91"/>
                <a:gd name="T19" fmla="*/ 1 h 38"/>
                <a:gd name="T20" fmla="*/ 47 w 91"/>
                <a:gd name="T21" fmla="*/ 1 h 38"/>
                <a:gd name="T22" fmla="*/ 47 w 91"/>
                <a:gd name="T23" fmla="*/ 1 h 38"/>
                <a:gd name="T24" fmla="*/ 89 w 91"/>
                <a:gd name="T25" fmla="*/ 34 h 38"/>
                <a:gd name="T26" fmla="*/ 90 w 91"/>
                <a:gd name="T27" fmla="*/ 37 h 38"/>
                <a:gd name="T28" fmla="*/ 90 w 91"/>
                <a:gd name="T29" fmla="*/ 37 h 38"/>
                <a:gd name="T30" fmla="*/ 88 w 91"/>
                <a:gd name="T31" fmla="*/ 38 h 38"/>
                <a:gd name="T32" fmla="*/ 88 w 91"/>
                <a:gd name="T33" fmla="*/ 38 h 38"/>
                <a:gd name="T34" fmla="*/ 3 w 91"/>
                <a:gd name="T35" fmla="*/ 38 h 38"/>
                <a:gd name="T36" fmla="*/ 80 w 91"/>
                <a:gd name="T37" fmla="*/ 33 h 38"/>
                <a:gd name="T38" fmla="*/ 46 w 91"/>
                <a:gd name="T39" fmla="*/ 7 h 38"/>
                <a:gd name="T40" fmla="*/ 11 w 91"/>
                <a:gd name="T41" fmla="*/ 33 h 38"/>
                <a:gd name="T42" fmla="*/ 80 w 91"/>
                <a:gd name="T43" fmla="*/ 3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38">
                  <a:moveTo>
                    <a:pt x="3" y="38"/>
                  </a:moveTo>
                  <a:cubicBezTo>
                    <a:pt x="3" y="36"/>
                    <a:pt x="3" y="36"/>
                    <a:pt x="3" y="36"/>
                  </a:cubicBezTo>
                  <a:cubicBezTo>
                    <a:pt x="5" y="38"/>
                    <a:pt x="5" y="38"/>
                    <a:pt x="5" y="38"/>
                  </a:cubicBezTo>
                  <a:cubicBezTo>
                    <a:pt x="3" y="36"/>
                    <a:pt x="3" y="36"/>
                    <a:pt x="3" y="36"/>
                  </a:cubicBezTo>
                  <a:cubicBezTo>
                    <a:pt x="3" y="38"/>
                    <a:pt x="3" y="38"/>
                    <a:pt x="3" y="38"/>
                  </a:cubicBezTo>
                  <a:cubicBezTo>
                    <a:pt x="2" y="38"/>
                    <a:pt x="1" y="38"/>
                    <a:pt x="1" y="37"/>
                  </a:cubicBezTo>
                  <a:cubicBezTo>
                    <a:pt x="1" y="37"/>
                    <a:pt x="1" y="37"/>
                    <a:pt x="1" y="37"/>
                  </a:cubicBezTo>
                  <a:cubicBezTo>
                    <a:pt x="0" y="35"/>
                    <a:pt x="1" y="34"/>
                    <a:pt x="2" y="34"/>
                  </a:cubicBezTo>
                  <a:cubicBezTo>
                    <a:pt x="2" y="34"/>
                    <a:pt x="2" y="34"/>
                    <a:pt x="2" y="34"/>
                  </a:cubicBezTo>
                  <a:cubicBezTo>
                    <a:pt x="44" y="1"/>
                    <a:pt x="44" y="1"/>
                    <a:pt x="44" y="1"/>
                  </a:cubicBezTo>
                  <a:cubicBezTo>
                    <a:pt x="45" y="0"/>
                    <a:pt x="46" y="0"/>
                    <a:pt x="47" y="1"/>
                  </a:cubicBezTo>
                  <a:cubicBezTo>
                    <a:pt x="47" y="1"/>
                    <a:pt x="47" y="1"/>
                    <a:pt x="47" y="1"/>
                  </a:cubicBezTo>
                  <a:cubicBezTo>
                    <a:pt x="89" y="34"/>
                    <a:pt x="89" y="34"/>
                    <a:pt x="89" y="34"/>
                  </a:cubicBezTo>
                  <a:cubicBezTo>
                    <a:pt x="90" y="34"/>
                    <a:pt x="91" y="35"/>
                    <a:pt x="90" y="37"/>
                  </a:cubicBezTo>
                  <a:cubicBezTo>
                    <a:pt x="90" y="37"/>
                    <a:pt x="90" y="37"/>
                    <a:pt x="90" y="37"/>
                  </a:cubicBezTo>
                  <a:cubicBezTo>
                    <a:pt x="90" y="38"/>
                    <a:pt x="89" y="38"/>
                    <a:pt x="88" y="38"/>
                  </a:cubicBezTo>
                  <a:cubicBezTo>
                    <a:pt x="88" y="38"/>
                    <a:pt x="88" y="38"/>
                    <a:pt x="88" y="38"/>
                  </a:cubicBezTo>
                  <a:cubicBezTo>
                    <a:pt x="3" y="38"/>
                    <a:pt x="3" y="38"/>
                    <a:pt x="3" y="38"/>
                  </a:cubicBezTo>
                  <a:close/>
                  <a:moveTo>
                    <a:pt x="80" y="33"/>
                  </a:moveTo>
                  <a:cubicBezTo>
                    <a:pt x="46" y="7"/>
                    <a:pt x="46" y="7"/>
                    <a:pt x="46" y="7"/>
                  </a:cubicBezTo>
                  <a:cubicBezTo>
                    <a:pt x="11" y="33"/>
                    <a:pt x="11" y="33"/>
                    <a:pt x="11" y="33"/>
                  </a:cubicBezTo>
                  <a:cubicBezTo>
                    <a:pt x="80" y="33"/>
                    <a:pt x="80" y="33"/>
                    <a:pt x="8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9" name="Freeform 11">
              <a:extLst>
                <a:ext uri="{FF2B5EF4-FFF2-40B4-BE49-F238E27FC236}">
                  <a16:creationId xmlns:a16="http://schemas.microsoft.com/office/drawing/2014/main" id="{995D2025-4AAF-E316-3769-C64B11AE163D}"/>
                </a:ext>
              </a:extLst>
            </p:cNvPr>
            <p:cNvSpPr>
              <a:spLocks noEditPoints="1"/>
            </p:cNvSpPr>
            <p:nvPr/>
          </p:nvSpPr>
          <p:spPr bwMode="auto">
            <a:xfrm>
              <a:off x="5994581" y="6515343"/>
              <a:ext cx="202838" cy="283579"/>
            </a:xfrm>
            <a:custGeom>
              <a:avLst/>
              <a:gdLst>
                <a:gd name="T0" fmla="*/ 5 w 21"/>
                <a:gd name="T1" fmla="*/ 29 h 29"/>
                <a:gd name="T2" fmla="*/ 0 w 21"/>
                <a:gd name="T3" fmla="*/ 24 h 29"/>
                <a:gd name="T4" fmla="*/ 0 w 21"/>
                <a:gd name="T5" fmla="*/ 24 h 29"/>
                <a:gd name="T6" fmla="*/ 0 w 21"/>
                <a:gd name="T7" fmla="*/ 6 h 29"/>
                <a:gd name="T8" fmla="*/ 5 w 21"/>
                <a:gd name="T9" fmla="*/ 0 h 29"/>
                <a:gd name="T10" fmla="*/ 5 w 21"/>
                <a:gd name="T11" fmla="*/ 0 h 29"/>
                <a:gd name="T12" fmla="*/ 16 w 21"/>
                <a:gd name="T13" fmla="*/ 0 h 29"/>
                <a:gd name="T14" fmla="*/ 21 w 21"/>
                <a:gd name="T15" fmla="*/ 6 h 29"/>
                <a:gd name="T16" fmla="*/ 21 w 21"/>
                <a:gd name="T17" fmla="*/ 6 h 29"/>
                <a:gd name="T18" fmla="*/ 21 w 21"/>
                <a:gd name="T19" fmla="*/ 24 h 29"/>
                <a:gd name="T20" fmla="*/ 16 w 21"/>
                <a:gd name="T21" fmla="*/ 29 h 29"/>
                <a:gd name="T22" fmla="*/ 16 w 21"/>
                <a:gd name="T23" fmla="*/ 29 h 29"/>
                <a:gd name="T24" fmla="*/ 5 w 21"/>
                <a:gd name="T25" fmla="*/ 29 h 29"/>
                <a:gd name="T26" fmla="*/ 4 w 21"/>
                <a:gd name="T27" fmla="*/ 24 h 29"/>
                <a:gd name="T28" fmla="*/ 5 w 21"/>
                <a:gd name="T29" fmla="*/ 26 h 29"/>
                <a:gd name="T30" fmla="*/ 5 w 21"/>
                <a:gd name="T31" fmla="*/ 26 h 29"/>
                <a:gd name="T32" fmla="*/ 16 w 21"/>
                <a:gd name="T33" fmla="*/ 26 h 29"/>
                <a:gd name="T34" fmla="*/ 18 w 21"/>
                <a:gd name="T35" fmla="*/ 24 h 29"/>
                <a:gd name="T36" fmla="*/ 18 w 21"/>
                <a:gd name="T37" fmla="*/ 24 h 29"/>
                <a:gd name="T38" fmla="*/ 18 w 21"/>
                <a:gd name="T39" fmla="*/ 6 h 29"/>
                <a:gd name="T40" fmla="*/ 16 w 21"/>
                <a:gd name="T41" fmla="*/ 4 h 29"/>
                <a:gd name="T42" fmla="*/ 16 w 21"/>
                <a:gd name="T43" fmla="*/ 4 h 29"/>
                <a:gd name="T44" fmla="*/ 5 w 21"/>
                <a:gd name="T45" fmla="*/ 4 h 29"/>
                <a:gd name="T46" fmla="*/ 4 w 21"/>
                <a:gd name="T47" fmla="*/ 6 h 29"/>
                <a:gd name="T48" fmla="*/ 4 w 21"/>
                <a:gd name="T49" fmla="*/ 6 h 29"/>
                <a:gd name="T50" fmla="*/ 4 w 21"/>
                <a:gd name="T51"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 h="29">
                  <a:moveTo>
                    <a:pt x="5" y="29"/>
                  </a:moveTo>
                  <a:cubicBezTo>
                    <a:pt x="2" y="29"/>
                    <a:pt x="0" y="27"/>
                    <a:pt x="0" y="24"/>
                  </a:cubicBezTo>
                  <a:cubicBezTo>
                    <a:pt x="0" y="24"/>
                    <a:pt x="0" y="24"/>
                    <a:pt x="0" y="24"/>
                  </a:cubicBezTo>
                  <a:cubicBezTo>
                    <a:pt x="0" y="6"/>
                    <a:pt x="0" y="6"/>
                    <a:pt x="0" y="6"/>
                  </a:cubicBezTo>
                  <a:cubicBezTo>
                    <a:pt x="0" y="3"/>
                    <a:pt x="2" y="0"/>
                    <a:pt x="5" y="0"/>
                  </a:cubicBezTo>
                  <a:cubicBezTo>
                    <a:pt x="5" y="0"/>
                    <a:pt x="5" y="0"/>
                    <a:pt x="5" y="0"/>
                  </a:cubicBezTo>
                  <a:cubicBezTo>
                    <a:pt x="16" y="0"/>
                    <a:pt x="16" y="0"/>
                    <a:pt x="16" y="0"/>
                  </a:cubicBezTo>
                  <a:cubicBezTo>
                    <a:pt x="19" y="0"/>
                    <a:pt x="21" y="3"/>
                    <a:pt x="21" y="6"/>
                  </a:cubicBezTo>
                  <a:cubicBezTo>
                    <a:pt x="21" y="6"/>
                    <a:pt x="21" y="6"/>
                    <a:pt x="21" y="6"/>
                  </a:cubicBezTo>
                  <a:cubicBezTo>
                    <a:pt x="21" y="24"/>
                    <a:pt x="21" y="24"/>
                    <a:pt x="21" y="24"/>
                  </a:cubicBezTo>
                  <a:cubicBezTo>
                    <a:pt x="21" y="27"/>
                    <a:pt x="19" y="29"/>
                    <a:pt x="16" y="29"/>
                  </a:cubicBezTo>
                  <a:cubicBezTo>
                    <a:pt x="16" y="29"/>
                    <a:pt x="16" y="29"/>
                    <a:pt x="16" y="29"/>
                  </a:cubicBezTo>
                  <a:cubicBezTo>
                    <a:pt x="5" y="29"/>
                    <a:pt x="5" y="29"/>
                    <a:pt x="5" y="29"/>
                  </a:cubicBezTo>
                  <a:close/>
                  <a:moveTo>
                    <a:pt x="4" y="24"/>
                  </a:moveTo>
                  <a:cubicBezTo>
                    <a:pt x="4" y="25"/>
                    <a:pt x="4" y="26"/>
                    <a:pt x="5" y="26"/>
                  </a:cubicBezTo>
                  <a:cubicBezTo>
                    <a:pt x="5" y="26"/>
                    <a:pt x="5" y="26"/>
                    <a:pt x="5" y="26"/>
                  </a:cubicBezTo>
                  <a:cubicBezTo>
                    <a:pt x="16" y="26"/>
                    <a:pt x="16" y="26"/>
                    <a:pt x="16" y="26"/>
                  </a:cubicBezTo>
                  <a:cubicBezTo>
                    <a:pt x="17" y="26"/>
                    <a:pt x="18" y="25"/>
                    <a:pt x="18" y="24"/>
                  </a:cubicBezTo>
                  <a:cubicBezTo>
                    <a:pt x="18" y="24"/>
                    <a:pt x="18" y="24"/>
                    <a:pt x="18" y="24"/>
                  </a:cubicBezTo>
                  <a:cubicBezTo>
                    <a:pt x="18" y="6"/>
                    <a:pt x="18" y="6"/>
                    <a:pt x="18" y="6"/>
                  </a:cubicBezTo>
                  <a:cubicBezTo>
                    <a:pt x="18" y="5"/>
                    <a:pt x="17" y="4"/>
                    <a:pt x="16" y="4"/>
                  </a:cubicBezTo>
                  <a:cubicBezTo>
                    <a:pt x="16" y="4"/>
                    <a:pt x="16" y="4"/>
                    <a:pt x="16" y="4"/>
                  </a:cubicBezTo>
                  <a:cubicBezTo>
                    <a:pt x="5" y="4"/>
                    <a:pt x="5" y="4"/>
                    <a:pt x="5" y="4"/>
                  </a:cubicBezTo>
                  <a:cubicBezTo>
                    <a:pt x="4" y="4"/>
                    <a:pt x="4" y="5"/>
                    <a:pt x="4" y="6"/>
                  </a:cubicBezTo>
                  <a:cubicBezTo>
                    <a:pt x="4" y="6"/>
                    <a:pt x="4" y="6"/>
                    <a:pt x="4" y="6"/>
                  </a:cubicBezTo>
                  <a:cubicBezTo>
                    <a:pt x="4" y="24"/>
                    <a:pt x="4" y="24"/>
                    <a:pt x="4"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30" name="Freeform 12">
              <a:extLst>
                <a:ext uri="{FF2B5EF4-FFF2-40B4-BE49-F238E27FC236}">
                  <a16:creationId xmlns:a16="http://schemas.microsoft.com/office/drawing/2014/main" id="{0764D64A-F600-E896-D821-37EF2B86C721}"/>
                </a:ext>
              </a:extLst>
            </p:cNvPr>
            <p:cNvSpPr>
              <a:spLocks noEditPoints="1"/>
            </p:cNvSpPr>
            <p:nvPr/>
          </p:nvSpPr>
          <p:spPr bwMode="auto">
            <a:xfrm>
              <a:off x="5886270" y="6416878"/>
              <a:ext cx="135882" cy="98465"/>
            </a:xfrm>
            <a:custGeom>
              <a:avLst/>
              <a:gdLst>
                <a:gd name="T0" fmla="*/ 14 w 14"/>
                <a:gd name="T1" fmla="*/ 8 h 10"/>
                <a:gd name="T2" fmla="*/ 11 w 14"/>
                <a:gd name="T3" fmla="*/ 10 h 10"/>
                <a:gd name="T4" fmla="*/ 11 w 14"/>
                <a:gd name="T5" fmla="*/ 10 h 10"/>
                <a:gd name="T6" fmla="*/ 3 w 14"/>
                <a:gd name="T7" fmla="*/ 10 h 10"/>
                <a:gd name="T8" fmla="*/ 0 w 14"/>
                <a:gd name="T9" fmla="*/ 8 h 10"/>
                <a:gd name="T10" fmla="*/ 0 w 14"/>
                <a:gd name="T11" fmla="*/ 8 h 10"/>
                <a:gd name="T12" fmla="*/ 0 w 14"/>
                <a:gd name="T13" fmla="*/ 3 h 10"/>
                <a:gd name="T14" fmla="*/ 3 w 14"/>
                <a:gd name="T15" fmla="*/ 0 h 10"/>
                <a:gd name="T16" fmla="*/ 3 w 14"/>
                <a:gd name="T17" fmla="*/ 0 h 10"/>
                <a:gd name="T18" fmla="*/ 11 w 14"/>
                <a:gd name="T19" fmla="*/ 0 h 10"/>
                <a:gd name="T20" fmla="*/ 14 w 14"/>
                <a:gd name="T21" fmla="*/ 3 h 10"/>
                <a:gd name="T22" fmla="*/ 14 w 14"/>
                <a:gd name="T23" fmla="*/ 3 h 10"/>
                <a:gd name="T24" fmla="*/ 14 w 14"/>
                <a:gd name="T25" fmla="*/ 8 h 10"/>
                <a:gd name="T26" fmla="*/ 11 w 14"/>
                <a:gd name="T27" fmla="*/ 9 h 10"/>
                <a:gd name="T28" fmla="*/ 12 w 14"/>
                <a:gd name="T29" fmla="*/ 8 h 10"/>
                <a:gd name="T30" fmla="*/ 12 w 14"/>
                <a:gd name="T31" fmla="*/ 8 h 10"/>
                <a:gd name="T32" fmla="*/ 12 w 14"/>
                <a:gd name="T33" fmla="*/ 3 h 10"/>
                <a:gd name="T34" fmla="*/ 11 w 14"/>
                <a:gd name="T35" fmla="*/ 2 h 10"/>
                <a:gd name="T36" fmla="*/ 11 w 14"/>
                <a:gd name="T37" fmla="*/ 2 h 10"/>
                <a:gd name="T38" fmla="*/ 3 w 14"/>
                <a:gd name="T39" fmla="*/ 2 h 10"/>
                <a:gd name="T40" fmla="*/ 2 w 14"/>
                <a:gd name="T41" fmla="*/ 3 h 10"/>
                <a:gd name="T42" fmla="*/ 2 w 14"/>
                <a:gd name="T43" fmla="*/ 3 h 10"/>
                <a:gd name="T44" fmla="*/ 2 w 14"/>
                <a:gd name="T45" fmla="*/ 8 h 10"/>
                <a:gd name="T46" fmla="*/ 3 w 14"/>
                <a:gd name="T47" fmla="*/ 9 h 10"/>
                <a:gd name="T48" fmla="*/ 3 w 14"/>
                <a:gd name="T49" fmla="*/ 9 h 10"/>
                <a:gd name="T50" fmla="*/ 11 w 14"/>
                <a:gd name="T5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10">
                  <a:moveTo>
                    <a:pt x="14" y="8"/>
                  </a:moveTo>
                  <a:cubicBezTo>
                    <a:pt x="14" y="9"/>
                    <a:pt x="13" y="10"/>
                    <a:pt x="11" y="10"/>
                  </a:cubicBezTo>
                  <a:cubicBezTo>
                    <a:pt x="11" y="10"/>
                    <a:pt x="11" y="10"/>
                    <a:pt x="11" y="10"/>
                  </a:cubicBezTo>
                  <a:cubicBezTo>
                    <a:pt x="3" y="10"/>
                    <a:pt x="3" y="10"/>
                    <a:pt x="3" y="10"/>
                  </a:cubicBezTo>
                  <a:cubicBezTo>
                    <a:pt x="1" y="10"/>
                    <a:pt x="0" y="9"/>
                    <a:pt x="0" y="8"/>
                  </a:cubicBezTo>
                  <a:cubicBezTo>
                    <a:pt x="0" y="8"/>
                    <a:pt x="0" y="8"/>
                    <a:pt x="0" y="8"/>
                  </a:cubicBezTo>
                  <a:cubicBezTo>
                    <a:pt x="0" y="3"/>
                    <a:pt x="0" y="3"/>
                    <a:pt x="0" y="3"/>
                  </a:cubicBezTo>
                  <a:cubicBezTo>
                    <a:pt x="0" y="1"/>
                    <a:pt x="1" y="0"/>
                    <a:pt x="3" y="0"/>
                  </a:cubicBezTo>
                  <a:cubicBezTo>
                    <a:pt x="3" y="0"/>
                    <a:pt x="3" y="0"/>
                    <a:pt x="3" y="0"/>
                  </a:cubicBezTo>
                  <a:cubicBezTo>
                    <a:pt x="11" y="0"/>
                    <a:pt x="11" y="0"/>
                    <a:pt x="11" y="0"/>
                  </a:cubicBezTo>
                  <a:cubicBezTo>
                    <a:pt x="13" y="0"/>
                    <a:pt x="14" y="1"/>
                    <a:pt x="14" y="3"/>
                  </a:cubicBezTo>
                  <a:cubicBezTo>
                    <a:pt x="14" y="3"/>
                    <a:pt x="14" y="3"/>
                    <a:pt x="14" y="3"/>
                  </a:cubicBezTo>
                  <a:cubicBezTo>
                    <a:pt x="14" y="8"/>
                    <a:pt x="14" y="8"/>
                    <a:pt x="14" y="8"/>
                  </a:cubicBezTo>
                  <a:close/>
                  <a:moveTo>
                    <a:pt x="11" y="9"/>
                  </a:moveTo>
                  <a:cubicBezTo>
                    <a:pt x="12" y="9"/>
                    <a:pt x="12" y="8"/>
                    <a:pt x="12" y="8"/>
                  </a:cubicBezTo>
                  <a:cubicBezTo>
                    <a:pt x="12" y="8"/>
                    <a:pt x="12" y="8"/>
                    <a:pt x="12" y="8"/>
                  </a:cubicBezTo>
                  <a:cubicBezTo>
                    <a:pt x="12" y="3"/>
                    <a:pt x="12" y="3"/>
                    <a:pt x="12" y="3"/>
                  </a:cubicBezTo>
                  <a:cubicBezTo>
                    <a:pt x="12" y="2"/>
                    <a:pt x="12" y="2"/>
                    <a:pt x="11" y="2"/>
                  </a:cubicBezTo>
                  <a:cubicBezTo>
                    <a:pt x="11" y="2"/>
                    <a:pt x="11" y="2"/>
                    <a:pt x="11" y="2"/>
                  </a:cubicBezTo>
                  <a:cubicBezTo>
                    <a:pt x="3" y="2"/>
                    <a:pt x="3" y="2"/>
                    <a:pt x="3" y="2"/>
                  </a:cubicBezTo>
                  <a:cubicBezTo>
                    <a:pt x="2" y="2"/>
                    <a:pt x="2" y="2"/>
                    <a:pt x="2" y="3"/>
                  </a:cubicBezTo>
                  <a:cubicBezTo>
                    <a:pt x="2" y="3"/>
                    <a:pt x="2" y="3"/>
                    <a:pt x="2" y="3"/>
                  </a:cubicBezTo>
                  <a:cubicBezTo>
                    <a:pt x="2" y="8"/>
                    <a:pt x="2" y="8"/>
                    <a:pt x="2" y="8"/>
                  </a:cubicBezTo>
                  <a:cubicBezTo>
                    <a:pt x="2" y="8"/>
                    <a:pt x="2" y="9"/>
                    <a:pt x="3" y="9"/>
                  </a:cubicBezTo>
                  <a:cubicBezTo>
                    <a:pt x="3" y="9"/>
                    <a:pt x="3" y="9"/>
                    <a:pt x="3" y="9"/>
                  </a:cubicBezTo>
                  <a:cubicBezTo>
                    <a:pt x="11" y="9"/>
                    <a:pt x="11" y="9"/>
                    <a:pt x="1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31" name="Freeform 13">
              <a:extLst>
                <a:ext uri="{FF2B5EF4-FFF2-40B4-BE49-F238E27FC236}">
                  <a16:creationId xmlns:a16="http://schemas.microsoft.com/office/drawing/2014/main" id="{933AB101-E2CE-96D4-099F-2761B20832EB}"/>
                </a:ext>
              </a:extLst>
            </p:cNvPr>
            <p:cNvSpPr>
              <a:spLocks noEditPoints="1"/>
            </p:cNvSpPr>
            <p:nvPr/>
          </p:nvSpPr>
          <p:spPr bwMode="auto">
            <a:xfrm>
              <a:off x="6169849" y="6416878"/>
              <a:ext cx="135882" cy="98465"/>
            </a:xfrm>
            <a:custGeom>
              <a:avLst/>
              <a:gdLst>
                <a:gd name="T0" fmla="*/ 14 w 14"/>
                <a:gd name="T1" fmla="*/ 8 h 10"/>
                <a:gd name="T2" fmla="*/ 11 w 14"/>
                <a:gd name="T3" fmla="*/ 10 h 10"/>
                <a:gd name="T4" fmla="*/ 11 w 14"/>
                <a:gd name="T5" fmla="*/ 10 h 10"/>
                <a:gd name="T6" fmla="*/ 3 w 14"/>
                <a:gd name="T7" fmla="*/ 10 h 10"/>
                <a:gd name="T8" fmla="*/ 0 w 14"/>
                <a:gd name="T9" fmla="*/ 8 h 10"/>
                <a:gd name="T10" fmla="*/ 0 w 14"/>
                <a:gd name="T11" fmla="*/ 8 h 10"/>
                <a:gd name="T12" fmla="*/ 0 w 14"/>
                <a:gd name="T13" fmla="*/ 3 h 10"/>
                <a:gd name="T14" fmla="*/ 3 w 14"/>
                <a:gd name="T15" fmla="*/ 0 h 10"/>
                <a:gd name="T16" fmla="*/ 3 w 14"/>
                <a:gd name="T17" fmla="*/ 0 h 10"/>
                <a:gd name="T18" fmla="*/ 11 w 14"/>
                <a:gd name="T19" fmla="*/ 0 h 10"/>
                <a:gd name="T20" fmla="*/ 14 w 14"/>
                <a:gd name="T21" fmla="*/ 3 h 10"/>
                <a:gd name="T22" fmla="*/ 14 w 14"/>
                <a:gd name="T23" fmla="*/ 3 h 10"/>
                <a:gd name="T24" fmla="*/ 14 w 14"/>
                <a:gd name="T25" fmla="*/ 8 h 10"/>
                <a:gd name="T26" fmla="*/ 11 w 14"/>
                <a:gd name="T27" fmla="*/ 9 h 10"/>
                <a:gd name="T28" fmla="*/ 12 w 14"/>
                <a:gd name="T29" fmla="*/ 8 h 10"/>
                <a:gd name="T30" fmla="*/ 12 w 14"/>
                <a:gd name="T31" fmla="*/ 8 h 10"/>
                <a:gd name="T32" fmla="*/ 12 w 14"/>
                <a:gd name="T33" fmla="*/ 3 h 10"/>
                <a:gd name="T34" fmla="*/ 11 w 14"/>
                <a:gd name="T35" fmla="*/ 2 h 10"/>
                <a:gd name="T36" fmla="*/ 11 w 14"/>
                <a:gd name="T37" fmla="*/ 2 h 10"/>
                <a:gd name="T38" fmla="*/ 3 w 14"/>
                <a:gd name="T39" fmla="*/ 2 h 10"/>
                <a:gd name="T40" fmla="*/ 2 w 14"/>
                <a:gd name="T41" fmla="*/ 3 h 10"/>
                <a:gd name="T42" fmla="*/ 2 w 14"/>
                <a:gd name="T43" fmla="*/ 3 h 10"/>
                <a:gd name="T44" fmla="*/ 2 w 14"/>
                <a:gd name="T45" fmla="*/ 8 h 10"/>
                <a:gd name="T46" fmla="*/ 3 w 14"/>
                <a:gd name="T47" fmla="*/ 9 h 10"/>
                <a:gd name="T48" fmla="*/ 3 w 14"/>
                <a:gd name="T49" fmla="*/ 9 h 10"/>
                <a:gd name="T50" fmla="*/ 11 w 14"/>
                <a:gd name="T5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10">
                  <a:moveTo>
                    <a:pt x="14" y="8"/>
                  </a:moveTo>
                  <a:cubicBezTo>
                    <a:pt x="14" y="9"/>
                    <a:pt x="13" y="10"/>
                    <a:pt x="11" y="10"/>
                  </a:cubicBezTo>
                  <a:cubicBezTo>
                    <a:pt x="11" y="10"/>
                    <a:pt x="11" y="10"/>
                    <a:pt x="11" y="10"/>
                  </a:cubicBezTo>
                  <a:cubicBezTo>
                    <a:pt x="3" y="10"/>
                    <a:pt x="3" y="10"/>
                    <a:pt x="3" y="10"/>
                  </a:cubicBezTo>
                  <a:cubicBezTo>
                    <a:pt x="2" y="10"/>
                    <a:pt x="0" y="9"/>
                    <a:pt x="0" y="8"/>
                  </a:cubicBezTo>
                  <a:cubicBezTo>
                    <a:pt x="0" y="8"/>
                    <a:pt x="0" y="8"/>
                    <a:pt x="0" y="8"/>
                  </a:cubicBezTo>
                  <a:cubicBezTo>
                    <a:pt x="0" y="3"/>
                    <a:pt x="0" y="3"/>
                    <a:pt x="0" y="3"/>
                  </a:cubicBezTo>
                  <a:cubicBezTo>
                    <a:pt x="0" y="1"/>
                    <a:pt x="2" y="0"/>
                    <a:pt x="3" y="0"/>
                  </a:cubicBezTo>
                  <a:cubicBezTo>
                    <a:pt x="3" y="0"/>
                    <a:pt x="3" y="0"/>
                    <a:pt x="3" y="0"/>
                  </a:cubicBezTo>
                  <a:cubicBezTo>
                    <a:pt x="11" y="0"/>
                    <a:pt x="11" y="0"/>
                    <a:pt x="11" y="0"/>
                  </a:cubicBezTo>
                  <a:cubicBezTo>
                    <a:pt x="13" y="0"/>
                    <a:pt x="14" y="1"/>
                    <a:pt x="14" y="3"/>
                  </a:cubicBezTo>
                  <a:cubicBezTo>
                    <a:pt x="14" y="3"/>
                    <a:pt x="14" y="3"/>
                    <a:pt x="14" y="3"/>
                  </a:cubicBezTo>
                  <a:cubicBezTo>
                    <a:pt x="14" y="8"/>
                    <a:pt x="14" y="8"/>
                    <a:pt x="14" y="8"/>
                  </a:cubicBezTo>
                  <a:close/>
                  <a:moveTo>
                    <a:pt x="11" y="9"/>
                  </a:moveTo>
                  <a:cubicBezTo>
                    <a:pt x="12" y="9"/>
                    <a:pt x="12" y="8"/>
                    <a:pt x="12" y="8"/>
                  </a:cubicBezTo>
                  <a:cubicBezTo>
                    <a:pt x="12" y="8"/>
                    <a:pt x="12" y="8"/>
                    <a:pt x="12" y="8"/>
                  </a:cubicBezTo>
                  <a:cubicBezTo>
                    <a:pt x="12" y="3"/>
                    <a:pt x="12" y="3"/>
                    <a:pt x="12" y="3"/>
                  </a:cubicBezTo>
                  <a:cubicBezTo>
                    <a:pt x="12" y="2"/>
                    <a:pt x="12" y="2"/>
                    <a:pt x="11" y="2"/>
                  </a:cubicBezTo>
                  <a:cubicBezTo>
                    <a:pt x="11" y="2"/>
                    <a:pt x="11" y="2"/>
                    <a:pt x="11" y="2"/>
                  </a:cubicBezTo>
                  <a:cubicBezTo>
                    <a:pt x="3" y="2"/>
                    <a:pt x="3" y="2"/>
                    <a:pt x="3" y="2"/>
                  </a:cubicBezTo>
                  <a:cubicBezTo>
                    <a:pt x="2" y="2"/>
                    <a:pt x="2" y="2"/>
                    <a:pt x="2" y="3"/>
                  </a:cubicBezTo>
                  <a:cubicBezTo>
                    <a:pt x="2" y="3"/>
                    <a:pt x="2" y="3"/>
                    <a:pt x="2" y="3"/>
                  </a:cubicBezTo>
                  <a:cubicBezTo>
                    <a:pt x="2" y="8"/>
                    <a:pt x="2" y="8"/>
                    <a:pt x="2" y="8"/>
                  </a:cubicBezTo>
                  <a:cubicBezTo>
                    <a:pt x="2" y="8"/>
                    <a:pt x="2" y="9"/>
                    <a:pt x="3" y="9"/>
                  </a:cubicBezTo>
                  <a:cubicBezTo>
                    <a:pt x="3" y="9"/>
                    <a:pt x="3" y="9"/>
                    <a:pt x="3" y="9"/>
                  </a:cubicBezTo>
                  <a:cubicBezTo>
                    <a:pt x="11" y="9"/>
                    <a:pt x="11" y="9"/>
                    <a:pt x="1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pic>
        <p:nvPicPr>
          <p:cNvPr id="32" name="图片 31">
            <a:extLst>
              <a:ext uri="{FF2B5EF4-FFF2-40B4-BE49-F238E27FC236}">
                <a16:creationId xmlns:a16="http://schemas.microsoft.com/office/drawing/2014/main" id="{52ED2609-DE0A-D764-4993-0F0F7922C63E}"/>
              </a:ext>
            </a:extLst>
          </p:cNvPr>
          <p:cNvPicPr>
            <a:picLocks noChangeAspect="1"/>
          </p:cNvPicPr>
          <p:nvPr>
            <p:custDataLst>
              <p:tags r:id="rId11"/>
            </p:custDataLst>
          </p:nvPr>
        </p:nvPicPr>
        <p:blipFill>
          <a:blip r:embed="rId16"/>
          <a:stretch>
            <a:fillRect/>
          </a:stretch>
        </p:blipFill>
        <p:spPr>
          <a:xfrm>
            <a:off x="419553" y="967773"/>
            <a:ext cx="5071745" cy="2635885"/>
          </a:xfrm>
          <a:prstGeom prst="rect">
            <a:avLst/>
          </a:prstGeom>
        </p:spPr>
      </p:pic>
      <p:pic>
        <p:nvPicPr>
          <p:cNvPr id="33" name="图片 32">
            <a:extLst>
              <a:ext uri="{FF2B5EF4-FFF2-40B4-BE49-F238E27FC236}">
                <a16:creationId xmlns:a16="http://schemas.microsoft.com/office/drawing/2014/main" id="{E706D28E-7094-A964-F6E4-2CD6A60DE23F}"/>
              </a:ext>
            </a:extLst>
          </p:cNvPr>
          <p:cNvPicPr/>
          <p:nvPr>
            <p:custDataLst>
              <p:tags r:id="rId12"/>
            </p:custDataLst>
          </p:nvPr>
        </p:nvPicPr>
        <p:blipFill>
          <a:blip r:embed="rId17"/>
          <a:srcRect l="9219" t="15153" r="8083" b="18944"/>
          <a:stretch>
            <a:fillRect/>
          </a:stretch>
        </p:blipFill>
        <p:spPr>
          <a:xfrm>
            <a:off x="6986723" y="4288188"/>
            <a:ext cx="5041265" cy="2241550"/>
          </a:xfrm>
          <a:prstGeom prst="rect">
            <a:avLst/>
          </a:prstGeom>
          <a:noFill/>
          <a:ln w="9525">
            <a:noFill/>
          </a:ln>
        </p:spPr>
      </p:pic>
      <p:sp>
        <p:nvSpPr>
          <p:cNvPr id="34" name="文本框 33">
            <a:extLst>
              <a:ext uri="{FF2B5EF4-FFF2-40B4-BE49-F238E27FC236}">
                <a16:creationId xmlns:a16="http://schemas.microsoft.com/office/drawing/2014/main" id="{B55DB941-1968-E09A-0C30-06DF377C054A}"/>
              </a:ext>
            </a:extLst>
          </p:cNvPr>
          <p:cNvSpPr txBox="1"/>
          <p:nvPr>
            <p:custDataLst>
              <p:tags r:id="rId13"/>
            </p:custDataLst>
          </p:nvPr>
        </p:nvSpPr>
        <p:spPr>
          <a:xfrm>
            <a:off x="659583" y="5008913"/>
            <a:ext cx="4615180" cy="1198880"/>
          </a:xfrm>
          <a:prstGeom prst="rect">
            <a:avLst/>
          </a:prstGeom>
          <a:noFill/>
        </p:spPr>
        <p:txBody>
          <a:bodyPr wrap="square" rtlCol="0">
            <a:spAutoFit/>
          </a:bodyPr>
          <a:lstStyle/>
          <a:p>
            <a:r>
              <a:rPr lang="zh-CN" altLang="en-US" b="1"/>
              <a:t>示例代码（边缘检测）</a:t>
            </a:r>
          </a:p>
          <a:p>
            <a:endParaRPr lang="zh-CN" altLang="en-US" b="1"/>
          </a:p>
          <a:p>
            <a:r>
              <a:rPr lang="zh-CN" altLang="en-US" b="1"/>
              <a:t>我们经常使用</a:t>
            </a:r>
            <a:r>
              <a:rPr lang="en-US" altLang="zh-CN" b="1"/>
              <a:t>Canny()</a:t>
            </a:r>
            <a:r>
              <a:rPr lang="zh-CN" altLang="en-US" b="1"/>
              <a:t>函数（</a:t>
            </a:r>
            <a:r>
              <a:rPr lang="en-US" altLang="zh-CN" b="1"/>
              <a:t>Canny</a:t>
            </a:r>
            <a:r>
              <a:rPr lang="zh-CN" altLang="en-US" b="1"/>
              <a:t>算法）</a:t>
            </a:r>
          </a:p>
          <a:p>
            <a:r>
              <a:rPr lang="zh-CN" altLang="en-US" b="1"/>
              <a:t>去实现对图片的边缘检测。</a:t>
            </a:r>
          </a:p>
        </p:txBody>
      </p:sp>
      <p:sp>
        <p:nvSpPr>
          <p:cNvPr id="35" name="文本框 34">
            <a:extLst>
              <a:ext uri="{FF2B5EF4-FFF2-40B4-BE49-F238E27FC236}">
                <a16:creationId xmlns:a16="http://schemas.microsoft.com/office/drawing/2014/main" id="{4A2F0CBB-C084-14C5-EFB5-23A8AB674FD3}"/>
              </a:ext>
            </a:extLst>
          </p:cNvPr>
          <p:cNvSpPr txBox="1"/>
          <p:nvPr>
            <p:custDataLst>
              <p:tags r:id="rId14"/>
            </p:custDataLst>
          </p:nvPr>
        </p:nvSpPr>
        <p:spPr>
          <a:xfrm>
            <a:off x="7863630" y="1522828"/>
            <a:ext cx="4131409" cy="1200329"/>
          </a:xfrm>
          <a:prstGeom prst="rect">
            <a:avLst/>
          </a:prstGeom>
          <a:noFill/>
        </p:spPr>
        <p:txBody>
          <a:bodyPr wrap="square" rtlCol="0">
            <a:spAutoFit/>
          </a:bodyPr>
          <a:lstStyle/>
          <a:p>
            <a:pPr marL="0" lvl="8"/>
            <a:r>
              <a:rPr lang="zh-CN" altLang="en-US" b="1" dirty="0">
                <a:sym typeface="+mn-ea"/>
              </a:rPr>
              <a:t>效果如图所示：经过边缘检测后得到的图像就只保留了原图的主要发生变化的位置，比如轮廓，从而记录下图片的主要造型特征。</a:t>
            </a:r>
            <a:endParaRPr lang="zh-CN" altLang="en-US" dirty="0"/>
          </a:p>
        </p:txBody>
      </p:sp>
    </p:spTree>
    <p:extLst>
      <p:ext uri="{BB962C8B-B14F-4D97-AF65-F5344CB8AC3E}">
        <p14:creationId xmlns:p14="http://schemas.microsoft.com/office/powerpoint/2010/main" val="2420565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等腰三角形 7"/>
          <p:cNvSpPr/>
          <p:nvPr/>
        </p:nvSpPr>
        <p:spPr>
          <a:xfrm rot="16200000" flipH="1" flipV="1">
            <a:off x="422489" y="415516"/>
            <a:ext cx="281288" cy="287160"/>
          </a:xfrm>
          <a:prstGeom prst="triangle">
            <a:avLst/>
          </a:prstGeom>
          <a:solidFill>
            <a:srgbClr val="868686"/>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313180" rtl="0" eaLnBrk="1" latinLnBrk="0" hangingPunct="1">
              <a:defRPr sz="2600" kern="1200">
                <a:solidFill>
                  <a:schemeClr val="lt1"/>
                </a:solidFill>
                <a:latin typeface="+mn-lt"/>
                <a:ea typeface="+mn-ea"/>
                <a:cs typeface="+mn-cs"/>
              </a:defRPr>
            </a:lvl1pPr>
            <a:lvl2pPr marL="656590" algn="l" defTabSz="1313180" rtl="0" eaLnBrk="1" latinLnBrk="0" hangingPunct="1">
              <a:defRPr sz="2600" kern="1200">
                <a:solidFill>
                  <a:schemeClr val="lt1"/>
                </a:solidFill>
                <a:latin typeface="+mn-lt"/>
                <a:ea typeface="+mn-ea"/>
                <a:cs typeface="+mn-cs"/>
              </a:defRPr>
            </a:lvl2pPr>
            <a:lvl3pPr marL="1313180" algn="l" defTabSz="1313180" rtl="0" eaLnBrk="1" latinLnBrk="0" hangingPunct="1">
              <a:defRPr sz="2600" kern="1200">
                <a:solidFill>
                  <a:schemeClr val="lt1"/>
                </a:solidFill>
                <a:latin typeface="+mn-lt"/>
                <a:ea typeface="+mn-ea"/>
                <a:cs typeface="+mn-cs"/>
              </a:defRPr>
            </a:lvl3pPr>
            <a:lvl4pPr marL="1969770" algn="l" defTabSz="1313180" rtl="0" eaLnBrk="1" latinLnBrk="0" hangingPunct="1">
              <a:defRPr sz="2600" kern="1200">
                <a:solidFill>
                  <a:schemeClr val="lt1"/>
                </a:solidFill>
                <a:latin typeface="+mn-lt"/>
                <a:ea typeface="+mn-ea"/>
                <a:cs typeface="+mn-cs"/>
              </a:defRPr>
            </a:lvl4pPr>
            <a:lvl5pPr marL="2626360" algn="l" defTabSz="1313180" rtl="0" eaLnBrk="1" latinLnBrk="0" hangingPunct="1">
              <a:defRPr sz="2600" kern="1200">
                <a:solidFill>
                  <a:schemeClr val="lt1"/>
                </a:solidFill>
                <a:latin typeface="+mn-lt"/>
                <a:ea typeface="+mn-ea"/>
                <a:cs typeface="+mn-cs"/>
              </a:defRPr>
            </a:lvl5pPr>
            <a:lvl6pPr marL="3282950" algn="l" defTabSz="1313180" rtl="0" eaLnBrk="1" latinLnBrk="0" hangingPunct="1">
              <a:defRPr sz="2600" kern="1200">
                <a:solidFill>
                  <a:schemeClr val="lt1"/>
                </a:solidFill>
                <a:latin typeface="+mn-lt"/>
                <a:ea typeface="+mn-ea"/>
                <a:cs typeface="+mn-cs"/>
              </a:defRPr>
            </a:lvl6pPr>
            <a:lvl7pPr marL="3940175" algn="l" defTabSz="1313180" rtl="0" eaLnBrk="1" latinLnBrk="0" hangingPunct="1">
              <a:defRPr sz="2600" kern="1200">
                <a:solidFill>
                  <a:schemeClr val="lt1"/>
                </a:solidFill>
                <a:latin typeface="+mn-lt"/>
                <a:ea typeface="+mn-ea"/>
                <a:cs typeface="+mn-cs"/>
              </a:defRPr>
            </a:lvl7pPr>
            <a:lvl8pPr marL="4596765" algn="l" defTabSz="1313180" rtl="0" eaLnBrk="1" latinLnBrk="0" hangingPunct="1">
              <a:defRPr sz="2600" kern="1200">
                <a:solidFill>
                  <a:schemeClr val="lt1"/>
                </a:solidFill>
                <a:latin typeface="+mn-lt"/>
                <a:ea typeface="+mn-ea"/>
                <a:cs typeface="+mn-cs"/>
              </a:defRPr>
            </a:lvl8pPr>
            <a:lvl9pPr marL="5253355" algn="l" defTabSz="1313180" rtl="0" eaLnBrk="1" latinLnBrk="0" hangingPunct="1">
              <a:defRPr sz="2600" kern="1200">
                <a:solidFill>
                  <a:schemeClr val="lt1"/>
                </a:solidFill>
                <a:latin typeface="+mn-lt"/>
                <a:ea typeface="+mn-ea"/>
                <a:cs typeface="+mn-cs"/>
              </a:defRPr>
            </a:lvl9pPr>
          </a:lstStyle>
          <a:p>
            <a:pPr algn="ctr"/>
            <a:endParaRPr lang="zh-CN" altLang="en-US" sz="2800" dirty="0">
              <a:solidFill>
                <a:srgbClr val="222327"/>
              </a:solidFill>
              <a:latin typeface="微软雅黑" pitchFamily="34" charset="-122"/>
              <a:ea typeface="微软雅黑" pitchFamily="34" charset="-122"/>
              <a:sym typeface="微软雅黑" pitchFamily="34" charset="-122"/>
            </a:endParaRPr>
          </a:p>
        </p:txBody>
      </p:sp>
      <p:sp>
        <p:nvSpPr>
          <p:cNvPr id="9" name="文本框 48"/>
          <p:cNvSpPr txBox="1"/>
          <p:nvPr/>
        </p:nvSpPr>
        <p:spPr bwMode="auto">
          <a:xfrm>
            <a:off x="706712" y="328262"/>
            <a:ext cx="2428373"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itchFamily="2" charset="-122"/>
                <a:ea typeface="华文细黑" pitchFamily="2" charset="-122"/>
              </a:defRPr>
            </a:lvl1pPr>
            <a:lvl2pPr marL="742950" indent="-285750">
              <a:defRPr sz="1300">
                <a:solidFill>
                  <a:schemeClr val="tx1"/>
                </a:solidFill>
                <a:latin typeface="华文细黑" pitchFamily="2" charset="-122"/>
                <a:ea typeface="华文细黑" pitchFamily="2" charset="-122"/>
              </a:defRPr>
            </a:lvl2pPr>
            <a:lvl3pPr marL="1143000" indent="-228600">
              <a:defRPr sz="1300">
                <a:solidFill>
                  <a:schemeClr val="tx1"/>
                </a:solidFill>
                <a:latin typeface="华文细黑" pitchFamily="2" charset="-122"/>
                <a:ea typeface="华文细黑" pitchFamily="2" charset="-122"/>
              </a:defRPr>
            </a:lvl3pPr>
            <a:lvl4pPr marL="1600200" indent="-228600">
              <a:defRPr sz="1300">
                <a:solidFill>
                  <a:schemeClr val="tx1"/>
                </a:solidFill>
                <a:latin typeface="华文细黑" pitchFamily="2" charset="-122"/>
                <a:ea typeface="华文细黑" pitchFamily="2" charset="-122"/>
              </a:defRPr>
            </a:lvl4pPr>
            <a:lvl5pPr marL="2057400" indent="-228600">
              <a:defRPr sz="1300">
                <a:solidFill>
                  <a:schemeClr val="tx1"/>
                </a:solidFill>
                <a:latin typeface="华文细黑" pitchFamily="2" charset="-122"/>
                <a:ea typeface="华文细黑" pitchFamily="2" charset="-122"/>
              </a:defRPr>
            </a:lvl5pPr>
            <a:lvl6pPr marL="2514600" indent="-228600" defTabSz="683895" fontAlgn="base">
              <a:spcBef>
                <a:spcPct val="0"/>
              </a:spcBef>
              <a:spcAft>
                <a:spcPct val="0"/>
              </a:spcAft>
              <a:defRPr sz="1300">
                <a:solidFill>
                  <a:schemeClr val="tx1"/>
                </a:solidFill>
                <a:latin typeface="华文细黑" pitchFamily="2" charset="-122"/>
                <a:ea typeface="华文细黑" pitchFamily="2" charset="-122"/>
              </a:defRPr>
            </a:lvl6pPr>
            <a:lvl7pPr marL="2971800" indent="-228600" defTabSz="683895" fontAlgn="base">
              <a:spcBef>
                <a:spcPct val="0"/>
              </a:spcBef>
              <a:spcAft>
                <a:spcPct val="0"/>
              </a:spcAft>
              <a:defRPr sz="1300">
                <a:solidFill>
                  <a:schemeClr val="tx1"/>
                </a:solidFill>
                <a:latin typeface="华文细黑" pitchFamily="2" charset="-122"/>
                <a:ea typeface="华文细黑" pitchFamily="2" charset="-122"/>
              </a:defRPr>
            </a:lvl7pPr>
            <a:lvl8pPr marL="3429000" indent="-228600" defTabSz="683895" fontAlgn="base">
              <a:spcBef>
                <a:spcPct val="0"/>
              </a:spcBef>
              <a:spcAft>
                <a:spcPct val="0"/>
              </a:spcAft>
              <a:defRPr sz="1300">
                <a:solidFill>
                  <a:schemeClr val="tx1"/>
                </a:solidFill>
                <a:latin typeface="华文细黑" pitchFamily="2" charset="-122"/>
                <a:ea typeface="华文细黑" pitchFamily="2" charset="-122"/>
              </a:defRPr>
            </a:lvl8pPr>
            <a:lvl9pPr marL="3886200" indent="-228600" defTabSz="683895" fontAlgn="base">
              <a:spcBef>
                <a:spcPct val="0"/>
              </a:spcBef>
              <a:spcAft>
                <a:spcPct val="0"/>
              </a:spcAft>
              <a:defRPr sz="1300">
                <a:solidFill>
                  <a:schemeClr val="tx1"/>
                </a:solidFill>
                <a:latin typeface="华文细黑" pitchFamily="2" charset="-122"/>
                <a:ea typeface="华文细黑" pitchFamily="2" charset="-122"/>
              </a:defRPr>
            </a:lvl9pPr>
          </a:lstStyle>
          <a:p>
            <a:pPr defTabSz="685800">
              <a:defRPr/>
            </a:pPr>
            <a:r>
              <a:rPr lang="zh-CN" altLang="en-US" sz="2400" dirty="0">
                <a:solidFill>
                  <a:schemeClr val="tx1">
                    <a:lumMod val="75000"/>
                    <a:lumOff val="25000"/>
                  </a:schemeClr>
                </a:solidFill>
                <a:latin typeface="仓耳玄三M W05" pitchFamily="18" charset="-122"/>
                <a:ea typeface="仓耳玄三M W05" pitchFamily="18" charset="-122"/>
              </a:rPr>
              <a:t>卷积计算</a:t>
            </a:r>
            <a:r>
              <a:rPr lang="en-US" altLang="zh-CN" sz="2400" dirty="0">
                <a:solidFill>
                  <a:schemeClr val="tx1">
                    <a:lumMod val="75000"/>
                    <a:lumOff val="25000"/>
                  </a:schemeClr>
                </a:solidFill>
                <a:latin typeface="仓耳玄三M W05" pitchFamily="18" charset="-122"/>
                <a:ea typeface="仓耳玄三M W05" pitchFamily="18" charset="-122"/>
              </a:rPr>
              <a:t>-</a:t>
            </a:r>
            <a:r>
              <a:rPr lang="zh-CN" altLang="en-US" sz="2400" dirty="0">
                <a:solidFill>
                  <a:schemeClr val="tx1">
                    <a:lumMod val="75000"/>
                    <a:lumOff val="25000"/>
                  </a:schemeClr>
                </a:solidFill>
                <a:latin typeface="仓耳玄三M W05" pitchFamily="18" charset="-122"/>
                <a:ea typeface="仓耳玄三M W05" pitchFamily="18" charset="-122"/>
              </a:rPr>
              <a:t>总结</a:t>
            </a:r>
          </a:p>
        </p:txBody>
      </p:sp>
      <p:sp>
        <p:nvSpPr>
          <p:cNvPr id="2" name="文本框 1">
            <a:extLst>
              <a:ext uri="{FF2B5EF4-FFF2-40B4-BE49-F238E27FC236}">
                <a16:creationId xmlns:a16="http://schemas.microsoft.com/office/drawing/2014/main" id="{E5679DF5-8626-41B0-18FB-20BD7D3846DC}"/>
              </a:ext>
            </a:extLst>
          </p:cNvPr>
          <p:cNvSpPr txBox="1"/>
          <p:nvPr/>
        </p:nvSpPr>
        <p:spPr>
          <a:xfrm>
            <a:off x="419553" y="905209"/>
            <a:ext cx="11597640" cy="4479925"/>
          </a:xfrm>
          <a:prstGeom prst="rect">
            <a:avLst/>
          </a:prstGeom>
          <a:noFill/>
        </p:spPr>
        <p:txBody>
          <a:bodyPr wrap="square" rtlCol="0">
            <a:noAutofit/>
          </a:bodyPr>
          <a:lstStyle/>
          <a:p>
            <a:r>
              <a:rPr lang="zh-CN" altLang="en-US" b="1" dirty="0"/>
              <a:t>卷积运算在图像处理中的应用对人工智能的识别、处理图像具有极大意义，主要体现在以下几个方面：</a:t>
            </a:r>
          </a:p>
          <a:p>
            <a:endParaRPr lang="zh-CN" altLang="en-US" b="1" dirty="0"/>
          </a:p>
          <a:p>
            <a:r>
              <a:rPr lang="en-US" altLang="zh-CN" b="1" dirty="0"/>
              <a:t>1.</a:t>
            </a:r>
            <a:r>
              <a:rPr lang="zh-CN" altLang="en-US" b="1" dirty="0">
                <a:solidFill>
                  <a:schemeClr val="accent1"/>
                </a:solidFill>
                <a:effectLst>
                  <a:outerShdw blurRad="38100" dist="25400" dir="5400000" algn="ctr" rotWithShape="0">
                    <a:srgbClr val="6E747A">
                      <a:alpha val="43000"/>
                    </a:srgbClr>
                  </a:outerShdw>
                </a:effectLst>
              </a:rPr>
              <a:t>特征提取；</a:t>
            </a:r>
            <a:endParaRPr lang="zh-CN" altLang="en-US" b="1" dirty="0"/>
          </a:p>
          <a:p>
            <a:r>
              <a:rPr lang="en-US" altLang="zh-CN" b="1" dirty="0"/>
              <a:t>2.</a:t>
            </a:r>
            <a:r>
              <a:rPr lang="zh-CN" altLang="en-US" b="1" dirty="0">
                <a:solidFill>
                  <a:schemeClr val="accent1"/>
                </a:solidFill>
                <a:effectLst>
                  <a:outerShdw blurRad="38100" dist="25400" dir="5400000" algn="ctr" rotWithShape="0">
                    <a:srgbClr val="6E747A">
                      <a:alpha val="43000"/>
                    </a:srgbClr>
                  </a:outerShdw>
                </a:effectLst>
              </a:rPr>
              <a:t>数据增强；</a:t>
            </a:r>
          </a:p>
          <a:p>
            <a:r>
              <a:rPr lang="en-US" altLang="zh-CN" b="1" dirty="0"/>
              <a:t>3.</a:t>
            </a:r>
            <a:r>
              <a:rPr lang="zh-CN" altLang="en-US" b="1" dirty="0">
                <a:solidFill>
                  <a:schemeClr val="accent1"/>
                </a:solidFill>
                <a:effectLst>
                  <a:outerShdw blurRad="38100" dist="25400" dir="5400000" algn="ctr" rotWithShape="0">
                    <a:srgbClr val="6E747A">
                      <a:alpha val="43000"/>
                    </a:srgbClr>
                  </a:outerShdw>
                </a:effectLst>
              </a:rPr>
              <a:t>参数共享；</a:t>
            </a:r>
            <a:endParaRPr lang="zh-CN" altLang="en-US" b="1" dirty="0"/>
          </a:p>
          <a:p>
            <a:r>
              <a:rPr lang="en-US" altLang="zh-CN" b="1" dirty="0"/>
              <a:t>4.</a:t>
            </a:r>
            <a:r>
              <a:rPr lang="zh-CN" altLang="en-US" b="1" dirty="0">
                <a:solidFill>
                  <a:schemeClr val="accent1"/>
                </a:solidFill>
                <a:effectLst>
                  <a:outerShdw blurRad="38100" dist="25400" dir="5400000" algn="ctr" rotWithShape="0">
                    <a:srgbClr val="6E747A">
                      <a:alpha val="43000"/>
                    </a:srgbClr>
                  </a:outerShdw>
                </a:effectLst>
              </a:rPr>
              <a:t>空间信息保留；</a:t>
            </a:r>
            <a:endParaRPr lang="zh-CN" altLang="en-US" b="1" dirty="0"/>
          </a:p>
          <a:p>
            <a:r>
              <a:rPr lang="en-US" altLang="zh-CN" b="1" dirty="0"/>
              <a:t>5.</a:t>
            </a:r>
            <a:r>
              <a:rPr lang="zh-CN" altLang="en-US" b="1" dirty="0">
                <a:solidFill>
                  <a:schemeClr val="accent1"/>
                </a:solidFill>
                <a:effectLst>
                  <a:outerShdw blurRad="38100" dist="25400" dir="5400000" algn="ctr" rotWithShape="0">
                    <a:srgbClr val="6E747A">
                      <a:alpha val="43000"/>
                    </a:srgbClr>
                  </a:outerShdw>
                </a:effectLst>
              </a:rPr>
              <a:t>兼容性。</a:t>
            </a:r>
            <a:endParaRPr lang="zh-CN" altLang="en-US" b="1" dirty="0"/>
          </a:p>
        </p:txBody>
      </p:sp>
      <p:sp>
        <p:nvSpPr>
          <p:cNvPr id="3" name="文本框 2">
            <a:extLst>
              <a:ext uri="{FF2B5EF4-FFF2-40B4-BE49-F238E27FC236}">
                <a16:creationId xmlns:a16="http://schemas.microsoft.com/office/drawing/2014/main" id="{B22D27AD-B3D8-87B7-01CA-DBC374FFB1D6}"/>
              </a:ext>
            </a:extLst>
          </p:cNvPr>
          <p:cNvSpPr txBox="1"/>
          <p:nvPr/>
        </p:nvSpPr>
        <p:spPr>
          <a:xfrm>
            <a:off x="419553" y="2992126"/>
            <a:ext cx="11186795" cy="979170"/>
          </a:xfrm>
          <a:prstGeom prst="rect">
            <a:avLst/>
          </a:prstGeom>
          <a:noFill/>
        </p:spPr>
        <p:txBody>
          <a:bodyPr wrap="square" rtlCol="0">
            <a:noAutofit/>
          </a:bodyPr>
          <a:lstStyle/>
          <a:p>
            <a:pPr>
              <a:buClrTx/>
              <a:buSzTx/>
              <a:buNone/>
            </a:pPr>
            <a:r>
              <a:rPr lang="zh-CN" altLang="en-US" sz="2400" b="1" dirty="0"/>
              <a:t>在卷积神经网络中，卷积计算还往往和</a:t>
            </a:r>
            <a:r>
              <a:rPr lang="zh-CN" altLang="en-US" sz="2400" b="1" dirty="0">
                <a:solidFill>
                  <a:schemeClr val="accent1"/>
                </a:solidFill>
                <a:effectLst>
                  <a:outerShdw blurRad="38100" dist="25400" dir="5400000" algn="ctr" rotWithShape="0">
                    <a:srgbClr val="6E747A">
                      <a:alpha val="43000"/>
                    </a:srgbClr>
                  </a:outerShdw>
                </a:effectLst>
              </a:rPr>
              <a:t>池化运算</a:t>
            </a:r>
            <a:r>
              <a:rPr lang="zh-CN" altLang="en-US" sz="2400" b="1" dirty="0"/>
              <a:t>、</a:t>
            </a:r>
            <a:r>
              <a:rPr lang="zh-CN" altLang="en-US" sz="2400" b="1" dirty="0">
                <a:solidFill>
                  <a:schemeClr val="accent1"/>
                </a:solidFill>
                <a:effectLst>
                  <a:outerShdw blurRad="38100" dist="25400" dir="5400000" algn="ctr" rotWithShape="0">
                    <a:srgbClr val="6E747A">
                      <a:alpha val="43000"/>
                    </a:srgbClr>
                  </a:outerShdw>
                </a:effectLst>
              </a:rPr>
              <a:t>批量归一化</a:t>
            </a:r>
            <a:r>
              <a:rPr lang="zh-CN" altLang="en-US" sz="2400" b="1" dirty="0"/>
              <a:t>等技术结合，从而使得提取到的模型更加</a:t>
            </a:r>
            <a:r>
              <a:rPr lang="zh-CN" altLang="en-US" sz="2400" b="1" dirty="0">
                <a:solidFill>
                  <a:schemeClr val="accent1"/>
                </a:solidFill>
                <a:effectLst>
                  <a:outerShdw blurRad="38100" dist="25400" dir="5400000" algn="ctr" rotWithShape="0">
                    <a:srgbClr val="6E747A">
                      <a:alpha val="43000"/>
                    </a:srgbClr>
                  </a:outerShdw>
                </a:effectLst>
              </a:rPr>
              <a:t>稳定和高效</a:t>
            </a:r>
            <a:r>
              <a:rPr lang="zh-CN" altLang="en-US" sz="2400" b="1" dirty="0"/>
              <a:t>，进一步加快了人工智能的</a:t>
            </a:r>
            <a:r>
              <a:rPr lang="zh-CN" altLang="en-US" sz="2400" b="1" dirty="0">
                <a:solidFill>
                  <a:schemeClr val="accent1"/>
                </a:solidFill>
                <a:effectLst>
                  <a:outerShdw blurRad="38100" dist="25400" dir="5400000" algn="ctr" rotWithShape="0">
                    <a:srgbClr val="6E747A">
                      <a:alpha val="43000"/>
                    </a:srgbClr>
                  </a:outerShdw>
                </a:effectLst>
              </a:rPr>
              <a:t>训练速度和准确性</a:t>
            </a:r>
            <a:r>
              <a:rPr lang="zh-CN" altLang="en-US" sz="2400" b="1" dirty="0"/>
              <a:t>。</a:t>
            </a:r>
          </a:p>
        </p:txBody>
      </p:sp>
      <p:pic>
        <p:nvPicPr>
          <p:cNvPr id="4" name="图片 3">
            <a:extLst>
              <a:ext uri="{FF2B5EF4-FFF2-40B4-BE49-F238E27FC236}">
                <a16:creationId xmlns:a16="http://schemas.microsoft.com/office/drawing/2014/main" id="{0FD78A3C-D6B0-FF1D-E75F-3D85D54CD44C}"/>
              </a:ext>
            </a:extLst>
          </p:cNvPr>
          <p:cNvPicPr/>
          <p:nvPr>
            <p:custDataLst>
              <p:tags r:id="rId1"/>
            </p:custDataLst>
          </p:nvPr>
        </p:nvPicPr>
        <p:blipFill>
          <a:blip r:embed="rId4"/>
          <a:srcRect t="40002"/>
          <a:stretch>
            <a:fillRect/>
          </a:stretch>
        </p:blipFill>
        <p:spPr>
          <a:xfrm>
            <a:off x="6249582" y="3971296"/>
            <a:ext cx="4902951" cy="2455034"/>
          </a:xfrm>
          <a:prstGeom prst="rect">
            <a:avLst/>
          </a:prstGeom>
          <a:noFill/>
          <a:ln w="9525">
            <a:noFill/>
          </a:ln>
        </p:spPr>
      </p:pic>
      <p:sp>
        <p:nvSpPr>
          <p:cNvPr id="5" name="文本框 4">
            <a:extLst>
              <a:ext uri="{FF2B5EF4-FFF2-40B4-BE49-F238E27FC236}">
                <a16:creationId xmlns:a16="http://schemas.microsoft.com/office/drawing/2014/main" id="{0B501B5E-9F97-E584-CDCC-EFD809C474C5}"/>
              </a:ext>
            </a:extLst>
          </p:cNvPr>
          <p:cNvSpPr txBox="1"/>
          <p:nvPr>
            <p:custDataLst>
              <p:tags r:id="rId2"/>
            </p:custDataLst>
          </p:nvPr>
        </p:nvSpPr>
        <p:spPr>
          <a:xfrm>
            <a:off x="327750" y="3971296"/>
            <a:ext cx="5614670" cy="2306955"/>
          </a:xfrm>
          <a:prstGeom prst="rect">
            <a:avLst/>
          </a:prstGeom>
          <a:noFill/>
        </p:spPr>
        <p:txBody>
          <a:bodyPr wrap="square" rtlCol="0">
            <a:spAutoFit/>
          </a:bodyPr>
          <a:lstStyle/>
          <a:p>
            <a:r>
              <a:rPr lang="zh-CN" altLang="en-US" b="1" dirty="0"/>
              <a:t>当然，不仅仅是卷积运算，还有前馈运算、反向传播</a:t>
            </a:r>
          </a:p>
          <a:p>
            <a:r>
              <a:rPr lang="zh-CN" altLang="en-US" b="1" dirty="0"/>
              <a:t>算法等其他矩阵运算方法以及众多的数据分析、处理</a:t>
            </a:r>
          </a:p>
          <a:p>
            <a:r>
              <a:rPr lang="zh-CN" altLang="en-US" b="1" dirty="0"/>
              <a:t>的算法和理论，它们都为人工智能的蓬勃发展起到了</a:t>
            </a:r>
          </a:p>
          <a:p>
            <a:r>
              <a:rPr lang="zh-CN" altLang="en-US" b="1" dirty="0"/>
              <a:t>极大的推动作用。</a:t>
            </a:r>
          </a:p>
          <a:p>
            <a:endParaRPr lang="zh-CN" altLang="en-US" dirty="0"/>
          </a:p>
          <a:p>
            <a:r>
              <a:rPr lang="zh-CN" altLang="en-US" b="1" dirty="0"/>
              <a:t>人工智能领域方兴未艾，我们希望并且相信它在这些</a:t>
            </a:r>
          </a:p>
          <a:p>
            <a:r>
              <a:rPr lang="zh-CN" altLang="en-US" b="1" dirty="0"/>
              <a:t>高效实用的理论和算法的滋养下，未来的发展一定会</a:t>
            </a:r>
          </a:p>
          <a:p>
            <a:r>
              <a:rPr lang="zh-CN" altLang="en-US" b="1" dirty="0"/>
              <a:t>蒸蒸日上，为人类的生活带来更多福祉。</a:t>
            </a:r>
          </a:p>
        </p:txBody>
      </p:sp>
    </p:spTree>
    <p:extLst>
      <p:ext uri="{BB962C8B-B14F-4D97-AF65-F5344CB8AC3E}">
        <p14:creationId xmlns:p14="http://schemas.microsoft.com/office/powerpoint/2010/main" val="2841815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r="83929" b="60000"/>
          <a:stretch>
            <a:fillRect/>
          </a:stretch>
        </p:blipFill>
        <p:spPr>
          <a:xfrm>
            <a:off x="0" y="0"/>
            <a:ext cx="2627086" cy="3677920"/>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8809"/>
          <a:stretch>
            <a:fillRect/>
          </a:stretch>
        </p:blipFill>
        <p:spPr>
          <a:xfrm>
            <a:off x="8211644" y="1422400"/>
            <a:ext cx="3980355" cy="5435600"/>
          </a:xfrm>
          <a:prstGeom prst="rect">
            <a:avLst/>
          </a:prstGeom>
        </p:spPr>
      </p:pic>
      <p:grpSp>
        <p:nvGrpSpPr>
          <p:cNvPr id="10" name="组合 9"/>
          <p:cNvGrpSpPr/>
          <p:nvPr/>
        </p:nvGrpSpPr>
        <p:grpSpPr>
          <a:xfrm>
            <a:off x="4209266" y="2579668"/>
            <a:ext cx="3773469" cy="1698664"/>
            <a:chOff x="2126771" y="2454354"/>
            <a:chExt cx="3773469" cy="1698664"/>
          </a:xfrm>
        </p:grpSpPr>
        <p:sp>
          <p:nvSpPr>
            <p:cNvPr id="11" name="0"/>
            <p:cNvSpPr>
              <a:spLocks noChangeArrowheads="1"/>
            </p:cNvSpPr>
            <p:nvPr/>
          </p:nvSpPr>
          <p:spPr bwMode="auto">
            <a:xfrm>
              <a:off x="2320733" y="3475910"/>
              <a:ext cx="338554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defRPr/>
              </a:pPr>
              <a:r>
                <a:rPr lang="zh-CN" altLang="en-US" sz="4400" dirty="0">
                  <a:solidFill>
                    <a:srgbClr val="868686"/>
                  </a:solidFill>
                  <a:latin typeface="仓耳玄三M W05" panose="02020400000000000000" pitchFamily="18" charset="-122"/>
                  <a:ea typeface="仓耳玄三M W05" panose="02020400000000000000" pitchFamily="18" charset="-122"/>
                  <a:cs typeface="hakuyoxingshu7000" panose="02000600000000000000" pitchFamily="2" charset="-122"/>
                </a:rPr>
                <a:t>感谢各位观看</a:t>
              </a:r>
              <a:endParaRPr lang="en-US" altLang="zh-CN" sz="4400" dirty="0">
                <a:solidFill>
                  <a:srgbClr val="868686"/>
                </a:solidFill>
                <a:latin typeface="仓耳玄三M W05" panose="02020400000000000000" pitchFamily="18" charset="-122"/>
                <a:ea typeface="仓耳玄三M W05" panose="02020400000000000000" pitchFamily="18" charset="-122"/>
                <a:cs typeface="hakuyoxingshu7000" panose="02000600000000000000" pitchFamily="2" charset="-122"/>
              </a:endParaRPr>
            </a:p>
          </p:txBody>
        </p:sp>
        <p:sp>
          <p:nvSpPr>
            <p:cNvPr id="12" name="0"/>
            <p:cNvSpPr>
              <a:spLocks noChangeArrowheads="1"/>
            </p:cNvSpPr>
            <p:nvPr/>
          </p:nvSpPr>
          <p:spPr bwMode="auto">
            <a:xfrm>
              <a:off x="2126771" y="2454354"/>
              <a:ext cx="37734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5400" dirty="0">
                  <a:solidFill>
                    <a:srgbClr val="868686"/>
                  </a:solidFill>
                  <a:latin typeface="仓耳玄三M W05" panose="02020400000000000000" pitchFamily="18" charset="-122"/>
                  <a:ea typeface="仓耳玄三M W05" panose="02020400000000000000" pitchFamily="18" charset="-122"/>
                  <a:cs typeface="hakuyoxingshu7000" panose="02000600000000000000" pitchFamily="2" charset="-122"/>
                </a:rPr>
                <a:t>THANK YOU</a:t>
              </a:r>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61,&quot;width&quot;:1682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7902,&quot;width&quot;:12787}"/>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475,&quot;width&quot;:3885}"/>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70,&quot;width&quot;:18328}"/>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PA" val="v3.2.0"/>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PA" val="v3.2.0"/>
</p:tagLst>
</file>

<file path=ppt/tags/tag22.xml><?xml version="1.0" encoding="utf-8"?>
<p:tagLst xmlns:a="http://schemas.openxmlformats.org/drawingml/2006/main" xmlns:r="http://schemas.openxmlformats.org/officeDocument/2006/relationships" xmlns:p="http://schemas.openxmlformats.org/presentationml/2006/main">
  <p:tag name="PA" val="v3.2.0"/>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3901</Words>
  <Application>Microsoft Macintosh PowerPoint</Application>
  <PresentationFormat>宽屏</PresentationFormat>
  <Paragraphs>264</Paragraphs>
  <Slides>41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41</vt:i4>
      </vt:variant>
    </vt:vector>
  </HeadingPairs>
  <TitlesOfParts>
    <vt:vector size="53" baseType="lpstr">
      <vt:lpstr>-apple-system</vt:lpstr>
      <vt:lpstr>仓耳玄三M W05</vt:lpstr>
      <vt:lpstr>等线</vt:lpstr>
      <vt:lpstr>等线 Light</vt:lpstr>
      <vt:lpstr>微软雅黑</vt:lpstr>
      <vt:lpstr>PingFang SC</vt:lpstr>
      <vt:lpstr>Söhne</vt:lpstr>
      <vt:lpstr>Arial</vt:lpstr>
      <vt:lpstr>Gill Sans</vt:lpstr>
      <vt:lpstr>Open Sans</vt:lpstr>
      <vt:lpstr>Segoe UI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反向传播算法的矩阵表示：</vt:lpstr>
      <vt:lpstr>一、初始化网络参数（权重和偏置）    一般步骤：</vt:lpstr>
      <vt:lpstr>Xavier初始化</vt:lpstr>
      <vt:lpstr>二、前向传播</vt:lpstr>
      <vt:lpstr>PowerPoint 演示文稿</vt:lpstr>
      <vt:lpstr>三、计算损失函数</vt:lpstr>
      <vt:lpstr>四、反向传播</vt:lpstr>
      <vt:lpstr>五、更新参数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WPS_1656559250</dc:creator>
  <cp:lastModifiedBy>吴敏</cp:lastModifiedBy>
  <cp:revision>22</cp:revision>
  <dcterms:created xsi:type="dcterms:W3CDTF">1900-01-01T00:00:00Z</dcterms:created>
  <dcterms:modified xsi:type="dcterms:W3CDTF">2024-04-18T00:40:35Z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2052-11.36.2</vt:lpwstr>
  </property>
  <property fmtid="{D5CDD505-2E9C-101B-9397-08002B2CF9AE}" pid="3" name="KSOTemplateUUID">
    <vt:lpwstr>v1.0_mb_Iu6+AcNsrLHVoU/OyRXXFg==</vt:lpwstr>
  </property>
  <property fmtid="{D5CDD505-2E9C-101B-9397-08002B2CF9AE}" pid="4" name="ICV">
    <vt:lpwstr>C69E407DC19D702541435A64C68B5CFE_31</vt:lpwstr>
  </property>
</Properties>
</file>